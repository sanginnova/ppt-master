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16x9"/>
  <p:notesSz cx="6858000" cy="9144000"/>
  <p:defaultTextStyle>
    <a:defPPr>
      <a:defRPr lang="vi-VN"/>
    </a:defPPr>
    <a:lvl1pPr marL="0" algn="l" defTabSz="457200" rtl="0" eaLnBrk="1" latinLnBrk="0" hangingPunct="1">
      <a:defRPr sz="1800" kern="1200" lang="vi-V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vi-V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vi-V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vi-V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vi-V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vi-V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vi-V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vi-V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vi-V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bai2_tap_hop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vi-VN" smtClean="0"/>
              <a:t>1/27/13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bai2_tap_hop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vi-V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vi-VN" smtClean="0"/>
              <a:t>1/27/13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vi-V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vi-V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vi-VN" smtClean="0"/>
              <a:t>‹#›</a:t>
            </a:fld>
            <a:endParaRPr lang="vi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vi-V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vi-V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vi-V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vi-V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vi-V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vi-V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vi-V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vi-V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vi-V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vi-V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457200" rtl="0" eaLnBrk="1" latinLnBrk="0" hangingPunct="1">
        <a:defRPr sz="1800" kern="1200" lang="vi-V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vi-V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vi-V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vi-V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vi-V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vi-V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vi-V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vi-V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vi-V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144000" y="-1143000"/>
            <a:ext cx="4191000" cy="4191000"/>
          </a:xfrm>
          <a:prstGeom prst="ellipse">
            <a:avLst/>
          </a:prstGeom>
          <a:solidFill>
            <a:srgbClr val="EFF6FF">
              <a:alpha val="6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8763000" y="4191000"/>
            <a:ext cx="3429000" cy="3429000"/>
          </a:xfrm>
          <a:prstGeom prst="ellipse">
            <a:avLst/>
          </a:prstGeom>
          <a:solidFill>
            <a:srgbClr val="F0FDFA">
              <a:alpha val="7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-381000" y="4857750"/>
            <a:ext cx="2667000" cy="2667000"/>
          </a:xfrm>
          <a:prstGeom prst="ellipse">
            <a:avLst/>
          </a:prstGeom>
          <a:solidFill>
            <a:srgbClr val="F8FAFC">
              <a:alpha val="80000"/>
            </a:srgbClr>
          </a:solidFill>
          <a:ln>
            <a:noFill/>
          </a:ln>
        </p:spPr>
      </p:sp>
      <p:grpSp>
        <p:nvGrpSpPr>
          <p:cNvPr id="36" name="cover-card"/>
          <p:cNvGrpSpPr/>
          <p:nvPr/>
        </p:nvGrpSpPr>
        <p:grpSpPr>
          <a:xfrm>
            <a:off x="952500" y="762000"/>
            <a:ext cx="10287000" cy="5334000"/>
            <a:chOff x="952500" y="762000"/>
            <a:chExt cx="10287000" cy="5334000"/>
          </a:xfrm>
        </p:grpSpPr>
        <p:sp>
          <p:nvSpPr>
            <p:cNvPr id="6" name="Rectangle 6"/>
            <p:cNvSpPr/>
            <p:nvPr/>
          </p:nvSpPr>
          <p:spPr>
            <a:xfrm>
              <a:off x="952500" y="762000"/>
              <a:ext cx="10287000" cy="5334000"/>
            </a:xfrm>
            <a:prstGeom prst="roundRect">
              <a:avLst>
                <a:gd name="adj" fmla="val 4286"/>
              </a:avLst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952500" y="762000"/>
              <a:ext cx="10287000" cy="114300"/>
            </a:xfrm>
            <a:prstGeom prst="roundRect">
              <a:avLst>
                <a:gd name="adj" fmla="val 50000"/>
              </a:avLst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1524000" y="1190625"/>
              <a:ext cx="3619500" cy="304800"/>
            </a:xfrm>
            <a:prstGeom prst="roundRect">
              <a:avLst>
                <a:gd name="adj" fmla="val 25000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61922" y="1285399"/>
              <a:ext cx="26353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980" b="1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TRƯỜNG CAO ĐẲNG NGHỀ SỐ 1 - BQP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18285" y="1593056"/>
              <a:ext cx="27133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120" b="1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KHOA CƠ BẢN • TỔ BỘ MÔN TOÁN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524000" y="2047875"/>
              <a:ext cx="1143000" cy="285750"/>
            </a:xfrm>
            <a:prstGeom prst="roundRect">
              <a:avLst>
                <a:gd name="adj" fmla="val 20000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716786" y="2125028"/>
              <a:ext cx="7574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050" b="1" dirty="0">
                  <a:solidFill>
                    <a:srgbClr val="1E40AF"/>
                  </a:solidFill>
                  <a:latin typeface="+mn-lt"/>
                  <a:ea typeface="+mn-ea"/>
                  <a:cs typeface="+mn-cs"/>
                </a:rPr>
                <a:t>CHƯƠNG I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09522" y="2502218"/>
              <a:ext cx="723660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8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BÀI 2. TẬP HỢP VÀ CÁC PHÉP TOÁN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10284" y="3023235"/>
              <a:ext cx="288659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7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TRÊN TẬP HỢP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17142" y="3616642"/>
              <a:ext cx="52047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Sách giáo khoa Toán 10 • Bộ sách Kết nối tri thức với cuộc sống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1524000" y="4048125"/>
              <a:ext cx="6096000" cy="9525"/>
            </a:xfrm>
            <a:custGeom>
              <a:avLst/>
              <a:gdLst/>
              <a:ahLst/>
              <a:cxnLst/>
              <a:rect l="l" t="t" r="r" b="b"/>
              <a:pathLst>
                <a:path w="6096000" h="9525">
                  <a:moveTo>
                    <a:pt x="0" y="0"/>
                  </a:moveTo>
                  <a:lnTo>
                    <a:pt x="6096000" y="0"/>
                  </a:lnTo>
                </a:path>
              </a:pathLst>
            </a:custGeom>
            <a:noFill/>
            <a:ln w="14288">
              <a:solidFill>
                <a:srgbClr val="E2E8F0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1524000" y="4286250"/>
              <a:ext cx="1809750" cy="400050"/>
            </a:xfrm>
            <a:prstGeom prst="roundRect">
              <a:avLst>
                <a:gd name="adj" fmla="val 23810"/>
              </a:avLst>
            </a:prstGeom>
            <a:solidFill>
              <a:srgbClr val="F8FAFC"/>
            </a:solidFill>
            <a:ln w="9525">
              <a:solidFill>
                <a:srgbClr val="CBD5E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729639" y="4420552"/>
              <a:ext cx="13984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050" b="1" dirty="0">
                  <a:solidFill>
                    <a:srgbClr val="1E293B"/>
                  </a:solidFill>
                  <a:latin typeface="+mn-lt"/>
                  <a:ea typeface="+mn-ea"/>
                  <a:cs typeface="+mn-cs"/>
                </a:rPr>
                <a:t>1. Khái niệm tập hợp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476625" y="4286250"/>
              <a:ext cx="1809750" cy="400050"/>
            </a:xfrm>
            <a:prstGeom prst="roundRect">
              <a:avLst>
                <a:gd name="adj" fmla="val 23810"/>
              </a:avLst>
            </a:prstGeom>
            <a:solidFill>
              <a:srgbClr val="F8FAFC"/>
            </a:solidFill>
            <a:ln w="9525">
              <a:solidFill>
                <a:srgbClr val="CBD5E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666653" y="4420552"/>
              <a:ext cx="14296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050" b="1" dirty="0">
                  <a:solidFill>
                    <a:srgbClr val="1E293B"/>
                  </a:solidFill>
                  <a:latin typeface="+mn-lt"/>
                  <a:ea typeface="+mn-ea"/>
                  <a:cs typeface="+mn-cs"/>
                </a:rPr>
                <a:t>2. Các tập hợp số (R)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429250" y="4286250"/>
              <a:ext cx="2190750" cy="400050"/>
            </a:xfrm>
            <a:prstGeom prst="roundRect">
              <a:avLst>
                <a:gd name="adj" fmla="val 23810"/>
              </a:avLst>
            </a:prstGeom>
            <a:solidFill>
              <a:srgbClr val="F8FAFC"/>
            </a:solidFill>
            <a:ln w="9525">
              <a:solidFill>
                <a:srgbClr val="CBD5E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432765" y="4420552"/>
              <a:ext cx="2183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050" b="1" dirty="0">
                  <a:solidFill>
                    <a:srgbClr val="1E293B"/>
                  </a:solidFill>
                  <a:latin typeface="+mn-lt"/>
                  <a:ea typeface="+mn-ea"/>
                  <a:cs typeface="+mn-cs"/>
                </a:rPr>
                <a:t>3. Các phép toán giao, hợp, hiệu</a:t>
              </a:r>
            </a:p>
          </p:txBody>
        </p:sp>
        <p:grpSp>
          <p:nvGrpSpPr>
            <p:cNvPr id="29" name="teacher-info"/>
            <p:cNvGrpSpPr/>
            <p:nvPr/>
          </p:nvGrpSpPr>
          <p:grpSpPr>
            <a:xfrm>
              <a:off x="1524000" y="5000625"/>
              <a:ext cx="9144000" cy="619125"/>
              <a:chOff x="1524000" y="5000625"/>
              <a:chExt cx="9144000" cy="619125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1524000" y="5000625"/>
                <a:ext cx="9144000" cy="619125"/>
              </a:xfrm>
              <a:prstGeom prst="roundRect">
                <a:avLst>
                  <a:gd name="adj" fmla="val 18462"/>
                </a:avLst>
              </a:prstGeom>
              <a:solidFill>
                <a:srgbClr val="F8FAFC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24" name="Ellipse 24"/>
              <p:cNvSpPr/>
              <p:nvPr/>
            </p:nvSpPr>
            <p:spPr>
              <a:xfrm>
                <a:off x="1685925" y="5133975"/>
                <a:ext cx="342900" cy="3429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727974" y="5233035"/>
                <a:ext cx="25880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-V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GV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2165604" y="5109210"/>
                <a:ext cx="233370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20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Giảng viên: Nguyễn Văn Sang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2166747" y="5343049"/>
                <a:ext cx="309049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98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Khoa Cơ bản — Trường Cao đẳng Nghề số 1 - BQP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809199" y="5249228"/>
                <a:ext cx="157838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vi-VN" sz="1050" b="1" dirty="0">
                    <a:solidFill>
                      <a:srgbClr val="059669"/>
                    </a:solidFill>
                    <a:latin typeface="+mn-lt"/>
                    <a:ea typeface="+mn-ea"/>
                    <a:cs typeface="+mn-cs"/>
                  </a:rPr>
                  <a:t>Tiết theo PPCT: 03 - 04</a:t>
                </a:r>
              </a:p>
            </p:txBody>
          </p:sp>
        </p:grpSp>
        <p:grpSp>
          <p:nvGrpSpPr>
            <p:cNvPr id="35" name="cover-venn"/>
            <p:cNvGrpSpPr/>
            <p:nvPr/>
          </p:nvGrpSpPr>
          <p:grpSpPr>
            <a:xfrm>
              <a:off x="8239125" y="2143125"/>
              <a:ext cx="2381250" cy="1619250"/>
              <a:chOff x="8239125" y="2143125"/>
              <a:chExt cx="2381250" cy="1619250"/>
            </a:xfrm>
          </p:grpSpPr>
          <p:sp>
            <p:nvSpPr>
              <p:cNvPr id="30" name="Ellipse 30"/>
              <p:cNvSpPr/>
              <p:nvPr/>
            </p:nvSpPr>
            <p:spPr>
              <a:xfrm>
                <a:off x="8239125" y="2143125"/>
                <a:ext cx="1619250" cy="1619250"/>
              </a:xfrm>
              <a:prstGeom prst="ellipse">
                <a:avLst/>
              </a:prstGeom>
              <a:solidFill>
                <a:srgbClr val="3B82F6">
                  <a:alpha val="35000"/>
                </a:srgbClr>
              </a:solidFill>
              <a:ln w="23812">
                <a:solidFill>
                  <a:srgbClr val="2563EB">
                    <a:alpha val="35000"/>
                  </a:srgbClr>
                </a:solidFill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9001125" y="2143125"/>
                <a:ext cx="1619250" cy="1619250"/>
              </a:xfrm>
              <a:prstGeom prst="ellipse">
                <a:avLst/>
              </a:prstGeom>
              <a:solidFill>
                <a:srgbClr val="10B981">
                  <a:alpha val="35000"/>
                </a:srgbClr>
              </a:solidFill>
              <a:ln w="23812">
                <a:solidFill>
                  <a:srgbClr val="059669">
                    <a:alpha val="35000"/>
                  </a:srgbClr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8754618" y="2822258"/>
                <a:ext cx="18626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650" b="1" dirty="0">
                    <a:solidFill>
                      <a:srgbClr val="1E40AF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0088118" y="2822258"/>
                <a:ext cx="18626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650" b="1" dirty="0">
                    <a:solidFill>
                      <a:srgbClr val="065F46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175421" y="2864168"/>
                <a:ext cx="50865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-VN" sz="135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A ∩ B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10" name="header-group"/>
          <p:cNvGrpSpPr/>
          <p:nvPr/>
        </p:nvGrpSpPr>
        <p:grpSpPr>
          <a:xfrm>
            <a:off x="571500" y="304800"/>
            <a:ext cx="11049000" cy="685800"/>
            <a:chOff x="571500" y="304800"/>
            <a:chExt cx="11049000" cy="685800"/>
          </a:xfrm>
        </p:grpSpPr>
        <p:sp>
          <p:nvSpPr>
            <p:cNvPr id="3" name="Rectangle 3"/>
            <p:cNvSpPr/>
            <p:nvPr/>
          </p:nvSpPr>
          <p:spPr>
            <a:xfrm>
              <a:off x="571500" y="304800"/>
              <a:ext cx="11049000" cy="6858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571500" y="304800"/>
              <a:ext cx="57150" cy="6858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800100" y="419100"/>
              <a:ext cx="723900" cy="247650"/>
            </a:xfrm>
            <a:prstGeom prst="roundRect">
              <a:avLst>
                <a:gd name="adj" fmla="val 23077"/>
              </a:avLst>
            </a:prstGeom>
            <a:solidFill>
              <a:srgbClr val="EFF6FF"/>
            </a:solidFill>
            <a:ln w="9525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78936" y="485299"/>
              <a:ext cx="3662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98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BÀI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658493" y="431482"/>
              <a:ext cx="52322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MỤC TIÊU BÀI HỌC VÀ KHUNG NĂNG LỰC SỐ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5147" y="771049"/>
              <a:ext cx="35597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BÀI 2 • TẬP HỢP VÀ CÁC PHÉP TOÁN TRÊN TẬP HỢP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07858" y="590074"/>
              <a:ext cx="25794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980" b="1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GV: Nguyễn Văn Sang • CĐN số 1 - BQP</a:t>
              </a:r>
            </a:p>
          </p:txBody>
        </p:sp>
      </p:grpSp>
      <p:grpSp>
        <p:nvGrpSpPr>
          <p:cNvPr id="61" name="body-grid"/>
          <p:cNvGrpSpPr/>
          <p:nvPr/>
        </p:nvGrpSpPr>
        <p:grpSpPr>
          <a:xfrm>
            <a:off x="571500" y="1238250"/>
            <a:ext cx="11049000" cy="5048250"/>
            <a:chOff x="571500" y="1238250"/>
            <a:chExt cx="11049000" cy="5048250"/>
          </a:xfrm>
        </p:grpSpPr>
        <p:sp>
          <p:nvSpPr>
            <p:cNvPr id="11" name="Rectangle 11"/>
            <p:cNvSpPr/>
            <p:nvPr/>
          </p:nvSpPr>
          <p:spPr>
            <a:xfrm>
              <a:off x="571500" y="1238250"/>
              <a:ext cx="3476625" cy="5048250"/>
            </a:xfrm>
            <a:prstGeom prst="roundRect">
              <a:avLst>
                <a:gd name="adj" fmla="val 438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" y="1238250"/>
              <a:ext cx="3476625" cy="514350"/>
            </a:xfrm>
            <a:prstGeom prst="roundRect">
              <a:avLst>
                <a:gd name="adj" fmla="val 29630"/>
              </a:avLst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1676400"/>
              <a:ext cx="3476625" cy="76200"/>
            </a:xfrm>
            <a:prstGeom prst="rect">
              <a:avLst/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02767" y="1416368"/>
              <a:ext cx="2488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1. KIẾN THỨC TRỌNG TÂM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3910" y="1926431"/>
              <a:ext cx="14631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rgbClr val="0F172A"/>
                </a:buClr>
                <a:buSzTx/>
                <a:buFontTx/>
                <a:buChar char="•"/>
              </a:pPr>
              <a:r>
                <a:rPr lang="vi-VN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Khái niệm tập hợp: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99541" y="2172652"/>
              <a:ext cx="21992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Phần tử thuộc (∈), không thuộc (∉);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99541" y="2382202"/>
              <a:ext cx="18308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tập rỗng (∅), số phần tử n(A).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3910" y="2736056"/>
              <a:ext cx="20162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rgbClr val="0F172A"/>
                </a:buClr>
                <a:buSzTx/>
                <a:buFontTx/>
                <a:buChar char="•"/>
              </a:pPr>
              <a:r>
                <a:rPr lang="vi-VN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Hai cách xác định tập hợp: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99541" y="2982278"/>
              <a:ext cx="16732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Liệt kê phần tử hoặc chỉ ra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99541" y="3191828"/>
              <a:ext cx="12208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tính chất đặc trưng.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3910" y="3545681"/>
              <a:ext cx="13461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rgbClr val="0F172A"/>
                </a:buClr>
                <a:buSzTx/>
                <a:buFontTx/>
                <a:buChar char="•"/>
              </a:pPr>
              <a:r>
                <a:rPr lang="vi-VN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Quan hệ tập hợp: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99541" y="3791902"/>
              <a:ext cx="22666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Tập con (A ⊂ B), hai tập bằng nhau,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99541" y="4001452"/>
              <a:ext cx="8094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biểu đồ Ven.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3910" y="4355306"/>
              <a:ext cx="11936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rgbClr val="0F172A"/>
                </a:buClr>
                <a:buSzTx/>
                <a:buFontTx/>
                <a:buChar char="•"/>
              </a:pPr>
              <a:r>
                <a:rPr lang="vi-VN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Tập con của R: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99541" y="4601528"/>
              <a:ext cx="24989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Khoảng, đoạn, nửa khoảng trên trục số.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03910" y="4974431"/>
              <a:ext cx="15247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rgbClr val="0F172A"/>
                </a:buClr>
                <a:buSzTx/>
                <a:buFontTx/>
                <a:buChar char="•"/>
              </a:pPr>
              <a:r>
                <a:rPr lang="vi-VN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4 phép toán cơ bản: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9541" y="5220652"/>
              <a:ext cx="16759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Giao (∩), Hợp (∪), Hiệu (\),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99541" y="5430202"/>
              <a:ext cx="16596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Phần bù trong R (C_R A).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333875" y="1238250"/>
              <a:ext cx="3524250" cy="5048250"/>
            </a:xfrm>
            <a:prstGeom prst="roundRect">
              <a:avLst>
                <a:gd name="adj" fmla="val 432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333875" y="1238250"/>
              <a:ext cx="3524250" cy="514350"/>
            </a:xfrm>
            <a:prstGeom prst="roundRect">
              <a:avLst>
                <a:gd name="adj" fmla="val 29630"/>
              </a:avLst>
            </a:prstGeom>
            <a:solidFill>
              <a:srgbClr val="F0FDF4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333875" y="1676400"/>
              <a:ext cx="3524250" cy="76200"/>
            </a:xfrm>
            <a:prstGeom prst="rect">
              <a:avLst/>
            </a:prstGeom>
            <a:solidFill>
              <a:srgbClr val="F0FDF4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565142" y="1416368"/>
              <a:ext cx="20300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2. KỸ NĂNG CẦN ĐẠT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66285" y="1926431"/>
              <a:ext cx="20601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✔ Mô tả thành thạo tập hợp: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709541" y="2172652"/>
              <a:ext cx="19642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Chuyển đổi linh hoạt giữa dạng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709541" y="2382202"/>
              <a:ext cx="1817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liệt kê và tính chất đặc trưng.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66285" y="2783681"/>
              <a:ext cx="17588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✔ Thao tác trên trục số: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709541" y="3029902"/>
              <a:ext cx="24437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Biểu diễn chính xác các khoảng, đoạn;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709541" y="3239452"/>
              <a:ext cx="27060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phân biệt ngoặc tròn ( ) và ngoặc vuông [ ].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566285" y="3640931"/>
              <a:ext cx="24541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✔ Thực hiện 4 phép toán tập hợp: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709541" y="3887152"/>
              <a:ext cx="21603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Tìm giao, hợp, hiệu của tập rời rạc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709541" y="4096702"/>
              <a:ext cx="17837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và các khoảng, đoạn trên R.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566285" y="4498181"/>
              <a:ext cx="14487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✔ Giải toán thực tế: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709541" y="4744402"/>
              <a:ext cx="21420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Sử dụng biểu đồ Ven giải bài toán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709541" y="4953952"/>
              <a:ext cx="29436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đếm phần tử n(A ∪ B) = n(A) + n(B) - n(A ∩ B).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143875" y="1238250"/>
              <a:ext cx="3476625" cy="5048250"/>
            </a:xfrm>
            <a:prstGeom prst="roundRect">
              <a:avLst>
                <a:gd name="adj" fmla="val 438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8143875" y="1238250"/>
              <a:ext cx="3476625" cy="514350"/>
            </a:xfrm>
            <a:prstGeom prst="roundRect">
              <a:avLst>
                <a:gd name="adj" fmla="val 29630"/>
              </a:avLst>
            </a:prstGeom>
            <a:solidFill>
              <a:srgbClr val="FDF4FF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8143875" y="1676400"/>
              <a:ext cx="3476625" cy="76200"/>
            </a:xfrm>
            <a:prstGeom prst="rect">
              <a:avLst/>
            </a:prstGeom>
            <a:solidFill>
              <a:srgbClr val="FDF4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375142" y="1416368"/>
              <a:ext cx="30333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dirty="0">
                  <a:solidFill>
                    <a:srgbClr val="9333EA"/>
                  </a:solidFill>
                  <a:latin typeface="+mn-lt"/>
                  <a:ea typeface="+mn-ea"/>
                  <a:cs typeface="+mn-cs"/>
                </a:rPr>
                <a:t>3. NĂNG LỰC &amp; NLS (TT 02/2025)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76285" y="1926431"/>
              <a:ext cx="22518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★ Tư duy &amp; Lập luận toán học: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519541" y="2172652"/>
              <a:ext cx="19644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Phân tích mệnh đề, so sánh và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519541" y="2382202"/>
              <a:ext cx="27219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chứng minh quan hệ bao hàm giữa các tập.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376285" y="2783681"/>
              <a:ext cx="18259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★ Mô hình hóa toán học: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519541" y="3029902"/>
              <a:ext cx="19246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Trực quan hóa cấu trúc dữ liệu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519541" y="3239452"/>
              <a:ext cx="17365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thực tiễn bằng biểu đồ Ven.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376285" y="3640931"/>
              <a:ext cx="15894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★ Năng lực số (NLS):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519541" y="3887152"/>
              <a:ext cx="21137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Ứng dụng biểu diễn tập hợp trong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519541" y="4096702"/>
              <a:ext cx="24996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lập trình, truy vấn SQL và cơ sở dữ liệu.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376285" y="4498181"/>
              <a:ext cx="25052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★ Phẩm chất chăm chỉ, chính xác: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519541" y="4744402"/>
              <a:ext cx="19245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Cẩn trọng khi lấy mút đầu cuối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519541" y="4953952"/>
              <a:ext cx="10634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trên trục số thực.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10" name="header-group"/>
          <p:cNvGrpSpPr/>
          <p:nvPr/>
        </p:nvGrpSpPr>
        <p:grpSpPr>
          <a:xfrm>
            <a:off x="571500" y="304800"/>
            <a:ext cx="11049000" cy="685800"/>
            <a:chOff x="571500" y="304800"/>
            <a:chExt cx="11049000" cy="685800"/>
          </a:xfrm>
        </p:grpSpPr>
        <p:sp>
          <p:nvSpPr>
            <p:cNvPr id="3" name="Rectangle 3"/>
            <p:cNvSpPr/>
            <p:nvPr/>
          </p:nvSpPr>
          <p:spPr>
            <a:xfrm>
              <a:off x="571500" y="304800"/>
              <a:ext cx="11049000" cy="6858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571500" y="304800"/>
              <a:ext cx="57150" cy="6858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800100" y="419100"/>
              <a:ext cx="723900" cy="247650"/>
            </a:xfrm>
            <a:prstGeom prst="roundRect">
              <a:avLst>
                <a:gd name="adj" fmla="val 23077"/>
              </a:avLst>
            </a:prstGeom>
            <a:solidFill>
              <a:srgbClr val="EFF6FF"/>
            </a:solidFill>
            <a:ln w="9525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78936" y="485299"/>
              <a:ext cx="3662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98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BÀI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658493" y="431482"/>
              <a:ext cx="39809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1. KHÁI NIỆM CƠ BẢN VỀ TẬP HỢP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5147" y="771049"/>
              <a:ext cx="33790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PHẦN TỬ, KÝ HIỆU VÀ CÁC CÁCH MÔ TẢ TẬP HỢP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07858" y="590074"/>
              <a:ext cx="25794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980" b="1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GV: Nguyễn Văn Sang • CĐN số 1 - BQP</a:t>
              </a:r>
            </a:p>
          </p:txBody>
        </p:sp>
      </p:grpSp>
      <p:grpSp>
        <p:nvGrpSpPr>
          <p:cNvPr id="47" name="content"/>
          <p:cNvGrpSpPr/>
          <p:nvPr/>
        </p:nvGrpSpPr>
        <p:grpSpPr>
          <a:xfrm>
            <a:off x="571500" y="1238250"/>
            <a:ext cx="11049000" cy="5048250"/>
            <a:chOff x="571500" y="1238250"/>
            <a:chExt cx="11049000" cy="5048250"/>
          </a:xfrm>
        </p:grpSpPr>
        <p:sp>
          <p:nvSpPr>
            <p:cNvPr id="11" name="Rectangle 11"/>
            <p:cNvSpPr/>
            <p:nvPr/>
          </p:nvSpPr>
          <p:spPr>
            <a:xfrm>
              <a:off x="571500" y="1238250"/>
              <a:ext cx="5334000" cy="5048250"/>
            </a:xfrm>
            <a:prstGeom prst="roundRect">
              <a:avLst>
                <a:gd name="adj" fmla="val 3019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" y="1238250"/>
              <a:ext cx="5334000" cy="438150"/>
            </a:xfrm>
            <a:prstGeom prst="roundRect">
              <a:avLst>
                <a:gd name="adj" fmla="val 34783"/>
              </a:avLst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1619250"/>
              <a:ext cx="5334000" cy="57150"/>
            </a:xfrm>
            <a:prstGeom prst="rect">
              <a:avLst/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03148" y="1386364"/>
              <a:ext cx="30272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8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A. KHÁI NIỆM &amp; KÝ HIỆU PHẦN TỬ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09625" y="1857375"/>
              <a:ext cx="4857750" cy="714375"/>
            </a:xfrm>
            <a:prstGeom prst="roundRect">
              <a:avLst>
                <a:gd name="adj" fmla="val 13333"/>
              </a:avLst>
            </a:prstGeom>
            <a:solidFill>
              <a:srgbClr val="F8FAFC"/>
            </a:solidFill>
            <a:ln w="9525">
              <a:solidFill>
                <a:srgbClr val="CBD5E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94410" y="1993106"/>
              <a:ext cx="24703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rgbClr val="0F172A"/>
                </a:buClr>
                <a:buSzTx/>
                <a:buFontTx/>
                <a:buChar char="•"/>
              </a:pPr>
              <a:r>
                <a:rPr lang="vi-VN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 ∈ A: phần tử a thuộc tập hợp A.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94410" y="2259806"/>
              <a:ext cx="2980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rgbClr val="0F172A"/>
                </a:buClr>
                <a:buSzTx/>
                <a:buFontTx/>
                <a:buChar char="•"/>
              </a:pPr>
              <a:r>
                <a:rPr lang="vi-VN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b ∉ A: phần tử b không thuộc tập hợp A.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3529" y="2727960"/>
              <a:ext cx="12295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00" b="1" dirty="0">
                  <a:solidFill>
                    <a:srgbClr val="1E293B"/>
                  </a:solidFill>
                  <a:latin typeface="+mn-lt"/>
                  <a:ea typeface="+mn-ea"/>
                  <a:cs typeface="+mn-cs"/>
                </a:rPr>
                <a:t>TẬP RỖNG (∅):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09625" y="3000375"/>
              <a:ext cx="4857750" cy="571500"/>
            </a:xfrm>
            <a:prstGeom prst="roundRect">
              <a:avLst>
                <a:gd name="adj" fmla="val 16667"/>
              </a:avLst>
            </a:prstGeom>
            <a:solidFill>
              <a:srgbClr val="FEF2F2"/>
            </a:solidFill>
            <a:ln w="9525">
              <a:solidFill>
                <a:srgbClr val="FECAC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94791" y="3144202"/>
              <a:ext cx="44714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b="1" dirty="0">
                  <a:solidFill>
                    <a:srgbClr val="991B1B"/>
                  </a:solidFill>
                  <a:latin typeface="+mn-lt"/>
                  <a:ea typeface="+mn-ea"/>
                  <a:cs typeface="+mn-cs"/>
                </a:rPr>
                <a:t>Tập hợp không chứa phần tử nào được gọi là tập rỗng, kí hiệu là ∅.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95172" y="3342799"/>
              <a:ext cx="25148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980" dirty="0">
                  <a:solidFill>
                    <a:srgbClr val="B91C1C"/>
                  </a:solidFill>
                  <a:latin typeface="+mn-lt"/>
                  <a:ea typeface="+mn-ea"/>
                  <a:cs typeface="+mn-cs"/>
                </a:rPr>
                <a:t>Ví dụ: Tập nghiệm thực của x² + 1 = 0 là ∅.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3529" y="3728085"/>
              <a:ext cx="23449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00" b="1" dirty="0">
                  <a:solidFill>
                    <a:srgbClr val="1E293B"/>
                  </a:solidFill>
                  <a:latin typeface="+mn-lt"/>
                  <a:ea typeface="+mn-ea"/>
                  <a:cs typeface="+mn-cs"/>
                </a:rPr>
                <a:t>SỐ PHẦN TỬ CỦA TẬP HỢP: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09625" y="4000500"/>
              <a:ext cx="4857750" cy="619125"/>
            </a:xfrm>
            <a:prstGeom prst="roundRect">
              <a:avLst>
                <a:gd name="adj" fmla="val 15385"/>
              </a:avLst>
            </a:prstGeom>
            <a:solidFill>
              <a:srgbClr val="F0FDF4"/>
            </a:solidFill>
            <a:ln w="9525">
              <a:solidFill>
                <a:srgbClr val="BBF7D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94791" y="4125278"/>
              <a:ext cx="33330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b="1" dirty="0">
                  <a:solidFill>
                    <a:srgbClr val="166534"/>
                  </a:solidFill>
                  <a:latin typeface="+mn-lt"/>
                  <a:ea typeface="+mn-ea"/>
                  <a:cs typeface="+mn-cs"/>
                </a:rPr>
                <a:t>Kí hiệu n(A) là số phần tử của tập hợp hữu hạn A.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95172" y="4352449"/>
              <a:ext cx="20823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980" dirty="0">
                  <a:solidFill>
                    <a:srgbClr val="15803D"/>
                  </a:solidFill>
                  <a:latin typeface="+mn-lt"/>
                  <a:ea typeface="+mn-ea"/>
                  <a:cs typeface="+mn-cs"/>
                </a:rPr>
                <a:t>Ví dụ: A = {1; 3; 5; 7; 9} ⇒ n(A) = 5.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286500" y="1238250"/>
              <a:ext cx="5334000" cy="5048250"/>
            </a:xfrm>
            <a:prstGeom prst="roundRect">
              <a:avLst>
                <a:gd name="adj" fmla="val 3019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86500" y="1238250"/>
              <a:ext cx="5334000" cy="438150"/>
            </a:xfrm>
            <a:prstGeom prst="roundRect">
              <a:avLst>
                <a:gd name="adj" fmla="val 34783"/>
              </a:avLst>
            </a:prstGeom>
            <a:solidFill>
              <a:srgbClr val="F0FDF4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86500" y="1619250"/>
              <a:ext cx="5334000" cy="57150"/>
            </a:xfrm>
            <a:prstGeom prst="rect">
              <a:avLst/>
            </a:prstGeom>
            <a:solidFill>
              <a:srgbClr val="F0FDF4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18148" y="1386364"/>
              <a:ext cx="30877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8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B. HAI CÁCH MÔ TẢ MỘT TẬP HỢP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524625" y="1857375"/>
              <a:ext cx="4857750" cy="1428750"/>
            </a:xfrm>
            <a:prstGeom prst="roundRect">
              <a:avLst>
                <a:gd name="adj" fmla="val 8000"/>
              </a:avLst>
            </a:prstGeom>
            <a:solidFill>
              <a:srgbClr val="F8FAFC"/>
            </a:solidFill>
            <a:ln w="9525">
              <a:solidFill>
                <a:srgbClr val="CBD5E1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715125" y="2000250"/>
              <a:ext cx="1428750" cy="247650"/>
            </a:xfrm>
            <a:prstGeom prst="roundRect">
              <a:avLst>
                <a:gd name="adj" fmla="val 23077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55327" y="2066449"/>
              <a:ext cx="11483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98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CÁCH 1: LIỆT KÊ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09791" y="2363152"/>
              <a:ext cx="37386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Liệt kê tất cả các phần tử trong cặp dấu ngoặc nhọn { }.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10172" y="2609374"/>
              <a:ext cx="20577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475569"/>
                </a:buClr>
                <a:buSzTx/>
                <a:buFontTx/>
                <a:buChar char="•"/>
              </a:pPr>
              <a:r>
                <a:rPr lang="vi-VN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Mỗi phần tử chỉ được viết một lần.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10172" y="2818924"/>
              <a:ext cx="27992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475569"/>
                </a:buClr>
                <a:buSzTx/>
                <a:buFontTx/>
                <a:buChar char="•"/>
              </a:pPr>
              <a:r>
                <a:rPr lang="vi-VN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Các phần tử ngăn cách bởi dấu chấm phẩy (;).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10172" y="3028474"/>
              <a:ext cx="3386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980" b="1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VD: Tập các số nguyên tố nhỏ hơn 10: P = {2; 3; 5; 7}.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524625" y="3476625"/>
              <a:ext cx="4857750" cy="1428750"/>
            </a:xfrm>
            <a:prstGeom prst="roundRect">
              <a:avLst>
                <a:gd name="adj" fmla="val 8000"/>
              </a:avLst>
            </a:prstGeom>
            <a:solidFill>
              <a:srgbClr val="F8FAFC"/>
            </a:solidFill>
            <a:ln w="9525">
              <a:solidFill>
                <a:srgbClr val="CBD5E1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715125" y="3619500"/>
              <a:ext cx="2095500" cy="247650"/>
            </a:xfrm>
            <a:prstGeom prst="roundRect">
              <a:avLst>
                <a:gd name="adj" fmla="val 23077"/>
              </a:avLst>
            </a:prstGeom>
            <a:solidFill>
              <a:srgbClr val="DCFCE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83388" y="3685699"/>
              <a:ext cx="27589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980" b="1" dirty="0">
                  <a:solidFill>
                    <a:srgbClr val="15803D"/>
                  </a:solidFill>
                  <a:latin typeface="+mn-lt"/>
                  <a:ea typeface="+mn-ea"/>
                  <a:cs typeface="+mn-cs"/>
                </a:rPr>
                <a:t>CÁCH 2: CHỈ RA TÍNH CHẤT ĐẶC TRƯNG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09791" y="3982402"/>
              <a:ext cx="3934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Chỉ ra điều kiện thỏa mãn để một đối tượng thuộc tập hợp.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710172" y="4228624"/>
              <a:ext cx="20653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475569"/>
                </a:buClr>
                <a:buSzTx/>
                <a:buFontTx/>
                <a:buChar char="•"/>
              </a:pPr>
              <a:r>
                <a:rPr lang="vi-VN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Dạng tổng quát: A = {x ∈ X | P(x)}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10172" y="4438174"/>
              <a:ext cx="30378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475569"/>
                </a:buClr>
                <a:buSzTx/>
                <a:buFontTx/>
                <a:buChar char="•"/>
              </a:pPr>
              <a:r>
                <a:rPr lang="vi-VN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Trong đó P(x) là tính chất đặc trưng của phần tử x.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10172" y="4647724"/>
              <a:ext cx="38781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980" b="1" dirty="0">
                  <a:solidFill>
                    <a:srgbClr val="059669"/>
                  </a:solidFill>
                  <a:latin typeface="+mn-lt"/>
                  <a:ea typeface="+mn-ea"/>
                  <a:cs typeface="+mn-cs"/>
                </a:rPr>
                <a:t>VD: Tập các nghiệm thực của x² - 4 = 0: S = {x ∈ R | x² - 4 = 0}.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524625" y="5095875"/>
              <a:ext cx="4857750" cy="619125"/>
            </a:xfrm>
            <a:prstGeom prst="roundRect">
              <a:avLst>
                <a:gd name="adj" fmla="val 15385"/>
              </a:avLst>
            </a:prstGeom>
            <a:solidFill>
              <a:srgbClr val="FFFBEB"/>
            </a:solidFill>
            <a:ln w="9525">
              <a:solidFill>
                <a:srgbClr val="FDE68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10172" y="5228749"/>
              <a:ext cx="13411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98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💡 LƯU Ý SƯ PHẠM: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10172" y="5438299"/>
              <a:ext cx="44520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980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Khi tập hợp có vô số phần tử, phương pháp nêu tính chất đặc trưng là tối ưu!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10" name="header-group"/>
          <p:cNvGrpSpPr/>
          <p:nvPr/>
        </p:nvGrpSpPr>
        <p:grpSpPr>
          <a:xfrm>
            <a:off x="571500" y="304800"/>
            <a:ext cx="11049000" cy="685800"/>
            <a:chOff x="571500" y="304800"/>
            <a:chExt cx="11049000" cy="685800"/>
          </a:xfrm>
        </p:grpSpPr>
        <p:sp>
          <p:nvSpPr>
            <p:cNvPr id="3" name="Rectangle 3"/>
            <p:cNvSpPr/>
            <p:nvPr/>
          </p:nvSpPr>
          <p:spPr>
            <a:xfrm>
              <a:off x="571500" y="304800"/>
              <a:ext cx="11049000" cy="6858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571500" y="304800"/>
              <a:ext cx="57150" cy="6858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800100" y="419100"/>
              <a:ext cx="723900" cy="247650"/>
            </a:xfrm>
            <a:prstGeom prst="roundRect">
              <a:avLst>
                <a:gd name="adj" fmla="val 23077"/>
              </a:avLst>
            </a:prstGeom>
            <a:solidFill>
              <a:srgbClr val="EFF6FF"/>
            </a:solidFill>
            <a:ln w="9525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78936" y="485299"/>
              <a:ext cx="3662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98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BÀI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658493" y="431482"/>
              <a:ext cx="38898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2. TẬP HỢP CON VÀ BIỂU ĐỒ VEN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5147" y="771049"/>
              <a:ext cx="35338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QUAN HỆ BAO HÀM VÀ TRỰC QUAN HÓA TOÁN HỌC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07858" y="590074"/>
              <a:ext cx="25794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980" b="1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GV: Nguyễn Văn Sang • CĐN số 1 - BQP</a:t>
              </a:r>
            </a:p>
          </p:txBody>
        </p:sp>
      </p:grpSp>
      <p:grpSp>
        <p:nvGrpSpPr>
          <p:cNvPr id="46" name="content"/>
          <p:cNvGrpSpPr/>
          <p:nvPr/>
        </p:nvGrpSpPr>
        <p:grpSpPr>
          <a:xfrm>
            <a:off x="571500" y="1238250"/>
            <a:ext cx="11049000" cy="5048250"/>
            <a:chOff x="571500" y="1238250"/>
            <a:chExt cx="11049000" cy="5048250"/>
          </a:xfrm>
        </p:grpSpPr>
        <p:sp>
          <p:nvSpPr>
            <p:cNvPr id="11" name="Rectangle 11"/>
            <p:cNvSpPr/>
            <p:nvPr/>
          </p:nvSpPr>
          <p:spPr>
            <a:xfrm>
              <a:off x="571500" y="1238250"/>
              <a:ext cx="5715000" cy="5048250"/>
            </a:xfrm>
            <a:prstGeom prst="roundRect">
              <a:avLst>
                <a:gd name="adj" fmla="val 3019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" y="1238250"/>
              <a:ext cx="5715000" cy="438150"/>
            </a:xfrm>
            <a:prstGeom prst="roundRect">
              <a:avLst>
                <a:gd name="adj" fmla="val 34783"/>
              </a:avLst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1619250"/>
              <a:ext cx="5715000" cy="57150"/>
            </a:xfrm>
            <a:prstGeom prst="rect">
              <a:avLst/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03148" y="1386364"/>
              <a:ext cx="35532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8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A. ĐỊNH NGHĨA TẬP HỢP CON (SUBSET)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09625" y="1857375"/>
              <a:ext cx="5238750" cy="952500"/>
            </a:xfrm>
            <a:prstGeom prst="roundRect">
              <a:avLst>
                <a:gd name="adj" fmla="val 12000"/>
              </a:avLst>
            </a:prstGeom>
            <a:solidFill>
              <a:srgbClr val="F8FAFC"/>
            </a:solidFill>
            <a:ln w="9525">
              <a:solidFill>
                <a:srgbClr val="CBD5E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94410" y="1993106"/>
              <a:ext cx="845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Định nghĩa: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94791" y="2229802"/>
              <a:ext cx="44025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Nếu mọi phần tử của tập hợp A đều là phần tử của tập hợp B thì ta nói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94410" y="2431256"/>
              <a:ext cx="38024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120" b="1" dirty="0">
                  <a:solidFill>
                    <a:srgbClr val="1E40AF"/>
                  </a:solidFill>
                  <a:latin typeface="+mn-lt"/>
                  <a:ea typeface="+mn-ea"/>
                  <a:cs typeface="+mn-cs"/>
                </a:rPr>
                <a:t>A là tập hợp con của B, kí hiệu là A ⊂ B (hoặc B ⊃ A).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95172" y="2637949"/>
              <a:ext cx="24888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980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Biểu diễn logic: A ⊂ B ⇔ (∀x, x ∈ A ⇒ x ∈ B)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3529" y="2966085"/>
              <a:ext cx="24205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00" b="1" dirty="0">
                  <a:solidFill>
                    <a:srgbClr val="1E293B"/>
                  </a:solidFill>
                  <a:latin typeface="+mn-lt"/>
                  <a:ea typeface="+mn-ea"/>
                  <a:cs typeface="+mn-cs"/>
                </a:rPr>
                <a:t>B. TÍNH CHẤT QUAN TRỌNG: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9625" y="3238500"/>
              <a:ext cx="5238750" cy="1381125"/>
            </a:xfrm>
            <a:prstGeom prst="roundRect">
              <a:avLst>
                <a:gd name="adj" fmla="val 8276"/>
              </a:avLst>
            </a:prstGeom>
            <a:solidFill>
              <a:srgbClr val="F1F5F9"/>
            </a:solidFill>
            <a:ln w="9525">
              <a:solidFill>
                <a:srgbClr val="E2E8F0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94791" y="3391852"/>
              <a:ext cx="40972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1. A ⊂ A với mọi tập hợp A (Mọi tập đều là con của chính nó).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94791" y="3677602"/>
              <a:ext cx="43697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2. ∅ ⊂ A với mọi tập hợp A (Quy ước tập rỗng là con của mọi tập).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94791" y="3963352"/>
              <a:ext cx="31009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3. Tính bắc cầu: Nếu A ⊂ B và B ⊂ C thì A ⊂ C.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94791" y="4249102"/>
              <a:ext cx="32165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b="1" dirty="0">
                  <a:solidFill>
                    <a:srgbClr val="B91C1C"/>
                  </a:solidFill>
                  <a:latin typeface="+mn-lt"/>
                  <a:ea typeface="+mn-ea"/>
                  <a:cs typeface="+mn-cs"/>
                </a:rPr>
                <a:t>4. Kí hiệu A ⊄ B: A không phải là tập con của B.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09625" y="4762500"/>
              <a:ext cx="5238750" cy="809625"/>
            </a:xfrm>
            <a:prstGeom prst="roundRect">
              <a:avLst>
                <a:gd name="adj" fmla="val 14118"/>
              </a:avLst>
            </a:prstGeom>
            <a:solidFill>
              <a:srgbClr val="F0FDF4"/>
            </a:solidFill>
            <a:ln w="9525">
              <a:solidFill>
                <a:srgbClr val="BBF7D0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94410" y="4879181"/>
              <a:ext cx="28745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120" b="1" dirty="0">
                  <a:solidFill>
                    <a:srgbClr val="166534"/>
                  </a:solidFill>
                  <a:latin typeface="+mn-lt"/>
                  <a:ea typeface="+mn-ea"/>
                  <a:cs typeface="+mn-cs"/>
                </a:rPr>
                <a:t>C. HAI TẬP HỢP BẰNG NHAU (A = B):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94791" y="5125402"/>
              <a:ext cx="47272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15803D"/>
                  </a:solidFill>
                  <a:latin typeface="+mn-lt"/>
                  <a:ea typeface="+mn-ea"/>
                  <a:cs typeface="+mn-cs"/>
                </a:rPr>
                <a:t>Hai tập hợp A và B bằng nhau nếu mỗi phần tử của A thuộc B và ngược lại.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94791" y="5334952"/>
              <a:ext cx="22532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b="1" dirty="0">
                  <a:solidFill>
                    <a:srgbClr val="15803D"/>
                  </a:solidFill>
                  <a:latin typeface="+mn-lt"/>
                  <a:ea typeface="+mn-ea"/>
                  <a:cs typeface="+mn-cs"/>
                </a:rPr>
                <a:t>Ký hiệu: A = B ⇔ (A ⊂ B và B ⊂ A)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477000" y="1238250"/>
              <a:ext cx="5143500" cy="5048250"/>
            </a:xfrm>
            <a:prstGeom prst="roundRect">
              <a:avLst>
                <a:gd name="adj" fmla="val 3019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77000" y="1238250"/>
              <a:ext cx="5143500" cy="438150"/>
            </a:xfrm>
            <a:prstGeom prst="roundRect">
              <a:avLst>
                <a:gd name="adj" fmla="val 34783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77000" y="1619250"/>
              <a:ext cx="5143500" cy="57150"/>
            </a:xfrm>
            <a:prstGeom prst="rect">
              <a:avLst/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08648" y="1386364"/>
              <a:ext cx="44533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8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TRỰC QUAN HÓA: BIỂU ĐỒ VEN (VENN DIAGRAM)</a:t>
              </a:r>
            </a:p>
          </p:txBody>
        </p:sp>
        <p:grpSp>
          <p:nvGrpSpPr>
            <p:cNvPr id="41" name="venn-subset"/>
            <p:cNvGrpSpPr/>
            <p:nvPr/>
          </p:nvGrpSpPr>
          <p:grpSpPr>
            <a:xfrm>
              <a:off x="7048500" y="2095500"/>
              <a:ext cx="4167108" cy="2286000"/>
              <a:chOff x="7048500" y="2095500"/>
              <a:chExt cx="4167108" cy="2286000"/>
            </a:xfrm>
          </p:grpSpPr>
          <p:sp>
            <p:nvSpPr>
              <p:cNvPr id="34" name="Ellipse 34"/>
              <p:cNvSpPr/>
              <p:nvPr/>
            </p:nvSpPr>
            <p:spPr>
              <a:xfrm>
                <a:off x="7048500" y="2095500"/>
                <a:ext cx="3810000" cy="2286000"/>
              </a:xfrm>
              <a:prstGeom prst="ellipse">
                <a:avLst/>
              </a:prstGeom>
              <a:solidFill>
                <a:srgbClr val="EFF6FF"/>
              </a:solidFill>
              <a:ln w="23812">
                <a:solidFill>
                  <a:srgbClr val="3B82F6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10564368" y="2488882"/>
                <a:ext cx="6512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650" b="1" dirty="0">
                    <a:solidFill>
                      <a:srgbClr val="1E40AF"/>
                    </a:solidFill>
                    <a:latin typeface="+mn-lt"/>
                    <a:ea typeface="+mn-ea"/>
                    <a:cs typeface="+mn-cs"/>
                  </a:rPr>
                  <a:t>Tập B</a:t>
                </a:r>
              </a:p>
            </p:txBody>
          </p:sp>
          <p:sp>
            <p:nvSpPr>
              <p:cNvPr id="36" name="Ellipse 36"/>
              <p:cNvSpPr/>
              <p:nvPr/>
            </p:nvSpPr>
            <p:spPr>
              <a:xfrm>
                <a:off x="7524750" y="2714625"/>
                <a:ext cx="1905000" cy="1238250"/>
              </a:xfrm>
              <a:prstGeom prst="ellipse">
                <a:avLst/>
              </a:prstGeom>
              <a:solidFill>
                <a:srgbClr val="DBEAFE"/>
              </a:solidFill>
              <a:ln w="23812">
                <a:solidFill>
                  <a:srgbClr val="1D4ED8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374380" y="3124200"/>
                <a:ext cx="59203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500" b="1" dirty="0">
                    <a:solidFill>
                      <a:srgbClr val="1E3A8A"/>
                    </a:solidFill>
                    <a:latin typeface="+mn-lt"/>
                    <a:ea typeface="+mn-ea"/>
                    <a:cs typeface="+mn-cs"/>
                  </a:rPr>
                  <a:t>Tập A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279439" y="3458528"/>
                <a:ext cx="3956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-VN" sz="1050" b="1" dirty="0">
                    <a:solidFill>
                      <a:srgbClr val="1E40AF"/>
                    </a:solidFill>
                    <a:latin typeface="+mn-lt"/>
                    <a:ea typeface="+mn-ea"/>
                    <a:cs typeface="+mn-cs"/>
                  </a:rPr>
                  <a:t>A ⊂ B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710166" y="3410902"/>
                <a:ext cx="102606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05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Phần tử thuộc B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9710166" y="3601402"/>
                <a:ext cx="135152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05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nhưng không thuộc A</a:t>
                </a:r>
              </a:p>
            </p:txBody>
          </p:sp>
        </p:grpSp>
        <p:sp>
          <p:nvSpPr>
            <p:cNvPr id="42" name="Rectangle 42"/>
            <p:cNvSpPr/>
            <p:nvPr/>
          </p:nvSpPr>
          <p:spPr>
            <a:xfrm>
              <a:off x="6715125" y="4762500"/>
              <a:ext cx="4667250" cy="809625"/>
            </a:xfrm>
            <a:prstGeom prst="roundRect">
              <a:avLst>
                <a:gd name="adj" fmla="val 14118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900291" y="4887278"/>
              <a:ext cx="16236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Quy tắc vẽ biểu đồ Ven: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900672" y="5104924"/>
              <a:ext cx="32391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475569"/>
                </a:buClr>
                <a:buSzTx/>
                <a:buFontTx/>
                <a:buChar char="•"/>
              </a:pPr>
              <a:r>
                <a:rPr lang="vi-VN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Mỗi tập hợp được biểu diễn bằng một đường cong kín.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00672" y="5295424"/>
              <a:ext cx="44237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475569"/>
                </a:buClr>
                <a:buSzTx/>
                <a:buFontTx/>
                <a:buChar char="•"/>
              </a:pPr>
              <a:r>
                <a:rPr lang="vi-VN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Tập A ⊂ B biểu thị bằng hình phẳng A nằm hoàn toàn trong hình phẳng B.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10" name="header-group"/>
          <p:cNvGrpSpPr/>
          <p:nvPr/>
        </p:nvGrpSpPr>
        <p:grpSpPr>
          <a:xfrm>
            <a:off x="571500" y="304800"/>
            <a:ext cx="11049000" cy="685800"/>
            <a:chOff x="571500" y="304800"/>
            <a:chExt cx="11049000" cy="685800"/>
          </a:xfrm>
        </p:grpSpPr>
        <p:sp>
          <p:nvSpPr>
            <p:cNvPr id="3" name="Rectangle 3"/>
            <p:cNvSpPr/>
            <p:nvPr/>
          </p:nvSpPr>
          <p:spPr>
            <a:xfrm>
              <a:off x="571500" y="304800"/>
              <a:ext cx="11049000" cy="6858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571500" y="304800"/>
              <a:ext cx="57150" cy="6858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800100" y="419100"/>
              <a:ext cx="723900" cy="247650"/>
            </a:xfrm>
            <a:prstGeom prst="roundRect">
              <a:avLst>
                <a:gd name="adj" fmla="val 23077"/>
              </a:avLst>
            </a:prstGeom>
            <a:solidFill>
              <a:srgbClr val="EFF6FF"/>
            </a:solidFill>
            <a:ln w="9525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78936" y="485299"/>
              <a:ext cx="3662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98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BÀI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658493" y="431482"/>
              <a:ext cx="55324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3. CÁC TẬP HỢP SỐ VÀ MỐI QUAN HỆ BAO HÀM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5147" y="771049"/>
              <a:ext cx="35491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HỆ THỐNG SỐ TỰ NHIÊN, NGUYÊN, HỮU TỈ VÀ THỰC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07858" y="590074"/>
              <a:ext cx="25794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980" b="1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GV: Nguyễn Văn Sang • CĐN số 1 - BQP</a:t>
              </a:r>
            </a:p>
          </p:txBody>
        </p:sp>
      </p:grpSp>
      <p:grpSp>
        <p:nvGrpSpPr>
          <p:cNvPr id="54" name="content"/>
          <p:cNvGrpSpPr/>
          <p:nvPr/>
        </p:nvGrpSpPr>
        <p:grpSpPr>
          <a:xfrm>
            <a:off x="571500" y="1238250"/>
            <a:ext cx="11049000" cy="5048250"/>
            <a:chOff x="571500" y="1238250"/>
            <a:chExt cx="11049000" cy="5048250"/>
          </a:xfrm>
        </p:grpSpPr>
        <p:sp>
          <p:nvSpPr>
            <p:cNvPr id="11" name="Rectangle 11"/>
            <p:cNvSpPr/>
            <p:nvPr/>
          </p:nvSpPr>
          <p:spPr>
            <a:xfrm>
              <a:off x="571500" y="1238250"/>
              <a:ext cx="5334000" cy="5048250"/>
            </a:xfrm>
            <a:prstGeom prst="roundRect">
              <a:avLst>
                <a:gd name="adj" fmla="val 3019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" y="1238250"/>
              <a:ext cx="5334000" cy="438150"/>
            </a:xfrm>
            <a:prstGeom prst="roundRect">
              <a:avLst>
                <a:gd name="adj" fmla="val 34783"/>
              </a:avLst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1619250"/>
              <a:ext cx="5334000" cy="57150"/>
            </a:xfrm>
            <a:prstGeom prst="rect">
              <a:avLst/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03148" y="1386364"/>
              <a:ext cx="33610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8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HỆ THỐNG CÁC TẬP HỢP SỐ ĐÃ HỌC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09625" y="1857375"/>
              <a:ext cx="4857750" cy="619125"/>
            </a:xfrm>
            <a:prstGeom prst="roundRect">
              <a:avLst>
                <a:gd name="adj" fmla="val 15385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94410" y="1993106"/>
              <a:ext cx="21948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1. Tập hợp số tự nhiên ℕ và ℕ*: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94791" y="2229802"/>
              <a:ext cx="21463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ℕ = {0; 1; 2; 3; ...}; ℕ* = {1; 2; 3; ...}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09625" y="2571750"/>
              <a:ext cx="4857750" cy="619125"/>
            </a:xfrm>
            <a:prstGeom prst="roundRect">
              <a:avLst>
                <a:gd name="adj" fmla="val 15385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94410" y="2707481"/>
              <a:ext cx="17472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2. Tập hợp số nguyên ℤ: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94791" y="2944178"/>
              <a:ext cx="35257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ℤ = {...; -2; -1; 0; 1; 2; ...} (gồm số âm, số 0 và số dương)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9625" y="3286125"/>
              <a:ext cx="4857750" cy="714375"/>
            </a:xfrm>
            <a:prstGeom prst="roundRect">
              <a:avLst>
                <a:gd name="adj" fmla="val 13333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94410" y="3421856"/>
              <a:ext cx="16213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3. Tập hợp số hữu tỉ ℚ: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94791" y="3658552"/>
              <a:ext cx="15566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ℚ = {a/b | a, b ∈ ℤ, b ≠ 0}.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95172" y="3838099"/>
              <a:ext cx="36236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Biểu diễn dạng số thập phân hữu hạn hoặc vô hạn tuần hoàn.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09625" y="4095750"/>
              <a:ext cx="4857750" cy="809625"/>
            </a:xfrm>
            <a:prstGeom prst="roundRect">
              <a:avLst>
                <a:gd name="adj" fmla="val 11765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94410" y="4231481"/>
              <a:ext cx="15295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4. Tập hợp số thực ℝ: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94791" y="4468178"/>
              <a:ext cx="45029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ℝ gồm các số hữu tỉ ℚ và số vô tỉ 𝕀 (thập phân vô hạn không tuần hoàn).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95172" y="4666774"/>
              <a:ext cx="26210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980" b="1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Ví dụ số vô tỉ: √2 = 1.4142..., π = 3.14159...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09625" y="5029200"/>
              <a:ext cx="4857750" cy="523875"/>
            </a:xfrm>
            <a:prstGeom prst="roundRect">
              <a:avLst>
                <a:gd name="adj" fmla="val 21818"/>
              </a:avLst>
            </a:prstGeom>
            <a:solidFill>
              <a:srgbClr val="EFF6FF"/>
            </a:solidFill>
            <a:ln w="14288">
              <a:solidFill>
                <a:srgbClr val="BFDBFE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522041" y="5207318"/>
              <a:ext cx="14329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3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ℕ* ⊂ ℕ ⊂ ℤ ⊂ ℚ ⊂ ℝ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286500" y="1238250"/>
              <a:ext cx="5334000" cy="5048250"/>
            </a:xfrm>
            <a:prstGeom prst="roundRect">
              <a:avLst>
                <a:gd name="adj" fmla="val 3019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86500" y="1238250"/>
              <a:ext cx="5334000" cy="438150"/>
            </a:xfrm>
            <a:prstGeom prst="roundRect">
              <a:avLst>
                <a:gd name="adj" fmla="val 34783"/>
              </a:avLst>
            </a:prstGeom>
            <a:solidFill>
              <a:srgbClr val="F0FDF4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86500" y="1619250"/>
              <a:ext cx="5334000" cy="57150"/>
            </a:xfrm>
            <a:prstGeom prst="rect">
              <a:avLst/>
            </a:prstGeom>
            <a:solidFill>
              <a:srgbClr val="F0FDF4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18148" y="1386364"/>
              <a:ext cx="26935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8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SƠ ĐỒ BAO HÀM TẬP HỢP SỐ</a:t>
              </a:r>
            </a:p>
          </p:txBody>
        </p:sp>
        <p:grpSp>
          <p:nvGrpSpPr>
            <p:cNvPr id="50" name="nested-venn"/>
            <p:cNvGrpSpPr/>
            <p:nvPr/>
          </p:nvGrpSpPr>
          <p:grpSpPr>
            <a:xfrm>
              <a:off x="6667500" y="1952625"/>
              <a:ext cx="4572000" cy="3238500"/>
              <a:chOff x="6667500" y="1952625"/>
              <a:chExt cx="4572000" cy="323850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6667500" y="1952625"/>
                <a:ext cx="4572000" cy="3238500"/>
              </a:xfrm>
              <a:prstGeom prst="roundRect">
                <a:avLst>
                  <a:gd name="adj" fmla="val 5882"/>
                </a:avLst>
              </a:prstGeom>
              <a:solidFill>
                <a:srgbClr val="F8FAFC"/>
              </a:solidFill>
              <a:ln w="19050">
                <a:solidFill>
                  <a:srgbClr val="475569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10754868" y="2107882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65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ℝ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9906000" y="2714625"/>
                <a:ext cx="1143000" cy="2190750"/>
              </a:xfrm>
              <a:prstGeom prst="roundRect">
                <a:avLst>
                  <a:gd name="adj" fmla="val 11667"/>
                </a:avLst>
              </a:prstGeom>
              <a:solidFill>
                <a:srgbClr val="FEF2F2"/>
              </a:solidFill>
              <a:ln w="14288">
                <a:solidFill>
                  <a:srgbClr val="EF4444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10060949" y="2949892"/>
                <a:ext cx="83310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-VN" sz="1350" b="1" dirty="0">
                    <a:solidFill>
                      <a:srgbClr val="B91C1C"/>
                    </a:solidFill>
                    <a:latin typeface="+mn-lt"/>
                    <a:ea typeface="+mn-ea"/>
                    <a:cs typeface="+mn-cs"/>
                  </a:rPr>
                  <a:t>Số vô tỉ 𝕀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0198567" y="3315652"/>
                <a:ext cx="55786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l-GR" sz="1050" dirty="0">
                    <a:solidFill>
                      <a:srgbClr val="DC2626"/>
                    </a:solidFill>
                    <a:latin typeface="+mn-lt"/>
                    <a:ea typeface="+mn-ea"/>
                    <a:cs typeface="+mn-cs"/>
                  </a:rPr>
                  <a:t>√2, √3, π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10116541" y="3601402"/>
                <a:ext cx="72191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-VN" sz="1050" dirty="0">
                    <a:solidFill>
                      <a:srgbClr val="DC2626"/>
                    </a:solidFill>
                    <a:latin typeface="+mn-lt"/>
                    <a:ea typeface="+mn-ea"/>
                    <a:cs typeface="+mn-cs"/>
                  </a:rPr>
                  <a:t>e = 2.718...</a:t>
                </a:r>
              </a:p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6858000" y="2286000"/>
                <a:ext cx="2857500" cy="2667000"/>
              </a:xfrm>
              <a:prstGeom prst="ellipse">
                <a:avLst/>
              </a:prstGeom>
              <a:solidFill>
                <a:srgbClr val="F0FDF4"/>
              </a:solidFill>
              <a:ln w="19050">
                <a:solidFill>
                  <a:srgbClr val="10B981"/>
                </a:solidFill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9231630" y="2552700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500" b="1" dirty="0">
                    <a:solidFill>
                      <a:srgbClr val="065F46"/>
                    </a:solidFill>
                    <a:latin typeface="+mn-lt"/>
                    <a:ea typeface="+mn-ea"/>
                    <a:cs typeface="+mn-cs"/>
                  </a:rPr>
                  <a:t>ℚ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9139047" y="2990374"/>
                <a:ext cx="49394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980" dirty="0">
                    <a:solidFill>
                      <a:srgbClr val="047857"/>
                    </a:solidFill>
                    <a:latin typeface="+mn-lt"/>
                    <a:ea typeface="+mn-ea"/>
                    <a:cs typeface="+mn-cs"/>
                  </a:rPr>
                  <a:t>3/4, -0.5</a:t>
                </a:r>
              </a:p>
            </p:txBody>
          </p:sp>
          <p:sp>
            <p:nvSpPr>
              <p:cNvPr id="44" name="Ellipse 44"/>
              <p:cNvSpPr/>
              <p:nvPr/>
            </p:nvSpPr>
            <p:spPr>
              <a:xfrm>
                <a:off x="7048500" y="2762250"/>
                <a:ext cx="2095500" cy="2000250"/>
              </a:xfrm>
              <a:prstGeom prst="ellipse">
                <a:avLst/>
              </a:prstGeom>
              <a:solidFill>
                <a:srgbClr val="EFF6FF"/>
              </a:solidFill>
              <a:ln w="19050">
                <a:solidFill>
                  <a:srgbClr val="3B82F6"/>
                </a:solidFill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8660892" y="3140392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350" b="1" dirty="0">
                    <a:solidFill>
                      <a:srgbClr val="1E40AF"/>
                    </a:solidFill>
                    <a:latin typeface="+mn-lt"/>
                    <a:ea typeface="+mn-ea"/>
                    <a:cs typeface="+mn-cs"/>
                  </a:rPr>
                  <a:t>ℤ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662797" y="3466624"/>
                <a:ext cx="31782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980" dirty="0">
                    <a:solidFill>
                      <a:srgbClr val="1D4ED8"/>
                    </a:solidFill>
                    <a:latin typeface="+mn-lt"/>
                    <a:ea typeface="+mn-ea"/>
                    <a:cs typeface="+mn-cs"/>
                  </a:rPr>
                  <a:t>-1, -5</a:t>
                </a:r>
              </a:p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7286625" y="3429000"/>
                <a:ext cx="1238250" cy="1143000"/>
              </a:xfrm>
              <a:prstGeom prst="ellipse">
                <a:avLst/>
              </a:prstGeom>
              <a:solidFill>
                <a:srgbClr val="DBEAFE"/>
              </a:solidFill>
              <a:ln w="19050">
                <a:solidFill>
                  <a:srgbClr val="1D4ED8"/>
                </a:solidFill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7846415" y="3807142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-VN" sz="1350" b="1" dirty="0">
                    <a:solidFill>
                      <a:srgbClr val="1E3A8A"/>
                    </a:solidFill>
                    <a:latin typeface="+mn-lt"/>
                    <a:ea typeface="+mn-ea"/>
                    <a:cs typeface="+mn-cs"/>
                  </a:rPr>
                  <a:t>ℕ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7589118" y="4085749"/>
                <a:ext cx="63326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-VN" sz="980" dirty="0">
                    <a:solidFill>
                      <a:srgbClr val="1E40AF"/>
                    </a:solidFill>
                    <a:latin typeface="+mn-lt"/>
                    <a:ea typeface="+mn-ea"/>
                    <a:cs typeface="+mn-cs"/>
                  </a:rPr>
                  <a:t>0, 1, 2, 3...</a:t>
                </a:r>
              </a:p>
            </p:txBody>
          </p:sp>
        </p:grpSp>
        <p:sp>
          <p:nvSpPr>
            <p:cNvPr id="51" name="Rectangle 51"/>
            <p:cNvSpPr/>
            <p:nvPr/>
          </p:nvSpPr>
          <p:spPr>
            <a:xfrm>
              <a:off x="6524625" y="5381625"/>
              <a:ext cx="4857750" cy="666750"/>
            </a:xfrm>
            <a:prstGeom prst="roundRect">
              <a:avLst>
                <a:gd name="adj" fmla="val 14286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709791" y="5506402"/>
              <a:ext cx="23951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Quy tắc biểu diễn trên trục số thực: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710172" y="5724049"/>
              <a:ext cx="47446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Mỗi số thực được biểu diễn bởi một điểm trên trục số và ngược lại (song ánh 1-1).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10" name="header-group"/>
          <p:cNvGrpSpPr/>
          <p:nvPr/>
        </p:nvGrpSpPr>
        <p:grpSpPr>
          <a:xfrm>
            <a:off x="571500" y="304800"/>
            <a:ext cx="11049000" cy="685800"/>
            <a:chOff x="571500" y="304800"/>
            <a:chExt cx="11049000" cy="685800"/>
          </a:xfrm>
        </p:grpSpPr>
        <p:sp>
          <p:nvSpPr>
            <p:cNvPr id="3" name="Rectangle 3"/>
            <p:cNvSpPr/>
            <p:nvPr/>
          </p:nvSpPr>
          <p:spPr>
            <a:xfrm>
              <a:off x="571500" y="304800"/>
              <a:ext cx="11049000" cy="6858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571500" y="304800"/>
              <a:ext cx="57150" cy="6858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800100" y="419100"/>
              <a:ext cx="723900" cy="247650"/>
            </a:xfrm>
            <a:prstGeom prst="roundRect">
              <a:avLst>
                <a:gd name="adj" fmla="val 23077"/>
              </a:avLst>
            </a:prstGeom>
            <a:solidFill>
              <a:srgbClr val="EFF6FF"/>
            </a:solidFill>
            <a:ln w="9525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78936" y="485299"/>
              <a:ext cx="3662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98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BÀI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658493" y="431482"/>
              <a:ext cx="45203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4. CÁC TẬP CON THƯỜNG DÙNG CỦA ℝ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5147" y="771049"/>
              <a:ext cx="37353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KHOẢNG, ĐOẠN, NỬA KHOẢNG VÀ BIỂU DIỄN TRỤC SỐ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07858" y="590074"/>
              <a:ext cx="25794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980" b="1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GV: Nguyễn Văn Sang • CĐN số 1 - BQP</a:t>
              </a:r>
            </a:p>
          </p:txBody>
        </p:sp>
      </p:grpSp>
      <p:grpSp>
        <p:nvGrpSpPr>
          <p:cNvPr id="84" name="content"/>
          <p:cNvGrpSpPr/>
          <p:nvPr/>
        </p:nvGrpSpPr>
        <p:grpSpPr>
          <a:xfrm>
            <a:off x="571500" y="1238250"/>
            <a:ext cx="11049000" cy="4810125"/>
            <a:chOff x="571500" y="1238250"/>
            <a:chExt cx="11049000" cy="4810125"/>
          </a:xfrm>
        </p:grpSpPr>
        <p:sp>
          <p:nvSpPr>
            <p:cNvPr id="11" name="Rectangle 11"/>
            <p:cNvSpPr/>
            <p:nvPr/>
          </p:nvSpPr>
          <p:spPr>
            <a:xfrm>
              <a:off x="571500" y="1238250"/>
              <a:ext cx="11049000" cy="400050"/>
            </a:xfrm>
            <a:prstGeom prst="roundRect">
              <a:avLst>
                <a:gd name="adj" fmla="val 19048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90810" y="1373981"/>
              <a:ext cx="6663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TÊN GỌI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865862" y="1373981"/>
              <a:ext cx="15072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KÍ HIỆU &amp; TẬP HỢP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565665" y="1373981"/>
              <a:ext cx="2489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HÌNH BIỂU DIỄN TRÊN TRỤC SỐ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71500" y="1695450"/>
              <a:ext cx="11049000" cy="762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92166" y="1918335"/>
              <a:ext cx="8636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Đoạn [a; b]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69957" y="2169795"/>
              <a:ext cx="70808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Lấy cả 2 mút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754672" y="1926431"/>
              <a:ext cx="17296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12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[a; b] = {x ∈ ℝ | a ≤ x ≤ b}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5715000" y="1936432"/>
              <a:ext cx="4619625" cy="460629"/>
              <a:chOff x="5715000" y="1936432"/>
              <a:chExt cx="4619625" cy="460629"/>
            </a:xfrm>
          </p:grpSpPr>
          <p:sp>
            <p:nvSpPr>
              <p:cNvPr id="19" name="Line 19"/>
              <p:cNvSpPr/>
              <p:nvPr/>
            </p:nvSpPr>
            <p:spPr>
              <a:xfrm>
                <a:off x="5715000" y="2047875"/>
                <a:ext cx="457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572000" h="9525">
                    <a:moveTo>
                      <a:pt x="0" y="0"/>
                    </a:moveTo>
                    <a:lnTo>
                      <a:pt x="4572000" y="0"/>
                    </a:ln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  <p:sp>
            <p:nvSpPr>
              <p:cNvPr id="20" name="Polygon 20"/>
              <p:cNvSpPr/>
              <p:nvPr/>
            </p:nvSpPr>
            <p:spPr>
              <a:xfrm>
                <a:off x="10239375" y="200025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95250" y="47625"/>
                    </a:moveTo>
                    <a:lnTo>
                      <a:pt x="0" y="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94A3B8"/>
              </a:solidFill>
              <a:ln>
                <a:noFill/>
              </a:ln>
            </p:spPr>
          </p:sp>
          <p:sp>
            <p:nvSpPr>
              <p:cNvPr id="21" name="Line 21"/>
              <p:cNvSpPr/>
              <p:nvPr/>
            </p:nvSpPr>
            <p:spPr>
              <a:xfrm>
                <a:off x="5905500" y="195262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0"/>
                    </a:moveTo>
                    <a:lnTo>
                      <a:pt x="190500" y="190500"/>
                    </a:lnTo>
                  </a:path>
                </a:pathLst>
              </a:custGeom>
              <a:noFill/>
              <a:ln w="14288">
                <a:solidFill>
                  <a:srgbClr val="CBD5E1"/>
                </a:solidFill>
              </a:ln>
            </p:spPr>
          </p:sp>
          <p:sp>
            <p:nvSpPr>
              <p:cNvPr id="22" name="Line 22"/>
              <p:cNvSpPr/>
              <p:nvPr/>
            </p:nvSpPr>
            <p:spPr>
              <a:xfrm>
                <a:off x="6191250" y="195262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0"/>
                    </a:moveTo>
                    <a:lnTo>
                      <a:pt x="190500" y="190500"/>
                    </a:lnTo>
                  </a:path>
                </a:pathLst>
              </a:custGeom>
              <a:noFill/>
              <a:ln w="14288">
                <a:solidFill>
                  <a:srgbClr val="CBD5E1"/>
                </a:solidFill>
              </a:ln>
            </p:spPr>
          </p:sp>
          <p:sp>
            <p:nvSpPr>
              <p:cNvPr id="23" name="Line 23"/>
              <p:cNvSpPr/>
              <p:nvPr/>
            </p:nvSpPr>
            <p:spPr>
              <a:xfrm>
                <a:off x="6477000" y="195262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0"/>
                    </a:moveTo>
                    <a:lnTo>
                      <a:pt x="190500" y="190500"/>
                    </a:lnTo>
                  </a:path>
                </a:pathLst>
              </a:custGeom>
              <a:noFill/>
              <a:ln w="14288">
                <a:solidFill>
                  <a:srgbClr val="CBD5E1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040118" y="1936432"/>
                <a:ext cx="9073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650" b="1" dirty="0">
                    <a:solidFill>
                      <a:srgbClr val="2563EB"/>
                    </a:solidFill>
                    <a:latin typeface="+mn-lt"/>
                    <a:ea typeface="+mn-ea"/>
                    <a:cs typeface="+mn-cs"/>
                  </a:rPr>
                  <a:t>[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043166" y="2191702"/>
                <a:ext cx="8928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05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26" name="Line 26"/>
              <p:cNvSpPr/>
              <p:nvPr/>
            </p:nvSpPr>
            <p:spPr>
              <a:xfrm>
                <a:off x="7191375" y="2047875"/>
                <a:ext cx="1619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19250" h="9525">
                    <a:moveTo>
                      <a:pt x="0" y="0"/>
                    </a:moveTo>
                    <a:lnTo>
                      <a:pt x="1619250" y="0"/>
                    </a:lnTo>
                  </a:path>
                </a:pathLst>
              </a:custGeom>
              <a:noFill/>
              <a:ln w="38100">
                <a:solidFill>
                  <a:srgbClr val="2563EB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8849868" y="1936432"/>
                <a:ext cx="9073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650" b="1" dirty="0">
                    <a:solidFill>
                      <a:srgbClr val="2563EB"/>
                    </a:solidFill>
                    <a:latin typeface="+mn-lt"/>
                    <a:ea typeface="+mn-ea"/>
                    <a:cs typeface="+mn-cs"/>
                  </a:rPr>
                  <a:t>]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852916" y="2191702"/>
                <a:ext cx="9700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05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29" name="Line 29"/>
              <p:cNvSpPr/>
              <p:nvPr/>
            </p:nvSpPr>
            <p:spPr>
              <a:xfrm>
                <a:off x="9144000" y="195262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0"/>
                    </a:moveTo>
                    <a:lnTo>
                      <a:pt x="190500" y="190500"/>
                    </a:lnTo>
                  </a:path>
                </a:pathLst>
              </a:custGeom>
              <a:noFill/>
              <a:ln w="14288">
                <a:solidFill>
                  <a:srgbClr val="CBD5E1"/>
                </a:solidFill>
              </a:ln>
            </p:spPr>
          </p:sp>
          <p:sp>
            <p:nvSpPr>
              <p:cNvPr id="30" name="Line 30"/>
              <p:cNvSpPr/>
              <p:nvPr/>
            </p:nvSpPr>
            <p:spPr>
              <a:xfrm>
                <a:off x="9429750" y="195262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0"/>
                    </a:moveTo>
                    <a:lnTo>
                      <a:pt x="190500" y="190500"/>
                    </a:lnTo>
                  </a:path>
                </a:pathLst>
              </a:custGeom>
              <a:noFill/>
              <a:ln w="14288">
                <a:solidFill>
                  <a:srgbClr val="CBD5E1"/>
                </a:solidFill>
              </a:ln>
            </p:spPr>
          </p:sp>
          <p:sp>
            <p:nvSpPr>
              <p:cNvPr id="31" name="Line 31"/>
              <p:cNvSpPr/>
              <p:nvPr/>
            </p:nvSpPr>
            <p:spPr>
              <a:xfrm>
                <a:off x="9715500" y="195262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0"/>
                    </a:moveTo>
                    <a:lnTo>
                      <a:pt x="190500" y="190500"/>
                    </a:lnTo>
                  </a:path>
                </a:pathLst>
              </a:custGeom>
              <a:noFill/>
              <a:ln w="14288">
                <a:solidFill>
                  <a:srgbClr val="CBD5E1"/>
                </a:solidFill>
              </a:ln>
            </p:spPr>
          </p:sp>
        </p:grpSp>
        <p:sp>
          <p:nvSpPr>
            <p:cNvPr id="33" name="Rectangle 33"/>
            <p:cNvSpPr/>
            <p:nvPr/>
          </p:nvSpPr>
          <p:spPr>
            <a:xfrm>
              <a:off x="571500" y="2514600"/>
              <a:ext cx="11049000" cy="762000"/>
            </a:xfrm>
            <a:prstGeom prst="rect">
              <a:avLst/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93792" y="2727960"/>
              <a:ext cx="10604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Khoảng (a; b)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79192" y="2979420"/>
              <a:ext cx="8896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Không lấy 2 mút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749365" y="2812256"/>
              <a:ext cx="17402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12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(a; b) = {x ∈ ℝ | a &lt; x &lt; b}</a:t>
              </a:r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5715000" y="2746058"/>
              <a:ext cx="4619625" cy="460629"/>
              <a:chOff x="5715000" y="2746058"/>
              <a:chExt cx="4619625" cy="460629"/>
            </a:xfrm>
          </p:grpSpPr>
          <p:sp>
            <p:nvSpPr>
              <p:cNvPr id="37" name="Line 37"/>
              <p:cNvSpPr/>
              <p:nvPr/>
            </p:nvSpPr>
            <p:spPr>
              <a:xfrm>
                <a:off x="5715000" y="2857500"/>
                <a:ext cx="457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572000" h="9525">
                    <a:moveTo>
                      <a:pt x="0" y="0"/>
                    </a:moveTo>
                    <a:lnTo>
                      <a:pt x="4572000" y="0"/>
                    </a:ln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  <p:sp>
            <p:nvSpPr>
              <p:cNvPr id="38" name="Polygon 38"/>
              <p:cNvSpPr/>
              <p:nvPr/>
            </p:nvSpPr>
            <p:spPr>
              <a:xfrm>
                <a:off x="10239375" y="28098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95250" y="47625"/>
                    </a:moveTo>
                    <a:lnTo>
                      <a:pt x="0" y="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94A3B8"/>
              </a:solidFill>
              <a:ln>
                <a:noFill/>
              </a:ln>
            </p:spPr>
          </p:sp>
          <p:sp>
            <p:nvSpPr>
              <p:cNvPr id="39" name="Line 39"/>
              <p:cNvSpPr/>
              <p:nvPr/>
            </p:nvSpPr>
            <p:spPr>
              <a:xfrm>
                <a:off x="5905500" y="276225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0"/>
                    </a:moveTo>
                    <a:lnTo>
                      <a:pt x="190500" y="190500"/>
                    </a:lnTo>
                  </a:path>
                </a:pathLst>
              </a:custGeom>
              <a:noFill/>
              <a:ln w="14288">
                <a:solidFill>
                  <a:srgbClr val="CBD5E1"/>
                </a:solidFill>
              </a:ln>
            </p:spPr>
          </p:sp>
          <p:sp>
            <p:nvSpPr>
              <p:cNvPr id="40" name="Line 40"/>
              <p:cNvSpPr/>
              <p:nvPr/>
            </p:nvSpPr>
            <p:spPr>
              <a:xfrm>
                <a:off x="6286500" y="276225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0"/>
                    </a:moveTo>
                    <a:lnTo>
                      <a:pt x="190500" y="190500"/>
                    </a:lnTo>
                  </a:path>
                </a:pathLst>
              </a:custGeom>
              <a:noFill/>
              <a:ln w="14288">
                <a:solidFill>
                  <a:srgbClr val="CBD5E1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040118" y="2746058"/>
                <a:ext cx="9073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650" b="1" dirty="0">
                    <a:solidFill>
                      <a:srgbClr val="059669"/>
                    </a:solidFill>
                    <a:latin typeface="+mn-lt"/>
                    <a:ea typeface="+mn-ea"/>
                    <a:cs typeface="+mn-cs"/>
                  </a:rPr>
                  <a:t>(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043166" y="3001328"/>
                <a:ext cx="8928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05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43" name="Line 43"/>
              <p:cNvSpPr/>
              <p:nvPr/>
            </p:nvSpPr>
            <p:spPr>
              <a:xfrm>
                <a:off x="7191375" y="2857500"/>
                <a:ext cx="1619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19250" h="9525">
                    <a:moveTo>
                      <a:pt x="0" y="0"/>
                    </a:moveTo>
                    <a:lnTo>
                      <a:pt x="1619250" y="0"/>
                    </a:lnTo>
                  </a:path>
                </a:pathLst>
              </a:custGeom>
              <a:noFill/>
              <a:ln w="38100">
                <a:solidFill>
                  <a:srgbClr val="059669"/>
                </a:solidFill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8849868" y="2746058"/>
                <a:ext cx="9073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650" b="1" dirty="0">
                    <a:solidFill>
                      <a:srgbClr val="059669"/>
                    </a:solidFill>
                    <a:latin typeface="+mn-lt"/>
                    <a:ea typeface="+mn-ea"/>
                    <a:cs typeface="+mn-cs"/>
                  </a:rPr>
                  <a:t>)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8852916" y="3001328"/>
                <a:ext cx="9700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05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46" name="Line 46"/>
              <p:cNvSpPr/>
              <p:nvPr/>
            </p:nvSpPr>
            <p:spPr>
              <a:xfrm>
                <a:off x="9144000" y="276225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0"/>
                    </a:moveTo>
                    <a:lnTo>
                      <a:pt x="190500" y="190500"/>
                    </a:lnTo>
                  </a:path>
                </a:pathLst>
              </a:custGeom>
              <a:noFill/>
              <a:ln w="14288">
                <a:solidFill>
                  <a:srgbClr val="CBD5E1"/>
                </a:solidFill>
              </a:ln>
            </p:spPr>
          </p:sp>
          <p:sp>
            <p:nvSpPr>
              <p:cNvPr id="47" name="Line 47"/>
              <p:cNvSpPr/>
              <p:nvPr/>
            </p:nvSpPr>
            <p:spPr>
              <a:xfrm>
                <a:off x="9525000" y="276225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0"/>
                    </a:moveTo>
                    <a:lnTo>
                      <a:pt x="190500" y="190500"/>
                    </a:lnTo>
                  </a:path>
                </a:pathLst>
              </a:custGeom>
              <a:noFill/>
              <a:ln w="14288">
                <a:solidFill>
                  <a:srgbClr val="CBD5E1"/>
                </a:solidFill>
              </a:ln>
            </p:spPr>
          </p:sp>
        </p:grpSp>
        <p:sp>
          <p:nvSpPr>
            <p:cNvPr id="49" name="Rectangle 49"/>
            <p:cNvSpPr/>
            <p:nvPr/>
          </p:nvSpPr>
          <p:spPr>
            <a:xfrm>
              <a:off x="571500" y="3333750"/>
              <a:ext cx="11049000" cy="762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32339" y="3547110"/>
              <a:ext cx="13833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Nửa khoảng [a; b)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217044" y="3798570"/>
              <a:ext cx="61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Lấy a, bỏ b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752019" y="3640931"/>
              <a:ext cx="17349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12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[a; b) = {x ∈ ℝ | a ≤ x &lt; b}</a:t>
              </a:r>
            </a:p>
          </p:txBody>
        </p:sp>
        <p:grpSp>
          <p:nvGrpSpPr>
            <p:cNvPr id="64" name="Group 64"/>
            <p:cNvGrpSpPr/>
            <p:nvPr/>
          </p:nvGrpSpPr>
          <p:grpSpPr>
            <a:xfrm>
              <a:off x="5715000" y="3555682"/>
              <a:ext cx="4619625" cy="460629"/>
              <a:chOff x="5715000" y="3555682"/>
              <a:chExt cx="4619625" cy="460629"/>
            </a:xfrm>
          </p:grpSpPr>
          <p:sp>
            <p:nvSpPr>
              <p:cNvPr id="53" name="Line 53"/>
              <p:cNvSpPr/>
              <p:nvPr/>
            </p:nvSpPr>
            <p:spPr>
              <a:xfrm>
                <a:off x="5715000" y="3667125"/>
                <a:ext cx="457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572000" h="9525">
                    <a:moveTo>
                      <a:pt x="0" y="0"/>
                    </a:moveTo>
                    <a:lnTo>
                      <a:pt x="4572000" y="0"/>
                    </a:ln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  <p:sp>
            <p:nvSpPr>
              <p:cNvPr id="54" name="Polygon 54"/>
              <p:cNvSpPr/>
              <p:nvPr/>
            </p:nvSpPr>
            <p:spPr>
              <a:xfrm>
                <a:off x="10239375" y="361950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95250" y="47625"/>
                    </a:moveTo>
                    <a:lnTo>
                      <a:pt x="0" y="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94A3B8"/>
              </a:solidFill>
              <a:ln>
                <a:noFill/>
              </a:ln>
            </p:spPr>
          </p:sp>
          <p:sp>
            <p:nvSpPr>
              <p:cNvPr id="55" name="Line 55"/>
              <p:cNvSpPr/>
              <p:nvPr/>
            </p:nvSpPr>
            <p:spPr>
              <a:xfrm>
                <a:off x="6000750" y="357187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0"/>
                    </a:moveTo>
                    <a:lnTo>
                      <a:pt x="190500" y="190500"/>
                    </a:lnTo>
                  </a:path>
                </a:pathLst>
              </a:custGeom>
              <a:noFill/>
              <a:ln w="14288">
                <a:solidFill>
                  <a:srgbClr val="CBD5E1"/>
                </a:solidFill>
              </a:ln>
            </p:spPr>
          </p:sp>
          <p:sp>
            <p:nvSpPr>
              <p:cNvPr id="56" name="Line 56"/>
              <p:cNvSpPr/>
              <p:nvPr/>
            </p:nvSpPr>
            <p:spPr>
              <a:xfrm>
                <a:off x="6381750" y="357187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0"/>
                    </a:moveTo>
                    <a:lnTo>
                      <a:pt x="190500" y="190500"/>
                    </a:lnTo>
                  </a:path>
                </a:pathLst>
              </a:custGeom>
              <a:noFill/>
              <a:ln w="14288">
                <a:solidFill>
                  <a:srgbClr val="CBD5E1"/>
                </a:solidFill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7040118" y="3555682"/>
                <a:ext cx="9073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650" b="1" dirty="0">
                    <a:solidFill>
                      <a:srgbClr val="D97706"/>
                    </a:solidFill>
                    <a:latin typeface="+mn-lt"/>
                    <a:ea typeface="+mn-ea"/>
                    <a:cs typeface="+mn-cs"/>
                  </a:rPr>
                  <a:t>[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7043166" y="3810952"/>
                <a:ext cx="8928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05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59" name="Line 59"/>
              <p:cNvSpPr/>
              <p:nvPr/>
            </p:nvSpPr>
            <p:spPr>
              <a:xfrm>
                <a:off x="7191375" y="3667125"/>
                <a:ext cx="1619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19250" h="9525">
                    <a:moveTo>
                      <a:pt x="0" y="0"/>
                    </a:moveTo>
                    <a:lnTo>
                      <a:pt x="1619250" y="0"/>
                    </a:lnTo>
                  </a:path>
                </a:pathLst>
              </a:custGeom>
              <a:noFill/>
              <a:ln w="38100">
                <a:solidFill>
                  <a:srgbClr val="D97706"/>
                </a:solidFill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8849868" y="3555682"/>
                <a:ext cx="9073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650" b="1" dirty="0">
                    <a:solidFill>
                      <a:srgbClr val="D97706"/>
                    </a:solidFill>
                    <a:latin typeface="+mn-lt"/>
                    <a:ea typeface="+mn-ea"/>
                    <a:cs typeface="+mn-cs"/>
                  </a:rPr>
                  <a:t>)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8852916" y="3810952"/>
                <a:ext cx="9700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05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62" name="Line 62"/>
              <p:cNvSpPr/>
              <p:nvPr/>
            </p:nvSpPr>
            <p:spPr>
              <a:xfrm>
                <a:off x="9239250" y="357187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0"/>
                    </a:moveTo>
                    <a:lnTo>
                      <a:pt x="190500" y="190500"/>
                    </a:lnTo>
                  </a:path>
                </a:pathLst>
              </a:custGeom>
              <a:noFill/>
              <a:ln w="14288">
                <a:solidFill>
                  <a:srgbClr val="CBD5E1"/>
                </a:solidFill>
              </a:ln>
            </p:spPr>
          </p:sp>
          <p:sp>
            <p:nvSpPr>
              <p:cNvPr id="63" name="Line 63"/>
              <p:cNvSpPr/>
              <p:nvPr/>
            </p:nvSpPr>
            <p:spPr>
              <a:xfrm>
                <a:off x="9620250" y="357187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0"/>
                    </a:moveTo>
                    <a:lnTo>
                      <a:pt x="190500" y="190500"/>
                    </a:lnTo>
                  </a:path>
                </a:pathLst>
              </a:custGeom>
              <a:noFill/>
              <a:ln w="14288">
                <a:solidFill>
                  <a:srgbClr val="CBD5E1"/>
                </a:solidFill>
              </a:ln>
            </p:spPr>
          </p:sp>
        </p:grpSp>
        <p:sp>
          <p:nvSpPr>
            <p:cNvPr id="65" name="Rectangle 65"/>
            <p:cNvSpPr/>
            <p:nvPr/>
          </p:nvSpPr>
          <p:spPr>
            <a:xfrm>
              <a:off x="571500" y="4152900"/>
              <a:ext cx="11049000" cy="857250"/>
            </a:xfrm>
            <a:prstGeom prst="rect">
              <a:avLst/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36000" y="4394835"/>
              <a:ext cx="11760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Khoảng vô cực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47307" y="4646295"/>
              <a:ext cx="95338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Chứa -∞ hoặc +∞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2829600" y="4355306"/>
              <a:ext cx="1579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12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(a; +∞) = {x ∈ ℝ | x &gt; a}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2842943" y="4641056"/>
              <a:ext cx="1553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12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(-∞; b] = {x ∈ ℝ | x ≤ b}</a:t>
              </a:r>
            </a:p>
          </p:txBody>
        </p:sp>
        <p:grpSp>
          <p:nvGrpSpPr>
            <p:cNvPr id="79" name="Group 79"/>
            <p:cNvGrpSpPr/>
            <p:nvPr/>
          </p:nvGrpSpPr>
          <p:grpSpPr>
            <a:xfrm>
              <a:off x="5715000" y="4460558"/>
              <a:ext cx="4619625" cy="460629"/>
              <a:chOff x="5715000" y="4460558"/>
              <a:chExt cx="4619625" cy="460629"/>
            </a:xfrm>
          </p:grpSpPr>
          <p:sp>
            <p:nvSpPr>
              <p:cNvPr id="70" name="Line 70"/>
              <p:cNvSpPr/>
              <p:nvPr/>
            </p:nvSpPr>
            <p:spPr>
              <a:xfrm>
                <a:off x="5715000" y="4572000"/>
                <a:ext cx="457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572000" h="9525">
                    <a:moveTo>
                      <a:pt x="0" y="0"/>
                    </a:moveTo>
                    <a:lnTo>
                      <a:pt x="4572000" y="0"/>
                    </a:ln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  <p:sp>
            <p:nvSpPr>
              <p:cNvPr id="71" name="Polygon 71"/>
              <p:cNvSpPr/>
              <p:nvPr/>
            </p:nvSpPr>
            <p:spPr>
              <a:xfrm>
                <a:off x="10239375" y="45243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95250" y="47625"/>
                    </a:moveTo>
                    <a:lnTo>
                      <a:pt x="0" y="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94A3B8"/>
              </a:solidFill>
              <a:ln>
                <a:noFill/>
              </a:ln>
            </p:spPr>
          </p:sp>
          <p:sp>
            <p:nvSpPr>
              <p:cNvPr id="72" name="Line 72"/>
              <p:cNvSpPr/>
              <p:nvPr/>
            </p:nvSpPr>
            <p:spPr>
              <a:xfrm>
                <a:off x="5905500" y="447675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0"/>
                    </a:moveTo>
                    <a:lnTo>
                      <a:pt x="190500" y="190500"/>
                    </a:lnTo>
                  </a:path>
                </a:pathLst>
              </a:custGeom>
              <a:noFill/>
              <a:ln w="14288">
                <a:solidFill>
                  <a:srgbClr val="CBD5E1"/>
                </a:solidFill>
              </a:ln>
            </p:spPr>
          </p:sp>
          <p:sp>
            <p:nvSpPr>
              <p:cNvPr id="73" name="Line 73"/>
              <p:cNvSpPr/>
              <p:nvPr/>
            </p:nvSpPr>
            <p:spPr>
              <a:xfrm>
                <a:off x="6286500" y="447675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0"/>
                    </a:moveTo>
                    <a:lnTo>
                      <a:pt x="190500" y="190500"/>
                    </a:lnTo>
                  </a:path>
                </a:pathLst>
              </a:custGeom>
              <a:noFill/>
              <a:ln w="14288">
                <a:solidFill>
                  <a:srgbClr val="CBD5E1"/>
                </a:solidFill>
              </a:ln>
            </p:spPr>
          </p:sp>
          <p:sp>
            <p:nvSpPr>
              <p:cNvPr id="74" name="Line 74"/>
              <p:cNvSpPr/>
              <p:nvPr/>
            </p:nvSpPr>
            <p:spPr>
              <a:xfrm>
                <a:off x="6667500" y="447675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0"/>
                    </a:moveTo>
                    <a:lnTo>
                      <a:pt x="190500" y="190500"/>
                    </a:lnTo>
                  </a:path>
                </a:pathLst>
              </a:custGeom>
              <a:noFill/>
              <a:ln w="14288">
                <a:solidFill>
                  <a:srgbClr val="CBD5E1"/>
                </a:solidFill>
              </a:ln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7230618" y="4460558"/>
                <a:ext cx="9073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650" b="1" dirty="0">
                    <a:solidFill>
                      <a:srgbClr val="7C3AED"/>
                    </a:solidFill>
                    <a:latin typeface="+mn-lt"/>
                    <a:ea typeface="+mn-ea"/>
                    <a:cs typeface="+mn-cs"/>
                  </a:rPr>
                  <a:t>(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7233666" y="4715828"/>
                <a:ext cx="8928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05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77" name="Line 77"/>
              <p:cNvSpPr/>
              <p:nvPr/>
            </p:nvSpPr>
            <p:spPr>
              <a:xfrm>
                <a:off x="7381875" y="4572000"/>
                <a:ext cx="2857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9525">
                    <a:moveTo>
                      <a:pt x="0" y="0"/>
                    </a:moveTo>
                    <a:lnTo>
                      <a:pt x="2857500" y="0"/>
                    </a:lnTo>
                  </a:path>
                </a:pathLst>
              </a:custGeom>
              <a:noFill/>
              <a:ln w="38100">
                <a:solidFill>
                  <a:srgbClr val="7C3AED"/>
                </a:solidFill>
              </a:ln>
            </p:spPr>
          </p:sp>
          <p:sp>
            <p:nvSpPr>
              <p:cNvPr id="78" name="TextBox 78"/>
              <p:cNvSpPr txBox="1"/>
              <p:nvPr/>
            </p:nvSpPr>
            <p:spPr>
              <a:xfrm>
                <a:off x="9900666" y="4715828"/>
                <a:ext cx="19398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050" b="1" dirty="0">
                    <a:solidFill>
                      <a:srgbClr val="7C3AED"/>
                    </a:solidFill>
                    <a:latin typeface="+mn-lt"/>
                    <a:ea typeface="+mn-ea"/>
                    <a:cs typeface="+mn-cs"/>
                  </a:rPr>
                  <a:t>+∞</a:t>
                </a:r>
              </a:p>
            </p:txBody>
          </p:sp>
        </p:grpSp>
        <p:sp>
          <p:nvSpPr>
            <p:cNvPr id="80" name="Rectangle 80"/>
            <p:cNvSpPr/>
            <p:nvPr/>
          </p:nvSpPr>
          <p:spPr>
            <a:xfrm>
              <a:off x="571500" y="5143500"/>
              <a:ext cx="11049000" cy="904875"/>
            </a:xfrm>
            <a:prstGeom prst="roundRect">
              <a:avLst>
                <a:gd name="adj" fmla="val 12632"/>
              </a:avLst>
            </a:prstGeom>
            <a:solidFill>
              <a:srgbClr val="EFF6FF"/>
            </a:solidFill>
            <a:ln w="14288">
              <a:solidFill>
                <a:srgbClr val="BFDBFE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803910" y="5307806"/>
              <a:ext cx="4197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120" b="1" dirty="0">
                  <a:solidFill>
                    <a:srgbClr val="1E40AF"/>
                  </a:solidFill>
                  <a:latin typeface="+mn-lt"/>
                  <a:ea typeface="+mn-ea"/>
                  <a:cs typeface="+mn-cs"/>
                </a:rPr>
                <a:t>📌 NGUYÊN TẮC BIỂU DIỄN TRỤC SỐ CỦA GIÁO VIÊN: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04291" y="5554028"/>
              <a:ext cx="36576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rgbClr val="1E293B"/>
                </a:buClr>
                <a:buSzTx/>
                <a:buFontTx/>
                <a:buChar char="•"/>
              </a:pPr>
              <a:r>
                <a:rPr lang="vi-VN" sz="1050" dirty="0">
                  <a:solidFill>
                    <a:srgbClr val="1E293B"/>
                  </a:solidFill>
                  <a:latin typeface="+mn-lt"/>
                  <a:ea typeface="+mn-ea"/>
                  <a:cs typeface="+mn-cs"/>
                </a:rPr>
                <a:t>Điểm mút lấy (≤ hoặc ≥): dùng dấu ngoặc vuông [ hoặc ].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04291" y="5773102"/>
              <a:ext cx="74866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rgbClr val="1E293B"/>
                </a:buClr>
                <a:buSzTx/>
                <a:buFontTx/>
                <a:buChar char="•"/>
              </a:pPr>
              <a:r>
                <a:rPr lang="vi-VN" sz="1050" dirty="0">
                  <a:solidFill>
                    <a:srgbClr val="1E293B"/>
                  </a:solidFill>
                  <a:latin typeface="+mn-lt"/>
                  <a:ea typeface="+mn-ea"/>
                  <a:cs typeface="+mn-cs"/>
                </a:rPr>
                <a:t>Điểm mút KHÔNG lấy (&lt; hoặc &gt; hoặc ±∞): dùng dấu ngoặc tròn ( hoặc ). Phần không thuộc tập hợp phải gạch bỏ (//).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10" name="header-group"/>
          <p:cNvGrpSpPr/>
          <p:nvPr/>
        </p:nvGrpSpPr>
        <p:grpSpPr>
          <a:xfrm>
            <a:off x="571500" y="304800"/>
            <a:ext cx="11049000" cy="685800"/>
            <a:chOff x="571500" y="304800"/>
            <a:chExt cx="11049000" cy="685800"/>
          </a:xfrm>
        </p:grpSpPr>
        <p:sp>
          <p:nvSpPr>
            <p:cNvPr id="3" name="Rectangle 3"/>
            <p:cNvSpPr/>
            <p:nvPr/>
          </p:nvSpPr>
          <p:spPr>
            <a:xfrm>
              <a:off x="571500" y="304800"/>
              <a:ext cx="11049000" cy="6858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571500" y="304800"/>
              <a:ext cx="57150" cy="6858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800100" y="419100"/>
              <a:ext cx="723900" cy="247650"/>
            </a:xfrm>
            <a:prstGeom prst="roundRect">
              <a:avLst>
                <a:gd name="adj" fmla="val 23077"/>
              </a:avLst>
            </a:prstGeom>
            <a:solidFill>
              <a:srgbClr val="EFF6FF"/>
            </a:solidFill>
            <a:ln w="9525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78936" y="485299"/>
              <a:ext cx="3662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98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BÀI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658493" y="431482"/>
              <a:ext cx="57412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5. CÁC PHÉP TOÁN TRÊN TẬP HỢP: GIAO VÀ HỢP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5147" y="771049"/>
              <a:ext cx="35107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ĐỊNH NGHĨA, BIỂU ĐỒ VEN VÀ CÁC VÍ DỤ MINH HỌA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07858" y="590074"/>
              <a:ext cx="25794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980" b="1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GV: Nguyễn Văn Sang • CĐN số 1 - BQP</a:t>
              </a:r>
            </a:p>
          </p:txBody>
        </p:sp>
      </p:grpSp>
      <p:grpSp>
        <p:nvGrpSpPr>
          <p:cNvPr id="52" name="content"/>
          <p:cNvGrpSpPr/>
          <p:nvPr/>
        </p:nvGrpSpPr>
        <p:grpSpPr>
          <a:xfrm>
            <a:off x="571500" y="1238250"/>
            <a:ext cx="11049000" cy="5048250"/>
            <a:chOff x="571500" y="1238250"/>
            <a:chExt cx="11049000" cy="5048250"/>
          </a:xfrm>
        </p:grpSpPr>
        <p:sp>
          <p:nvSpPr>
            <p:cNvPr id="11" name="Rectangle 11"/>
            <p:cNvSpPr/>
            <p:nvPr/>
          </p:nvSpPr>
          <p:spPr>
            <a:xfrm>
              <a:off x="571500" y="1238250"/>
              <a:ext cx="5334000" cy="5048250"/>
            </a:xfrm>
            <a:prstGeom prst="roundRect">
              <a:avLst>
                <a:gd name="adj" fmla="val 3019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" y="1238250"/>
              <a:ext cx="5334000" cy="438150"/>
            </a:xfrm>
            <a:prstGeom prst="roundRect">
              <a:avLst>
                <a:gd name="adj" fmla="val 34783"/>
              </a:avLst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1619250"/>
              <a:ext cx="5334000" cy="57150"/>
            </a:xfrm>
            <a:prstGeom prst="rect">
              <a:avLst/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02767" y="1378268"/>
              <a:ext cx="35491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A. PHÉP GIAO (INTERSECTION: A ∩ B)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09625" y="1857375"/>
              <a:ext cx="4857750" cy="809625"/>
            </a:xfrm>
            <a:prstGeom prst="roundRect">
              <a:avLst>
                <a:gd name="adj" fmla="val 14118"/>
              </a:avLst>
            </a:prstGeom>
            <a:solidFill>
              <a:srgbClr val="F8FAFC"/>
            </a:solidFill>
            <a:ln w="9525">
              <a:solidFill>
                <a:srgbClr val="CBD5E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94791" y="2001202"/>
              <a:ext cx="7928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Định nghĩa: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94791" y="2210752"/>
              <a:ext cx="35303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Giao của hai tập hợp A và B là tập hợp gồm các phần tử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94410" y="2412206"/>
              <a:ext cx="37433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120" b="1" dirty="0">
                  <a:solidFill>
                    <a:srgbClr val="1E40AF"/>
                  </a:solidFill>
                  <a:latin typeface="+mn-lt"/>
                  <a:ea typeface="+mn-ea"/>
                  <a:cs typeface="+mn-cs"/>
                </a:rPr>
                <a:t>thuộc cả A và B. Kí hiệu: A ∩ B = {x | x ∈ A và x ∈ B}</a:t>
              </a:r>
            </a:p>
          </p:txBody>
        </p:sp>
        <p:grpSp>
          <p:nvGrpSpPr>
            <p:cNvPr id="25" name="venn-inter"/>
            <p:cNvGrpSpPr/>
            <p:nvPr/>
          </p:nvGrpSpPr>
          <p:grpSpPr>
            <a:xfrm>
              <a:off x="1666875" y="3000375"/>
              <a:ext cx="2286000" cy="1428750"/>
              <a:chOff x="1666875" y="3000375"/>
              <a:chExt cx="2286000" cy="1428750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1666875" y="3000375"/>
                <a:ext cx="1428750" cy="1428750"/>
              </a:xfrm>
              <a:prstGeom prst="ellipse">
                <a:avLst/>
              </a:prstGeom>
              <a:solidFill>
                <a:srgbClr val="BFDBFE">
                  <a:alpha val="50000"/>
                </a:srgbClr>
              </a:solidFill>
              <a:ln w="19050">
                <a:solidFill>
                  <a:srgbClr val="2563EB">
                    <a:alpha val="50000"/>
                  </a:srgbClr>
                </a:solidFill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2524125" y="3000375"/>
                <a:ext cx="1428750" cy="1428750"/>
              </a:xfrm>
              <a:prstGeom prst="ellipse">
                <a:avLst/>
              </a:prstGeom>
              <a:solidFill>
                <a:srgbClr val="BFDBFE">
                  <a:alpha val="50000"/>
                </a:srgbClr>
              </a:solidFill>
              <a:ln w="19050">
                <a:solidFill>
                  <a:srgbClr val="2563EB">
                    <a:alpha val="50000"/>
                  </a:srgbClr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2524125" y="3143250"/>
                <a:ext cx="57150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1143000">
                    <a:moveTo>
                      <a:pt x="285750" y="0"/>
                    </a:moveTo>
                    <a:cubicBezTo>
                      <a:pt x="465634" y="134913"/>
                      <a:pt x="571500" y="346645"/>
                      <a:pt x="571500" y="571500"/>
                    </a:cubicBezTo>
                    <a:cubicBezTo>
                      <a:pt x="571500" y="796355"/>
                      <a:pt x="465634" y="1008087"/>
                      <a:pt x="285750" y="1143000"/>
                    </a:cubicBezTo>
                    <a:cubicBezTo>
                      <a:pt x="105866" y="1008087"/>
                      <a:pt x="0" y="796355"/>
                      <a:pt x="0" y="571500"/>
                    </a:cubicBezTo>
                    <a:cubicBezTo>
                      <a:pt x="0" y="346645"/>
                      <a:pt x="105866" y="134913"/>
                      <a:pt x="285750" y="0"/>
                    </a:cubicBezTo>
                    <a:close/>
                  </a:path>
                </a:pathLst>
              </a:custGeom>
              <a:solidFill>
                <a:srgbClr val="1D4ED8">
                  <a:alpha val="85000"/>
                </a:srgbClr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992630" y="3600450"/>
                <a:ext cx="16932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500" b="1" dirty="0">
                    <a:solidFill>
                      <a:srgbClr val="1E3A8A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611880" y="3600450"/>
                <a:ext cx="16932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500" b="1" dirty="0">
                    <a:solidFill>
                      <a:srgbClr val="1E3A8A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612064" y="3649028"/>
                <a:ext cx="3956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-V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A ∩ B</a:t>
                </a:r>
              </a:p>
            </p:txBody>
          </p:sp>
        </p:grpSp>
        <p:sp>
          <p:nvSpPr>
            <p:cNvPr id="26" name="Rectangle 26"/>
            <p:cNvSpPr/>
            <p:nvPr/>
          </p:nvSpPr>
          <p:spPr>
            <a:xfrm>
              <a:off x="809625" y="4667250"/>
              <a:ext cx="4857750" cy="1381125"/>
            </a:xfrm>
            <a:prstGeom prst="roundRect">
              <a:avLst>
                <a:gd name="adj" fmla="val 8276"/>
              </a:avLst>
            </a:prstGeom>
            <a:solidFill>
              <a:srgbClr val="F1F5F9"/>
            </a:solidFill>
            <a:ln w="9525">
              <a:solidFill>
                <a:srgbClr val="E2E8F0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94791" y="4820602"/>
              <a:ext cx="10761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Ví dụ minh họa: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94791" y="5049202"/>
              <a:ext cx="26379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rgbClr val="334155"/>
                </a:buClr>
                <a:buSzTx/>
                <a:buFontTx/>
                <a:buChar char="•"/>
              </a:pPr>
              <a:r>
                <a:rPr lang="vi-VN" sz="10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Cho A = {1; 2; 3; 4; 5} và B = {2; 4; 6; 8}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94791" y="5277802"/>
              <a:ext cx="10671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b="1" dirty="0">
                  <a:solidFill>
                    <a:srgbClr val="166534"/>
                  </a:solidFill>
                  <a:latin typeface="+mn-lt"/>
                  <a:ea typeface="+mn-ea"/>
                  <a:cs typeface="+mn-cs"/>
                </a:rPr>
                <a:t>⇒ A ∩ B = {2; 4}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94791" y="5563552"/>
              <a:ext cx="2278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rgbClr val="334155"/>
                </a:buClr>
                <a:buSzTx/>
                <a:buFontTx/>
                <a:buChar char="•"/>
              </a:pPr>
              <a:r>
                <a:rPr lang="vi-VN" sz="10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Cho A = (-∞; 3] và B = [1; 5) trên ℝ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94791" y="5792152"/>
              <a:ext cx="10503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b="1" dirty="0">
                  <a:solidFill>
                    <a:srgbClr val="166534"/>
                  </a:solidFill>
                  <a:latin typeface="+mn-lt"/>
                  <a:ea typeface="+mn-ea"/>
                  <a:cs typeface="+mn-cs"/>
                </a:rPr>
                <a:t>⇒ A ∩ B = [1; 3]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286500" y="1238250"/>
              <a:ext cx="5334000" cy="5048250"/>
            </a:xfrm>
            <a:prstGeom prst="roundRect">
              <a:avLst>
                <a:gd name="adj" fmla="val 3019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86500" y="1238250"/>
              <a:ext cx="5334000" cy="438150"/>
            </a:xfrm>
            <a:prstGeom prst="roundRect">
              <a:avLst>
                <a:gd name="adj" fmla="val 34783"/>
              </a:avLst>
            </a:prstGeom>
            <a:solidFill>
              <a:srgbClr val="F0FDF4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86500" y="1619250"/>
              <a:ext cx="5334000" cy="57150"/>
            </a:xfrm>
            <a:prstGeom prst="rect">
              <a:avLst/>
            </a:prstGeom>
            <a:solidFill>
              <a:srgbClr val="F0FDF4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17767" y="1378268"/>
              <a:ext cx="26636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B. PHÉP HỢP (UNION: A ∪ B)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524625" y="1857375"/>
              <a:ext cx="4857750" cy="809625"/>
            </a:xfrm>
            <a:prstGeom prst="roundRect">
              <a:avLst>
                <a:gd name="adj" fmla="val 14118"/>
              </a:avLst>
            </a:prstGeom>
            <a:solidFill>
              <a:srgbClr val="F8FAFC"/>
            </a:solidFill>
            <a:ln w="9525">
              <a:solidFill>
                <a:srgbClr val="CBD5E1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09791" y="2001202"/>
              <a:ext cx="7928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Định nghĩa: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09791" y="2210752"/>
              <a:ext cx="34913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Hợp của hai tập hợp A và B là tập hợp gồm các phần tử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09410" y="2412206"/>
              <a:ext cx="43497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12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thuộc A hoặc thuộc B. Kí hiệu: A ∪ B = {x | x ∈ A hoặc x ∈ B}</a:t>
              </a:r>
            </a:p>
          </p:txBody>
        </p:sp>
        <p:grpSp>
          <p:nvGrpSpPr>
            <p:cNvPr id="45" name="venn-union"/>
            <p:cNvGrpSpPr/>
            <p:nvPr/>
          </p:nvGrpSpPr>
          <p:grpSpPr>
            <a:xfrm>
              <a:off x="7381875" y="3000375"/>
              <a:ext cx="2286000" cy="1428750"/>
              <a:chOff x="7381875" y="3000375"/>
              <a:chExt cx="2286000" cy="1428750"/>
            </a:xfrm>
          </p:grpSpPr>
          <p:sp>
            <p:nvSpPr>
              <p:cNvPr id="40" name="Ellipse 40"/>
              <p:cNvSpPr/>
              <p:nvPr/>
            </p:nvSpPr>
            <p:spPr>
              <a:xfrm>
                <a:off x="7381875" y="3000375"/>
                <a:ext cx="1428750" cy="1428750"/>
              </a:xfrm>
              <a:prstGeom prst="ellipse">
                <a:avLst/>
              </a:prstGeom>
              <a:solidFill>
                <a:srgbClr val="BBF7D0"/>
              </a:solidFill>
              <a:ln w="23812">
                <a:solidFill>
                  <a:srgbClr val="059669"/>
                </a:solidFill>
              </a:ln>
            </p:spPr>
          </p:sp>
          <p:sp>
            <p:nvSpPr>
              <p:cNvPr id="41" name="Ellipse 41"/>
              <p:cNvSpPr/>
              <p:nvPr/>
            </p:nvSpPr>
            <p:spPr>
              <a:xfrm>
                <a:off x="8239125" y="3000375"/>
                <a:ext cx="1428750" cy="1428750"/>
              </a:xfrm>
              <a:prstGeom prst="ellipse">
                <a:avLst/>
              </a:prstGeom>
              <a:solidFill>
                <a:srgbClr val="BBF7D0"/>
              </a:solidFill>
              <a:ln w="23812">
                <a:solidFill>
                  <a:srgbClr val="059669"/>
                </a:solidFill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7707630" y="3600450"/>
                <a:ext cx="16932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500" b="1" dirty="0">
                    <a:solidFill>
                      <a:srgbClr val="065F46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9326880" y="3600450"/>
                <a:ext cx="16932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500" b="1" dirty="0">
                    <a:solidFill>
                      <a:srgbClr val="065F46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8313851" y="3640931"/>
                <a:ext cx="42204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-VN" sz="1120" b="1" dirty="0">
                    <a:solidFill>
                      <a:srgbClr val="065F46"/>
                    </a:solidFill>
                    <a:latin typeface="+mn-lt"/>
                    <a:ea typeface="+mn-ea"/>
                    <a:cs typeface="+mn-cs"/>
                  </a:rPr>
                  <a:t>A ∪ B</a:t>
                </a:r>
              </a:p>
            </p:txBody>
          </p:sp>
        </p:grpSp>
        <p:sp>
          <p:nvSpPr>
            <p:cNvPr id="46" name="Rectangle 46"/>
            <p:cNvSpPr/>
            <p:nvPr/>
          </p:nvSpPr>
          <p:spPr>
            <a:xfrm>
              <a:off x="6524625" y="4667250"/>
              <a:ext cx="4857750" cy="1381125"/>
            </a:xfrm>
            <a:prstGeom prst="roundRect">
              <a:avLst>
                <a:gd name="adj" fmla="val 8276"/>
              </a:avLst>
            </a:prstGeom>
            <a:solidFill>
              <a:srgbClr val="F1F5F9"/>
            </a:solidFill>
            <a:ln w="9525">
              <a:solidFill>
                <a:srgbClr val="E2E8F0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09791" y="4820602"/>
              <a:ext cx="10761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Ví dụ minh họa: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709791" y="5049202"/>
              <a:ext cx="21550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rgbClr val="334155"/>
                </a:buClr>
                <a:buSzTx/>
                <a:buFontTx/>
                <a:buChar char="•"/>
              </a:pPr>
              <a:r>
                <a:rPr lang="vi-VN" sz="10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Cho A = {1; 2; 3} và B = {3; 4; 5}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709791" y="5277802"/>
              <a:ext cx="15900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b="1" dirty="0">
                  <a:solidFill>
                    <a:srgbClr val="166534"/>
                  </a:solidFill>
                  <a:latin typeface="+mn-lt"/>
                  <a:ea typeface="+mn-ea"/>
                  <a:cs typeface="+mn-cs"/>
                </a:rPr>
                <a:t>⇒ A ∪ B = {1; 2; 3; 4; 5}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709791" y="5563552"/>
              <a:ext cx="22555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rgbClr val="334155"/>
                </a:buClr>
                <a:buSzTx/>
                <a:buFontTx/>
                <a:buChar char="•"/>
              </a:pPr>
              <a:r>
                <a:rPr lang="vi-VN" sz="10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Cho A = [-2; 1) và B = (0; 4] trên ℝ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709791" y="5792152"/>
              <a:ext cx="11001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b="1" dirty="0">
                  <a:solidFill>
                    <a:srgbClr val="166534"/>
                  </a:solidFill>
                  <a:latin typeface="+mn-lt"/>
                  <a:ea typeface="+mn-ea"/>
                  <a:cs typeface="+mn-cs"/>
                </a:rPr>
                <a:t>⇒ A ∪ B = [-2; 4]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10" name="header-group"/>
          <p:cNvGrpSpPr/>
          <p:nvPr/>
        </p:nvGrpSpPr>
        <p:grpSpPr>
          <a:xfrm>
            <a:off x="571500" y="304800"/>
            <a:ext cx="11049000" cy="685800"/>
            <a:chOff x="571500" y="304800"/>
            <a:chExt cx="11049000" cy="685800"/>
          </a:xfrm>
        </p:grpSpPr>
        <p:sp>
          <p:nvSpPr>
            <p:cNvPr id="3" name="Rectangle 3"/>
            <p:cNvSpPr/>
            <p:nvPr/>
          </p:nvSpPr>
          <p:spPr>
            <a:xfrm>
              <a:off x="571500" y="304800"/>
              <a:ext cx="11049000" cy="6858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571500" y="304800"/>
              <a:ext cx="57150" cy="6858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800100" y="419100"/>
              <a:ext cx="723900" cy="247650"/>
            </a:xfrm>
            <a:prstGeom prst="roundRect">
              <a:avLst>
                <a:gd name="adj" fmla="val 23077"/>
              </a:avLst>
            </a:prstGeom>
            <a:solidFill>
              <a:srgbClr val="EFF6FF"/>
            </a:solidFill>
            <a:ln w="9525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78936" y="485299"/>
              <a:ext cx="3662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98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BÀI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658493" y="431482"/>
              <a:ext cx="62628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6. CÁC PHÉP TOÁN TRÊN TẬP HỢP: HIỆU VÀ PHẦN BÙ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5147" y="771049"/>
              <a:ext cx="33713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ĐỊNH NGHĨA, BIỂU ĐỒ VEN VÀ Ý NGHĨA HÌNH HỌC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07858" y="590074"/>
              <a:ext cx="25794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980" b="1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GV: Nguyễn Văn Sang • CĐN số 1 - BQP</a:t>
              </a:r>
            </a:p>
          </p:txBody>
        </p:sp>
      </p:grpSp>
      <p:grpSp>
        <p:nvGrpSpPr>
          <p:cNvPr id="50" name="content"/>
          <p:cNvGrpSpPr/>
          <p:nvPr/>
        </p:nvGrpSpPr>
        <p:grpSpPr>
          <a:xfrm>
            <a:off x="571500" y="1238250"/>
            <a:ext cx="11049000" cy="5048250"/>
            <a:chOff x="571500" y="1238250"/>
            <a:chExt cx="11049000" cy="5048250"/>
          </a:xfrm>
        </p:grpSpPr>
        <p:sp>
          <p:nvSpPr>
            <p:cNvPr id="11" name="Rectangle 11"/>
            <p:cNvSpPr/>
            <p:nvPr/>
          </p:nvSpPr>
          <p:spPr>
            <a:xfrm>
              <a:off x="571500" y="1238250"/>
              <a:ext cx="5334000" cy="5048250"/>
            </a:xfrm>
            <a:prstGeom prst="roundRect">
              <a:avLst>
                <a:gd name="adj" fmla="val 3019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" y="1238250"/>
              <a:ext cx="5334000" cy="438150"/>
            </a:xfrm>
            <a:prstGeom prst="roundRect">
              <a:avLst>
                <a:gd name="adj" fmla="val 34783"/>
              </a:avLst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1619250"/>
              <a:ext cx="5334000" cy="57150"/>
            </a:xfrm>
            <a:prstGeom prst="rect">
              <a:avLst/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02767" y="1378268"/>
              <a:ext cx="30967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A. HIỆU CỦA HAI TẬP HỢP (A \ B)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09625" y="1857375"/>
              <a:ext cx="4857750" cy="809625"/>
            </a:xfrm>
            <a:prstGeom prst="roundRect">
              <a:avLst>
                <a:gd name="adj" fmla="val 14118"/>
              </a:avLst>
            </a:prstGeom>
            <a:solidFill>
              <a:srgbClr val="F8FAFC"/>
            </a:solidFill>
            <a:ln w="9525">
              <a:solidFill>
                <a:srgbClr val="CBD5E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94791" y="2001202"/>
              <a:ext cx="7928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Định nghĩa: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94791" y="2210752"/>
              <a:ext cx="35224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Hiệu của hai tập hợp A và B là tập hợp gồm các phần tử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94410" y="2412206"/>
              <a:ext cx="47215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120" b="1" dirty="0">
                  <a:solidFill>
                    <a:srgbClr val="1E40AF"/>
                  </a:solidFill>
                  <a:latin typeface="+mn-lt"/>
                  <a:ea typeface="+mn-ea"/>
                  <a:cs typeface="+mn-cs"/>
                </a:rPr>
                <a:t>thuộc A nhưng không thuộc B. Kí hiệu: A \ B = {x | x ∈ A và x ∉ B}</a:t>
              </a:r>
            </a:p>
          </p:txBody>
        </p:sp>
        <p:grpSp>
          <p:nvGrpSpPr>
            <p:cNvPr id="23" name="venn-diff"/>
            <p:cNvGrpSpPr/>
            <p:nvPr/>
          </p:nvGrpSpPr>
          <p:grpSpPr>
            <a:xfrm>
              <a:off x="1666875" y="3000375"/>
              <a:ext cx="2286000" cy="1428750"/>
              <a:chOff x="1666875" y="3000375"/>
              <a:chExt cx="2286000" cy="1428750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1666875" y="3000375"/>
                <a:ext cx="1428750" cy="1428750"/>
              </a:xfrm>
              <a:prstGeom prst="ellipse">
                <a:avLst/>
              </a:prstGeom>
              <a:solidFill>
                <a:srgbClr val="BFDBFE"/>
              </a:solidFill>
              <a:ln w="23812">
                <a:solidFill>
                  <a:srgbClr val="2563EB"/>
                </a:solidFill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2524125" y="3000375"/>
                <a:ext cx="1428750" cy="142875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64748B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994154" y="3632835"/>
                <a:ext cx="40098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200" b="1" dirty="0">
                    <a:solidFill>
                      <a:srgbClr val="1E3A8A"/>
                    </a:solidFill>
                    <a:latin typeface="+mn-lt"/>
                    <a:ea typeface="+mn-ea"/>
                    <a:cs typeface="+mn-cs"/>
                  </a:rPr>
                  <a:t>A \ B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612642" y="3616642"/>
                <a:ext cx="15239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350" b="1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</p:grpSp>
        <p:sp>
          <p:nvSpPr>
            <p:cNvPr id="24" name="Rectangle 24"/>
            <p:cNvSpPr/>
            <p:nvPr/>
          </p:nvSpPr>
          <p:spPr>
            <a:xfrm>
              <a:off x="809625" y="4667250"/>
              <a:ext cx="4857750" cy="1381125"/>
            </a:xfrm>
            <a:prstGeom prst="roundRect">
              <a:avLst>
                <a:gd name="adj" fmla="val 8276"/>
              </a:avLst>
            </a:prstGeom>
            <a:solidFill>
              <a:srgbClr val="F1F5F9"/>
            </a:solidFill>
            <a:ln w="9525">
              <a:solidFill>
                <a:srgbClr val="E2E8F0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94791" y="4820602"/>
              <a:ext cx="10761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Ví dụ minh họa: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94791" y="5049202"/>
              <a:ext cx="22450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rgbClr val="334155"/>
                </a:buClr>
                <a:buSzTx/>
                <a:buFontTx/>
                <a:buChar char="•"/>
              </a:pPr>
              <a:r>
                <a:rPr lang="vi-VN" sz="10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A = {1; 2; 3; 4; 5}, B = {3; 4; 6; 7}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94791" y="5277802"/>
              <a:ext cx="31299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b="1" dirty="0">
                  <a:solidFill>
                    <a:srgbClr val="166534"/>
                  </a:solidFill>
                  <a:latin typeface="+mn-lt"/>
                  <a:ea typeface="+mn-ea"/>
                  <a:cs typeface="+mn-cs"/>
                </a:rPr>
                <a:t>⇒ A \ B = {1; 2; 5} (Lấy A bỏ phần chung với B)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94791" y="5563552"/>
              <a:ext cx="18065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rgbClr val="334155"/>
                </a:buClr>
                <a:buSzTx/>
                <a:buFontTx/>
                <a:buChar char="•"/>
              </a:pPr>
              <a:r>
                <a:rPr lang="vi-VN" sz="10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A = [-2; 5), B = [1; 7) trên ℝ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94791" y="5792152"/>
              <a:ext cx="1055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b="1" dirty="0">
                  <a:solidFill>
                    <a:srgbClr val="166534"/>
                  </a:solidFill>
                  <a:latin typeface="+mn-lt"/>
                  <a:ea typeface="+mn-ea"/>
                  <a:cs typeface="+mn-cs"/>
                </a:rPr>
                <a:t>⇒ A \ B = [-2; 1)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286500" y="1238250"/>
              <a:ext cx="5334000" cy="5048250"/>
            </a:xfrm>
            <a:prstGeom prst="roundRect">
              <a:avLst>
                <a:gd name="adj" fmla="val 3019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86500" y="1238250"/>
              <a:ext cx="5334000" cy="438150"/>
            </a:xfrm>
            <a:prstGeom prst="roundRect">
              <a:avLst>
                <a:gd name="adj" fmla="val 34783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86500" y="1619250"/>
              <a:ext cx="5334000" cy="57150"/>
            </a:xfrm>
            <a:prstGeom prst="rect">
              <a:avLst/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17767" y="1378268"/>
              <a:ext cx="33634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B. PHẦN BÙ (COMPLEMENT: C_E A)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524625" y="1857375"/>
              <a:ext cx="4857750" cy="809625"/>
            </a:xfrm>
            <a:prstGeom prst="roundRect">
              <a:avLst>
                <a:gd name="adj" fmla="val 14118"/>
              </a:avLst>
            </a:prstGeom>
            <a:solidFill>
              <a:srgbClr val="F8FAFC"/>
            </a:solidFill>
            <a:ln w="9525">
              <a:solidFill>
                <a:srgbClr val="CBD5E1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09791" y="2001202"/>
              <a:ext cx="7928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Định nghĩa: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09791" y="2210752"/>
              <a:ext cx="38436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Khi tập hợp A là tập con của E (A ⊂ E), hiệu E \ A được gọi là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09410" y="2412206"/>
              <a:ext cx="32712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12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phần bù của A trong E, kí hiệu: C_E A = E \ A</a:t>
              </a:r>
            </a:p>
          </p:txBody>
        </p:sp>
        <p:grpSp>
          <p:nvGrpSpPr>
            <p:cNvPr id="43" name="venn-comp"/>
            <p:cNvGrpSpPr/>
            <p:nvPr/>
          </p:nvGrpSpPr>
          <p:grpSpPr>
            <a:xfrm>
              <a:off x="7048500" y="2952750"/>
              <a:ext cx="3238500" cy="1524000"/>
              <a:chOff x="7048500" y="2952750"/>
              <a:chExt cx="3238500" cy="15240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7048500" y="2952750"/>
                <a:ext cx="3238500" cy="1524000"/>
              </a:xfrm>
              <a:prstGeom prst="roundRect">
                <a:avLst>
                  <a:gd name="adj" fmla="val 10000"/>
                </a:avLst>
              </a:prstGeom>
              <a:solidFill>
                <a:srgbClr val="FEF3C7"/>
              </a:solidFill>
              <a:ln w="23812">
                <a:solidFill>
                  <a:srgbClr val="D97706"/>
                </a:solidFill>
              </a:ln>
            </p:spPr>
          </p:sp>
          <p:sp>
            <p:nvSpPr>
              <p:cNvPr id="39" name="Ellipse 39"/>
              <p:cNvSpPr/>
              <p:nvPr/>
            </p:nvSpPr>
            <p:spPr>
              <a:xfrm>
                <a:off x="7810500" y="3238500"/>
                <a:ext cx="1714500" cy="9525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F172A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7327392" y="3140392"/>
                <a:ext cx="14179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350" b="1" dirty="0">
                    <a:solidFill>
                      <a:srgbClr val="B45309"/>
                    </a:solidFill>
                    <a:latin typeface="+mn-lt"/>
                    <a:ea typeface="+mn-ea"/>
                    <a:cs typeface="+mn-cs"/>
                  </a:rPr>
                  <a:t>E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430935" y="3632835"/>
                <a:ext cx="47362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-VN" sz="120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Tập A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9709404" y="4109085"/>
                <a:ext cx="5149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200" b="1" dirty="0">
                    <a:solidFill>
                      <a:srgbClr val="B45309"/>
                    </a:solidFill>
                    <a:latin typeface="+mn-lt"/>
                    <a:ea typeface="+mn-ea"/>
                    <a:cs typeface="+mn-cs"/>
                  </a:rPr>
                  <a:t>C_E A</a:t>
                </a:r>
              </a:p>
            </p:txBody>
          </p:sp>
        </p:grpSp>
        <p:sp>
          <p:nvSpPr>
            <p:cNvPr id="44" name="Rectangle 44"/>
            <p:cNvSpPr/>
            <p:nvPr/>
          </p:nvSpPr>
          <p:spPr>
            <a:xfrm>
              <a:off x="6524625" y="4667250"/>
              <a:ext cx="4857750" cy="1381125"/>
            </a:xfrm>
            <a:prstGeom prst="roundRect">
              <a:avLst>
                <a:gd name="adj" fmla="val 8276"/>
              </a:avLst>
            </a:prstGeom>
            <a:solidFill>
              <a:srgbClr val="F1F5F9"/>
            </a:solidFill>
            <a:ln w="9525">
              <a:solidFill>
                <a:srgbClr val="E2E8F0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09791" y="4820602"/>
              <a:ext cx="22178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Ví dụ phần bù trên tập số thực ℝ: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09791" y="5049202"/>
              <a:ext cx="26564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rgbClr val="334155"/>
                </a:buClr>
                <a:buSzTx/>
                <a:buFontTx/>
                <a:buChar char="•"/>
              </a:pPr>
              <a:r>
                <a:rPr lang="vi-VN" sz="10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Phần bù của nửa khoảng [2; +∞) trong ℝ: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709791" y="5277802"/>
              <a:ext cx="23730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⇒ C_ℝ [2; +∞) = ℝ \ [2; +∞) = (-∞; 2)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709791" y="5563552"/>
              <a:ext cx="21668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rgbClr val="334155"/>
                </a:buClr>
                <a:buSzTx/>
                <a:buFontTx/>
                <a:buChar char="•"/>
              </a:pPr>
              <a:r>
                <a:rPr lang="vi-VN" sz="10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Phần bù của đoạn [-3; 4] trong ℝ: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709791" y="5792152"/>
              <a:ext cx="21502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⇒ C_ℝ [-3; 4] = (-∞; -3) ∪ (4; +∞)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10" name="header-group"/>
          <p:cNvGrpSpPr/>
          <p:nvPr/>
        </p:nvGrpSpPr>
        <p:grpSpPr>
          <a:xfrm>
            <a:off x="571500" y="304800"/>
            <a:ext cx="11049000" cy="685800"/>
            <a:chOff x="571500" y="304800"/>
            <a:chExt cx="11049000" cy="685800"/>
          </a:xfrm>
        </p:grpSpPr>
        <p:sp>
          <p:nvSpPr>
            <p:cNvPr id="3" name="Rectangle 3"/>
            <p:cNvSpPr/>
            <p:nvPr/>
          </p:nvSpPr>
          <p:spPr>
            <a:xfrm>
              <a:off x="571500" y="304800"/>
              <a:ext cx="11049000" cy="6858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571500" y="304800"/>
              <a:ext cx="57150" cy="6858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800100" y="419100"/>
              <a:ext cx="723900" cy="247650"/>
            </a:xfrm>
            <a:prstGeom prst="roundRect">
              <a:avLst>
                <a:gd name="adj" fmla="val 23077"/>
              </a:avLst>
            </a:prstGeom>
            <a:solidFill>
              <a:srgbClr val="EFF6FF"/>
            </a:solidFill>
            <a:ln w="9525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62121" y="485299"/>
              <a:ext cx="7998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98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LUYỆN TẬP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658493" y="431482"/>
              <a:ext cx="40979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BÀI TẬP VẬN DỤNG TRÊN TRỤC SỐ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5147" y="771049"/>
              <a:ext cx="32651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TIẾT HỌC SƯ PHẠM • HỌC SINH TỰ LÀM VÀO VỞ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07858" y="590074"/>
              <a:ext cx="25794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980" b="1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GV: Nguyễn Văn Sang • CĐN số 1 - BQP</a:t>
              </a:r>
            </a:p>
          </p:txBody>
        </p:sp>
      </p:grpSp>
      <p:grpSp>
        <p:nvGrpSpPr>
          <p:cNvPr id="45" name="exercise-content"/>
          <p:cNvGrpSpPr/>
          <p:nvPr/>
        </p:nvGrpSpPr>
        <p:grpSpPr>
          <a:xfrm>
            <a:off x="762000" y="1285875"/>
            <a:ext cx="10668000" cy="4953000"/>
            <a:chOff x="762000" y="1285875"/>
            <a:chExt cx="10668000" cy="4953000"/>
          </a:xfrm>
        </p:grpSpPr>
        <p:sp>
          <p:nvSpPr>
            <p:cNvPr id="11" name="Rectangle 11"/>
            <p:cNvSpPr/>
            <p:nvPr/>
          </p:nvSpPr>
          <p:spPr>
            <a:xfrm>
              <a:off x="762000" y="1285875"/>
              <a:ext cx="10668000" cy="4953000"/>
            </a:xfrm>
            <a:prstGeom prst="roundRect">
              <a:avLst>
                <a:gd name="adj" fmla="val 3846"/>
              </a:avLst>
            </a:prstGeom>
            <a:solidFill>
              <a:srgbClr val="FFFFFF"/>
            </a:solidFill>
            <a:ln w="19050">
              <a:solidFill>
                <a:srgbClr val="3B82F6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762000" y="1285875"/>
              <a:ext cx="10668000" cy="523875"/>
            </a:xfrm>
            <a:prstGeom prst="roundRect">
              <a:avLst>
                <a:gd name="adj" fmla="val 36364"/>
              </a:avLst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62000" y="1733550"/>
              <a:ext cx="10668000" cy="76200"/>
            </a:xfrm>
            <a:prstGeom prst="rect">
              <a:avLst/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40130" y="1457325"/>
              <a:ext cx="77898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📝 BÀI TOÁN THỰC HÀNH: XÁC ĐỊNH CÁC PHÉP TOÁN TRÊN TẬP SỐ THỰC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047750" y="2000250"/>
              <a:ext cx="10096500" cy="1047750"/>
            </a:xfrm>
            <a:prstGeom prst="roundRect">
              <a:avLst>
                <a:gd name="adj" fmla="val 12727"/>
              </a:avLst>
            </a:prstGeom>
            <a:solidFill>
              <a:srgbClr val="F8FAFC"/>
            </a:solidFill>
            <a:ln w="14288">
              <a:solidFill>
                <a:srgbClr val="CBD5E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279017" y="2187892"/>
              <a:ext cx="6264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Đề bài: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79398" y="2481739"/>
              <a:ext cx="45205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80" dirty="0">
                  <a:solidFill>
                    <a:srgbClr val="1E293B"/>
                  </a:solidFill>
                  <a:latin typeface="+mn-lt"/>
                  <a:ea typeface="+mn-ea"/>
                  <a:cs typeface="+mn-cs"/>
                </a:rPr>
                <a:t xml:space="preserve">Cho hai tập hợp con của số thực: </a:t>
              </a:r>
              <a:r>
                <a:rPr lang="vi-VN" sz="1280" b="1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A = [-2; 3)</a:t>
              </a:r>
              <a:r>
                <a:rPr lang="vi-VN" sz="1280" dirty="0">
                  <a:solidFill>
                    <a:srgbClr val="1E293B"/>
                  </a:solidFill>
                  <a:latin typeface="+mn-lt"/>
                  <a:ea typeface="+mn-ea"/>
                  <a:cs typeface="+mn-cs"/>
                </a:rPr>
                <a:t xml:space="preserve"> và </a:t>
              </a:r>
              <a:r>
                <a:rPr lang="vi-VN" sz="1280" b="1" dirty="0">
                  <a:solidFill>
                    <a:srgbClr val="059669"/>
                  </a:solidFill>
                  <a:latin typeface="+mn-lt"/>
                  <a:ea typeface="+mn-ea"/>
                  <a:cs typeface="+mn-cs"/>
                </a:rPr>
                <a:t>B = (1; 5]</a:t>
              </a:r>
              <a:r>
                <a:rPr lang="vi-VN" sz="1280" dirty="0">
                  <a:solidFill>
                    <a:srgbClr val="1E293B"/>
                  </a:solidFill>
                  <a:latin typeface="+mn-lt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79779" y="2756535"/>
              <a:ext cx="45256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Hãy xác định các tập hợp sau và biểu diễn kết quả trên trục số:</a:t>
              </a:r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1047750" y="3238500"/>
              <a:ext cx="10096500" cy="1524000"/>
              <a:chOff x="1047750" y="3238500"/>
              <a:chExt cx="10096500" cy="15240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1047750" y="3238500"/>
                <a:ext cx="2333625" cy="1524000"/>
              </a:xfrm>
              <a:prstGeom prst="roundRect">
                <a:avLst>
                  <a:gd name="adj" fmla="val 7500"/>
                </a:avLst>
              </a:prstGeom>
              <a:solidFill>
                <a:srgbClr val="EFF6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279398" y="3434239"/>
                <a:ext cx="54703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280" b="1" dirty="0">
                    <a:solidFill>
                      <a:srgbClr val="1D4ED8"/>
                    </a:solidFill>
                    <a:latin typeface="+mn-lt"/>
                    <a:ea typeface="+mn-ea"/>
                    <a:cs typeface="+mn-cs"/>
                  </a:rPr>
                  <a:t>Câu a)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278255" y="3743325"/>
                <a:ext cx="93864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50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A ∩ B = ?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280922" y="4133374"/>
                <a:ext cx="97795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98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Giao của A và B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280922" y="4371499"/>
                <a:ext cx="118727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980" b="1" dirty="0">
                    <a:solidFill>
                      <a:srgbClr val="2563EB"/>
                    </a:solidFill>
                    <a:latin typeface="+mn-lt"/>
                    <a:ea typeface="+mn-ea"/>
                    <a:cs typeface="+mn-cs"/>
                  </a:rPr>
                  <a:t>Lấy phần tử chung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3619500" y="3238500"/>
                <a:ext cx="2333625" cy="1524000"/>
              </a:xfrm>
              <a:prstGeom prst="roundRect">
                <a:avLst>
                  <a:gd name="adj" fmla="val 7500"/>
                </a:avLst>
              </a:prstGeom>
              <a:solidFill>
                <a:srgbClr val="F0FDF4"/>
              </a:solidFill>
              <a:ln w="14288">
                <a:solidFill>
                  <a:srgbClr val="BBF7D0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3851148" y="3434239"/>
                <a:ext cx="55657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280" b="1" dirty="0">
                    <a:solidFill>
                      <a:srgbClr val="047857"/>
                    </a:solidFill>
                    <a:latin typeface="+mn-lt"/>
                    <a:ea typeface="+mn-ea"/>
                    <a:cs typeface="+mn-cs"/>
                  </a:rPr>
                  <a:t>Câu b)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850005" y="3743325"/>
                <a:ext cx="93864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50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A ∪ B = ?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852672" y="4133374"/>
                <a:ext cx="94215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98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Hợp của A và B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852672" y="4371499"/>
                <a:ext cx="117259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980" b="1" dirty="0">
                    <a:solidFill>
                      <a:srgbClr val="059669"/>
                    </a:solidFill>
                    <a:latin typeface="+mn-lt"/>
                    <a:ea typeface="+mn-ea"/>
                    <a:cs typeface="+mn-cs"/>
                  </a:rPr>
                  <a:t>Gộp tất cả phần tử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6191250" y="3238500"/>
                <a:ext cx="2333625" cy="1524000"/>
              </a:xfrm>
              <a:prstGeom prst="roundRect">
                <a:avLst>
                  <a:gd name="adj" fmla="val 7500"/>
                </a:avLst>
              </a:prstGeom>
              <a:solidFill>
                <a:srgbClr val="FEF3C7"/>
              </a:solidFill>
              <a:ln w="14288">
                <a:solidFill>
                  <a:srgbClr val="FDE68A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6422898" y="3434239"/>
                <a:ext cx="54703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280" b="1" dirty="0">
                    <a:solidFill>
                      <a:srgbClr val="B45309"/>
                    </a:solidFill>
                    <a:latin typeface="+mn-lt"/>
                    <a:ea typeface="+mn-ea"/>
                    <a:cs typeface="+mn-cs"/>
                  </a:rPr>
                  <a:t>Câu c)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421755" y="3743325"/>
                <a:ext cx="87469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50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A \ B = ?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424422" y="4133374"/>
                <a:ext cx="97051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98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Hiệu của A và B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424422" y="4371499"/>
                <a:ext cx="123900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980" b="1" dirty="0">
                    <a:solidFill>
                      <a:srgbClr val="D97706"/>
                    </a:solidFill>
                    <a:latin typeface="+mn-lt"/>
                    <a:ea typeface="+mn-ea"/>
                    <a:cs typeface="+mn-cs"/>
                  </a:rPr>
                  <a:t>Thuộc A nhưng ∉ B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8810625" y="3238500"/>
                <a:ext cx="2333625" cy="1524000"/>
              </a:xfrm>
              <a:prstGeom prst="roundRect">
                <a:avLst>
                  <a:gd name="adj" fmla="val 7500"/>
                </a:avLst>
              </a:prstGeom>
              <a:solidFill>
                <a:srgbClr val="FDF4FF"/>
              </a:solidFill>
              <a:ln w="14288">
                <a:solidFill>
                  <a:srgbClr val="F5D0FE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9042273" y="3434239"/>
                <a:ext cx="55657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280" b="1" dirty="0">
                    <a:solidFill>
                      <a:srgbClr val="9333EA"/>
                    </a:solidFill>
                    <a:latin typeface="+mn-lt"/>
                    <a:ea typeface="+mn-ea"/>
                    <a:cs typeface="+mn-cs"/>
                  </a:rPr>
                  <a:t>Câu d)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9041130" y="3743325"/>
                <a:ext cx="9980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50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C_ℝ A = ?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9043797" y="4133374"/>
                <a:ext cx="133193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98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Phần bù của A trong ℝ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9043797" y="4371499"/>
                <a:ext cx="30725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980" b="1" dirty="0">
                    <a:solidFill>
                      <a:srgbClr val="A855F7"/>
                    </a:solidFill>
                    <a:latin typeface="+mn-lt"/>
                    <a:ea typeface="+mn-ea"/>
                    <a:cs typeface="+mn-cs"/>
                  </a:rPr>
                  <a:t>ℝ \ A</a:t>
                </a:r>
              </a:p>
            </p:txBody>
          </p:sp>
        </p:grpSp>
        <p:sp>
          <p:nvSpPr>
            <p:cNvPr id="40" name="Rectangle 40"/>
            <p:cNvSpPr/>
            <p:nvPr/>
          </p:nvSpPr>
          <p:spPr>
            <a:xfrm>
              <a:off x="1047750" y="5000625"/>
              <a:ext cx="10096500" cy="904875"/>
            </a:xfrm>
            <a:prstGeom prst="roundRect">
              <a:avLst>
                <a:gd name="adj" fmla="val 12632"/>
              </a:avLst>
            </a:prstGeom>
            <a:solidFill>
              <a:srgbClr val="FEF2F2"/>
            </a:solidFill>
            <a:ln w="14288">
              <a:solidFill>
                <a:srgbClr val="FECACA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1219200" y="5238750"/>
              <a:ext cx="419100" cy="4191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369415" y="536924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⏱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803654" y="5223510"/>
              <a:ext cx="28095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00" b="1" dirty="0">
                  <a:solidFill>
                    <a:srgbClr val="991B1B"/>
                  </a:solidFill>
                  <a:latin typeface="+mn-lt"/>
                  <a:ea typeface="+mn-ea"/>
                  <a:cs typeface="+mn-cs"/>
                </a:rPr>
                <a:t>HOẠT ĐỘNG CÁ NHÂN (05 PHÚT):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804416" y="5487352"/>
              <a:ext cx="83264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7F1D1D"/>
                  </a:solidFill>
                  <a:latin typeface="+mn-lt"/>
                  <a:ea typeface="+mn-ea"/>
                  <a:cs typeface="+mn-cs"/>
                </a:rPr>
                <a:t>Học sinh vẽ các trục số tương ứng vào vở, gạch chéo phần loại bỏ và kết luận tập nghiệm. Thầy giáo sẽ gọi 2 bạn lên bảng trình bày!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10" name="header-group"/>
          <p:cNvGrpSpPr/>
          <p:nvPr/>
        </p:nvGrpSpPr>
        <p:grpSpPr>
          <a:xfrm>
            <a:off x="571500" y="304800"/>
            <a:ext cx="11049000" cy="685800"/>
            <a:chOff x="571500" y="304800"/>
            <a:chExt cx="11049000" cy="685800"/>
          </a:xfrm>
        </p:grpSpPr>
        <p:sp>
          <p:nvSpPr>
            <p:cNvPr id="3" name="Rectangle 3"/>
            <p:cNvSpPr/>
            <p:nvPr/>
          </p:nvSpPr>
          <p:spPr>
            <a:xfrm>
              <a:off x="571500" y="304800"/>
              <a:ext cx="11049000" cy="6858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571500" y="304800"/>
              <a:ext cx="57150" cy="6858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800100" y="419100"/>
              <a:ext cx="723900" cy="247650"/>
            </a:xfrm>
            <a:prstGeom prst="roundRect">
              <a:avLst>
                <a:gd name="adj" fmla="val 23077"/>
              </a:avLst>
            </a:prstGeom>
            <a:solidFill>
              <a:srgbClr val="EFF6FF"/>
            </a:solidFill>
            <a:ln w="9525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78321" y="485299"/>
              <a:ext cx="5674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98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LỜI GIẢI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658493" y="431482"/>
              <a:ext cx="53756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HƯỚNG DẪN GIẢI CHI TIẾT BÀI TẬP VẬN DỤNG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5147" y="771049"/>
              <a:ext cx="39829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ĐỐI CHIẾU KẾT QUẢ VÀ RÚT KINH NGHIỆM TRÊN TRỤC SỐ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07858" y="590074"/>
              <a:ext cx="25794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980" b="1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GV: Nguyễn Văn Sang • CĐN số 1 - BQP</a:t>
              </a:r>
            </a:p>
          </p:txBody>
        </p:sp>
      </p:grpSp>
      <p:grpSp>
        <p:nvGrpSpPr>
          <p:cNvPr id="75" name="solution-content"/>
          <p:cNvGrpSpPr/>
          <p:nvPr/>
        </p:nvGrpSpPr>
        <p:grpSpPr>
          <a:xfrm>
            <a:off x="571500" y="1190625"/>
            <a:ext cx="11049000" cy="5143500"/>
            <a:chOff x="571500" y="1190625"/>
            <a:chExt cx="11049000" cy="5143500"/>
          </a:xfrm>
        </p:grpSpPr>
        <p:sp>
          <p:nvSpPr>
            <p:cNvPr id="11" name="Rectangle 11"/>
            <p:cNvSpPr/>
            <p:nvPr/>
          </p:nvSpPr>
          <p:spPr>
            <a:xfrm>
              <a:off x="571500" y="1190625"/>
              <a:ext cx="11049000" cy="5143500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9050">
              <a:solidFill>
                <a:srgbClr val="10B981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" y="1190625"/>
              <a:ext cx="11049000" cy="400050"/>
            </a:xfrm>
            <a:prstGeom prst="roundRect">
              <a:avLst>
                <a:gd name="adj" fmla="val 38095"/>
              </a:avLst>
            </a:prstGeom>
            <a:solidFill>
              <a:srgbClr val="ECFD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1524000"/>
              <a:ext cx="11049000" cy="66675"/>
            </a:xfrm>
            <a:prstGeom prst="rect">
              <a:avLst/>
            </a:prstGeom>
            <a:solidFill>
              <a:srgbClr val="ECFDF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03148" y="1310164"/>
              <a:ext cx="69004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80" b="1" dirty="0">
                  <a:solidFill>
                    <a:srgbClr val="065F46"/>
                  </a:solidFill>
                  <a:latin typeface="+mn-lt"/>
                  <a:ea typeface="+mn-ea"/>
                  <a:cs typeface="+mn-cs"/>
                </a:rPr>
                <a:t>✔ ĐÁP ÁN VÀ TRỰC QUAN HÓA TRÊN TRỤC SỐ THỰC: A = [-2; 3) VÀ B = (1; 5]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809625" y="1714500"/>
              <a:ext cx="10572750" cy="905256"/>
              <a:chOff x="809625" y="1714500"/>
              <a:chExt cx="10572750" cy="905256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809625" y="1714500"/>
                <a:ext cx="10572750" cy="904875"/>
              </a:xfrm>
              <a:prstGeom prst="roundRect">
                <a:avLst>
                  <a:gd name="adj" fmla="val 10526"/>
                </a:avLst>
              </a:prstGeom>
              <a:solidFill>
                <a:srgbClr val="F8FAFC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994029" y="1889760"/>
                <a:ext cx="154555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200" b="1" dirty="0">
                    <a:solidFill>
                      <a:srgbClr val="1D4ED8"/>
                    </a:solidFill>
                    <a:latin typeface="+mn-lt"/>
                    <a:ea typeface="+mn-ea"/>
                    <a:cs typeface="+mn-cs"/>
                  </a:rPr>
                  <a:t>a) Phép Giao A ∩ B: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94410" y="2164556"/>
                <a:ext cx="251634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120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Lấy phần giao tử -2 đến 3 và 1 đến 5: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94029" y="2385060"/>
                <a:ext cx="120045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200" b="1" dirty="0">
                    <a:solidFill>
                      <a:srgbClr val="166534"/>
                    </a:solidFill>
                    <a:latin typeface="+mn-lt"/>
                    <a:ea typeface="+mn-ea"/>
                    <a:cs typeface="+mn-cs"/>
                  </a:rPr>
                  <a:t>⇒ A ∩ B = (1; 3)</a:t>
                </a:r>
              </a:p>
            </p:txBody>
          </p:sp>
          <p:grpSp>
            <p:nvGrpSpPr>
              <p:cNvPr id="29" name="Group 29"/>
              <p:cNvGrpSpPr/>
              <p:nvPr/>
            </p:nvGrpSpPr>
            <p:grpSpPr>
              <a:xfrm>
                <a:off x="5381625" y="1984058"/>
                <a:ext cx="5715000" cy="454056"/>
                <a:chOff x="5381625" y="1984058"/>
                <a:chExt cx="5715000" cy="454056"/>
              </a:xfrm>
            </p:grpSpPr>
            <p:sp>
              <p:nvSpPr>
                <p:cNvPr id="19" name="Line 19"/>
                <p:cNvSpPr/>
                <p:nvPr/>
              </p:nvSpPr>
              <p:spPr>
                <a:xfrm>
                  <a:off x="5381625" y="2095500"/>
                  <a:ext cx="5715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00" h="9525">
                      <a:moveTo>
                        <a:pt x="0" y="0"/>
                      </a:moveTo>
                      <a:lnTo>
                        <a:pt x="5715000" y="0"/>
                      </a:lnTo>
                    </a:path>
                  </a:pathLst>
                </a:custGeom>
                <a:noFill/>
                <a:ln w="19050">
                  <a:solidFill>
                    <a:srgbClr val="94A3B8"/>
                  </a:solidFill>
                </a:ln>
              </p:spPr>
            </p:sp>
            <p:sp>
              <p:nvSpPr>
                <p:cNvPr id="20" name="Line 20"/>
                <p:cNvSpPr/>
                <p:nvPr/>
              </p:nvSpPr>
              <p:spPr>
                <a:xfrm>
                  <a:off x="5572125" y="2000250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0" y="0"/>
                      </a:moveTo>
                      <a:lnTo>
                        <a:pt x="190500" y="190500"/>
                      </a:lnTo>
                    </a:path>
                  </a:pathLst>
                </a:custGeom>
                <a:noFill/>
                <a:ln w="14288">
                  <a:solidFill>
                    <a:srgbClr val="CBD5E1"/>
                  </a:solidFill>
                </a:ln>
              </p:spPr>
            </p:sp>
            <p:sp>
              <p:nvSpPr>
                <p:cNvPr id="21" name="Line 21"/>
                <p:cNvSpPr/>
                <p:nvPr/>
              </p:nvSpPr>
              <p:spPr>
                <a:xfrm>
                  <a:off x="6524625" y="2000250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0" y="0"/>
                      </a:moveTo>
                      <a:lnTo>
                        <a:pt x="190500" y="190500"/>
                      </a:lnTo>
                    </a:path>
                  </a:pathLst>
                </a:custGeom>
                <a:noFill/>
                <a:ln w="14288">
                  <a:solidFill>
                    <a:srgbClr val="CBD5E1"/>
                  </a:solidFill>
                </a:ln>
              </p:spPr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7278243" y="1984058"/>
                  <a:ext cx="90731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1650" b="1" dirty="0">
                      <a:solidFill>
                        <a:srgbClr val="1D4ED8"/>
                      </a:solidFill>
                      <a:latin typeface="+mn-lt"/>
                      <a:ea typeface="+mn-ea"/>
                      <a:cs typeface="+mn-cs"/>
                    </a:rPr>
                    <a:t>(</a:t>
                  </a: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7281672" y="2247424"/>
                  <a:ext cx="83284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98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24" name="Line 24"/>
                <p:cNvSpPr/>
                <p:nvPr/>
              </p:nvSpPr>
              <p:spPr>
                <a:xfrm>
                  <a:off x="7429500" y="2095500"/>
                  <a:ext cx="16192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9250" h="9525">
                      <a:moveTo>
                        <a:pt x="0" y="0"/>
                      </a:moveTo>
                      <a:lnTo>
                        <a:pt x="1619250" y="0"/>
                      </a:lnTo>
                    </a:path>
                  </a:pathLst>
                </a:custGeom>
                <a:noFill/>
                <a:ln w="38100">
                  <a:solidFill>
                    <a:srgbClr val="1D4ED8"/>
                  </a:solidFill>
                </a:ln>
              </p:spPr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9087993" y="1984058"/>
                  <a:ext cx="90731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1650" b="1" dirty="0">
                      <a:solidFill>
                        <a:srgbClr val="1D4ED8"/>
                      </a:solidFill>
                      <a:latin typeface="+mn-lt"/>
                      <a:ea typeface="+mn-ea"/>
                      <a:cs typeface="+mn-cs"/>
                    </a:rPr>
                    <a:t>)</a:t>
                  </a: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9091422" y="2247424"/>
                  <a:ext cx="83284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98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27" name="Line 27"/>
                <p:cNvSpPr/>
                <p:nvPr/>
              </p:nvSpPr>
              <p:spPr>
                <a:xfrm>
                  <a:off x="9477375" y="2000250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0" y="0"/>
                      </a:moveTo>
                      <a:lnTo>
                        <a:pt x="190500" y="190500"/>
                      </a:lnTo>
                    </a:path>
                  </a:pathLst>
                </a:custGeom>
                <a:noFill/>
                <a:ln w="14288">
                  <a:solidFill>
                    <a:srgbClr val="CBD5E1"/>
                  </a:solidFill>
                </a:ln>
              </p:spPr>
            </p:sp>
            <p:sp>
              <p:nvSpPr>
                <p:cNvPr id="28" name="Line 28"/>
                <p:cNvSpPr/>
                <p:nvPr/>
              </p:nvSpPr>
              <p:spPr>
                <a:xfrm>
                  <a:off x="10429875" y="2000250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0" y="0"/>
                      </a:moveTo>
                      <a:lnTo>
                        <a:pt x="190500" y="190500"/>
                      </a:lnTo>
                    </a:path>
                  </a:pathLst>
                </a:custGeom>
                <a:noFill/>
                <a:ln w="14288">
                  <a:solidFill>
                    <a:srgbClr val="CBD5E1"/>
                  </a:solidFill>
                </a:ln>
              </p:spPr>
            </p:sp>
          </p:grpSp>
        </p:grpSp>
        <p:grpSp>
          <p:nvGrpSpPr>
            <p:cNvPr id="44" name="Group 44"/>
            <p:cNvGrpSpPr/>
            <p:nvPr/>
          </p:nvGrpSpPr>
          <p:grpSpPr>
            <a:xfrm>
              <a:off x="809625" y="2762250"/>
              <a:ext cx="10572750" cy="905256"/>
              <a:chOff x="809625" y="2762250"/>
              <a:chExt cx="10572750" cy="905256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809625" y="2762250"/>
                <a:ext cx="10572750" cy="904875"/>
              </a:xfrm>
              <a:prstGeom prst="roundRect">
                <a:avLst>
                  <a:gd name="adj" fmla="val 10526"/>
                </a:avLst>
              </a:prstGeom>
              <a:solidFill>
                <a:srgbClr val="F8FAFC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994029" y="2937510"/>
                <a:ext cx="151161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200" b="1" dirty="0">
                    <a:solidFill>
                      <a:srgbClr val="047857"/>
                    </a:solidFill>
                    <a:latin typeface="+mn-lt"/>
                    <a:ea typeface="+mn-ea"/>
                    <a:cs typeface="+mn-cs"/>
                  </a:rPr>
                  <a:t>b) Phép Hợp A ∪ B: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94410" y="3212306"/>
                <a:ext cx="239925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120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Gộp toàn bộ từ -2 đến 3 và 1 đến 5: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94029" y="3432810"/>
                <a:ext cx="125729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200" b="1" dirty="0">
                    <a:solidFill>
                      <a:srgbClr val="166534"/>
                    </a:solidFill>
                    <a:latin typeface="+mn-lt"/>
                    <a:ea typeface="+mn-ea"/>
                    <a:cs typeface="+mn-cs"/>
                  </a:rPr>
                  <a:t>⇒ A ∪ B = [-2; 5]</a:t>
                </a:r>
              </a:p>
            </p:txBody>
          </p:sp>
          <p:grpSp>
            <p:nvGrpSpPr>
              <p:cNvPr id="43" name="Group 43"/>
              <p:cNvGrpSpPr/>
              <p:nvPr/>
            </p:nvGrpSpPr>
            <p:grpSpPr>
              <a:xfrm>
                <a:off x="5381625" y="3031808"/>
                <a:ext cx="5715000" cy="454056"/>
                <a:chOff x="5381625" y="3031808"/>
                <a:chExt cx="5715000" cy="454056"/>
              </a:xfrm>
            </p:grpSpPr>
            <p:sp>
              <p:nvSpPr>
                <p:cNvPr id="35" name="Line 35"/>
                <p:cNvSpPr/>
                <p:nvPr/>
              </p:nvSpPr>
              <p:spPr>
                <a:xfrm>
                  <a:off x="5381625" y="3143250"/>
                  <a:ext cx="5715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00" h="9525">
                      <a:moveTo>
                        <a:pt x="0" y="0"/>
                      </a:moveTo>
                      <a:lnTo>
                        <a:pt x="5715000" y="0"/>
                      </a:lnTo>
                    </a:path>
                  </a:pathLst>
                </a:custGeom>
                <a:noFill/>
                <a:ln w="19050">
                  <a:solidFill>
                    <a:srgbClr val="94A3B8"/>
                  </a:solidFill>
                </a:ln>
              </p:spPr>
            </p:sp>
            <p:sp>
              <p:nvSpPr>
                <p:cNvPr id="36" name="Line 36"/>
                <p:cNvSpPr/>
                <p:nvPr/>
              </p:nvSpPr>
              <p:spPr>
                <a:xfrm>
                  <a:off x="5667375" y="3048000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0" y="0"/>
                      </a:moveTo>
                      <a:lnTo>
                        <a:pt x="190500" y="190500"/>
                      </a:lnTo>
                    </a:path>
                  </a:pathLst>
                </a:custGeom>
                <a:noFill/>
                <a:ln w="14288">
                  <a:solidFill>
                    <a:srgbClr val="CBD5E1"/>
                  </a:solidFill>
                </a:ln>
              </p:spPr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6325743" y="3031808"/>
                  <a:ext cx="90731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1650" b="1" dirty="0">
                      <a:solidFill>
                        <a:srgbClr val="059669"/>
                      </a:solidFill>
                      <a:latin typeface="+mn-lt"/>
                      <a:ea typeface="+mn-ea"/>
                      <a:cs typeface="+mn-cs"/>
                    </a:rPr>
                    <a:t>[</a:t>
                  </a:r>
                </a:p>
              </p:txBody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6329172" y="3295174"/>
                  <a:ext cx="127216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98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>-2</a:t>
                  </a:r>
                </a:p>
              </p:txBody>
            </p:sp>
            <p:sp>
              <p:nvSpPr>
                <p:cNvPr id="39" name="Line 39"/>
                <p:cNvSpPr/>
                <p:nvPr/>
              </p:nvSpPr>
              <p:spPr>
                <a:xfrm>
                  <a:off x="6477000" y="3143250"/>
                  <a:ext cx="35242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4250" h="9525">
                      <a:moveTo>
                        <a:pt x="0" y="0"/>
                      </a:moveTo>
                      <a:lnTo>
                        <a:pt x="3524250" y="0"/>
                      </a:lnTo>
                    </a:path>
                  </a:pathLst>
                </a:custGeom>
                <a:noFill/>
                <a:ln w="38100">
                  <a:solidFill>
                    <a:srgbClr val="059669"/>
                  </a:solidFill>
                </a:ln>
              </p:spPr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10040493" y="3031808"/>
                  <a:ext cx="90731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1650" b="1" dirty="0">
                      <a:solidFill>
                        <a:srgbClr val="059669"/>
                      </a:solidFill>
                      <a:latin typeface="+mn-lt"/>
                      <a:ea typeface="+mn-ea"/>
                      <a:cs typeface="+mn-cs"/>
                    </a:rPr>
                    <a:t>]</a:t>
                  </a: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10043922" y="3295174"/>
                  <a:ext cx="83284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98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>5</a:t>
                  </a:r>
                </a:p>
              </p:txBody>
            </p:sp>
            <p:sp>
              <p:nvSpPr>
                <p:cNvPr id="42" name="Line 42"/>
                <p:cNvSpPr/>
                <p:nvPr/>
              </p:nvSpPr>
              <p:spPr>
                <a:xfrm>
                  <a:off x="10429875" y="3048000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0" y="0"/>
                      </a:moveTo>
                      <a:lnTo>
                        <a:pt x="190500" y="190500"/>
                      </a:lnTo>
                    </a:path>
                  </a:pathLst>
                </a:custGeom>
                <a:noFill/>
                <a:ln w="14288">
                  <a:solidFill>
                    <a:srgbClr val="CBD5E1"/>
                  </a:solidFill>
                </a:ln>
              </p:spPr>
            </p:sp>
          </p:grpSp>
        </p:grpSp>
        <p:grpSp>
          <p:nvGrpSpPr>
            <p:cNvPr id="59" name="Group 59"/>
            <p:cNvGrpSpPr/>
            <p:nvPr/>
          </p:nvGrpSpPr>
          <p:grpSpPr>
            <a:xfrm>
              <a:off x="809625" y="3810000"/>
              <a:ext cx="10572750" cy="905256"/>
              <a:chOff x="809625" y="3810000"/>
              <a:chExt cx="10572750" cy="905256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809625" y="3810000"/>
                <a:ext cx="10572750" cy="904875"/>
              </a:xfrm>
              <a:prstGeom prst="roundRect">
                <a:avLst>
                  <a:gd name="adj" fmla="val 10526"/>
                </a:avLst>
              </a:prstGeom>
              <a:solidFill>
                <a:srgbClr val="F8FAFC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994029" y="3985260"/>
                <a:ext cx="148697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200" b="1" dirty="0">
                    <a:solidFill>
                      <a:srgbClr val="B45309"/>
                    </a:solidFill>
                    <a:latin typeface="+mn-lt"/>
                    <a:ea typeface="+mn-ea"/>
                    <a:cs typeface="+mn-cs"/>
                  </a:rPr>
                  <a:t>c) Phép Hiệu A \ B: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994410" y="4260056"/>
                <a:ext cx="290244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120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Các phần tử thuộc A nhưng không thuộc B: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994029" y="4480560"/>
                <a:ext cx="331909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200" b="1" dirty="0">
                    <a:solidFill>
                      <a:srgbClr val="B45309"/>
                    </a:solidFill>
                    <a:latin typeface="+mn-lt"/>
                    <a:ea typeface="+mn-ea"/>
                    <a:cs typeface="+mn-cs"/>
                  </a:rPr>
                  <a:t>⇒ A \ B = [-2; 1] (Vì 1 ∉ B nên 1 thuộc A \ B)</a:t>
                </a:r>
              </a:p>
            </p:txBody>
          </p:sp>
          <p:grpSp>
            <p:nvGrpSpPr>
              <p:cNvPr id="58" name="Group 58"/>
              <p:cNvGrpSpPr/>
              <p:nvPr/>
            </p:nvGrpSpPr>
            <p:grpSpPr>
              <a:xfrm>
                <a:off x="5381625" y="4079558"/>
                <a:ext cx="5715000" cy="454056"/>
                <a:chOff x="5381625" y="4079558"/>
                <a:chExt cx="5715000" cy="454056"/>
              </a:xfrm>
            </p:grpSpPr>
            <p:sp>
              <p:nvSpPr>
                <p:cNvPr id="49" name="Line 49"/>
                <p:cNvSpPr/>
                <p:nvPr/>
              </p:nvSpPr>
              <p:spPr>
                <a:xfrm>
                  <a:off x="5381625" y="4191000"/>
                  <a:ext cx="5715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00" h="9525">
                      <a:moveTo>
                        <a:pt x="0" y="0"/>
                      </a:moveTo>
                      <a:lnTo>
                        <a:pt x="5715000" y="0"/>
                      </a:lnTo>
                    </a:path>
                  </a:pathLst>
                </a:custGeom>
                <a:noFill/>
                <a:ln w="19050">
                  <a:solidFill>
                    <a:srgbClr val="94A3B8"/>
                  </a:solidFill>
                </a:ln>
              </p:spPr>
            </p:sp>
            <p:sp>
              <p:nvSpPr>
                <p:cNvPr id="50" name="Line 50"/>
                <p:cNvSpPr/>
                <p:nvPr/>
              </p:nvSpPr>
              <p:spPr>
                <a:xfrm>
                  <a:off x="5667375" y="4095750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0" y="0"/>
                      </a:moveTo>
                      <a:lnTo>
                        <a:pt x="190500" y="190500"/>
                      </a:lnTo>
                    </a:path>
                  </a:pathLst>
                </a:custGeom>
                <a:noFill/>
                <a:ln w="14288">
                  <a:solidFill>
                    <a:srgbClr val="CBD5E1"/>
                  </a:solidFill>
                </a:ln>
              </p:spPr>
            </p:sp>
            <p:sp>
              <p:nvSpPr>
                <p:cNvPr id="51" name="TextBox 51"/>
                <p:cNvSpPr txBox="1"/>
                <p:nvPr/>
              </p:nvSpPr>
              <p:spPr>
                <a:xfrm>
                  <a:off x="6325743" y="4079558"/>
                  <a:ext cx="90731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1650" b="1" dirty="0">
                      <a:solidFill>
                        <a:srgbClr val="D97706"/>
                      </a:solidFill>
                      <a:latin typeface="+mn-lt"/>
                      <a:ea typeface="+mn-ea"/>
                      <a:cs typeface="+mn-cs"/>
                    </a:rPr>
                    <a:t>[</a:t>
                  </a:r>
                </a:p>
              </p:txBody>
            </p:sp>
            <p:sp>
              <p:nvSpPr>
                <p:cNvPr id="52" name="TextBox 52"/>
                <p:cNvSpPr txBox="1"/>
                <p:nvPr/>
              </p:nvSpPr>
              <p:spPr>
                <a:xfrm>
                  <a:off x="6329172" y="4342924"/>
                  <a:ext cx="127216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98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>-2</a:t>
                  </a:r>
                </a:p>
              </p:txBody>
            </p:sp>
            <p:sp>
              <p:nvSpPr>
                <p:cNvPr id="53" name="Line 53"/>
                <p:cNvSpPr/>
                <p:nvPr/>
              </p:nvSpPr>
              <p:spPr>
                <a:xfrm>
                  <a:off x="6477000" y="4191000"/>
                  <a:ext cx="16192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9250" h="9525">
                      <a:moveTo>
                        <a:pt x="0" y="0"/>
                      </a:moveTo>
                      <a:lnTo>
                        <a:pt x="1619250" y="0"/>
                      </a:lnTo>
                    </a:path>
                  </a:pathLst>
                </a:custGeom>
                <a:noFill/>
                <a:ln w="38100">
                  <a:solidFill>
                    <a:srgbClr val="D97706"/>
                  </a:solidFill>
                </a:ln>
              </p:spPr>
            </p:sp>
            <p:sp>
              <p:nvSpPr>
                <p:cNvPr id="54" name="TextBox 54"/>
                <p:cNvSpPr txBox="1"/>
                <p:nvPr/>
              </p:nvSpPr>
              <p:spPr>
                <a:xfrm>
                  <a:off x="8135493" y="4079558"/>
                  <a:ext cx="90731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1650" b="1" dirty="0">
                      <a:solidFill>
                        <a:srgbClr val="D97706"/>
                      </a:solidFill>
                      <a:latin typeface="+mn-lt"/>
                      <a:ea typeface="+mn-ea"/>
                      <a:cs typeface="+mn-cs"/>
                    </a:rPr>
                    <a:t>]</a:t>
                  </a:r>
                </a:p>
              </p:txBody>
            </p:sp>
            <p:sp>
              <p:nvSpPr>
                <p:cNvPr id="55" name="TextBox 55"/>
                <p:cNvSpPr txBox="1"/>
                <p:nvPr/>
              </p:nvSpPr>
              <p:spPr>
                <a:xfrm>
                  <a:off x="8138922" y="4342924"/>
                  <a:ext cx="83284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98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56" name="Line 56"/>
                <p:cNvSpPr/>
                <p:nvPr/>
              </p:nvSpPr>
              <p:spPr>
                <a:xfrm>
                  <a:off x="8524875" y="4095750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0" y="0"/>
                      </a:moveTo>
                      <a:lnTo>
                        <a:pt x="190500" y="190500"/>
                      </a:lnTo>
                    </a:path>
                  </a:pathLst>
                </a:custGeom>
                <a:noFill/>
                <a:ln w="14288">
                  <a:solidFill>
                    <a:srgbClr val="CBD5E1"/>
                  </a:solidFill>
                </a:ln>
              </p:spPr>
            </p:sp>
            <p:sp>
              <p:nvSpPr>
                <p:cNvPr id="57" name="Line 57"/>
                <p:cNvSpPr/>
                <p:nvPr/>
              </p:nvSpPr>
              <p:spPr>
                <a:xfrm>
                  <a:off x="9477375" y="4095750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0" y="0"/>
                      </a:moveTo>
                      <a:lnTo>
                        <a:pt x="190500" y="190500"/>
                      </a:lnTo>
                    </a:path>
                  </a:pathLst>
                </a:custGeom>
                <a:noFill/>
                <a:ln w="14288">
                  <a:solidFill>
                    <a:srgbClr val="CBD5E1"/>
                  </a:solidFill>
                </a:ln>
              </p:spPr>
            </p:sp>
          </p:grpSp>
        </p:grpSp>
        <p:grpSp>
          <p:nvGrpSpPr>
            <p:cNvPr id="74" name="Group 74"/>
            <p:cNvGrpSpPr/>
            <p:nvPr/>
          </p:nvGrpSpPr>
          <p:grpSpPr>
            <a:xfrm>
              <a:off x="809625" y="4857750"/>
              <a:ext cx="10572750" cy="905256"/>
              <a:chOff x="809625" y="4857750"/>
              <a:chExt cx="10572750" cy="905256"/>
            </a:xfrm>
          </p:grpSpPr>
          <p:sp>
            <p:nvSpPr>
              <p:cNvPr id="60" name="Rectangle 60"/>
              <p:cNvSpPr/>
              <p:nvPr/>
            </p:nvSpPr>
            <p:spPr>
              <a:xfrm>
                <a:off x="809625" y="4857750"/>
                <a:ext cx="10572750" cy="904875"/>
              </a:xfrm>
              <a:prstGeom prst="roundRect">
                <a:avLst>
                  <a:gd name="adj" fmla="val 10526"/>
                </a:avLst>
              </a:prstGeom>
              <a:solidFill>
                <a:srgbClr val="F8FAFC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994029" y="5033010"/>
                <a:ext cx="143303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200" b="1" dirty="0">
                    <a:solidFill>
                      <a:srgbClr val="7C3AED"/>
                    </a:solidFill>
                    <a:latin typeface="+mn-lt"/>
                    <a:ea typeface="+mn-ea"/>
                    <a:cs typeface="+mn-cs"/>
                  </a:rPr>
                  <a:t>d) Phần bù C_ℝ A: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994410" y="5307806"/>
                <a:ext cx="272451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120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Lấy toàn bộ ℝ loại bỏ nửa khoảng [-2; 3):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994029" y="5528310"/>
                <a:ext cx="2116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200" b="1" dirty="0">
                    <a:solidFill>
                      <a:srgbClr val="7C3AED"/>
                    </a:solidFill>
                    <a:latin typeface="+mn-lt"/>
                    <a:ea typeface="+mn-ea"/>
                    <a:cs typeface="+mn-cs"/>
                  </a:rPr>
                  <a:t>⇒ C_ℝ A = (-∞; -2) ∪ [3; +∞)</a:t>
                </a:r>
              </a:p>
            </p:txBody>
          </p:sp>
          <p:grpSp>
            <p:nvGrpSpPr>
              <p:cNvPr id="73" name="Group 73"/>
              <p:cNvGrpSpPr/>
              <p:nvPr/>
            </p:nvGrpSpPr>
            <p:grpSpPr>
              <a:xfrm>
                <a:off x="5381625" y="5127308"/>
                <a:ext cx="5715000" cy="454056"/>
                <a:chOff x="5381625" y="5127308"/>
                <a:chExt cx="5715000" cy="454056"/>
              </a:xfrm>
            </p:grpSpPr>
            <p:sp>
              <p:nvSpPr>
                <p:cNvPr id="64" name="Line 64"/>
                <p:cNvSpPr/>
                <p:nvPr/>
              </p:nvSpPr>
              <p:spPr>
                <a:xfrm>
                  <a:off x="5381625" y="5238750"/>
                  <a:ext cx="5715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00" h="9525">
                      <a:moveTo>
                        <a:pt x="0" y="0"/>
                      </a:moveTo>
                      <a:lnTo>
                        <a:pt x="5715000" y="0"/>
                      </a:lnTo>
                    </a:path>
                  </a:pathLst>
                </a:custGeom>
                <a:noFill/>
                <a:ln w="19050">
                  <a:solidFill>
                    <a:srgbClr val="94A3B8"/>
                  </a:solidFill>
                </a:ln>
              </p:spPr>
            </p:sp>
            <p:sp>
              <p:nvSpPr>
                <p:cNvPr id="65" name="Line 65"/>
                <p:cNvSpPr/>
                <p:nvPr/>
              </p:nvSpPr>
              <p:spPr>
                <a:xfrm>
                  <a:off x="5476875" y="5238750"/>
                  <a:ext cx="762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0" h="9525">
                      <a:moveTo>
                        <a:pt x="0" y="0"/>
                      </a:moveTo>
                      <a:lnTo>
                        <a:pt x="762000" y="0"/>
                      </a:lnTo>
                    </a:path>
                  </a:pathLst>
                </a:custGeom>
                <a:noFill/>
                <a:ln w="38100">
                  <a:solidFill>
                    <a:srgbClr val="7C3AED"/>
                  </a:solidFill>
                </a:ln>
              </p:spPr>
            </p:sp>
            <p:sp>
              <p:nvSpPr>
                <p:cNvPr id="66" name="TextBox 66"/>
                <p:cNvSpPr txBox="1"/>
                <p:nvPr/>
              </p:nvSpPr>
              <p:spPr>
                <a:xfrm>
                  <a:off x="6230493" y="5127308"/>
                  <a:ext cx="90731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1650" b="1" dirty="0">
                      <a:solidFill>
                        <a:srgbClr val="7C3AED"/>
                      </a:solidFill>
                      <a:latin typeface="+mn-lt"/>
                      <a:ea typeface="+mn-ea"/>
                      <a:cs typeface="+mn-cs"/>
                    </a:rPr>
                    <a:t>)</a:t>
                  </a:r>
                </a:p>
              </p:txBody>
            </p:sp>
            <p:sp>
              <p:nvSpPr>
                <p:cNvPr id="67" name="TextBox 67"/>
                <p:cNvSpPr txBox="1"/>
                <p:nvPr/>
              </p:nvSpPr>
              <p:spPr>
                <a:xfrm>
                  <a:off x="6233922" y="5390674"/>
                  <a:ext cx="127216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98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>-2</a:t>
                  </a:r>
                </a:p>
              </p:txBody>
            </p:sp>
            <p:sp>
              <p:nvSpPr>
                <p:cNvPr id="68" name="Line 68"/>
                <p:cNvSpPr/>
                <p:nvPr/>
              </p:nvSpPr>
              <p:spPr>
                <a:xfrm>
                  <a:off x="6619875" y="5143500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0" y="0"/>
                      </a:moveTo>
                      <a:lnTo>
                        <a:pt x="190500" y="190500"/>
                      </a:lnTo>
                    </a:path>
                  </a:pathLst>
                </a:custGeom>
                <a:noFill/>
                <a:ln w="14288">
                  <a:solidFill>
                    <a:srgbClr val="CBD5E1"/>
                  </a:solidFill>
                </a:ln>
              </p:spPr>
            </p:sp>
            <p:sp>
              <p:nvSpPr>
                <p:cNvPr id="69" name="Line 69"/>
                <p:cNvSpPr/>
                <p:nvPr/>
              </p:nvSpPr>
              <p:spPr>
                <a:xfrm>
                  <a:off x="7286625" y="5143500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0" y="0"/>
                      </a:moveTo>
                      <a:lnTo>
                        <a:pt x="190500" y="190500"/>
                      </a:lnTo>
                    </a:path>
                  </a:pathLst>
                </a:custGeom>
                <a:noFill/>
                <a:ln w="14288">
                  <a:solidFill>
                    <a:srgbClr val="CBD5E1"/>
                  </a:solidFill>
                </a:ln>
              </p:spPr>
            </p:sp>
            <p:sp>
              <p:nvSpPr>
                <p:cNvPr id="70" name="TextBox 70"/>
                <p:cNvSpPr txBox="1"/>
                <p:nvPr/>
              </p:nvSpPr>
              <p:spPr>
                <a:xfrm>
                  <a:off x="8706993" y="5127308"/>
                  <a:ext cx="90731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1650" b="1" dirty="0">
                      <a:solidFill>
                        <a:srgbClr val="7C3AED"/>
                      </a:solidFill>
                      <a:latin typeface="+mn-lt"/>
                      <a:ea typeface="+mn-ea"/>
                      <a:cs typeface="+mn-cs"/>
                    </a:rPr>
                    <a:t>[</a:t>
                  </a:r>
                </a:p>
              </p:txBody>
            </p:sp>
            <p:sp>
              <p:nvSpPr>
                <p:cNvPr id="71" name="TextBox 71"/>
                <p:cNvSpPr txBox="1"/>
                <p:nvPr/>
              </p:nvSpPr>
              <p:spPr>
                <a:xfrm>
                  <a:off x="8710422" y="5390674"/>
                  <a:ext cx="83284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98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72" name="Line 72"/>
                <p:cNvSpPr/>
                <p:nvPr/>
              </p:nvSpPr>
              <p:spPr>
                <a:xfrm>
                  <a:off x="8858250" y="5238750"/>
                  <a:ext cx="2095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0" h="9525">
                      <a:moveTo>
                        <a:pt x="0" y="0"/>
                      </a:moveTo>
                      <a:lnTo>
                        <a:pt x="2095500" y="0"/>
                      </a:lnTo>
                    </a:path>
                  </a:pathLst>
                </a:custGeom>
                <a:noFill/>
                <a:ln w="38100">
                  <a:solidFill>
                    <a:srgbClr val="7C3AED"/>
                  </a:solidFill>
                </a:ln>
              </p:spPr>
            </p:sp>
          </p:grp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10" name="header-group"/>
          <p:cNvGrpSpPr/>
          <p:nvPr/>
        </p:nvGrpSpPr>
        <p:grpSpPr>
          <a:xfrm>
            <a:off x="571500" y="304800"/>
            <a:ext cx="11049000" cy="685800"/>
            <a:chOff x="571500" y="304800"/>
            <a:chExt cx="11049000" cy="685800"/>
          </a:xfrm>
        </p:grpSpPr>
        <p:sp>
          <p:nvSpPr>
            <p:cNvPr id="3" name="Rectangle 3"/>
            <p:cNvSpPr/>
            <p:nvPr/>
          </p:nvSpPr>
          <p:spPr>
            <a:xfrm>
              <a:off x="571500" y="304800"/>
              <a:ext cx="11049000" cy="6858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571500" y="304800"/>
              <a:ext cx="57150" cy="6858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800100" y="419100"/>
              <a:ext cx="723900" cy="247650"/>
            </a:xfrm>
            <a:prstGeom prst="roundRect">
              <a:avLst>
                <a:gd name="adj" fmla="val 23077"/>
              </a:avLst>
            </a:prstGeom>
            <a:solidFill>
              <a:srgbClr val="EFF6FF"/>
            </a:solidFill>
            <a:ln w="9525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78936" y="485299"/>
              <a:ext cx="3662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98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BÀI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658493" y="431482"/>
              <a:ext cx="42934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ỨNG DỤNG THỰC TIỄN CỦA TẬP HỢP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5147" y="771049"/>
              <a:ext cx="46180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BÀI TOÁN TẬP HỢP VÀ CÔNG THỨC ĐẾM PHẦN TỬ (SGK VẬN DỤNG)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07858" y="590074"/>
              <a:ext cx="25794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980" b="1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GV: Nguyễn Văn Sang • CĐN số 1 - BQP</a:t>
              </a:r>
            </a:p>
          </p:txBody>
        </p:sp>
      </p:grpSp>
      <p:grpSp>
        <p:nvGrpSpPr>
          <p:cNvPr id="47" name="content"/>
          <p:cNvGrpSpPr/>
          <p:nvPr/>
        </p:nvGrpSpPr>
        <p:grpSpPr>
          <a:xfrm>
            <a:off x="571500" y="1238250"/>
            <a:ext cx="11049000" cy="5048250"/>
            <a:chOff x="571500" y="1238250"/>
            <a:chExt cx="11049000" cy="5048250"/>
          </a:xfrm>
        </p:grpSpPr>
        <p:sp>
          <p:nvSpPr>
            <p:cNvPr id="11" name="Rectangle 11"/>
            <p:cNvSpPr/>
            <p:nvPr/>
          </p:nvSpPr>
          <p:spPr>
            <a:xfrm>
              <a:off x="571500" y="1238250"/>
              <a:ext cx="5334000" cy="5048250"/>
            </a:xfrm>
            <a:prstGeom prst="roundRect">
              <a:avLst>
                <a:gd name="adj" fmla="val 3019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" y="1238250"/>
              <a:ext cx="5334000" cy="438150"/>
            </a:xfrm>
            <a:prstGeom prst="roundRect">
              <a:avLst>
                <a:gd name="adj" fmla="val 34783"/>
              </a:avLst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1619250"/>
              <a:ext cx="5334000" cy="57150"/>
            </a:xfrm>
            <a:prstGeom prst="rect">
              <a:avLst/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03148" y="1386364"/>
              <a:ext cx="32497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8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BÀI TOÁN THỰC TẾ (SGK TRANG 18)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09625" y="1857375"/>
              <a:ext cx="4857750" cy="1285875"/>
            </a:xfrm>
            <a:prstGeom prst="roundRect">
              <a:avLst>
                <a:gd name="adj" fmla="val 8889"/>
              </a:avLst>
            </a:prstGeom>
            <a:solidFill>
              <a:srgbClr val="F8FAFC"/>
            </a:solidFill>
            <a:ln w="9525">
              <a:solidFill>
                <a:srgbClr val="CBD5E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94410" y="1993106"/>
              <a:ext cx="519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Đề bài: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94791" y="2229802"/>
              <a:ext cx="36681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Lớp 10A có 24 bạn tham gia thi đấu thể thao gồm bóng đá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94791" y="2439352"/>
              <a:ext cx="14222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và cầu lông. Trong đó: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94791" y="2648902"/>
              <a:ext cx="22932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rgbClr val="1E40AF"/>
                </a:buClr>
                <a:buSzTx/>
                <a:buFontTx/>
                <a:buChar char="•"/>
              </a:pPr>
              <a:r>
                <a:rPr lang="vi-VN" sz="1050" b="1" dirty="0">
                  <a:solidFill>
                    <a:srgbClr val="1E40AF"/>
                  </a:solidFill>
                  <a:latin typeface="+mn-lt"/>
                  <a:ea typeface="+mn-ea"/>
                  <a:cs typeface="+mn-cs"/>
                </a:rPr>
                <a:t>16 bạn tham gia thi đấu bóng đá.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94791" y="2858452"/>
              <a:ext cx="23248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rgbClr val="047857"/>
                </a:buClr>
                <a:buSzTx/>
                <a:buFontTx/>
                <a:buChar char="•"/>
              </a:pPr>
              <a:r>
                <a:rPr lang="vi-VN" sz="105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11 bạn tham gia thi đấu cầu lông.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94410" y="3193256"/>
              <a:ext cx="3527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120" b="1" dirty="0">
                  <a:solidFill>
                    <a:srgbClr val="B91C1C"/>
                  </a:solidFill>
                  <a:latin typeface="+mn-lt"/>
                  <a:ea typeface="+mn-ea"/>
                  <a:cs typeface="+mn-cs"/>
                </a:rPr>
                <a:t>Hỏi có bao nhiêu bạn tham gia thi đấu cả 2 môn?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09625" y="3571875"/>
              <a:ext cx="4857750" cy="1047750"/>
            </a:xfrm>
            <a:prstGeom prst="roundRect">
              <a:avLst>
                <a:gd name="adj" fmla="val 10909"/>
              </a:avLst>
            </a:prstGeom>
            <a:solidFill>
              <a:srgbClr val="FEF3C7"/>
            </a:solidFill>
            <a:ln w="14288">
              <a:solidFill>
                <a:srgbClr val="FDE68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94410" y="3707606"/>
              <a:ext cx="4002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CÔNG THỨC LỰC LƯỢNG TẬP HỢP (CARDINALITY):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93267" y="3969068"/>
              <a:ext cx="28087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n(A ∪ B) = n(A) + n(B) - n(A ∩ B)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94791" y="4315778"/>
              <a:ext cx="25809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78350F"/>
                  </a:solidFill>
                  <a:latin typeface="+mn-lt"/>
                  <a:ea typeface="+mn-ea"/>
                  <a:cs typeface="+mn-cs"/>
                </a:rPr>
                <a:t>Suy ra: n(A ∩ B) = n(A) + n(B) - n(A ∪ B)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286500" y="1238250"/>
              <a:ext cx="5334000" cy="5048250"/>
            </a:xfrm>
            <a:prstGeom prst="roundRect">
              <a:avLst>
                <a:gd name="adj" fmla="val 3019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86500" y="1238250"/>
              <a:ext cx="5334000" cy="438150"/>
            </a:xfrm>
            <a:prstGeom prst="roundRect">
              <a:avLst>
                <a:gd name="adj" fmla="val 34783"/>
              </a:avLst>
            </a:prstGeom>
            <a:solidFill>
              <a:srgbClr val="F0FDF4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86500" y="1619250"/>
              <a:ext cx="5334000" cy="57150"/>
            </a:xfrm>
            <a:prstGeom prst="rect">
              <a:avLst/>
            </a:prstGeom>
            <a:solidFill>
              <a:srgbClr val="F0FDF4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18148" y="1386364"/>
              <a:ext cx="39477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8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HƯỚNG DẪN GIẢI &amp; BIỂU ĐỒ VEN MINH HỌA</a:t>
              </a:r>
            </a:p>
          </p:txBody>
        </p:sp>
        <p:grpSp>
          <p:nvGrpSpPr>
            <p:cNvPr id="39" name="real-venn"/>
            <p:cNvGrpSpPr/>
            <p:nvPr/>
          </p:nvGrpSpPr>
          <p:grpSpPr>
            <a:xfrm>
              <a:off x="7286625" y="2047875"/>
              <a:ext cx="2750514" cy="1619250"/>
              <a:chOff x="7286625" y="2047875"/>
              <a:chExt cx="2750514" cy="1619250"/>
            </a:xfrm>
          </p:grpSpPr>
          <p:sp>
            <p:nvSpPr>
              <p:cNvPr id="30" name="Ellipse 30"/>
              <p:cNvSpPr/>
              <p:nvPr/>
            </p:nvSpPr>
            <p:spPr>
              <a:xfrm>
                <a:off x="7286625" y="2047875"/>
                <a:ext cx="1619250" cy="1619250"/>
              </a:xfrm>
              <a:prstGeom prst="ellipse">
                <a:avLst/>
              </a:prstGeom>
              <a:solidFill>
                <a:srgbClr val="DBEAFE">
                  <a:alpha val="60000"/>
                </a:srgbClr>
              </a:solidFill>
              <a:ln w="23812">
                <a:solidFill>
                  <a:srgbClr val="2563EB">
                    <a:alpha val="60000"/>
                  </a:srgbClr>
                </a:solidFill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8334375" y="2047875"/>
                <a:ext cx="1619250" cy="1619250"/>
              </a:xfrm>
              <a:prstGeom prst="ellipse">
                <a:avLst/>
              </a:prstGeom>
              <a:solidFill>
                <a:srgbClr val="D1FAE5">
                  <a:alpha val="60000"/>
                </a:srgbClr>
              </a:solidFill>
              <a:ln w="23812">
                <a:solidFill>
                  <a:srgbClr val="059669">
                    <a:alpha val="60000"/>
                  </a:srgbClr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296275" y="2209800"/>
                <a:ext cx="647700" cy="1295400"/>
              </a:xfrm>
              <a:custGeom>
                <a:avLst/>
                <a:gdLst/>
                <a:ahLst/>
                <a:cxnLst/>
                <a:rect l="l" t="t" r="r" b="b"/>
                <a:pathLst>
                  <a:path w="647700" h="1295400">
                    <a:moveTo>
                      <a:pt x="323850" y="0"/>
                    </a:moveTo>
                    <a:cubicBezTo>
                      <a:pt x="527718" y="152901"/>
                      <a:pt x="647700" y="392865"/>
                      <a:pt x="647700" y="647700"/>
                    </a:cubicBezTo>
                    <a:cubicBezTo>
                      <a:pt x="647700" y="902535"/>
                      <a:pt x="527718" y="1142499"/>
                      <a:pt x="323850" y="1295400"/>
                    </a:cubicBezTo>
                    <a:cubicBezTo>
                      <a:pt x="119982" y="1142499"/>
                      <a:pt x="0" y="902535"/>
                      <a:pt x="0" y="647700"/>
                    </a:cubicBezTo>
                    <a:cubicBezTo>
                      <a:pt x="0" y="392865"/>
                      <a:pt x="119982" y="152901"/>
                      <a:pt x="323850" y="0"/>
                    </a:cubicBezTo>
                    <a:close/>
                  </a:path>
                </a:pathLst>
              </a:custGeom>
              <a:solidFill>
                <a:srgbClr val="FEF08A">
                  <a:alpha val="85000"/>
                </a:srgbClr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7756779" y="2346960"/>
                <a:ext cx="66436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200" b="1" dirty="0">
                    <a:solidFill>
                      <a:srgbClr val="1E40AF"/>
                    </a:solidFill>
                    <a:latin typeface="+mn-lt"/>
                    <a:ea typeface="+mn-ea"/>
                    <a:cs typeface="+mn-cs"/>
                  </a:rPr>
                  <a:t>Bóng đá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755255" y="2743200"/>
                <a:ext cx="53161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500" b="1" dirty="0">
                    <a:solidFill>
                      <a:srgbClr val="1E40AF"/>
                    </a:solidFill>
                    <a:latin typeface="+mn-lt"/>
                    <a:ea typeface="+mn-ea"/>
                    <a:cs typeface="+mn-cs"/>
                  </a:rPr>
                  <a:t>16 - x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328404" y="2346960"/>
                <a:ext cx="70873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200" b="1" dirty="0">
                    <a:solidFill>
                      <a:srgbClr val="065F46"/>
                    </a:solidFill>
                    <a:latin typeface="+mn-lt"/>
                    <a:ea typeface="+mn-ea"/>
                    <a:cs typeface="+mn-cs"/>
                  </a:rPr>
                  <a:t>Cầu lông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9326880" y="2743200"/>
                <a:ext cx="53161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500" b="1" dirty="0">
                    <a:solidFill>
                      <a:srgbClr val="065F46"/>
                    </a:solidFill>
                    <a:latin typeface="+mn-lt"/>
                    <a:ea typeface="+mn-ea"/>
                    <a:cs typeface="+mn-cs"/>
                  </a:rPr>
                  <a:t>11 - x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271251" y="2688431"/>
                <a:ext cx="69774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-VN" sz="1120" b="1" dirty="0">
                    <a:solidFill>
                      <a:srgbClr val="B45309"/>
                    </a:solidFill>
                    <a:latin typeface="+mn-lt"/>
                    <a:ea typeface="+mn-ea"/>
                    <a:cs typeface="+mn-cs"/>
                  </a:rPr>
                  <a:t>Cả 2 môn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338133" y="2901315"/>
                <a:ext cx="5639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-VN" sz="1800" b="1" dirty="0">
                    <a:solidFill>
                      <a:srgbClr val="B45309"/>
                    </a:solidFill>
                    <a:latin typeface="+mn-lt"/>
                    <a:ea typeface="+mn-ea"/>
                    <a:cs typeface="+mn-cs"/>
                  </a:rPr>
                  <a:t>x = 3</a:t>
                </a:r>
              </a:p>
            </p:txBody>
          </p:sp>
        </p:grpSp>
        <p:sp>
          <p:nvSpPr>
            <p:cNvPr id="40" name="Rectangle 40"/>
            <p:cNvSpPr/>
            <p:nvPr/>
          </p:nvSpPr>
          <p:spPr>
            <a:xfrm>
              <a:off x="6524625" y="4095750"/>
              <a:ext cx="4857750" cy="1952625"/>
            </a:xfrm>
            <a:prstGeom prst="roundRect">
              <a:avLst>
                <a:gd name="adj" fmla="val 5854"/>
              </a:avLst>
            </a:prstGeom>
            <a:solidFill>
              <a:srgbClr val="F8FAFC"/>
            </a:solidFill>
            <a:ln w="9525">
              <a:solidFill>
                <a:srgbClr val="CBD5E1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09410" y="4260056"/>
              <a:ext cx="11215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Lời giải chi tiết: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09791" y="4534852"/>
              <a:ext cx="29362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rgbClr val="334155"/>
                </a:buClr>
                <a:buSzTx/>
                <a:buFontTx/>
                <a:buChar char="•"/>
              </a:pPr>
              <a:r>
                <a:rPr lang="vi-VN" sz="10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Gọi A là tập học sinh thi bóng đá ⇒ n(A) = 16.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09791" y="4763452"/>
              <a:ext cx="29592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rgbClr val="334155"/>
                </a:buClr>
                <a:buSzTx/>
                <a:buFontTx/>
                <a:buChar char="•"/>
              </a:pPr>
              <a:r>
                <a:rPr lang="vi-VN" sz="10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Gọi B là tập học sinh thi cầu lông ⇒ n(B) = 11.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09791" y="4992052"/>
              <a:ext cx="35339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rgbClr val="334155"/>
                </a:buClr>
                <a:buSzTx/>
                <a:buFontTx/>
                <a:buChar char="•"/>
              </a:pPr>
              <a:r>
                <a:rPr lang="vi-VN" sz="10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Tập hợp tất cả 24 bạn thi đấu là A ∪ B ⇒ n(A ∪ B) = 24.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709410" y="5260181"/>
              <a:ext cx="42173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rgbClr val="1E40AF"/>
                </a:buClr>
                <a:buSzTx/>
                <a:buFontTx/>
                <a:buChar char="•"/>
              </a:pPr>
              <a:r>
                <a:rPr lang="vi-VN" sz="1120" b="1" dirty="0">
                  <a:solidFill>
                    <a:srgbClr val="1E40AF"/>
                  </a:solidFill>
                  <a:latin typeface="+mn-lt"/>
                  <a:ea typeface="+mn-ea"/>
                  <a:cs typeface="+mn-cs"/>
                </a:rPr>
                <a:t>Số bạn thi cả hai môn là: n(A ∩ B) = 16 + 11 - 24 = 3 (bạn).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09029" y="5585460"/>
              <a:ext cx="38970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0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⇒ Kết luận: Có 3 bạn tham gia cả hai môn thể thao.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10" name="header-group"/>
          <p:cNvGrpSpPr/>
          <p:nvPr/>
        </p:nvGrpSpPr>
        <p:grpSpPr>
          <a:xfrm>
            <a:off x="571500" y="304800"/>
            <a:ext cx="11049000" cy="685800"/>
            <a:chOff x="571500" y="304800"/>
            <a:chExt cx="11049000" cy="685800"/>
          </a:xfrm>
        </p:grpSpPr>
        <p:sp>
          <p:nvSpPr>
            <p:cNvPr id="3" name="Rectangle 3"/>
            <p:cNvSpPr/>
            <p:nvPr/>
          </p:nvSpPr>
          <p:spPr>
            <a:xfrm>
              <a:off x="571500" y="304800"/>
              <a:ext cx="11049000" cy="6858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571500" y="304800"/>
              <a:ext cx="57150" cy="6858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800100" y="419100"/>
              <a:ext cx="723900" cy="247650"/>
            </a:xfrm>
            <a:prstGeom prst="roundRect">
              <a:avLst>
                <a:gd name="adj" fmla="val 23077"/>
              </a:avLst>
            </a:prstGeom>
            <a:solidFill>
              <a:srgbClr val="EFF6FF"/>
            </a:solidFill>
            <a:ln w="9525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97011" y="485299"/>
              <a:ext cx="7300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98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TỔNG KẾT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658493" y="431482"/>
              <a:ext cx="5427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TỔNG KẾT KIẾN THỨC VÀ HƯỚNG DẪN VỀ NHÀ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5147" y="771049"/>
              <a:ext cx="28389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GHI NHỚ TRỌNG TÂM • CHUẨN BỊ BÀI MỚI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07858" y="590074"/>
              <a:ext cx="25794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980" b="1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GV: Nguyễn Văn Sang • CĐN số 1 - BQP</a:t>
              </a:r>
            </a:p>
          </p:txBody>
        </p:sp>
      </p:grpSp>
      <p:grpSp>
        <p:nvGrpSpPr>
          <p:cNvPr id="50" name="content"/>
          <p:cNvGrpSpPr/>
          <p:nvPr/>
        </p:nvGrpSpPr>
        <p:grpSpPr>
          <a:xfrm>
            <a:off x="571500" y="1238250"/>
            <a:ext cx="11049000" cy="5048250"/>
            <a:chOff x="571500" y="1238250"/>
            <a:chExt cx="11049000" cy="5048250"/>
          </a:xfrm>
        </p:grpSpPr>
        <p:sp>
          <p:nvSpPr>
            <p:cNvPr id="11" name="Rectangle 11"/>
            <p:cNvSpPr/>
            <p:nvPr/>
          </p:nvSpPr>
          <p:spPr>
            <a:xfrm>
              <a:off x="571500" y="1238250"/>
              <a:ext cx="5715000" cy="5048250"/>
            </a:xfrm>
            <a:prstGeom prst="roundRect">
              <a:avLst>
                <a:gd name="adj" fmla="val 3019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" y="1238250"/>
              <a:ext cx="5715000" cy="438150"/>
            </a:xfrm>
            <a:prstGeom prst="roundRect">
              <a:avLst>
                <a:gd name="adj" fmla="val 34783"/>
              </a:avLst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1619250"/>
              <a:ext cx="5715000" cy="57150"/>
            </a:xfrm>
            <a:prstGeom prst="rect">
              <a:avLst/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02767" y="1378268"/>
              <a:ext cx="28088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4 ĐIỀU CỐT LÕI CẦN GHI NHỚ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809625" y="1857375"/>
              <a:ext cx="5238750" cy="3667125"/>
              <a:chOff x="809625" y="1857375"/>
              <a:chExt cx="5238750" cy="3667125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809625" y="1857375"/>
                <a:ext cx="5238750" cy="809625"/>
              </a:xfrm>
              <a:prstGeom prst="roundRect">
                <a:avLst>
                  <a:gd name="adj" fmla="val 14118"/>
                </a:avLst>
              </a:prstGeom>
              <a:solidFill>
                <a:srgbClr val="F8FAFC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994410" y="2021681"/>
                <a:ext cx="312684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120" b="1" dirty="0">
                    <a:solidFill>
                      <a:srgbClr val="1D4ED8"/>
                    </a:solidFill>
                    <a:latin typeface="+mn-lt"/>
                    <a:ea typeface="+mn-ea"/>
                    <a:cs typeface="+mn-cs"/>
                  </a:rPr>
                  <a:t>1. ĐỊNH NGHĨA TẬP CON &amp; BẰNG NHAU: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94791" y="2267902"/>
                <a:ext cx="338988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05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A ⊂ B ⇔ (∀x, x ∈ A ⇒ x ∈ B). A = B ⇔ (A ⊂ B và B ⊂ A).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95172" y="2466499"/>
                <a:ext cx="199029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98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Quy ước: ∅ ⊂ A với mọi tập hợp A.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809625" y="2809875"/>
                <a:ext cx="5238750" cy="809625"/>
              </a:xfrm>
              <a:prstGeom prst="roundRect">
                <a:avLst>
                  <a:gd name="adj" fmla="val 14118"/>
                </a:avLst>
              </a:prstGeom>
              <a:solidFill>
                <a:srgbClr val="F8FAFC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994410" y="2974181"/>
                <a:ext cx="210025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120" b="1" dirty="0">
                    <a:solidFill>
                      <a:srgbClr val="047857"/>
                    </a:solidFill>
                    <a:latin typeface="+mn-lt"/>
                    <a:ea typeface="+mn-ea"/>
                    <a:cs typeface="+mn-cs"/>
                  </a:rPr>
                  <a:t>2. CÁC TẬP HỢP SỐ THỰC: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94791" y="3220402"/>
                <a:ext cx="291038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05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ℕ* ⊂ ℕ ⊂ ℤ ⊂ ℚ ⊂ ℝ. Nắm vững cách lấy mút của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995172" y="3418999"/>
                <a:ext cx="339976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98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Khoảng (a; b), Đoạn [a; b], Nửa khoảng [a; b) trên trục số.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809625" y="3762375"/>
                <a:ext cx="5238750" cy="809625"/>
              </a:xfrm>
              <a:prstGeom prst="roundRect">
                <a:avLst>
                  <a:gd name="adj" fmla="val 14118"/>
                </a:avLst>
              </a:prstGeom>
              <a:solidFill>
                <a:srgbClr val="F8FAFC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994410" y="3926681"/>
                <a:ext cx="232163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120" b="1" dirty="0">
                    <a:solidFill>
                      <a:srgbClr val="D97706"/>
                    </a:solidFill>
                    <a:latin typeface="+mn-lt"/>
                    <a:ea typeface="+mn-ea"/>
                    <a:cs typeface="+mn-cs"/>
                  </a:rPr>
                  <a:t>3. BỐN PHÉP TOÁN TẬP HỢP: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94791" y="4172902"/>
                <a:ext cx="355127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05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Giao ∩ (VÀ), Hợp ∪ (HOẶC), Hiệu \ (THUỘC A, BỎ B),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995172" y="4371499"/>
                <a:ext cx="21015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98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Phần bù C_E A = E \ A (khi A ⊂ E).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809625" y="4714875"/>
                <a:ext cx="5238750" cy="809625"/>
              </a:xfrm>
              <a:prstGeom prst="roundRect">
                <a:avLst>
                  <a:gd name="adj" fmla="val 14118"/>
                </a:avLst>
              </a:prstGeom>
              <a:solidFill>
                <a:srgbClr val="F8FAFC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994410" y="4879181"/>
                <a:ext cx="199415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120" b="1" dirty="0">
                    <a:solidFill>
                      <a:srgbClr val="7C3AED"/>
                    </a:solidFill>
                    <a:latin typeface="+mn-lt"/>
                    <a:ea typeface="+mn-ea"/>
                    <a:cs typeface="+mn-cs"/>
                  </a:rPr>
                  <a:t>4. KỸ NĂNG VẼ TRỤC SỐ: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94791" y="5125402"/>
                <a:ext cx="33557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05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Xác định chuẩn xác ngoặc đơn ( ) và ngoặc vuông [ ].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995172" y="5323999"/>
                <a:ext cx="229567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98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Gạch bỏ phần ngoài tập hợp dứt khoát.</a:t>
                </a:r>
              </a:p>
            </p:txBody>
          </p:sp>
        </p:grpSp>
        <p:sp>
          <p:nvSpPr>
            <p:cNvPr id="32" name="Rectangle 32"/>
            <p:cNvSpPr/>
            <p:nvPr/>
          </p:nvSpPr>
          <p:spPr>
            <a:xfrm>
              <a:off x="6477000" y="1238250"/>
              <a:ext cx="5143500" cy="5048250"/>
            </a:xfrm>
            <a:prstGeom prst="roundRect">
              <a:avLst>
                <a:gd name="adj" fmla="val 3019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77000" y="1238250"/>
              <a:ext cx="5143500" cy="438150"/>
            </a:xfrm>
            <a:prstGeom prst="roundRect">
              <a:avLst>
                <a:gd name="adj" fmla="val 34783"/>
              </a:avLst>
            </a:prstGeom>
            <a:solidFill>
              <a:srgbClr val="FDF4FF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77000" y="1619250"/>
              <a:ext cx="5143500" cy="57150"/>
            </a:xfrm>
            <a:prstGeom prst="rect">
              <a:avLst/>
            </a:prstGeom>
            <a:solidFill>
              <a:srgbClr val="FDF4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08267" y="1378268"/>
              <a:ext cx="28623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dirty="0">
                  <a:solidFill>
                    <a:srgbClr val="9333EA"/>
                  </a:solidFill>
                  <a:latin typeface="+mn-lt"/>
                  <a:ea typeface="+mn-ea"/>
                  <a:cs typeface="+mn-cs"/>
                </a:rPr>
                <a:t>NHIỆM VỤ VỀ NHÀ VÀ DẶN DÒ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715125" y="1857375"/>
              <a:ext cx="4667250" cy="1476375"/>
            </a:xfrm>
            <a:prstGeom prst="roundRect">
              <a:avLst>
                <a:gd name="adj" fmla="val 7742"/>
              </a:avLst>
            </a:prstGeom>
            <a:solidFill>
              <a:srgbClr val="F8FAFC"/>
            </a:solidFill>
            <a:ln w="9525">
              <a:solidFill>
                <a:srgbClr val="CBD5E1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99529" y="2013585"/>
              <a:ext cx="28357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1. Bài tập sách giáo khoa (Trang 19):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00291" y="2286952"/>
              <a:ext cx="30231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rgbClr val="1E40AF"/>
                </a:buClr>
                <a:buSzTx/>
                <a:buFontTx/>
                <a:buChar char="•"/>
              </a:pPr>
              <a:r>
                <a:rPr lang="vi-VN" sz="1050" dirty="0">
                  <a:solidFill>
                    <a:srgbClr val="1E40AF"/>
                  </a:solidFill>
                  <a:latin typeface="+mn-lt"/>
                  <a:ea typeface="+mn-ea"/>
                  <a:cs typeface="+mn-cs"/>
                </a:rPr>
                <a:t>Bài 1.8, 1.9, 1.10: Liệt kê và biểu diễn tập hợp.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900291" y="2515552"/>
              <a:ext cx="30154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rgbClr val="047857"/>
                </a:buClr>
                <a:buSzTx/>
                <a:buFontTx/>
                <a:buChar char="•"/>
              </a:pPr>
              <a:r>
                <a:rPr lang="vi-VN" sz="1050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Bài 1.12, 1.13: Tập con và tập hợp bằng nhau.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900291" y="2744152"/>
              <a:ext cx="33445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rgbClr val="D97706"/>
                </a:buClr>
                <a:buSzTx/>
                <a:buFontTx/>
                <a:buChar char="•"/>
              </a:pPr>
              <a:r>
                <a:rPr lang="vi-VN" sz="1050" dirty="0">
                  <a:solidFill>
                    <a:srgbClr val="D97706"/>
                  </a:solidFill>
                  <a:latin typeface="+mn-lt"/>
                  <a:ea typeface="+mn-ea"/>
                  <a:cs typeface="+mn-cs"/>
                </a:rPr>
                <a:t>Bài 1.14, 1.15: Thực hiện 4 phép toán và vẽ trục số.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00291" y="2972752"/>
              <a:ext cx="32085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rgbClr val="9333EA"/>
                </a:buClr>
                <a:buSzTx/>
                <a:buFontTx/>
                <a:buChar char="•"/>
              </a:pPr>
              <a:r>
                <a:rPr lang="vi-VN" sz="1050" dirty="0">
                  <a:solidFill>
                    <a:srgbClr val="9333EA"/>
                  </a:solidFill>
                  <a:latin typeface="+mn-lt"/>
                  <a:ea typeface="+mn-ea"/>
                  <a:cs typeface="+mn-cs"/>
                </a:rPr>
                <a:t>Bài 1.16: Bài toán thực tế phiên dịch viên quốc tế.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715125" y="3524250"/>
              <a:ext cx="4667250" cy="1047750"/>
            </a:xfrm>
            <a:prstGeom prst="roundRect">
              <a:avLst>
                <a:gd name="adj" fmla="val 10909"/>
              </a:avLst>
            </a:prstGeom>
            <a:solidFill>
              <a:srgbClr val="EFF6FF"/>
            </a:solidFill>
            <a:ln w="9525">
              <a:solidFill>
                <a:srgbClr val="BFDBFE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99529" y="3680460"/>
              <a:ext cx="2217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00" b="1" dirty="0">
                  <a:solidFill>
                    <a:srgbClr val="1E40AF"/>
                  </a:solidFill>
                  <a:latin typeface="+mn-lt"/>
                  <a:ea typeface="+mn-ea"/>
                  <a:cs typeface="+mn-cs"/>
                </a:rPr>
                <a:t>2. Chuẩn bị cho tiết học sau: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900291" y="3944302"/>
              <a:ext cx="28176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rgbClr val="334155"/>
                </a:buClr>
                <a:buSzTx/>
                <a:buFontTx/>
                <a:buChar char="•"/>
              </a:pPr>
              <a:r>
                <a:rPr lang="vi-VN" sz="10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Đọc trước Bài tập cuối chương I (Trang 21).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00291" y="4172902"/>
              <a:ext cx="38595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rgbClr val="334155"/>
                </a:buClr>
                <a:buSzTx/>
                <a:buFontTx/>
                <a:buChar char="•"/>
              </a:pPr>
              <a:r>
                <a:rPr lang="vi-VN" sz="10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Chuẩn bị máy tính Casio để hỗ trợ tìm nghiệm phương trình.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715125" y="4762500"/>
              <a:ext cx="4667250" cy="1143000"/>
            </a:xfrm>
            <a:prstGeom prst="roundRect">
              <a:avLst>
                <a:gd name="adj" fmla="val 1000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737372" y="4981575"/>
              <a:ext cx="26227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CHÚC CÁC EM HỌC TỐT!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627563" y="5315902"/>
              <a:ext cx="28423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Thầy giáo: Nguyễn Văn Sang • Khoa Cơ bản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997496" y="5562124"/>
              <a:ext cx="21025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980" dirty="0">
                  <a:solidFill>
                    <a:srgbClr val="38BDF8"/>
                  </a:solidFill>
                  <a:latin typeface="+mn-lt"/>
                  <a:ea typeface="+mn-ea"/>
                  <a:cs typeface="+mn-cs"/>
                </a:rPr>
                <a:t>Trường Cao đẳng Nghề số 1 - BQP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bai2_tap_hop">
  <a:themeElements>
    <a:clrScheme name="bai2_tap_hop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ai2_tap_hop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ai2_tap_hop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vi-VN</dc:language>
  <cp:lastModifiedBy/>
  <cp:revision>1</cp:revision>
  <dcterms:created xsi:type="dcterms:W3CDTF">2026-09-21T10:05:35Z</dcterms:created>
  <dcterms:modified xsi:type="dcterms:W3CDTF">2026-09-21T10:05:35Z</dcterms:modified>
  <cp:category/>
  <cp:contentStatus/>
</cp:coreProperties>
</file>