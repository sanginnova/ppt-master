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vi-V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Chào các em học sinh! Hôm nay chúng ta cùng bước vào Bài 2: Tập hợp và các phép toán trên tập hợp thuộc Chương 1 môn Toán lớp 10.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học hôm nay nhằm trang bị 3 trụ cột: Khái niệm tập hợp, biểu diễn tập số trên trục số, và 4 phép toán cơ bản giao, hợp, hiệu, phần bù.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lưu ý hai cách mô tả tập hợp: liệt kê phần tử khi hữu hạn, và nêu tính chất đặc trưng khi tập hợp có vô số phần tử.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tập con: mọi phần tử của A đều phải thuộc B. Biểu đồ Ven giúp ta nhìn trực quan hình phẳng A nằm trọn trong B.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Chuỗi bao hàm số tự nhiên N nằm trong số nguyên Z, nằm trong số hữu tỉ Q và nằm trong số thực R. R gồm hữu tỉ và vô tỉ.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Trục số là kỹ năng cực kỳ quan trọng: mút lấy thì dùng ngoặc vuông, mút không lấy thì dùng ngoặc tròn, phần ngoài phải gạch chéo.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Phép giao lấy phần chung, phép hợp gộp tất cả. Biểu đồ Ven thể hiện rất rõ vùng giao nhau và vùng hợp.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Hiệu A bỏ B là lấy các phần tử thuộc A nhưng không thuộc B. Khi A là con của E, hiệu E bỏ A chính là phần bù.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Thầy dành cho cả lớp 5 phút để tự vẽ trục số và giải 4 câu a, b, c, d vào vở trước khi thầy chữa chi tiết.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cùng đối chiếu kết quả: giao là (1; 3), hợp là [-2; 5], hiệu A bỏ B là [-2; 1], và phần bù là hai khoảng vô cực.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toán thể thao 24 bạn: dùng công thức n(A hợp B) = n(A) + n(B) - n(A giao B), ta tính được ngay có 3 bạn thi cả hai môn.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nhà các em hoàn thành bài tập 1.8 đến 1.16 trong SGK trang 19 và chuẩn bị bài mới. Chúc các em học tập tốt!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i2_tap_ho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i2_tap_ho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vi-V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334500" y="-857250"/>
            <a:ext cx="3810000" cy="38100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144000" y="4381500"/>
            <a:ext cx="3048000" cy="3048000"/>
          </a:xfrm>
          <a:prstGeom prst="ellipse">
            <a:avLst/>
          </a:prstGeom>
          <a:solidFill>
            <a:srgbClr val="F0FDFA">
              <a:alpha val="60000"/>
            </a:srgbClr>
          </a:solidFill>
          <a:ln>
            <a:noFill/>
          </a:ln>
        </p:spPr>
      </p:sp>
      <p:grpSp>
        <p:nvGrpSpPr>
          <p:cNvPr id="21" name="cover-card"/>
          <p:cNvGrpSpPr/>
          <p:nvPr/>
        </p:nvGrpSpPr>
        <p:grpSpPr>
          <a:xfrm>
            <a:off x="571500" y="428625"/>
            <a:ext cx="11049000" cy="6000750"/>
            <a:chOff x="571500" y="428625"/>
            <a:chExt cx="11049000" cy="6000750"/>
          </a:xfrm>
        </p:grpSpPr>
        <p:sp>
          <p:nvSpPr>
            <p:cNvPr id="5" name="Rectangle 5"/>
            <p:cNvSpPr/>
            <p:nvPr/>
          </p:nvSpPr>
          <p:spPr>
            <a:xfrm>
              <a:off x="571500" y="428625"/>
              <a:ext cx="11049000" cy="60007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28625"/>
              <a:ext cx="11049000" cy="13335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7082" y="821055"/>
              <a:ext cx="68636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TRƯỜNG CĐ NGHỀ SỐ 1 - BQP • KHOA CƠ BẢN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047750" y="12382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1476375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5197" y="156400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CHƯƠNG 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0986" y="2120265"/>
              <a:ext cx="83792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2. TẬP HỢP VÀ CÁC PHÉP TOÁN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986" y="2691765"/>
              <a:ext cx="35280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TRÊN TẬP HỢP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7082" y="3392805"/>
              <a:ext cx="55251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Toán 10 — Kết nối tri thức với cuộc sống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47750" y="4048125"/>
              <a:ext cx="43815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9379" y="4202430"/>
              <a:ext cx="40982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&amp; Các tập hợp số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4048125"/>
              <a:ext cx="49530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5881" y="4202430"/>
              <a:ext cx="39312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Phép toán Giao, Hợp, Hiệu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4953000"/>
              <a:ext cx="9620250" cy="1047750"/>
            </a:xfrm>
            <a:prstGeom prst="roundRect">
              <a:avLst>
                <a:gd name="adj" fmla="val 14545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17320" y="5138738"/>
              <a:ext cx="51402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Giảng viên: ThS. Nguyễn Văn Sang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8082" y="5535930"/>
              <a:ext cx="4698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Khoa Cơ bản — Tiết PPCT: 03 - 04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48413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BÀI HỌC CẦN ĐẠT</a:t>
              </a:r>
            </a:p>
          </p:txBody>
        </p:sp>
      </p:grpSp>
      <p:grpSp>
        <p:nvGrpSpPr>
          <p:cNvPr id="24" name="body-grid"/>
          <p:cNvGrpSpPr/>
          <p:nvPr/>
        </p:nvGrpSpPr>
        <p:grpSpPr>
          <a:xfrm>
            <a:off x="476250" y="1190625"/>
            <a:ext cx="11239500" cy="5143500"/>
            <a:chOff x="476250" y="1190625"/>
            <a:chExt cx="11239500" cy="5143500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76250" y="1190625"/>
              <a:ext cx="114300" cy="15240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820" y="1423988"/>
              <a:ext cx="41477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1. KIẾN THỨC TRỌNG TÂM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846582" y="1868805"/>
                  <a:ext cx="854149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Khái niệm tập hợp, tập con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hai tập bằng nhau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846582" y="2268855"/>
                  <a:ext cx="835230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Các tập hợp số: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và các tập con khoảng, đoạn của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.</a:t>
                  </a:r>
                </a:p>
              </p:txBody>
            </p:sp>
          </mc:Choice>
        </mc:AlternateContent>
        <p:sp>
          <p:nvSpPr>
            <p:cNvPr id="14" name="Rectangle 14"/>
            <p:cNvSpPr/>
            <p:nvPr/>
          </p:nvSpPr>
          <p:spPr>
            <a:xfrm>
              <a:off x="476250" y="2952750"/>
              <a:ext cx="112395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6250" y="2952750"/>
              <a:ext cx="114300" cy="1524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820" y="3186112"/>
              <a:ext cx="32057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2. KỸ NĂNG CƠ BẢN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582" y="3630930"/>
              <a:ext cx="89162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Biểu diễn thành thạo các khoảng, đoạn, nửa khoảng trên trục số.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8"/>
                <p:cNvSpPr txBox="1"/>
                <p:nvPr/>
              </p:nvSpPr>
              <p:spPr>
                <a:xfrm>
                  <a:off x="846582" y="4030980"/>
                  <a:ext cx="9001778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Thực hiện chuẩn 4 phép toán: Giao (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Hợp (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Hiệu (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), Phần bù.</a:t>
                  </a:r>
                </a:p>
              </p:txBody>
            </p:sp>
          </mc:Choice>
        </mc:AlternateContent>
        <p:sp>
          <p:nvSpPr>
            <p:cNvPr id="19" name="Rectangle 19"/>
            <p:cNvSpPr/>
            <p:nvPr/>
          </p:nvSpPr>
          <p:spPr>
            <a:xfrm>
              <a:off x="476250" y="4714875"/>
              <a:ext cx="11239500" cy="161925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6250" y="4714875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820" y="4948238"/>
              <a:ext cx="59792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3. VẬN DỤNG &amp; NĂNG LỰC TOÁN HỌC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582" y="5393055"/>
              <a:ext cx="78740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Sử dụng biểu đồ Ven giải quyết các bài toán đếm thực tế.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582" y="5793105"/>
              <a:ext cx="78171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Rèn luyện tư duy logic toán học chặt chẽ và năng lực số.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643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TẬP HỢP VÀ CÁCH MÔ TẢ</a:t>
              </a:r>
            </a:p>
          </p:txBody>
        </p:sp>
      </p:grpSp>
      <p:grpSp>
        <p:nvGrpSpPr>
          <p:cNvPr id="24" name="content"/>
          <p:cNvGrpSpPr/>
          <p:nvPr/>
        </p:nvGrpSpPr>
        <p:grpSpPr>
          <a:xfrm>
            <a:off x="476250" y="1190625"/>
            <a:ext cx="11408857" cy="5191125"/>
            <a:chOff x="476250" y="1190625"/>
            <a:chExt cx="11408857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2238375"/>
            </a:xfrm>
            <a:prstGeom prst="roundRect">
              <a:avLst>
                <a:gd name="adj" fmla="val 766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41657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PHẦN TỬ VÀ TẬP RỖNG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1"/>
                <p:cNvSpPr txBox="1"/>
                <p:nvPr/>
              </p:nvSpPr>
              <p:spPr>
                <a:xfrm>
                  <a:off x="798957" y="1916430"/>
                  <a:ext cx="7204350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Ký hiệu: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(a thuộc A) |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∉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(b không thuộc A).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8957" y="2392680"/>
                  <a:ext cx="7848780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Tập rỗng (kí hiệu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∅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): Là tập hợp không chứa phần tử nào.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798957" y="2842260"/>
                  <a:ext cx="7959827" cy="464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59669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 xml:space="preserve">Số phần tử của tập A kí hiệu là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a14:m>
                  <a:r>
                    <a:rPr lang="vi-VN" sz="21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 xml:space="preserve">. Ví dụ: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</m:t>
                              </m:r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</m:t>
                              </m:r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oMath>
                  </a14:m>
                  <a:r>
                    <a:rPr lang="vi-VN" sz="21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.</a:t>
                  </a:r>
                </a:p>
              </p:txBody>
            </p:sp>
          </mc:Choice>
        </mc:AlternateContent>
        <p:sp>
          <p:nvSpPr>
            <p:cNvPr id="14" name="Rectangle 14"/>
            <p:cNvSpPr/>
            <p:nvPr/>
          </p:nvSpPr>
          <p:spPr>
            <a:xfrm>
              <a:off x="476250" y="3619500"/>
              <a:ext cx="11239500" cy="2762250"/>
            </a:xfrm>
            <a:prstGeom prst="roundRect">
              <a:avLst>
                <a:gd name="adj" fmla="val 620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852862"/>
              <a:ext cx="54276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HAI CÁCH MÔ TẢ MỘT TẬP HỢP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4333875"/>
              <a:ext cx="4953000" cy="1809750"/>
            </a:xfrm>
            <a:prstGeom prst="roundRect">
              <a:avLst>
                <a:gd name="adj" fmla="val 736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7082" y="4535805"/>
              <a:ext cx="38713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CÁCH 1: LIỆT KÊ PHẦN TỬ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082" y="4964430"/>
              <a:ext cx="4635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Viết các phần tử vào dấu ngoặc { }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9"/>
                <p:cNvSpPr txBox="1"/>
                <p:nvPr/>
              </p:nvSpPr>
              <p:spPr>
                <a:xfrm>
                  <a:off x="1037082" y="5379720"/>
                  <a:ext cx="2602796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2563EB"/>
                      </a:solidFill>
                      <a:latin typeface="+mn-lt"/>
                      <a:ea typeface="+mn-ea"/>
                      <a:cs typeface="+mn-cs"/>
                    </a:rPr>
                    <a:t xml:space="preserve">VD: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2563E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2563E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2563E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20" name="Rectangle 20"/>
            <p:cNvSpPr/>
            <p:nvPr/>
          </p:nvSpPr>
          <p:spPr>
            <a:xfrm>
              <a:off x="6143625" y="4333875"/>
              <a:ext cx="5286375" cy="1809750"/>
            </a:xfrm>
            <a:prstGeom prst="roundRect">
              <a:avLst>
                <a:gd name="adj" fmla="val 736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1082" y="4535805"/>
              <a:ext cx="55140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CÁCH 2: NÊU TÍNH CHẤT ĐẶC TRƯNG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2"/>
                <p:cNvSpPr txBox="1"/>
                <p:nvPr/>
              </p:nvSpPr>
              <p:spPr>
                <a:xfrm>
                  <a:off x="6371082" y="4937760"/>
                  <a:ext cx="3170112" cy="464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Dạng: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vi-VN" sz="2100" dirty="0">
                                  <a:solidFill>
                                    <a:srgbClr val="0F172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vi-VN" sz="2100" dirty="0">
                                  <a:solidFill>
                                    <a:srgbClr val="0F172A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3"/>
                <p:cNvSpPr txBox="1"/>
                <p:nvPr/>
              </p:nvSpPr>
              <p:spPr>
                <a:xfrm>
                  <a:off x="6371082" y="5319179"/>
                  <a:ext cx="3433489" cy="4979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 xml:space="preserve">VD: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596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sSup>
                            <m:e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vi-VN" sz="2100" dirty="0">
                                  <a:solidFill>
                                    <a:srgbClr val="059669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vi-VN" sz="2100" dirty="0">
                              <a:solidFill>
                                <a:srgbClr val="0596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657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CON VÀ BIỂU ĐỒ VEN</a:t>
              </a:r>
            </a:p>
          </p:txBody>
        </p:sp>
      </p:grpSp>
      <p:grpSp>
        <p:nvGrpSpPr>
          <p:cNvPr id="30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42368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ĐỊNH NGHĨA TẬP HỢP CON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4923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Nếu mọi phần tử của A đều thuộc B: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7433" y="2407920"/>
                  <a:ext cx="4696539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400" b="1" dirty="0">
                      <a:solidFill>
                        <a:srgbClr val="1E40AF"/>
                      </a:solidFill>
                      <a:latin typeface="+mn-lt"/>
                      <a:ea typeface="+mn-ea"/>
                      <a:cs typeface="+mn-cs"/>
                    </a:rPr>
                    <a:t xml:space="preserve">Ta viết: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4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4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4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400" b="1" dirty="0">
                      <a:solidFill>
                        <a:srgbClr val="1E40AF"/>
                      </a:solidFill>
                      <a:latin typeface="+mn-lt"/>
                      <a:ea typeface="+mn-ea"/>
                      <a:cs typeface="+mn-cs"/>
                    </a:rPr>
                    <a:t xml:space="preserve"> (A là con của B)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798957" y="2855595"/>
                  <a:ext cx="4210492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 xml:space="preserve">Logic: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47556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⇔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∀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47556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14" name="Line 14"/>
            <p:cNvSpPr/>
            <p:nvPr/>
          </p:nvSpPr>
          <p:spPr>
            <a:xfrm>
              <a:off x="809625" y="3381375"/>
              <a:ext cx="5667375" cy="9525"/>
            </a:xfrm>
            <a:custGeom>
              <a:avLst/>
              <a:gdLst/>
              <a:ahLst/>
              <a:cxnLst/>
              <a:rect l="l" t="t" r="r" b="b"/>
              <a:pathLst>
                <a:path w="5667375" h="9525">
                  <a:moveTo>
                    <a:pt x="0" y="0"/>
                  </a:moveTo>
                  <a:lnTo>
                    <a:pt x="56673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614738"/>
              <a:ext cx="48409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TÍNH CHẤT &amp; TẬP BẰNG NHAU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6"/>
                <p:cNvSpPr txBox="1"/>
                <p:nvPr/>
              </p:nvSpPr>
              <p:spPr>
                <a:xfrm>
                  <a:off x="798957" y="4107180"/>
                  <a:ext cx="510353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Quy ước: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∅⊂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và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(với mọi A).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798957" y="4583430"/>
                  <a:ext cx="4561950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Bắc cầu: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oMath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98957" y="5154930"/>
              <a:ext cx="27433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Hai tập bằng nhau: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9"/>
                <p:cNvSpPr txBox="1"/>
                <p:nvPr/>
              </p:nvSpPr>
              <p:spPr>
                <a:xfrm>
                  <a:off x="798195" y="5600700"/>
                  <a:ext cx="3561228" cy="468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⇔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⊂</m:t>
                          </m:r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⊂</m:t>
                          </m:r>
                          <m:r>
                            <a:rPr lang="vi-VN" sz="225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20" name="Rectangle 20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3320" y="1423988"/>
              <a:ext cx="32303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BIỂU ĐỒ VEN (A ⊂ B)</a:t>
              </a:r>
            </a:p>
          </p:txBody>
        </p:sp>
        <p:grpSp>
          <p:nvGrpSpPr>
            <p:cNvPr id="27" name="venn-draw"/>
            <p:cNvGrpSpPr/>
            <p:nvPr/>
          </p:nvGrpSpPr>
          <p:grpSpPr>
            <a:xfrm>
              <a:off x="7620000" y="2286000"/>
              <a:ext cx="4078316" cy="2667000"/>
              <a:chOff x="7620000" y="2286000"/>
              <a:chExt cx="4078316" cy="26670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620000" y="2286000"/>
                <a:ext cx="3619500" cy="2667000"/>
              </a:xfrm>
              <a:prstGeom prst="ellipse">
                <a:avLst/>
              </a:prstGeom>
              <a:solidFill>
                <a:srgbClr val="EFF6FF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751058" y="2693670"/>
                <a:ext cx="9472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Tập B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8048625" y="3000375"/>
                <a:ext cx="20002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1D4ED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575121" y="3503295"/>
                <a:ext cx="9472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4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Tập A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53127" y="3916680"/>
                <a:ext cx="7912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 ⊂ B</a:t>
                </a: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7429500" y="5334000"/>
              <a:ext cx="400050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62572" y="5602605"/>
              <a:ext cx="3334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Hình A nằm trọn trong 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8334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CÁC TẬP HỢP SỐ VÀ CHUỖI BAO HÀM</a:t>
              </a:r>
            </a:p>
          </p:txBody>
        </p:sp>
      </p:grpSp>
      <p:grpSp>
        <p:nvGrpSpPr>
          <p:cNvPr id="26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904875"/>
            </a:xfrm>
            <a:prstGeom prst="roundRect">
              <a:avLst>
                <a:gd name="adj" fmla="val 18947"/>
              </a:avLst>
            </a:prstGeom>
            <a:solidFill>
              <a:srgbClr val="EFF6FF"/>
            </a:solidFill>
            <a:ln w="23812">
              <a:solidFill>
                <a:srgbClr val="2563EB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4663082" y="1392822"/>
                  <a:ext cx="2865837" cy="6059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vi-VN" sz="2700" dirty="0">
                              <a:solidFill>
                                <a:srgbClr val="1D4ED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vi-VN" sz="2700" dirty="0">
                              <a:solidFill>
                                <a:srgbClr val="1D4ED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7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</a:p>
              </p:txBody>
            </p:sp>
          </mc:Choice>
        </mc:AlternateContent>
        <p:sp>
          <p:nvSpPr>
            <p:cNvPr id="11" name="Rectangle 11"/>
            <p:cNvSpPr/>
            <p:nvPr/>
          </p:nvSpPr>
          <p:spPr>
            <a:xfrm>
              <a:off x="476250" y="2333625"/>
              <a:ext cx="11239500" cy="4048125"/>
            </a:xfrm>
            <a:prstGeom prst="roundRect">
              <a:avLst>
                <a:gd name="adj" fmla="val 423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98195" y="2665514"/>
              <a:ext cx="10584180" cy="3614509"/>
              <a:chOff x="798195" y="2665514"/>
              <a:chExt cx="10584180" cy="361450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798195" y="2709862"/>
                    <a:ext cx="2381405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1. Số tự nhiên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a14:m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3846957" y="2665514"/>
                    <a:ext cx="4794477" cy="4845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;…</m:t>
                            </m:r>
                          </m:e>
                        </m:d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 và </a:t>
                    </a:r>
                    <a14:m>
                      <m:oMath xmlns:a="http://schemas.openxmlformats.org/drawingml/2006/main" xmlns:m="http://schemas.openxmlformats.org/officeDocument/2006/math"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;…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4" name="Line 14"/>
              <p:cNvSpPr/>
              <p:nvPr/>
            </p:nvSpPr>
            <p:spPr>
              <a:xfrm>
                <a:off x="809625" y="3286125"/>
                <a:ext cx="1057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72750" h="9525">
                    <a:moveTo>
                      <a:pt x="0" y="0"/>
                    </a:moveTo>
                    <a:lnTo>
                      <a:pt x="1057275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798195" y="3519488"/>
                    <a:ext cx="2281638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2. Số nguyên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</m:oMath>
                    </a14:m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3846957" y="3522345"/>
                    <a:ext cx="3208547" cy="437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…;−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;−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;…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sp>
            <p:nvSpPr>
              <p:cNvPr id="17" name="Line 17"/>
              <p:cNvSpPr/>
              <p:nvPr/>
            </p:nvSpPr>
            <p:spPr>
              <a:xfrm>
                <a:off x="809625" y="4095750"/>
                <a:ext cx="1057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72750" h="9525">
                    <a:moveTo>
                      <a:pt x="0" y="0"/>
                    </a:moveTo>
                    <a:lnTo>
                      <a:pt x="1057275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798195" y="4329112"/>
                    <a:ext cx="2028788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3. Số hữu tỉ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25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</m:oMath>
                    </a14:m>
                    <a:r>
                      <a:rPr lang="vi-VN" sz="225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3846957" y="4266362"/>
                    <a:ext cx="7404029" cy="643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vi-VN" sz="2100" dirty="0">
                                    <a:solidFill>
                                      <a:srgbClr val="0F172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vi-VN" sz="2100" dirty="0">
                                    <a:solidFill>
                                      <a:srgbClr val="0F172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vi-VN" sz="2100" dirty="0">
                                    <a:solidFill>
                                      <a:srgbClr val="0F172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 (thập phân hữu hạn/vô hạn TH)</a:t>
                    </a:r>
                  </a:p>
                </p:txBody>
              </p:sp>
            </mc:Choice>
          </mc:AlternateContent>
          <p:sp>
            <p:nvSpPr>
              <p:cNvPr id="20" name="Line 20"/>
              <p:cNvSpPr/>
              <p:nvPr/>
            </p:nvSpPr>
            <p:spPr>
              <a:xfrm>
                <a:off x="809625" y="4905375"/>
                <a:ext cx="1057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72750" h="9525">
                    <a:moveTo>
                      <a:pt x="0" y="0"/>
                    </a:moveTo>
                    <a:lnTo>
                      <a:pt x="1057275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798195" y="5138738"/>
                    <a:ext cx="1844531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4. Số thực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25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a14:m>
                    <a:r>
                      <a:rPr lang="vi-VN" sz="225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3846957" y="5101590"/>
                    <a:ext cx="6261926" cy="4773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 gồm số hữu tỉ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 và số vô tỉ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 (như </a:t>
                    </a:r>
                    <a14:m>
                      <m:oMath xmlns:a="http://schemas.openxmlformats.org/drawingml/2006/main" xmlns:m="http://schemas.openxmlformats.org/officeDocument/2006/math">
                        <m:rad>
                          <m:radPr>
                            <m:degHide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rad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, </a:t>
                    </a:r>
                    <a14:m>
                      <m:oMath xmlns:a="http://schemas.openxmlformats.org/drawingml/2006/main" xmlns:m="http://schemas.openxmlformats.org/officeDocument/2006/math">
                        <m:rad>
                          <m:radPr>
                            <m:degHide m:val="on"/>
                            <m:ctrlP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vi-VN" sz="2100" dirty="0">
                                <a:solidFill>
                                  <a:srgbClr val="0F172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rad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 xml:space="preserve">,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0F172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</m:oMath>
                    </a14:m>
                    <a:r>
                      <a:rPr lang="vi-VN" sz="2100" b="1" dirty="0">
                        <a:solidFill>
                          <a:srgbClr val="0F172A"/>
                        </a:solidFill>
                        <a:latin typeface="+mn-lt"/>
                        <a:ea typeface="+mn-ea"/>
                        <a:cs typeface="+mn-cs"/>
                      </a:rPr>
                      <a:t>...)</a:t>
                    </a:r>
                  </a:p>
                </p:txBody>
              </p:sp>
            </mc:Choice>
          </mc:AlternateContent>
          <p:sp>
            <p:nvSpPr>
              <p:cNvPr id="23" name="Rectangle 23"/>
              <p:cNvSpPr/>
              <p:nvPr/>
            </p:nvSpPr>
            <p:spPr>
              <a:xfrm>
                <a:off x="809625" y="5762625"/>
                <a:ext cx="105727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F0FDF4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894852" y="5869305"/>
                <a:ext cx="84022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Mỗi số thực được biểu diễn bởi duy nhất một điểm trên trục số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575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CÁC TẬP CON THƯỜNG DÙNG CỦA ℝ</a:t>
              </a:r>
            </a:p>
          </p:txBody>
        </p:sp>
      </p:grpSp>
      <p:grpSp>
        <p:nvGrpSpPr>
          <p:cNvPr id="35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18038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ĐOẠN [a; b]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1"/>
                <p:cNvSpPr txBox="1"/>
                <p:nvPr/>
              </p:nvSpPr>
              <p:spPr>
                <a:xfrm>
                  <a:off x="798957" y="1807845"/>
                  <a:ext cx="5802410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(Lấy cả 2 mút a, b)</a:t>
                  </a:r>
                </a:p>
              </p:txBody>
            </p:sp>
          </mc:Choice>
        </mc:AlternateContent>
        <p:grpSp>
          <p:nvGrpSpPr>
            <p:cNvPr id="18" name="Group 18"/>
            <p:cNvGrpSpPr/>
            <p:nvPr/>
          </p:nvGrpSpPr>
          <p:grpSpPr>
            <a:xfrm>
              <a:off x="8096250" y="1518285"/>
              <a:ext cx="2857500" cy="761238"/>
              <a:chOff x="8096250" y="1518285"/>
              <a:chExt cx="2857500" cy="761238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8096250" y="17145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rgbClr val="64748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654034" y="15182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[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57082" y="1868805"/>
                <a:ext cx="1785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810625" y="1714500"/>
                <a:ext cx="1238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9525">
                    <a:moveTo>
                      <a:pt x="0" y="0"/>
                    </a:moveTo>
                    <a:lnTo>
                      <a:pt x="1238250" y="0"/>
                    </a:lnTo>
                  </a:path>
                </a:pathLst>
              </a:custGeom>
              <a:noFill/>
              <a:ln w="57150">
                <a:solidFill>
                  <a:srgbClr val="2563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082784" y="15182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085832" y="1868805"/>
                <a:ext cx="1940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476250" y="2524125"/>
              <a:ext cx="112395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8195" y="2757488"/>
              <a:ext cx="22855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KHOẢNG (a; b)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1"/>
                <p:cNvSpPr txBox="1"/>
                <p:nvPr/>
              </p:nvSpPr>
              <p:spPr>
                <a:xfrm>
                  <a:off x="798957" y="3141345"/>
                  <a:ext cx="5712909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(Bỏ cả 2 mút a, b)</a:t>
                  </a:r>
                </a:p>
              </p:txBody>
            </p:sp>
          </mc:Choice>
        </mc:AlternateContent>
        <p:grpSp>
          <p:nvGrpSpPr>
            <p:cNvPr id="28" name="Group 28"/>
            <p:cNvGrpSpPr/>
            <p:nvPr/>
          </p:nvGrpSpPr>
          <p:grpSpPr>
            <a:xfrm>
              <a:off x="8096250" y="2851785"/>
              <a:ext cx="2857500" cy="761238"/>
              <a:chOff x="8096250" y="2851785"/>
              <a:chExt cx="2857500" cy="761238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8096250" y="3048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rgbClr val="64748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654034" y="28517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(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57082" y="3202305"/>
                <a:ext cx="1785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810625" y="3048000"/>
                <a:ext cx="1238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9525">
                    <a:moveTo>
                      <a:pt x="0" y="0"/>
                    </a:moveTo>
                    <a:lnTo>
                      <a:pt x="1238250" y="0"/>
                    </a:lnTo>
                  </a:path>
                </a:pathLst>
              </a:custGeom>
              <a:noFill/>
              <a:ln w="57150">
                <a:solidFill>
                  <a:srgbClr val="059669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082784" y="28517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85832" y="3202305"/>
                <a:ext cx="1940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29" name="Rectangle 29"/>
            <p:cNvSpPr/>
            <p:nvPr/>
          </p:nvSpPr>
          <p:spPr>
            <a:xfrm>
              <a:off x="476250" y="3857625"/>
              <a:ext cx="11239500" cy="1285875"/>
            </a:xfrm>
            <a:prstGeom prst="roundRect">
              <a:avLst>
                <a:gd name="adj" fmla="val 11852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8195" y="4090988"/>
              <a:ext cx="64481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NỬA KHOẢNG [a; b) VÀ KHOẢNG VÔ CỰC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1"/>
                <p:cNvSpPr txBox="1"/>
                <p:nvPr/>
              </p:nvSpPr>
              <p:spPr>
                <a:xfrm>
                  <a:off x="798957" y="4522470"/>
                  <a:ext cx="6597284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67461" indent="-167461">
                    <a:buClr>
                      <a:srgbClr val="0F172A"/>
                    </a:buClr>
                    <a:buSzTx/>
                    <a:buFontTx/>
                    <a:buChar char="•"/>
                  </a:pP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b)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| </a:t>
                  </a:r>
                  <a14:m>
                    <m:oMath xmlns:a="http://schemas.openxmlformats.org/drawingml/2006/main" xmlns:m="http://schemas.openxmlformats.org/officeDocument/2006/math"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;+∞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32" name="Rectangle 32"/>
            <p:cNvSpPr/>
            <p:nvPr/>
          </p:nvSpPr>
          <p:spPr>
            <a:xfrm>
              <a:off x="476250" y="5334000"/>
              <a:ext cx="11239500" cy="1047750"/>
            </a:xfrm>
            <a:prstGeom prst="roundRect">
              <a:avLst>
                <a:gd name="adj" fmla="val 14545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8957" y="5535930"/>
              <a:ext cx="5645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📌 QUY TẮC SƯ PHẠM TRÊN TRỤC SỐ: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957" y="5916930"/>
              <a:ext cx="107663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Lấy mút: dùng ngoặc vuông [ ]. Bỏ mút: dùng ngoặc tròn ( ). Gạch bỏ ngoài tập.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4922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5. PHÉP TOÁN TẬP HỢP: GIAO VÀ HỢP</a:t>
              </a:r>
            </a:p>
          </p:txBody>
        </p:sp>
      </p:grpSp>
      <p:grpSp>
        <p:nvGrpSpPr>
          <p:cNvPr id="36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798195" y="1423988"/>
                  <a:ext cx="3331389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A. PHÉP GIAO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98957" y="1964055"/>
              <a:ext cx="34339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Lấy các phần tử CHUNG: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8957" y="2379345"/>
                  <a:ext cx="3733904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grpSp>
          <p:nvGrpSpPr>
            <p:cNvPr id="19" name="venn-inter"/>
            <p:cNvGrpSpPr/>
            <p:nvPr/>
          </p:nvGrpSpPr>
          <p:grpSpPr>
            <a:xfrm>
              <a:off x="1666875" y="3095625"/>
              <a:ext cx="2381250" cy="1428750"/>
              <a:chOff x="1666875" y="3095625"/>
              <a:chExt cx="2381250" cy="142875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666875" y="3095625"/>
                <a:ext cx="14287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619375" y="3095625"/>
                <a:ext cx="14287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571750" y="3238500"/>
                <a:ext cx="571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143000">
                    <a:moveTo>
                      <a:pt x="285750" y="0"/>
                    </a:moveTo>
                    <a:cubicBezTo>
                      <a:pt x="465634" y="134913"/>
                      <a:pt x="571500" y="346645"/>
                      <a:pt x="571500" y="571500"/>
                    </a:cubicBezTo>
                    <a:cubicBezTo>
                      <a:pt x="571500" y="796355"/>
                      <a:pt x="465634" y="1008087"/>
                      <a:pt x="285750" y="1143000"/>
                    </a:cubicBezTo>
                    <a:cubicBezTo>
                      <a:pt x="105866" y="1008087"/>
                      <a:pt x="0" y="796355"/>
                      <a:pt x="0" y="571500"/>
                    </a:cubicBezTo>
                    <a:cubicBezTo>
                      <a:pt x="0" y="346645"/>
                      <a:pt x="105866" y="134913"/>
                      <a:pt x="285750" y="0"/>
                    </a:cubicBezTo>
                    <a:close/>
                  </a:path>
                </a:pathLst>
              </a:cu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94119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5094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765202" y="3678555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∩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71437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4207" y="5154930"/>
              <a:ext cx="44371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VD: A = {1; 2; 3; 4}, B = {3; 4; 5}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2"/>
                <p:cNvSpPr txBox="1"/>
                <p:nvPr/>
              </p:nvSpPr>
              <p:spPr>
                <a:xfrm>
                  <a:off x="893445" y="5600700"/>
                  <a:ext cx="2272159" cy="468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66534"/>
                      </a:solidFill>
                      <a:latin typeface="+mn-lt"/>
                      <a:ea typeface="+mn-ea"/>
                      <a:cs typeface="+mn-cs"/>
                    </a:rPr>
                    <a:t xml:space="preserve">⇒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23" name="Rectangle 23"/>
            <p:cNvSpPr/>
            <p:nvPr/>
          </p:nvSpPr>
          <p:spPr>
            <a:xfrm>
              <a:off x="628650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6608445" y="1423988"/>
                  <a:ext cx="3207021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047857"/>
                      </a:solidFill>
                      <a:latin typeface="+mn-lt"/>
                      <a:ea typeface="+mn-ea"/>
                      <a:cs typeface="+mn-cs"/>
                    </a:rPr>
                    <a:t>B. PHÉP HỢP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vi-VN" sz="225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250" b="1" dirty="0">
                      <a:solidFill>
                        <a:srgbClr val="047857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609207" y="1964055"/>
              <a:ext cx="3052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GỘP TẤT CẢ phần tử: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6"/>
                <p:cNvSpPr txBox="1"/>
                <p:nvPr/>
              </p:nvSpPr>
              <p:spPr>
                <a:xfrm>
                  <a:off x="6609207" y="2379345"/>
                  <a:ext cx="4203934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4785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∨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04785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grpSp>
          <p:nvGrpSpPr>
            <p:cNvPr id="32" name="venn-union"/>
            <p:cNvGrpSpPr/>
            <p:nvPr/>
          </p:nvGrpSpPr>
          <p:grpSpPr>
            <a:xfrm>
              <a:off x="7477125" y="3095625"/>
              <a:ext cx="2381250" cy="1428750"/>
              <a:chOff x="7477125" y="3095625"/>
              <a:chExt cx="2381250" cy="14287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477125" y="3095625"/>
                <a:ext cx="1428750" cy="1428750"/>
              </a:xfrm>
              <a:prstGeom prst="ellipse">
                <a:avLst/>
              </a:prstGeom>
              <a:solidFill>
                <a:srgbClr val="D1FAE5"/>
              </a:solidFill>
              <a:ln w="28575">
                <a:solidFill>
                  <a:srgbClr val="059669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429625" y="3095625"/>
                <a:ext cx="1428750" cy="1428750"/>
              </a:xfrm>
              <a:prstGeom prst="ellipse">
                <a:avLst/>
              </a:prstGeom>
              <a:solidFill>
                <a:srgbClr val="D1FAE5"/>
              </a:solidFill>
              <a:ln w="28575">
                <a:solidFill>
                  <a:srgbClr val="059669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75144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6119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575452" y="3678555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∪</a:t>
                </a:r>
              </a:p>
            </p:txBody>
          </p:sp>
        </p:grpSp>
        <p:sp>
          <p:nvSpPr>
            <p:cNvPr id="33" name="Rectangle 33"/>
            <p:cNvSpPr/>
            <p:nvPr/>
          </p:nvSpPr>
          <p:spPr>
            <a:xfrm>
              <a:off x="652462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4457" y="5154930"/>
              <a:ext cx="44371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VD: A = {1; 2; 3; 4}, B = {3; 4; 5}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5"/>
                <p:cNvSpPr txBox="1"/>
                <p:nvPr/>
              </p:nvSpPr>
              <p:spPr>
                <a:xfrm>
                  <a:off x="6703695" y="5600700"/>
                  <a:ext cx="3392619" cy="468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66534"/>
                      </a:solidFill>
                      <a:latin typeface="+mn-lt"/>
                      <a:ea typeface="+mn-ea"/>
                      <a:cs typeface="+mn-cs"/>
                    </a:rPr>
                    <a:t xml:space="preserve">⇒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72509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6. PHÉP TOÁN TẬP HỢP: HIỆU VÀ PHẦN BÙ</a:t>
              </a:r>
            </a:p>
          </p:txBody>
        </p:sp>
      </p:grpSp>
      <p:grpSp>
        <p:nvGrpSpPr>
          <p:cNvPr id="34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798195" y="1423988"/>
                  <a:ext cx="3182218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A. PHÉP HIỆU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25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a14:m>
                  <a:r>
                    <a:rPr lang="vi-VN" sz="22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98957" y="1964055"/>
              <a:ext cx="45406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Thuộc A nhưng KHÔNG thuộc B: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798957" y="2379345"/>
                  <a:ext cx="3521825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1E40A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∉</m:t>
                          </m:r>
                          <m:r>
                            <a:rPr lang="vi-VN" sz="2100" dirty="0">
                              <a:solidFill>
                                <a:srgbClr val="1E40A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grpSp>
          <p:nvGrpSpPr>
            <p:cNvPr id="17" name="venn-diff"/>
            <p:cNvGrpSpPr/>
            <p:nvPr/>
          </p:nvGrpSpPr>
          <p:grpSpPr>
            <a:xfrm>
              <a:off x="1666875" y="3095625"/>
              <a:ext cx="2381250" cy="1428750"/>
              <a:chOff x="1666875" y="3095625"/>
              <a:chExt cx="2381250" cy="142875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666875" y="3095625"/>
                <a:ext cx="14287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619375" y="3095625"/>
                <a:ext cx="1428750" cy="142875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64748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037207" y="3659505"/>
                <a:ext cx="7017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 \ B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75094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71437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4207" y="5154930"/>
              <a:ext cx="44371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VD: A = {1; 2; 3; 4}, B = {3; 4; 5}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20"/>
                <p:cNvSpPr txBox="1"/>
                <p:nvPr/>
              </p:nvSpPr>
              <p:spPr>
                <a:xfrm>
                  <a:off x="893445" y="5600700"/>
                  <a:ext cx="2176243" cy="468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166534"/>
                      </a:solidFill>
                      <a:latin typeface="+mn-lt"/>
                      <a:ea typeface="+mn-ea"/>
                      <a:cs typeface="+mn-cs"/>
                    </a:rPr>
                    <a:t xml:space="preserve">⇒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16653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;</m:t>
                          </m:r>
                          <m:r>
                            <a:rPr lang="vi-VN" sz="2250" dirty="0">
                              <a:solidFill>
                                <a:srgbClr val="16653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p:sp>
          <p:nvSpPr>
            <p:cNvPr id="21" name="Rectangle 21"/>
            <p:cNvSpPr/>
            <p:nvPr/>
          </p:nvSpPr>
          <p:spPr>
            <a:xfrm>
              <a:off x="628650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2"/>
                <p:cNvSpPr txBox="1"/>
                <p:nvPr/>
              </p:nvSpPr>
              <p:spPr>
                <a:xfrm>
                  <a:off x="6608445" y="1423988"/>
                  <a:ext cx="3128836" cy="487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>B. PHẦN BÙ (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25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3"/>
                <p:cNvSpPr txBox="1"/>
                <p:nvPr/>
              </p:nvSpPr>
              <p:spPr>
                <a:xfrm>
                  <a:off x="6609207" y="1964055"/>
                  <a:ext cx="4137933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Khi A là tập con của E (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</m:oMath>
                  </a14:m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):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6609207" y="2392680"/>
                  <a:ext cx="4067760" cy="455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a14:m>
                  <a:r>
                    <a:rPr lang="vi-VN" sz="210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 xml:space="preserve"> (Bù phần thiếu)</a:t>
                  </a:r>
                </a:p>
              </p:txBody>
            </p:sp>
          </mc:Choice>
        </mc:AlternateContent>
        <p:grpSp>
          <p:nvGrpSpPr>
            <p:cNvPr id="30" name="venn-comp"/>
            <p:cNvGrpSpPr/>
            <p:nvPr/>
          </p:nvGrpSpPr>
          <p:grpSpPr>
            <a:xfrm>
              <a:off x="7143750" y="3048000"/>
              <a:ext cx="3652721" cy="1524000"/>
              <a:chOff x="7143750" y="3048000"/>
              <a:chExt cx="3652721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143750" y="3048000"/>
                <a:ext cx="34290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EF3C7"/>
              </a:solidFill>
              <a:ln w="28575">
                <a:solidFill>
                  <a:srgbClr val="D97706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001000" y="3333750"/>
                <a:ext cx="1714500" cy="9525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F172A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418832" y="3202305"/>
                <a:ext cx="22057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39720" y="3659505"/>
                <a:ext cx="23706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895332" y="4107180"/>
                <a:ext cx="90113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C_E A</a:t>
                </a:r>
              </a:p>
            </p:txBody>
          </p:sp>
        </p:grpSp>
        <p:sp>
          <p:nvSpPr>
            <p:cNvPr id="31" name="Rectangle 31"/>
            <p:cNvSpPr/>
            <p:nvPr/>
          </p:nvSpPr>
          <p:spPr>
            <a:xfrm>
              <a:off x="652462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2"/>
                <p:cNvSpPr txBox="1"/>
                <p:nvPr/>
              </p:nvSpPr>
              <p:spPr>
                <a:xfrm>
                  <a:off x="6704457" y="5154930"/>
                  <a:ext cx="4166229" cy="4552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Ví dụ: 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cr m:val="double-struck"/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;+∞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∖[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;+∞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3"/>
                <p:cNvSpPr txBox="1"/>
                <p:nvPr/>
              </p:nvSpPr>
              <p:spPr>
                <a:xfrm>
                  <a:off x="6703695" y="5600700"/>
                  <a:ext cx="3252569" cy="5020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250" b="1" dirty="0">
                      <a:solidFill>
                        <a:srgbClr val="B45309"/>
                      </a:solidFill>
                      <a:latin typeface="+mn-lt"/>
                      <a:ea typeface="+mn-ea"/>
                      <a:cs typeface="+mn-cs"/>
                    </a:rPr>
                    <a:t xml:space="preserve">⇒ </a:t>
                  </a:r>
                  <a14:m>
                    <m:oMath xmlns:a="http://schemas.openxmlformats.org/drawingml/2006/main" xmlns:m="http://schemas.openxmlformats.org/officeDocument/2006/math">
                      <m:sSub>
                        <m:e>
                          <m: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cr m:val="double-struck"/>
                              <m:sty m:val="p"/>
                            </m:rP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;+∞</m:t>
                      </m:r>
                      <m: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vi-VN" sz="225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−∞;</m:t>
                          </m:r>
                          <m:r>
                            <a:rPr lang="vi-VN" sz="225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00254" y="238125"/>
            <a:ext cx="11315496" cy="714375"/>
            <a:chOff x="400254" y="238125"/>
            <a:chExt cx="11315496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00254" y="459105"/>
              <a:ext cx="17140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LUYỆN TẬP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960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TẬP VẬN DỤNG TRÊN TRỤC SỐ</a:t>
              </a:r>
            </a:p>
          </p:txBody>
        </p:sp>
      </p:grpSp>
      <p:grpSp>
        <p:nvGrpSpPr>
          <p:cNvPr id="24" name="exercise-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28575">
              <a:solidFill>
                <a:srgbClr val="3B82F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476375"/>
              <a:ext cx="10668000" cy="1381125"/>
            </a:xfrm>
            <a:prstGeom prst="roundRect">
              <a:avLst>
                <a:gd name="adj" fmla="val 9655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1"/>
                <p:cNvSpPr txBox="1"/>
                <p:nvPr/>
              </p:nvSpPr>
              <p:spPr>
                <a:xfrm>
                  <a:off x="1035558" y="1693545"/>
                  <a:ext cx="6765185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4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 xml:space="preserve">ĐỀ BÀI: Cho hai tập hợp con của số thực </a:t>
                  </a:r>
                  <a14:m>
                    <m:oMath xmlns:a="http://schemas.openxmlformats.org/drawingml/2006/main" xmlns:m="http://schemas.openxmlformats.org/officeDocument/2006/math">
                      <m:r>
                        <m:rPr>
                          <m:scr m:val="double-struck"/>
                          <m:sty m:val="p"/>
                        </m:rPr>
                        <a:rPr lang="vi-VN" sz="2400" dirty="0">
                          <a:solidFill>
                            <a:srgbClr val="1D4ED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a14:m>
                  <a:r>
                    <a:rPr lang="vi-VN" sz="24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:</a:t>
                  </a:r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1034796" y="2201228"/>
                  <a:ext cx="3803061" cy="49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=[−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3)</m:t>
                      </m:r>
                    </m:oMath>
                  </a14:m>
                  <a:r>
                    <a:rPr lang="vi-VN" sz="255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 và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;</m:t>
                      </m:r>
                      <m:r>
                        <a:rPr lang="vi-VN" sz="255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5]</m:t>
                      </m:r>
                    </m:oMath>
                  </a14:m>
                </a:p>
              </p:txBody>
            </p:sp>
          </mc:Choice>
        </mc:AlternateContent>
        <p:grpSp>
          <p:nvGrpSpPr>
            <p:cNvPr id="21" name="Group 21"/>
            <p:cNvGrpSpPr/>
            <p:nvPr/>
          </p:nvGrpSpPr>
          <p:grpSpPr>
            <a:xfrm>
              <a:off x="762000" y="3095625"/>
              <a:ext cx="10668000" cy="2047875"/>
              <a:chOff x="762000" y="3095625"/>
              <a:chExt cx="10668000" cy="20478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3095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1035558" y="3388995"/>
                    <a:ext cx="3271302" cy="469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a) Tìm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5" name="Rectangle 15"/>
              <p:cNvSpPr/>
              <p:nvPr/>
            </p:nvSpPr>
            <p:spPr>
              <a:xfrm>
                <a:off x="6238875" y="3095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6512433" y="3388995"/>
                    <a:ext cx="3289228" cy="469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b) Tìm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7" name="Rectangle 17"/>
              <p:cNvSpPr/>
              <p:nvPr/>
            </p:nvSpPr>
            <p:spPr>
              <a:xfrm>
                <a:off x="762000" y="4238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035558" y="4531995"/>
                    <a:ext cx="3168991" cy="469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D97706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c) Tìm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  <m: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9" name="Rectangle 19"/>
              <p:cNvSpPr/>
              <p:nvPr/>
            </p:nvSpPr>
            <p:spPr>
              <a:xfrm>
                <a:off x="6238875" y="4238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6512433" y="4531995"/>
                    <a:ext cx="3384267" cy="5202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7C3AED"/>
                        </a:solidFill>
                        <a:latin typeface="+mn-lt"/>
                        <a:ea typeface="+mn-ea"/>
                        <a:cs typeface="+mn-cs"/>
                      </a:rPr>
                      <a:t xml:space="preserve">Câu d) Tìm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vi-VN" sz="240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40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vi-VN" sz="2400" dirty="0">
                            <a:solidFill>
                              <a:srgbClr val="7C3AE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7C3AE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=?</m:t>
                        </m:r>
                      </m:oMath>
                    </a14:m>
                  </a:p>
                </p:txBody>
              </p:sp>
            </mc:Choice>
          </mc:AlternateContent>
        </p:grpSp>
        <p:sp>
          <p:nvSpPr>
            <p:cNvPr id="22" name="Rectangle 22"/>
            <p:cNvSpPr/>
            <p:nvPr/>
          </p:nvSpPr>
          <p:spPr>
            <a:xfrm>
              <a:off x="762000" y="5429250"/>
              <a:ext cx="10668000" cy="714375"/>
            </a:xfrm>
            <a:prstGeom prst="roundRect">
              <a:avLst>
                <a:gd name="adj" fmla="val 18667"/>
              </a:avLst>
            </a:prstGeom>
            <a:solidFill>
              <a:srgbClr val="FEF2F2"/>
            </a:solidFill>
            <a:ln w="19050">
              <a:solidFill>
                <a:srgbClr val="FECAC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69263" y="5643562"/>
              <a:ext cx="86534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⏱ CẢ LỚP LÀM VÀO VỞ TRONG 5 PHÚT — VẼ TRỤC SỐ!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49254" y="459105"/>
              <a:ext cx="12160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LỜI GIẢI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302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HƯỚNG DẪN GIẢI BÀI TẬP VẬN DỤNG</a:t>
              </a:r>
            </a:p>
          </p:txBody>
        </p:sp>
      </p:grpSp>
      <p:grpSp>
        <p:nvGrpSpPr>
          <p:cNvPr id="41" name="solution-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28575">
              <a:solidFill>
                <a:srgbClr val="10B98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62000" y="1428750"/>
              <a:ext cx="10668000" cy="1136523"/>
              <a:chOff x="762000" y="1428750"/>
              <a:chExt cx="10668000" cy="1136523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1428750"/>
                <a:ext cx="10668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8FAFC"/>
              </a:solidFill>
              <a:ln w="14288">
                <a:solidFill>
                  <a:srgbClr val="E2E8F0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1036320" y="1643062"/>
                    <a:ext cx="2908472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 xml:space="preserve">a) Phép Giao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25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r>
                          <a:rPr lang="vi-VN" sz="2250" dirty="0">
                            <a:solidFill>
                              <a:srgbClr val="1D4ED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250" b="1" dirty="0">
                        <a:solidFill>
                          <a:srgbClr val="1D4ED8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1035558" y="2011680"/>
                    <a:ext cx="2385265" cy="49987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166534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grpSp>
            <p:nvGrpSpPr>
              <p:cNvPr id="19" name="Group 19"/>
              <p:cNvGrpSpPr/>
              <p:nvPr/>
            </p:nvGrpSpPr>
            <p:grpSpPr>
              <a:xfrm>
                <a:off x="7239000" y="1804035"/>
                <a:ext cx="3619500" cy="761238"/>
                <a:chOff x="7239000" y="1804035"/>
                <a:chExt cx="3619500" cy="761238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7239000" y="2000250"/>
                  <a:ext cx="3619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0" h="9525">
                      <a:moveTo>
                        <a:pt x="0" y="0"/>
                      </a:moveTo>
                      <a:lnTo>
                        <a:pt x="3619500" y="0"/>
                      </a:lnTo>
                    </a:path>
                  </a:pathLst>
                </a:custGeom>
                <a:noFill/>
                <a:ln w="28575">
                  <a:solidFill>
                    <a:srgbClr val="94A3B8"/>
                  </a:solidFill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892034" y="1804035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(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895082" y="2154555"/>
                  <a:ext cx="17857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6" name="Line 16"/>
                <p:cNvSpPr/>
                <p:nvPr/>
              </p:nvSpPr>
              <p:spPr>
                <a:xfrm>
                  <a:off x="8096250" y="2000250"/>
                  <a:ext cx="133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9525">
                      <a:moveTo>
                        <a:pt x="0" y="0"/>
                      </a:moveTo>
                      <a:lnTo>
                        <a:pt x="1333500" y="0"/>
                      </a:lnTo>
                    </a:path>
                  </a:pathLst>
                </a:custGeom>
                <a:noFill/>
                <a:ln w="57150">
                  <a:solidFill>
                    <a:srgbClr val="1D4ED8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511284" y="1804035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514332" y="2154555"/>
                  <a:ext cx="17857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</p:grpSp>
        <p:grpSp>
          <p:nvGrpSpPr>
            <p:cNvPr id="31" name="Group 31"/>
            <p:cNvGrpSpPr/>
            <p:nvPr/>
          </p:nvGrpSpPr>
          <p:grpSpPr>
            <a:xfrm>
              <a:off x="762000" y="2619375"/>
              <a:ext cx="10668000" cy="1136523"/>
              <a:chOff x="762000" y="2619375"/>
              <a:chExt cx="10668000" cy="1136523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2619375"/>
                <a:ext cx="10668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8FAFC"/>
              </a:solidFill>
              <a:ln w="14288">
                <a:solidFill>
                  <a:srgbClr val="E2E8F0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1036320" y="2833688"/>
                    <a:ext cx="2842645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b) Phép Hợp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25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vi-VN" sz="225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25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1035558" y="3202305"/>
                    <a:ext cx="2498944" cy="49987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166534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  <m: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16653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400" dirty="0">
                                <a:solidFill>
                                  <a:srgbClr val="16653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p:grpSp>
            <p:nvGrpSpPr>
              <p:cNvPr id="30" name="Group 30"/>
              <p:cNvGrpSpPr/>
              <p:nvPr/>
            </p:nvGrpSpPr>
            <p:grpSpPr>
              <a:xfrm>
                <a:off x="7239000" y="2994660"/>
                <a:ext cx="3619500" cy="761238"/>
                <a:chOff x="7239000" y="2994660"/>
                <a:chExt cx="3619500" cy="761238"/>
              </a:xfrm>
            </p:grpSpPr>
            <p:sp>
              <p:nvSpPr>
                <p:cNvPr id="24" name="Line 24"/>
                <p:cNvSpPr/>
                <p:nvPr/>
              </p:nvSpPr>
              <p:spPr>
                <a:xfrm>
                  <a:off x="7239000" y="3190875"/>
                  <a:ext cx="3619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0" h="9525">
                      <a:moveTo>
                        <a:pt x="0" y="0"/>
                      </a:moveTo>
                      <a:lnTo>
                        <a:pt x="3619500" y="0"/>
                      </a:lnTo>
                    </a:path>
                  </a:pathLst>
                </a:custGeom>
                <a:noFill/>
                <a:ln w="28575">
                  <a:solidFill>
                    <a:srgbClr val="94A3B8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606284" y="2994660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609332" y="3345180"/>
                  <a:ext cx="27271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7810500" y="3190875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57150">
                  <a:solidFill>
                    <a:srgbClr val="059669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082784" y="2994660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]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0085832" y="3345180"/>
                  <a:ext cx="17857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</p:grpSp>
        <p:grpSp>
          <p:nvGrpSpPr>
            <p:cNvPr id="37" name="Group 37"/>
            <p:cNvGrpSpPr/>
            <p:nvPr/>
          </p:nvGrpSpPr>
          <p:grpSpPr>
            <a:xfrm>
              <a:off x="762000" y="3810000"/>
              <a:ext cx="10668000" cy="1121188"/>
              <a:chOff x="762000" y="3810000"/>
              <a:chExt cx="10668000" cy="1121188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62000" y="3810000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F8FAFC"/>
              </a:solidFill>
              <a:ln w="14288">
                <a:solidFill>
                  <a:srgbClr val="E2E8F0"/>
                </a:solidFill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1036320" y="4024312"/>
                    <a:ext cx="1959092" cy="4400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D97706"/>
                        </a:solidFill>
                        <a:latin typeface="+mn-lt"/>
                        <a:ea typeface="+mn-ea"/>
                        <a:cs typeface="+mn-cs"/>
                      </a:rPr>
                      <a:t xml:space="preserve">c) Hiệu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25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  <m:r>
                          <a:rPr lang="vi-VN" sz="2250" dirty="0">
                            <a:solidFill>
                              <a:srgbClr val="D9770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250" b="1" dirty="0">
                        <a:solidFill>
                          <a:srgbClr val="D97706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Box 34"/>
                  <p:cNvSpPr txBox="1"/>
                  <p:nvPr/>
                </p:nvSpPr>
                <p:spPr>
                  <a:xfrm>
                    <a:off x="1035558" y="4411980"/>
                    <a:ext cx="2396633" cy="49987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400" b="1" dirty="0">
                        <a:solidFill>
                          <a:srgbClr val="B45309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40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  <m:r>
                          <a:rPr lang="vi-VN" sz="240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400" dirty="0">
                            <a:solidFill>
                              <a:srgbClr val="B4530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vi-VN" sz="240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40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vi-VN" sz="240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vi-VN" sz="240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vi-VN" sz="2400" dirty="0">
                                <a:solidFill>
                                  <a:srgbClr val="B4530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a14:m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6084570" y="4024312"/>
                    <a:ext cx="2699898" cy="487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7C3AED"/>
                        </a:solidFill>
                        <a:latin typeface="+mn-lt"/>
                        <a:ea typeface="+mn-ea"/>
                        <a:cs typeface="+mn-cs"/>
                      </a:rPr>
                      <a:t xml:space="preserve">d) Phần bù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vi-VN" sz="225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250" dirty="0">
                                <a:solidFill>
                                  <a:srgbClr val="7C3AE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vi-VN" sz="2250" dirty="0">
                            <a:solidFill>
                              <a:srgbClr val="7C3AE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a14:m>
                    <a:r>
                      <a:rPr lang="vi-VN" sz="2250" b="1" dirty="0">
                        <a:solidFill>
                          <a:srgbClr val="7C3AED"/>
                        </a:solidFill>
                        <a:latin typeface="+mn-lt"/>
                        <a:ea typeface="+mn-ea"/>
                        <a:cs typeface="+mn-cs"/>
                      </a:rPr>
                      <a:t>: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6084570" y="4429125"/>
                    <a:ext cx="2546036" cy="502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250" b="1" dirty="0">
                        <a:solidFill>
                          <a:srgbClr val="6B21A8"/>
                        </a:solidFill>
                        <a:latin typeface="+mn-lt"/>
                        <a:ea typeface="+mn-ea"/>
                        <a:cs typeface="+mn-cs"/>
                      </a:rPr>
                      <a:t xml:space="preserve">⇒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vi-VN" sz="225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cr m:val="double-struck"/>
                                <m:sty m:val="p"/>
                              </m:rPr>
                              <a:rPr lang="vi-VN" sz="225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vi-VN" sz="225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vi-VN" sz="225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vi-VN" sz="225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−∞;−</m:t>
                            </m:r>
                            <m:r>
                              <a:rPr lang="vi-VN" sz="2250" dirty="0">
                                <a:solidFill>
                                  <a:srgbClr val="6B21A8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∪[</m:t>
                        </m:r>
                        <m:r>
                          <a:rPr lang="vi-VN" sz="225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25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;+∞</m:t>
                        </m:r>
                        <m:r>
                          <a:rPr lang="vi-VN" sz="2250" dirty="0">
                            <a:solidFill>
                              <a:srgbClr val="6B21A8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oMath>
                    </a14:m>
                  </a:p>
                </p:txBody>
              </p:sp>
            </mc:Choice>
          </mc:AlternateContent>
        </p:grpSp>
        <p:sp>
          <p:nvSpPr>
            <p:cNvPr id="38" name="Rectangle 38"/>
            <p:cNvSpPr/>
            <p:nvPr/>
          </p:nvSpPr>
          <p:spPr>
            <a:xfrm>
              <a:off x="762000" y="5095875"/>
              <a:ext cx="10668000" cy="1047750"/>
            </a:xfrm>
            <a:prstGeom prst="roundRect">
              <a:avLst>
                <a:gd name="adj" fmla="val 12727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7082" y="5250180"/>
              <a:ext cx="50825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LƯU Ý QUAN TRỌNG VỀ ĐẦU MÚT: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7082" y="5678805"/>
              <a:ext cx="9398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Điểm 1 không thuộc B nên điểm 1 thuộc A \ B (lấy ngoặc vuông tại 1).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8137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ỨNG DỤNG THỰC TẾ &amp; CÔNG THỨC ĐẾM</a:t>
              </a:r>
            </a:p>
          </p:txBody>
        </p:sp>
      </p:grpSp>
      <p:grpSp>
        <p:nvGrpSpPr>
          <p:cNvPr id="34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52502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TOÁN THỂ THAO (SGK TR.18)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48206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Lớp 10A có 24 bạn thi đấu thể thao: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8957" y="2392680"/>
              <a:ext cx="50084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Bóng đá: 16 bạn | Cầu lông: 11 bạn.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195" y="2852738"/>
              <a:ext cx="5297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Hỏi: Có bao nhiêu bạn thi cả 2 môn?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9625" y="3429000"/>
              <a:ext cx="5667375" cy="9525"/>
            </a:xfrm>
            <a:custGeom>
              <a:avLst/>
              <a:gdLst/>
              <a:ahLst/>
              <a:cxnLst/>
              <a:rect l="l" t="t" r="r" b="b"/>
              <a:pathLst>
                <a:path w="5667375" h="9525">
                  <a:moveTo>
                    <a:pt x="0" y="0"/>
                  </a:moveTo>
                  <a:lnTo>
                    <a:pt x="56673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662362"/>
              <a:ext cx="55699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CÔNG THỨC LỰC LƯỢNG TẬP HỢP: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4143375"/>
              <a:ext cx="5715000" cy="809625"/>
            </a:xfrm>
            <a:prstGeom prst="roundRect">
              <a:avLst>
                <a:gd name="adj" fmla="val 16471"/>
              </a:avLst>
            </a:prstGeom>
            <a:solidFill>
              <a:srgbClr val="FEF3C7"/>
            </a:solidFill>
            <a:ln w="19050">
              <a:solidFill>
                <a:srgbClr val="FDE68A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1482540" y="4408170"/>
                  <a:ext cx="4369171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∪</m:t>
                          </m:r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vi-VN" sz="2100" dirty="0">
                          <a:solidFill>
                            <a:srgbClr val="B4530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∩</m:t>
                          </m:r>
                          <m:r>
                            <a:rPr lang="vi-VN" sz="2100" dirty="0">
                              <a:solidFill>
                                <a:srgbClr val="B4530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8"/>
                <p:cNvSpPr txBox="1"/>
                <p:nvPr/>
              </p:nvSpPr>
              <p:spPr>
                <a:xfrm>
                  <a:off x="798957" y="5141595"/>
                  <a:ext cx="4606631" cy="43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 xml:space="preserve">Suy ra: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∩</m:t>
                          </m:r>
                          <m:r>
                            <a:rPr lang="vi-VN" sz="2100" dirty="0">
                              <a:solidFill>
                                <a:srgbClr val="0F172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16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24</m:t>
                      </m:r>
                      <m:r>
                        <m:rPr>
                          <m:sty m:val="p"/>
                        </m:rP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vi-VN" sz="2100" dirty="0">
                          <a:solidFill>
                            <a:srgbClr val="0F172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oMath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96671" y="5630228"/>
              <a:ext cx="5482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5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⇒ Kết quả: Có 3 bạn thi cả 2 môn!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5695" y="1423988"/>
              <a:ext cx="38102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BIỂU ĐỒ VEN MINH HỌA</a:t>
              </a:r>
            </a:p>
          </p:txBody>
        </p:sp>
        <p:grpSp>
          <p:nvGrpSpPr>
            <p:cNvPr id="31" name="real-venn"/>
            <p:cNvGrpSpPr/>
            <p:nvPr/>
          </p:nvGrpSpPr>
          <p:grpSpPr>
            <a:xfrm>
              <a:off x="7381875" y="2143125"/>
              <a:ext cx="3420369" cy="1809750"/>
              <a:chOff x="7381875" y="2143125"/>
              <a:chExt cx="3420369" cy="18097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381875" y="2143125"/>
                <a:ext cx="1809750" cy="1809750"/>
              </a:xfrm>
              <a:prstGeom prst="ellipse">
                <a:avLst/>
              </a:prstGeom>
              <a:solidFill>
                <a:srgbClr val="DBEAFE">
                  <a:alpha val="70000"/>
                </a:srgbClr>
              </a:solidFill>
              <a:ln w="28575">
                <a:solidFill>
                  <a:srgbClr val="2563EB">
                    <a:alpha val="70000"/>
                  </a:srgbClr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524875" y="2143125"/>
                <a:ext cx="1809750" cy="1809750"/>
              </a:xfrm>
              <a:prstGeom prst="ellipse">
                <a:avLst/>
              </a:prstGeom>
              <a:solidFill>
                <a:srgbClr val="D1FAE5">
                  <a:alpha val="70000"/>
                </a:srgbClr>
              </a:solidFill>
              <a:ln w="28575">
                <a:solidFill>
                  <a:srgbClr val="059669">
                    <a:alpha val="7000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08773" y="2333625"/>
                <a:ext cx="698954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698954" h="1428750">
                    <a:moveTo>
                      <a:pt x="349477" y="0"/>
                    </a:moveTo>
                    <a:cubicBezTo>
                      <a:pt x="569976" y="171429"/>
                      <a:pt x="698954" y="435076"/>
                      <a:pt x="698954" y="714375"/>
                    </a:cubicBezTo>
                    <a:cubicBezTo>
                      <a:pt x="698954" y="993674"/>
                      <a:pt x="569976" y="1257321"/>
                      <a:pt x="349477" y="1428750"/>
                    </a:cubicBezTo>
                    <a:cubicBezTo>
                      <a:pt x="128978" y="1257321"/>
                      <a:pt x="0" y="993674"/>
                      <a:pt x="0" y="714375"/>
                    </a:cubicBezTo>
                    <a:cubicBezTo>
                      <a:pt x="0" y="435076"/>
                      <a:pt x="128978" y="171429"/>
                      <a:pt x="349477" y="0"/>
                    </a:cubicBezTo>
                    <a:close/>
                  </a:path>
                </a:pathLst>
              </a:custGeom>
              <a:solidFill>
                <a:srgbClr val="FEF08A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942707" y="2440305"/>
                <a:ext cx="11626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Bóng đá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88808" y="2884170"/>
                <a:ext cx="38378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13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561957" y="2440305"/>
                <a:ext cx="124028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Cầu lông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55683" y="2884170"/>
                <a:ext cx="2040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18585" y="2773680"/>
                <a:ext cx="87932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Cả hai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743452" y="3089910"/>
                <a:ext cx="22959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7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7334250" y="5238750"/>
              <a:ext cx="4191000" cy="904875"/>
            </a:xfrm>
            <a:prstGeom prst="roundRect">
              <a:avLst>
                <a:gd name="adj" fmla="val 14737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28305" y="5535930"/>
              <a:ext cx="34028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Tổng: 13 + 3 + 8 = 24 bạn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5020" y="238125"/>
            <a:ext cx="11240730" cy="714375"/>
            <a:chOff x="475020" y="238125"/>
            <a:chExt cx="1124073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75020" y="459105"/>
              <a:ext cx="1564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TỔNG KẾT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3346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KẾT BÀI HỌC VÀ DẶN DÒ</a:t>
              </a:r>
            </a:p>
          </p:txBody>
        </p:sp>
      </p:grpSp>
      <p:grpSp>
        <p:nvGrpSpPr>
          <p:cNvPr id="33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36854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4 GHI NHỚ TRỌNG TÂM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98957" y="2059305"/>
              <a:ext cx="5736718" cy="2839593"/>
              <a:chOff x="798957" y="2059305"/>
              <a:chExt cx="5736718" cy="283959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98957" y="2059305"/>
                <a:ext cx="152757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1. Tập con: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2418207" y="2059305"/>
                    <a:ext cx="1799266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  <a:r>
                      <a:rPr lang="vi-VN" sz="2100" b="1" dirty="0">
                        <a:solidFill>
                          <a:srgbClr val="1E40AF"/>
                        </a:solidFill>
                        <a:latin typeface="+mn-lt"/>
                        <a:ea typeface="+mn-ea"/>
                        <a:cs typeface="+mn-cs"/>
                      </a:rPr>
                      <a:t xml:space="preserve"> |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3" name="Line 13"/>
              <p:cNvSpPr/>
              <p:nvPr/>
            </p:nvSpPr>
            <p:spPr>
              <a:xfrm>
                <a:off x="809625" y="261937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98957" y="2868930"/>
                <a:ext cx="165203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2. Chuỗi số: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2418207" y="2868930"/>
                    <a:ext cx="1635367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⊂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vi-VN" sz="2100" dirty="0">
                            <a:solidFill>
                              <a:srgbClr val="1E40A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a14:m>
                  </a:p>
                </p:txBody>
              </p:sp>
            </mc:Choice>
          </mc:AlternateContent>
          <p:sp>
            <p:nvSpPr>
              <p:cNvPr id="16" name="Line 16"/>
              <p:cNvSpPr/>
              <p:nvPr/>
            </p:nvSpPr>
            <p:spPr>
              <a:xfrm>
                <a:off x="809625" y="342900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98957" y="3678555"/>
                <a:ext cx="18087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3. Phép toán: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2418207" y="3678555"/>
                    <a:ext cx="4087522" cy="4107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Giao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, Hợp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 xml:space="preserve">, Hiệu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m:rPr>
                            <m:sty m:val="p"/>
                          </m:rPr>
                          <a:rPr lang="vi-VN" sz="2100" dirty="0">
                            <a:solidFill>
                              <a:srgbClr val="04785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∖</m:t>
                        </m:r>
                      </m:oMath>
                    </a14:m>
                    <a:r>
                      <a:rPr lang="vi-VN" sz="2100" b="1" dirty="0">
                        <a:solidFill>
                          <a:srgbClr val="047857"/>
                        </a:solidFill>
                        <a:latin typeface="+mn-lt"/>
                        <a:ea typeface="+mn-ea"/>
                        <a:cs typeface="+mn-cs"/>
                      </a:rPr>
                      <a:t>, Phần bù</a:t>
                    </a:r>
                  </a:p>
                </p:txBody>
              </p:sp>
            </mc:Choice>
          </mc:AlternateContent>
          <p:sp>
            <p:nvSpPr>
              <p:cNvPr id="19" name="Line 19"/>
              <p:cNvSpPr/>
              <p:nvPr/>
            </p:nvSpPr>
            <p:spPr>
              <a:xfrm>
                <a:off x="809625" y="423862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98957" y="4488180"/>
                <a:ext cx="146433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4. Trục số: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18207" y="4488180"/>
                <a:ext cx="411746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Lấy [ ], bỏ ( ), gạch phần ngoài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5695" y="1423988"/>
              <a:ext cx="28857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NHIỆM VỤ VỀ NHÀ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81875" y="2000250"/>
              <a:ext cx="4095750" cy="1857375"/>
            </a:xfrm>
            <a:prstGeom prst="roundRect">
              <a:avLst>
                <a:gd name="adj" fmla="val 7179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09332" y="2249805"/>
              <a:ext cx="29558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Làm bài 1.8 đến 1.16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9332" y="2678430"/>
              <a:ext cx="31754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(SGK Toán 10, trang 19)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9332" y="3202305"/>
              <a:ext cx="3896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Chuẩn bị: Bài tập cuối Ch.1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81875" y="4143375"/>
              <a:ext cx="4095750" cy="2000250"/>
            </a:xfrm>
            <a:prstGeom prst="roundRect">
              <a:avLst>
                <a:gd name="adj" fmla="val 7619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3796" y="4455795"/>
              <a:ext cx="2451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CHÚC CÁC 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6117" y="4884420"/>
              <a:ext cx="36272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40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HỌC TỐT MÔN TOÁN!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27298" y="5535930"/>
              <a:ext cx="32049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Thầy Nguyễn Văn Sang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2026-09-21T10:16:12Z</dcterms:created>
  <dcterms:modified xsi:type="dcterms:W3CDTF">2026-09-21T10:16:12Z</dcterms:modified>
  <cp:category/>
  <cp:contentStatus/>
</cp:coreProperties>
</file>