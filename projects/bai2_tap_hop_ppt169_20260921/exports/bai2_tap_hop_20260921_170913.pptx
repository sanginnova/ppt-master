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vi-VN"/>
    </a:defPPr>
    <a:lvl1pPr marL="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vi-V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vi-V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Chào các em học sinh! Hôm nay chúng ta cùng bước vào Bài 2: Tập hợp và các phép toán trên tập hợp thuộc Chương 1 môn Toán lớp 10.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Bài học hôm nay nhằm trang bị 3 trụ cột: Khái niệm tập hợp, biểu diễn tập số trên trục số, và 4 phép toán cơ bản giao, hợp, hiệu, phần bù.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Các em lưu ý hai cách mô tả tập hợp: liệt kê phần tử khi hữu hạn, và nêu tính chất đặc trưng khi tập hợp có vô số phần tử.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Về tập con: mọi phần tử của A đều phải thuộc B. Biểu đồ Ven giúp ta nhìn trực quan hình phẳng A nằm trọn trong B.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Chuỗi bao hàm số tự nhiên N nằm trong số nguyên Z, nằm trong số hữu tỉ Q và nằm trong số thực R. R gồm hữu tỉ và vô tỉ.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Trục số là kỹ năng cực kỳ quan trọng: mút lấy thì dùng ngoặc vuông, mút không lấy thì dùng ngoặc tròn, phần ngoài phải gạch chéo.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Phép giao lấy phần chung, phép hợp gộp tất cả. Biểu đồ Ven thể hiện rất rõ vùng giao nhau và vùng hợp.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Hiệu A bỏ B là lấy các phần tử thuộc A nhưng không thuộc B. Khi A là con của E, hiệu E bỏ A chính là phần bù.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Thầy dành cho cả lớp 5 phút để tự vẽ trục số và giải 4 câu a, b, c, d vào vở trước khi thầy chữa chi tiết.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Các em cùng đối chiếu kết quả: giao là (1; 3), hợp là [-2; 5], hiệu A bỏ B là [-2; 1], và phần bù là hai khoảng vô cực.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Bài toán thể thao 24 bạn: dùng công thức n(A hợp B) = n(A) + n(B) - n(A giao B), ta tính được ngay có 3 bạn thi cả hai môn.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vi-VN" dirty="0"/>
              <a:t>Về nhà các em hoàn thành bài tập 1.8 đến 1.16 trong SGK trang 19 và chuẩn bị bài mới. Chúc các em học tập tốt!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i2_tap_hop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vi-VN" smtClean="0"/>
              <a:t>1/27/13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i2_tap_hop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vi-VN" smtClean="0"/>
              <a:t>1/27/13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vi-V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vi-V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vi-V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vi-V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vi-V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vi-V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vi-V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334500" y="-857250"/>
            <a:ext cx="3810000" cy="3810000"/>
          </a:xfrm>
          <a:prstGeom prst="ellipse">
            <a:avLst/>
          </a:prstGeom>
          <a:solidFill>
            <a:srgbClr val="EFF6FF">
              <a:alpha val="6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144000" y="4381500"/>
            <a:ext cx="3048000" cy="3048000"/>
          </a:xfrm>
          <a:prstGeom prst="ellipse">
            <a:avLst/>
          </a:prstGeom>
          <a:solidFill>
            <a:srgbClr val="F0FDFA">
              <a:alpha val="60000"/>
            </a:srgbClr>
          </a:solidFill>
          <a:ln>
            <a:noFill/>
          </a:ln>
        </p:spPr>
      </p:sp>
      <p:grpSp>
        <p:nvGrpSpPr>
          <p:cNvPr id="21" name="cover-card"/>
          <p:cNvGrpSpPr/>
          <p:nvPr/>
        </p:nvGrpSpPr>
        <p:grpSpPr>
          <a:xfrm>
            <a:off x="571500" y="428625"/>
            <a:ext cx="11049000" cy="6000750"/>
            <a:chOff x="571500" y="428625"/>
            <a:chExt cx="11049000" cy="6000750"/>
          </a:xfrm>
        </p:grpSpPr>
        <p:sp>
          <p:nvSpPr>
            <p:cNvPr id="5" name="Rectangle 5"/>
            <p:cNvSpPr/>
            <p:nvPr/>
          </p:nvSpPr>
          <p:spPr>
            <a:xfrm>
              <a:off x="571500" y="428625"/>
              <a:ext cx="11049000" cy="600075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428625"/>
              <a:ext cx="11049000" cy="133350"/>
            </a:xfrm>
            <a:prstGeom prst="roundRect">
              <a:avLst>
                <a:gd name="adj" fmla="val 50000"/>
              </a:avLst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7082" y="821055"/>
              <a:ext cx="68636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TRƯỜNG CĐ NGHỀ SỐ 1 - BQP • KHOA CƠ BẢN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047750" y="1238250"/>
              <a:ext cx="6572250" cy="9525"/>
            </a:xfrm>
            <a:custGeom>
              <a:avLst/>
              <a:gdLst/>
              <a:ahLst/>
              <a:cxnLst/>
              <a:rect l="l" t="t" r="r" b="b"/>
              <a:pathLst>
                <a:path w="6572250" h="9525">
                  <a:moveTo>
                    <a:pt x="0" y="0"/>
                  </a:moveTo>
                  <a:lnTo>
                    <a:pt x="657225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1476375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5197" y="1564005"/>
              <a:ext cx="15148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CHƯƠNG 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0986" y="2120265"/>
              <a:ext cx="83792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BÀI 2. TẬP HỢP VÀ CÁC PHÉP TOÁN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986" y="2691765"/>
              <a:ext cx="35280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33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TRÊN TẬP HỢP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7082" y="3392805"/>
              <a:ext cx="55251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Toán 10 — Kết nối tri thức với cuộc sống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47750" y="4048125"/>
              <a:ext cx="4381500" cy="5715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89379" y="4202430"/>
              <a:ext cx="40982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Khái niệm &amp; Các tập hợp số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0" y="4048125"/>
              <a:ext cx="4953000" cy="5715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25881" y="4202430"/>
              <a:ext cx="39312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Phép toán Giao, Hợp, Hiệu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47750" y="4953000"/>
              <a:ext cx="9620250" cy="1047750"/>
            </a:xfrm>
            <a:prstGeom prst="roundRect">
              <a:avLst>
                <a:gd name="adj" fmla="val 14545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17320" y="5138738"/>
              <a:ext cx="51402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Giảng viên: ThS. Nguyễn Văn Sang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8082" y="5535930"/>
              <a:ext cx="46988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Khoa Cơ bản — Tiết PPCT: 03 - 04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48413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BÀI HỌC CẦN ĐẠT</a:t>
              </a:r>
            </a:p>
          </p:txBody>
        </p:sp>
      </p:grpSp>
      <p:grpSp>
        <p:nvGrpSpPr>
          <p:cNvPr id="24" name="body-grid"/>
          <p:cNvGrpSpPr/>
          <p:nvPr/>
        </p:nvGrpSpPr>
        <p:grpSpPr>
          <a:xfrm>
            <a:off x="476250" y="1190625"/>
            <a:ext cx="11239500" cy="5143500"/>
            <a:chOff x="476250" y="1190625"/>
            <a:chExt cx="11239500" cy="5143500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76250" y="1190625"/>
              <a:ext cx="114300" cy="15240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5820" y="1423988"/>
              <a:ext cx="41477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1. KIẾN THỨC TRỌNG TÂM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6582" y="1868805"/>
              <a:ext cx="85097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Khái niệm tập hợp, tập con (A ⊂ B), hai tập bằng nhau (A = B).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6582" y="2268855"/>
              <a:ext cx="83541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Các tập hợp số: ℕ, ℤ, ℚ, ℝ và các tập con khoảng, đoạn của ℝ.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6250" y="2952750"/>
              <a:ext cx="11239500" cy="152400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76250" y="2952750"/>
              <a:ext cx="114300" cy="15240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820" y="3186112"/>
              <a:ext cx="32057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2. KỸ NĂNG CƠ BẢN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6582" y="3630930"/>
              <a:ext cx="891620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Biểu diễn thành thạo các khoảng, đoạn, nửa khoảng trên trục số.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6582" y="4030980"/>
              <a:ext cx="94681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Thực hiện chính xác 4 phép toán: Giao (∩), Hợp (∪), Hiệu (\), Phần bù.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76250" y="4714875"/>
              <a:ext cx="11239500" cy="1619250"/>
            </a:xfrm>
            <a:prstGeom prst="roundRect">
              <a:avLst>
                <a:gd name="adj" fmla="val 10588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76250" y="4714875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820" y="4948238"/>
              <a:ext cx="59792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3. VẬN DỤNG &amp; NĂNG LỰC TOÁN HỌC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6582" y="5393055"/>
              <a:ext cx="78740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Sử dụng biểu đồ Ven giải quyết các bài toán đếm thực tế.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6582" y="5793105"/>
              <a:ext cx="781713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Rèn luyện tư duy logic toán học chặt chẽ và năng lực số.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643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KHÁI NIỆM TẬP HỢP VÀ CÁCH MÔ TẢ</a:t>
              </a:r>
            </a:p>
          </p:txBody>
        </p:sp>
      </p:grpSp>
      <p:grpSp>
        <p:nvGrpSpPr>
          <p:cNvPr id="24" name="content"/>
          <p:cNvGrpSpPr/>
          <p:nvPr/>
        </p:nvGrpSpPr>
        <p:grpSpPr>
          <a:xfrm>
            <a:off x="476250" y="1190625"/>
            <a:ext cx="11408857" cy="5191125"/>
            <a:chOff x="476250" y="1190625"/>
            <a:chExt cx="11408857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2238375"/>
            </a:xfrm>
            <a:prstGeom prst="roundRect">
              <a:avLst>
                <a:gd name="adj" fmla="val 766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416571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A. PHẦN TỬ VÀ TẬP RỖNG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8957" y="1916430"/>
              <a:ext cx="72043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 xml:space="preserve">Ký hiệu: </a:t>
              </a:r>
              <a:r>
                <a:rPr lang="vi-VN" sz="21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a ∈ A</a:t>
              </a: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 xml:space="preserve"> (a thuộc A) | </a:t>
              </a:r>
              <a:r>
                <a:rPr lang="vi-VN" sz="210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b ∉ A</a:t>
              </a: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 xml:space="preserve"> (b không thuộc A).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8957" y="2392680"/>
              <a:ext cx="7848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 xml:space="preserve">Tập rỗng (kí hiệu </a:t>
              </a:r>
              <a:r>
                <a:rPr lang="vi-VN" sz="210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∅</a:t>
              </a: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): Là tập hợp không chứa phần tử nào.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8957" y="2868930"/>
              <a:ext cx="7872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59669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Số phần tử của tập A kí hiệu là n(A). Ví dụ n({1; 2; 3}) = 3.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6250" y="3619500"/>
              <a:ext cx="11239500" cy="2762250"/>
            </a:xfrm>
            <a:prstGeom prst="roundRect">
              <a:avLst>
                <a:gd name="adj" fmla="val 620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8195" y="3852862"/>
              <a:ext cx="54276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B. HAI CÁCH MÔ TẢ MỘT TẬP HỢP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4333875"/>
              <a:ext cx="4953000" cy="1809750"/>
            </a:xfrm>
            <a:prstGeom prst="roundRect">
              <a:avLst>
                <a:gd name="adj" fmla="val 7368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7082" y="4535805"/>
              <a:ext cx="38713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CÁCH 1: LIỆT KÊ PHẦN TỬ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082" y="4964430"/>
              <a:ext cx="31430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Viết các phần tử vào { }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7082" y="5393055"/>
              <a:ext cx="26027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VD: P = {2; 3; 5; 7}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43625" y="4333875"/>
              <a:ext cx="5286375" cy="1809750"/>
            </a:xfrm>
            <a:prstGeom prst="roundRect">
              <a:avLst>
                <a:gd name="adj" fmla="val 7368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1082" y="4535805"/>
              <a:ext cx="55140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CÁCH 2: NÊU TÍNH CHẤT ĐẶC TRƯNG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1082" y="4964430"/>
              <a:ext cx="31605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Dạng: A = {x ∈ X | P(x)}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1082" y="5393055"/>
              <a:ext cx="34623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VD: A = {x ∈ ℝ | x² - 4 = 0}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56579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TẬP HỢP CON VÀ BIỂU ĐỒ VEN</a:t>
              </a:r>
            </a:p>
          </p:txBody>
        </p:sp>
      </p:grpSp>
      <p:grpSp>
        <p:nvGrpSpPr>
          <p:cNvPr id="30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63817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42368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ĐỊNH NGHĨA TẬP HỢP CON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8957" y="1964055"/>
              <a:ext cx="4923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Nếu mọi phần tử của A đều thuộc B: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7433" y="2407920"/>
              <a:ext cx="46813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Ta viết: A ⊂ B (A là con của B)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8957" y="2868930"/>
              <a:ext cx="44578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Ký hiệu: A ⊂ B ⇔ (∀x, x ∈ A ⇒ x ∈ B)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09625" y="3381375"/>
              <a:ext cx="5667375" cy="9525"/>
            </a:xfrm>
            <a:custGeom>
              <a:avLst/>
              <a:gdLst/>
              <a:ahLst/>
              <a:cxnLst/>
              <a:rect l="l" t="t" r="r" b="b"/>
              <a:pathLst>
                <a:path w="5667375" h="9525">
                  <a:moveTo>
                    <a:pt x="0" y="0"/>
                  </a:moveTo>
                  <a:lnTo>
                    <a:pt x="56673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8195" y="3614738"/>
              <a:ext cx="48409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TÍNH CHẤT &amp; TẬP BẰNG NHAU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8957" y="4107180"/>
              <a:ext cx="46194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 xml:space="preserve">Quy ước: </a:t>
              </a:r>
              <a:r>
                <a:rPr lang="vi-VN" sz="210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∅ ⊂ A</a:t>
              </a: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 xml:space="preserve"> và </a:t>
              </a:r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A ⊂ A</a:t>
              </a: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 xml:space="preserve"> (mọi A).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8957" y="4583430"/>
              <a:ext cx="46242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Bắc cầu: A ⊂ B và B ⊂ C ⇒ A ⊂ C.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8957" y="5154930"/>
              <a:ext cx="27433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47857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Hai tập bằng nhau: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8195" y="5614988"/>
              <a:ext cx="35612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A = B ⇔ (A ⊂ B và B ⊂ A)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43750" y="1190625"/>
              <a:ext cx="4572000" cy="5191125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13320" y="1423988"/>
              <a:ext cx="32303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BIỂU ĐỒ VEN (A ⊂ B)</a:t>
              </a:r>
            </a:p>
          </p:txBody>
        </p:sp>
        <p:grpSp>
          <p:nvGrpSpPr>
            <p:cNvPr id="27" name="venn-draw"/>
            <p:cNvGrpSpPr/>
            <p:nvPr/>
          </p:nvGrpSpPr>
          <p:grpSpPr>
            <a:xfrm>
              <a:off x="7620000" y="2286000"/>
              <a:ext cx="4078316" cy="2667000"/>
              <a:chOff x="7620000" y="2286000"/>
              <a:chExt cx="4078316" cy="26670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620000" y="2286000"/>
                <a:ext cx="3619500" cy="2667000"/>
              </a:xfrm>
              <a:prstGeom prst="ellipse">
                <a:avLst/>
              </a:prstGeom>
              <a:solidFill>
                <a:srgbClr val="EFF6FF"/>
              </a:solidFill>
              <a:ln w="28575">
                <a:solidFill>
                  <a:srgbClr val="2563E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751058" y="2693670"/>
                <a:ext cx="94725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40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Tập B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8048625" y="3000375"/>
                <a:ext cx="2000250" cy="1428750"/>
              </a:xfrm>
              <a:prstGeom prst="ellipse">
                <a:avLst/>
              </a:prstGeom>
              <a:solidFill>
                <a:srgbClr val="DBEAFE"/>
              </a:solidFill>
              <a:ln w="28575">
                <a:solidFill>
                  <a:srgbClr val="1D4ED8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575121" y="3503295"/>
                <a:ext cx="94725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40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Tập A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653127" y="3916680"/>
                <a:ext cx="7912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10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A ⊂ B</a:t>
                </a:r>
              </a:p>
            </p:txBody>
          </p:sp>
        </p:grpSp>
        <p:sp>
          <p:nvSpPr>
            <p:cNvPr id="28" name="Rectangle 28"/>
            <p:cNvSpPr/>
            <p:nvPr/>
          </p:nvSpPr>
          <p:spPr>
            <a:xfrm>
              <a:off x="7429500" y="5334000"/>
              <a:ext cx="4000500" cy="809625"/>
            </a:xfrm>
            <a:prstGeom prst="roundRect">
              <a:avLst>
                <a:gd name="adj" fmla="val 14118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62572" y="5602605"/>
              <a:ext cx="3334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Hình A nằm trọn trong B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8334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3. CÁC TẬP HỢP SỐ VÀ CHUỖI BAO HÀM</a:t>
              </a:r>
            </a:p>
          </p:txBody>
        </p:sp>
      </p:grpSp>
      <p:grpSp>
        <p:nvGrpSpPr>
          <p:cNvPr id="26" name="content"/>
          <p:cNvGrpSpPr/>
          <p:nvPr/>
        </p:nvGrpSpPr>
        <p:grpSpPr>
          <a:xfrm>
            <a:off x="476250" y="1190625"/>
            <a:ext cx="11725561" cy="5191125"/>
            <a:chOff x="476250" y="1190625"/>
            <a:chExt cx="11725561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904875"/>
            </a:xfrm>
            <a:prstGeom prst="roundRect">
              <a:avLst>
                <a:gd name="adj" fmla="val 18947"/>
              </a:avLst>
            </a:prstGeom>
            <a:solidFill>
              <a:srgbClr val="EFF6FF"/>
            </a:solidFill>
            <a:ln w="23812">
              <a:solidFill>
                <a:srgbClr val="2563E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03868" y="1438275"/>
              <a:ext cx="31842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30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ℕ* ⊂ ℕ ⊂ ℤ ⊂ ℚ ⊂ ℝ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76250" y="2333625"/>
              <a:ext cx="11239500" cy="4048125"/>
            </a:xfrm>
            <a:prstGeom prst="roundRect">
              <a:avLst>
                <a:gd name="adj" fmla="val 4235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98195" y="2709862"/>
              <a:ext cx="11403616" cy="3570161"/>
              <a:chOff x="798195" y="2709862"/>
              <a:chExt cx="11403616" cy="3570161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98195" y="2709862"/>
                <a:ext cx="238314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1. Số tự nhiên ℕ: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846957" y="2726055"/>
                <a:ext cx="479447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ℕ = {0; 1; 2; 3; ...} và ℕ* = {1; 2; 3; ...}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809625" y="3286125"/>
                <a:ext cx="10572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72750" h="9525">
                    <a:moveTo>
                      <a:pt x="0" y="0"/>
                    </a:moveTo>
                    <a:lnTo>
                      <a:pt x="1057275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98195" y="3519488"/>
                <a:ext cx="228358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2. Số nguyên ℤ: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846957" y="3535680"/>
                <a:ext cx="589398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ℤ = {...; -2; -1; 0; 1; 2; ...} (gồm âm, 0, dương)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809625" y="4095750"/>
                <a:ext cx="10572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72750" h="9525">
                    <a:moveTo>
                      <a:pt x="0" y="0"/>
                    </a:moveTo>
                    <a:lnTo>
                      <a:pt x="1057275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98195" y="4329112"/>
                <a:ext cx="2031018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3. Số hữu tỉ ℚ: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846957" y="4345305"/>
                <a:ext cx="835485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ℚ = {a/b | a, b ∈ ℤ, b ≠ 0} (thập phân hữu hạn/vô hạn tuần hoàn)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809625" y="4905375"/>
                <a:ext cx="10572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72750" h="9525">
                    <a:moveTo>
                      <a:pt x="0" y="0"/>
                    </a:moveTo>
                    <a:lnTo>
                      <a:pt x="1057275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98195" y="5138738"/>
                <a:ext cx="184713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047857"/>
                    </a:solidFill>
                    <a:latin typeface="+mn-lt"/>
                    <a:ea typeface="+mn-ea"/>
                    <a:cs typeface="+mn-cs"/>
                  </a:rPr>
                  <a:t>4. Số thực ℝ: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846957" y="5154930"/>
                <a:ext cx="626192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ℝ gồm số hữu tỉ ℚ và số vô tỉ 𝕀 (như √2, √3, π...)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809625" y="5762625"/>
                <a:ext cx="1057275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F0FDF4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894852" y="5869305"/>
                <a:ext cx="84022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100" b="1" dirty="0">
                    <a:solidFill>
                      <a:srgbClr val="047857"/>
                    </a:solidFill>
                    <a:latin typeface="+mn-lt"/>
                    <a:ea typeface="+mn-ea"/>
                    <a:cs typeface="+mn-cs"/>
                  </a:rPr>
                  <a:t>Mỗi số thực được biểu diễn bởi duy nhất một điểm trên trục số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5750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4. CÁC TẬP CON THƯỜNG DÙNG CỦA ℝ</a:t>
              </a:r>
            </a:p>
          </p:txBody>
        </p:sp>
      </p:grpSp>
      <p:grpSp>
        <p:nvGrpSpPr>
          <p:cNvPr id="35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18038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ĐOẠN [a; b]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8957" y="1821180"/>
              <a:ext cx="6370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[a; b] = {x ∈ ℝ | a ≤ x ≤ b} (Lấy cả hai mút a và b)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096250" y="1518285"/>
              <a:ext cx="2857500" cy="761238"/>
              <a:chOff x="8096250" y="1518285"/>
              <a:chExt cx="2857500" cy="761238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8096250" y="17145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28575">
                <a:solidFill>
                  <a:srgbClr val="64748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654034" y="1518285"/>
                <a:ext cx="14846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700" b="1" dirty="0">
                    <a:solidFill>
                      <a:srgbClr val="2563EB"/>
                    </a:solidFill>
                    <a:latin typeface="+mn-lt"/>
                    <a:ea typeface="+mn-ea"/>
                    <a:cs typeface="+mn-cs"/>
                  </a:rPr>
                  <a:t>[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657082" y="1868805"/>
                <a:ext cx="17857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8810625" y="1714500"/>
                <a:ext cx="1238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9525">
                    <a:moveTo>
                      <a:pt x="0" y="0"/>
                    </a:moveTo>
                    <a:lnTo>
                      <a:pt x="1238250" y="0"/>
                    </a:lnTo>
                  </a:path>
                </a:pathLst>
              </a:custGeom>
              <a:noFill/>
              <a:ln w="57150">
                <a:solidFill>
                  <a:srgbClr val="2563EB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082784" y="1518285"/>
                <a:ext cx="14846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700" b="1" dirty="0">
                    <a:solidFill>
                      <a:srgbClr val="2563EB"/>
                    </a:solidFill>
                    <a:latin typeface="+mn-lt"/>
                    <a:ea typeface="+mn-ea"/>
                    <a:cs typeface="+mn-cs"/>
                  </a:rPr>
                  <a:t>]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085832" y="1868805"/>
                <a:ext cx="19401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</p:grpSp>
        <p:sp>
          <p:nvSpPr>
            <p:cNvPr id="19" name="Rectangle 19"/>
            <p:cNvSpPr/>
            <p:nvPr/>
          </p:nvSpPr>
          <p:spPr>
            <a:xfrm>
              <a:off x="476250" y="2524125"/>
              <a:ext cx="112395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8195" y="2757488"/>
              <a:ext cx="228555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KHOẢNG (a; b)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8957" y="3154680"/>
              <a:ext cx="65621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(a; b) = {x ∈ ℝ | a &lt; x &lt; b} (Không lấy hai mút a, b)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8096250" y="2851785"/>
              <a:ext cx="2857500" cy="761238"/>
              <a:chOff x="8096250" y="2851785"/>
              <a:chExt cx="2857500" cy="761238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8096250" y="304800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28575">
                <a:solidFill>
                  <a:srgbClr val="64748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654034" y="2851785"/>
                <a:ext cx="14846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70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(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657082" y="3202305"/>
                <a:ext cx="17857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8810625" y="3048000"/>
                <a:ext cx="1238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9525">
                    <a:moveTo>
                      <a:pt x="0" y="0"/>
                    </a:moveTo>
                    <a:lnTo>
                      <a:pt x="1238250" y="0"/>
                    </a:lnTo>
                  </a:path>
                </a:pathLst>
              </a:custGeom>
              <a:noFill/>
              <a:ln w="57150">
                <a:solidFill>
                  <a:srgbClr val="059669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082784" y="2851785"/>
                <a:ext cx="14846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70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)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085832" y="3202305"/>
                <a:ext cx="19401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</p:grpSp>
        <p:sp>
          <p:nvSpPr>
            <p:cNvPr id="29" name="Rectangle 29"/>
            <p:cNvSpPr/>
            <p:nvPr/>
          </p:nvSpPr>
          <p:spPr>
            <a:xfrm>
              <a:off x="476250" y="3857625"/>
              <a:ext cx="11239500" cy="1285875"/>
            </a:xfrm>
            <a:prstGeom prst="roundRect">
              <a:avLst>
                <a:gd name="adj" fmla="val 11852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8195" y="4090988"/>
              <a:ext cx="644816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NỬA KHOẢNG [a; b) VÀ KHOẢNG VÔ CỰC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8957" y="4535805"/>
              <a:ext cx="65972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[a; b) = {x ∈ ℝ | a ≤ x &lt; b} | (a; +∞) = {x ∈ ℝ | x &gt; a}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76250" y="5334000"/>
              <a:ext cx="11239500" cy="1047750"/>
            </a:xfrm>
            <a:prstGeom prst="roundRect">
              <a:avLst>
                <a:gd name="adj" fmla="val 14545"/>
              </a:avLst>
            </a:prstGeom>
            <a:solidFill>
              <a:srgbClr val="EFF6FF"/>
            </a:solidFill>
            <a:ln w="19050">
              <a:solidFill>
                <a:srgbClr val="BFDBF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8957" y="5535930"/>
              <a:ext cx="56452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📌 QUY TẮC SƯ PHẠM TRÊN TRỤC SỐ: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8957" y="5916930"/>
              <a:ext cx="107663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Lấy mút: dùng ngoặc vuông [ ]. Bỏ mút: dùng ngoặc tròn ( ). Gạch bỏ ngoài tập.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4922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5. PHÉP TOÁN TẬP HỢP: GIAO VÀ HỢP</a:t>
              </a:r>
            </a:p>
          </p:txBody>
        </p:sp>
      </p:grpSp>
      <p:grpSp>
        <p:nvGrpSpPr>
          <p:cNvPr id="36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54292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33370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A. PHÉP GIAO (A ∩ B)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8957" y="1964055"/>
              <a:ext cx="34339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Lấy các phần tử CHUNG: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8195" y="2376488"/>
              <a:ext cx="400061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A ∩ B = {x | x ∈ A VÀ x ∈ B}</a:t>
              </a:r>
            </a:p>
          </p:txBody>
        </p:sp>
        <p:grpSp>
          <p:nvGrpSpPr>
            <p:cNvPr id="19" name="venn-inter"/>
            <p:cNvGrpSpPr/>
            <p:nvPr/>
          </p:nvGrpSpPr>
          <p:grpSpPr>
            <a:xfrm>
              <a:off x="1666875" y="3095625"/>
              <a:ext cx="2381250" cy="1428750"/>
              <a:chOff x="1666875" y="3095625"/>
              <a:chExt cx="2381250" cy="142875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666875" y="3095625"/>
                <a:ext cx="1428750" cy="1428750"/>
              </a:xfrm>
              <a:prstGeom prst="ellipse">
                <a:avLst/>
              </a:prstGeom>
              <a:solidFill>
                <a:srgbClr val="DBEAFE"/>
              </a:solidFill>
              <a:ln w="28575">
                <a:solidFill>
                  <a:srgbClr val="2563EB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2619375" y="3095625"/>
                <a:ext cx="1428750" cy="1428750"/>
              </a:xfrm>
              <a:prstGeom prst="ellipse">
                <a:avLst/>
              </a:prstGeom>
              <a:solidFill>
                <a:srgbClr val="DBEAFE"/>
              </a:solidFill>
              <a:ln w="28575">
                <a:solidFill>
                  <a:srgbClr val="2563E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571750" y="3238500"/>
                <a:ext cx="5715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1143000">
                    <a:moveTo>
                      <a:pt x="285750" y="0"/>
                    </a:moveTo>
                    <a:cubicBezTo>
                      <a:pt x="465634" y="134913"/>
                      <a:pt x="571500" y="346645"/>
                      <a:pt x="571500" y="571500"/>
                    </a:cubicBezTo>
                    <a:cubicBezTo>
                      <a:pt x="571500" y="796355"/>
                      <a:pt x="465634" y="1008087"/>
                      <a:pt x="285750" y="1143000"/>
                    </a:cubicBezTo>
                    <a:cubicBezTo>
                      <a:pt x="105866" y="1008087"/>
                      <a:pt x="0" y="796355"/>
                      <a:pt x="0" y="571500"/>
                    </a:cubicBezTo>
                    <a:cubicBezTo>
                      <a:pt x="0" y="346645"/>
                      <a:pt x="105866" y="134913"/>
                      <a:pt x="285750" y="0"/>
                    </a:cubicBezTo>
                    <a:close/>
                  </a:path>
                </a:pathLst>
              </a:cu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941195" y="3643312"/>
                <a:ext cx="253993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50945" y="3643312"/>
                <a:ext cx="253993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765202" y="3678555"/>
                <a:ext cx="1845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∩</a:t>
                </a:r>
              </a:p>
            </p:txBody>
          </p:sp>
        </p:grpSp>
        <p:sp>
          <p:nvSpPr>
            <p:cNvPr id="20" name="Rectangle 20"/>
            <p:cNvSpPr/>
            <p:nvPr/>
          </p:nvSpPr>
          <p:spPr>
            <a:xfrm>
              <a:off x="714375" y="4953000"/>
              <a:ext cx="4953000" cy="1190625"/>
            </a:xfrm>
            <a:prstGeom prst="roundRect">
              <a:avLst>
                <a:gd name="adj" fmla="val 112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4207" y="5154930"/>
              <a:ext cx="46256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Ví dụ: A = {1; 2; 3; 4}, B = {3; 4; 5}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3445" y="5614988"/>
              <a:ext cx="228682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∩ B = {3; 4}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86500" y="1190625"/>
              <a:ext cx="54292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08445" y="1423988"/>
              <a:ext cx="321273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B. PHÉP HỢP (A ∪ B)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09207" y="1964055"/>
              <a:ext cx="3052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GỘP TẤT CẢ phần tử: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08445" y="2376488"/>
              <a:ext cx="45042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A ∪ B = {x | x ∈ A HOẶC x ∈ B}</a:t>
              </a:r>
            </a:p>
          </p:txBody>
        </p:sp>
        <p:grpSp>
          <p:nvGrpSpPr>
            <p:cNvPr id="32" name="venn-union"/>
            <p:cNvGrpSpPr/>
            <p:nvPr/>
          </p:nvGrpSpPr>
          <p:grpSpPr>
            <a:xfrm>
              <a:off x="7477125" y="3095625"/>
              <a:ext cx="2381250" cy="1428750"/>
              <a:chOff x="7477125" y="3095625"/>
              <a:chExt cx="2381250" cy="142875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477125" y="3095625"/>
                <a:ext cx="1428750" cy="1428750"/>
              </a:xfrm>
              <a:prstGeom prst="ellipse">
                <a:avLst/>
              </a:prstGeom>
              <a:solidFill>
                <a:srgbClr val="D1FAE5"/>
              </a:solidFill>
              <a:ln w="28575">
                <a:solidFill>
                  <a:srgbClr val="059669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8429625" y="3095625"/>
                <a:ext cx="1428750" cy="1428750"/>
              </a:xfrm>
              <a:prstGeom prst="ellipse">
                <a:avLst/>
              </a:prstGeom>
              <a:solidFill>
                <a:srgbClr val="D1FAE5"/>
              </a:solidFill>
              <a:ln w="28575">
                <a:solidFill>
                  <a:srgbClr val="059669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751445" y="3643312"/>
                <a:ext cx="253993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561195" y="3643312"/>
                <a:ext cx="253993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575452" y="3678555"/>
                <a:ext cx="1845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1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∪</a:t>
                </a:r>
              </a:p>
            </p:txBody>
          </p:sp>
        </p:grpSp>
        <p:sp>
          <p:nvSpPr>
            <p:cNvPr id="33" name="Rectangle 33"/>
            <p:cNvSpPr/>
            <p:nvPr/>
          </p:nvSpPr>
          <p:spPr>
            <a:xfrm>
              <a:off x="6524625" y="4953000"/>
              <a:ext cx="4953000" cy="1190625"/>
            </a:xfrm>
            <a:prstGeom prst="roundRect">
              <a:avLst>
                <a:gd name="adj" fmla="val 112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4457" y="5154930"/>
              <a:ext cx="46256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Ví dụ: A = {1; 2; 3; 4}, B = {3; 4; 5}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03695" y="5614988"/>
              <a:ext cx="34072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∪ B = {1; 2; 3; 4; 5}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72509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6. PHÉP TOÁN TẬP HỢP: HIỆU VÀ PHẦN BÙ</a:t>
              </a:r>
            </a:p>
          </p:txBody>
        </p:sp>
      </p:grpSp>
      <p:grpSp>
        <p:nvGrpSpPr>
          <p:cNvPr id="34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54292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31879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A. PHÉP HIỆU (A \ B)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8957" y="1964055"/>
              <a:ext cx="45406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Thuộc A nhưng KHÔNG thuộc B: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8195" y="2376488"/>
              <a:ext cx="37733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A \ B = {x | x ∈ A và x ∉ B}</a:t>
              </a:r>
            </a:p>
          </p:txBody>
        </p:sp>
        <p:grpSp>
          <p:nvGrpSpPr>
            <p:cNvPr id="17" name="venn-diff"/>
            <p:cNvGrpSpPr/>
            <p:nvPr/>
          </p:nvGrpSpPr>
          <p:grpSpPr>
            <a:xfrm>
              <a:off x="1666875" y="3095625"/>
              <a:ext cx="2381250" cy="1428750"/>
              <a:chOff x="1666875" y="3095625"/>
              <a:chExt cx="2381250" cy="142875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666875" y="3095625"/>
                <a:ext cx="1428750" cy="1428750"/>
              </a:xfrm>
              <a:prstGeom prst="ellipse">
                <a:avLst/>
              </a:prstGeom>
              <a:solidFill>
                <a:srgbClr val="DBEAFE"/>
              </a:solidFill>
              <a:ln w="28575">
                <a:solidFill>
                  <a:srgbClr val="2563EB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2619375" y="3095625"/>
                <a:ext cx="1428750" cy="1428750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rgbClr val="64748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037207" y="3659505"/>
                <a:ext cx="70172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A \ B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750945" y="3643312"/>
                <a:ext cx="253993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</p:grpSp>
        <p:sp>
          <p:nvSpPr>
            <p:cNvPr id="18" name="Rectangle 18"/>
            <p:cNvSpPr/>
            <p:nvPr/>
          </p:nvSpPr>
          <p:spPr>
            <a:xfrm>
              <a:off x="714375" y="4953000"/>
              <a:ext cx="4953000" cy="1190625"/>
            </a:xfrm>
            <a:prstGeom prst="roundRect">
              <a:avLst>
                <a:gd name="adj" fmla="val 112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4207" y="5154930"/>
              <a:ext cx="46256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Ví dụ: A = {1; 2; 3; 4}, B = {3; 4; 5}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3445" y="5614988"/>
              <a:ext cx="219090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⇒ A \ B = {1; 2}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1190625"/>
              <a:ext cx="54292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08445" y="1423988"/>
              <a:ext cx="3134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B. PHẦN BÙ (C_E A)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09207" y="1964055"/>
              <a:ext cx="412779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Khi A là tập con của E (A ⊂ E):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08445" y="2376488"/>
              <a:ext cx="49474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C_E A = E \ A (Bù phần còn thiếu)</a:t>
              </a:r>
            </a:p>
          </p:txBody>
        </p:sp>
        <p:grpSp>
          <p:nvGrpSpPr>
            <p:cNvPr id="30" name="venn-comp"/>
            <p:cNvGrpSpPr/>
            <p:nvPr/>
          </p:nvGrpSpPr>
          <p:grpSpPr>
            <a:xfrm>
              <a:off x="7143750" y="3048000"/>
              <a:ext cx="3652721" cy="1524000"/>
              <a:chOff x="7143750" y="3048000"/>
              <a:chExt cx="3652721" cy="1524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143750" y="3048000"/>
                <a:ext cx="3429000" cy="1524000"/>
              </a:xfrm>
              <a:prstGeom prst="roundRect">
                <a:avLst>
                  <a:gd name="adj" fmla="val 10000"/>
                </a:avLst>
              </a:prstGeom>
              <a:solidFill>
                <a:srgbClr val="FEF3C7"/>
              </a:solidFill>
              <a:ln w="28575">
                <a:solidFill>
                  <a:srgbClr val="D97706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8001000" y="3333750"/>
                <a:ext cx="1714500" cy="952500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rgbClr val="0F172A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418832" y="3202305"/>
                <a:ext cx="22057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39720" y="3659505"/>
                <a:ext cx="23706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895332" y="4107180"/>
                <a:ext cx="90113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C_E A</a:t>
                </a:r>
              </a:p>
            </p:txBody>
          </p:sp>
        </p:grpSp>
        <p:sp>
          <p:nvSpPr>
            <p:cNvPr id="31" name="Rectangle 31"/>
            <p:cNvSpPr/>
            <p:nvPr/>
          </p:nvSpPr>
          <p:spPr>
            <a:xfrm>
              <a:off x="6524625" y="4953000"/>
              <a:ext cx="4953000" cy="1190625"/>
            </a:xfrm>
            <a:prstGeom prst="roundRect">
              <a:avLst>
                <a:gd name="adj" fmla="val 11200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04457" y="5154930"/>
              <a:ext cx="4068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Ví dụ: C_ℝ [0; +∞) = ℝ \ [0; +∞)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3695" y="5614988"/>
              <a:ext cx="326723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⇒ C_ℝ [0; +∞) = (-∞; 0)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00254" y="238125"/>
            <a:ext cx="11315496" cy="714375"/>
            <a:chOff x="400254" y="238125"/>
            <a:chExt cx="11315496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00254" y="459105"/>
              <a:ext cx="17140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LUYỆN TẬP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5960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BÀI TẬP VẬN DỤNG TRÊN TRỤC SỐ</a:t>
              </a:r>
            </a:p>
          </p:txBody>
        </p:sp>
      </p:grpSp>
      <p:grpSp>
        <p:nvGrpSpPr>
          <p:cNvPr id="24" name="exercise-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5191125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28575">
              <a:solidFill>
                <a:srgbClr val="3B82F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1476375"/>
              <a:ext cx="10668000" cy="1381125"/>
            </a:xfrm>
            <a:prstGeom prst="roundRect">
              <a:avLst>
                <a:gd name="adj" fmla="val 9655"/>
              </a:avLst>
            </a:prstGeom>
            <a:solidFill>
              <a:srgbClr val="EFF6FF"/>
            </a:solidFill>
            <a:ln w="19050">
              <a:solidFill>
                <a:srgbClr val="BFDBF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5558" y="1693545"/>
              <a:ext cx="676863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ĐỀ BÀI: Cho hai tập hợp con của số thực ℝ: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4796" y="2201228"/>
              <a:ext cx="37334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 = [-2; 3) và B = (1; 5]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762000" y="3095625"/>
              <a:ext cx="10668000" cy="2047875"/>
              <a:chOff x="762000" y="3095625"/>
              <a:chExt cx="10668000" cy="204787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3095625"/>
                <a:ext cx="5191125" cy="904875"/>
              </a:xfrm>
              <a:prstGeom prst="roundRect">
                <a:avLst>
                  <a:gd name="adj" fmla="val 14737"/>
                </a:avLst>
              </a:prstGeom>
              <a:solidFill>
                <a:srgbClr val="F8FAFC"/>
              </a:solidFill>
              <a:ln w="14288">
                <a:solidFill>
                  <a:srgbClr val="CBD5E1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35558" y="3388995"/>
                <a:ext cx="324297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400" b="1" dirty="0">
                    <a:solidFill>
                      <a:srgbClr val="1D4ED8"/>
                    </a:solidFill>
                    <a:latin typeface="+mn-lt"/>
                    <a:ea typeface="+mn-ea"/>
                    <a:cs typeface="+mn-cs"/>
                  </a:rPr>
                  <a:t>Câu a) Tìm A ∩ B = ?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6238875" y="3095625"/>
                <a:ext cx="5191125" cy="904875"/>
              </a:xfrm>
              <a:prstGeom prst="roundRect">
                <a:avLst>
                  <a:gd name="adj" fmla="val 14737"/>
                </a:avLst>
              </a:prstGeom>
              <a:solidFill>
                <a:srgbClr val="F8FAFC"/>
              </a:solidFill>
              <a:ln w="14288">
                <a:solidFill>
                  <a:srgbClr val="CBD5E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512433" y="3388995"/>
                <a:ext cx="326106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400" b="1" dirty="0">
                    <a:solidFill>
                      <a:srgbClr val="047857"/>
                    </a:solidFill>
                    <a:latin typeface="+mn-lt"/>
                    <a:ea typeface="+mn-ea"/>
                    <a:cs typeface="+mn-cs"/>
                  </a:rPr>
                  <a:t>Câu b) Tìm A ∪ B = ?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4238625"/>
                <a:ext cx="5191125" cy="904875"/>
              </a:xfrm>
              <a:prstGeom prst="roundRect">
                <a:avLst>
                  <a:gd name="adj" fmla="val 14737"/>
                </a:avLst>
              </a:prstGeom>
              <a:solidFill>
                <a:srgbClr val="F8FAFC"/>
              </a:solidFill>
              <a:ln w="14288">
                <a:solidFill>
                  <a:srgbClr val="CBD5E1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35558" y="4531995"/>
                <a:ext cx="314371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400" b="1" dirty="0">
                    <a:solidFill>
                      <a:srgbClr val="D97706"/>
                    </a:solidFill>
                    <a:latin typeface="+mn-lt"/>
                    <a:ea typeface="+mn-ea"/>
                    <a:cs typeface="+mn-cs"/>
                  </a:rPr>
                  <a:t>Câu c) Tìm A \ B = ?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6238875" y="4238625"/>
                <a:ext cx="5191125" cy="904875"/>
              </a:xfrm>
              <a:prstGeom prst="roundRect">
                <a:avLst>
                  <a:gd name="adj" fmla="val 14737"/>
                </a:avLst>
              </a:prstGeom>
              <a:solidFill>
                <a:srgbClr val="F8FAFC"/>
              </a:solidFill>
              <a:ln w="14288">
                <a:solidFill>
                  <a:srgbClr val="CBD5E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512433" y="4531995"/>
                <a:ext cx="335327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400" b="1" dirty="0">
                    <a:solidFill>
                      <a:srgbClr val="7C3AED"/>
                    </a:solidFill>
                    <a:latin typeface="+mn-lt"/>
                    <a:ea typeface="+mn-ea"/>
                    <a:cs typeface="+mn-cs"/>
                  </a:rPr>
                  <a:t>Câu d) Tìm C_ℝ A = ?</a:t>
                </a:r>
              </a:p>
            </p:txBody>
          </p:sp>
        </p:grpSp>
        <p:sp>
          <p:nvSpPr>
            <p:cNvPr id="22" name="Rectangle 22"/>
            <p:cNvSpPr/>
            <p:nvPr/>
          </p:nvSpPr>
          <p:spPr>
            <a:xfrm>
              <a:off x="762000" y="5429250"/>
              <a:ext cx="10668000" cy="714375"/>
            </a:xfrm>
            <a:prstGeom prst="roundRect">
              <a:avLst>
                <a:gd name="adj" fmla="val 18667"/>
              </a:avLst>
            </a:prstGeom>
            <a:solidFill>
              <a:srgbClr val="FEF2F2"/>
            </a:solidFill>
            <a:ln w="19050">
              <a:solidFill>
                <a:srgbClr val="FECAC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69263" y="5643562"/>
              <a:ext cx="86534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250" b="1" dirty="0">
                  <a:solidFill>
                    <a:srgbClr val="991B1B"/>
                  </a:solidFill>
                  <a:latin typeface="+mn-lt"/>
                  <a:ea typeface="+mn-ea"/>
                  <a:cs typeface="+mn-cs"/>
                </a:rPr>
                <a:t>⏱ CẢ LỚP LÀM VÀO VỞ TRONG 5 PHÚT — VẼ TRỤC SỐ!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49254" y="459105"/>
              <a:ext cx="12160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LỜI GIẢI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302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HƯỚNG DẪN GIẢI BÀI TẬP VẬN DỤNG</a:t>
              </a:r>
            </a:p>
          </p:txBody>
        </p:sp>
      </p:grpSp>
      <p:grpSp>
        <p:nvGrpSpPr>
          <p:cNvPr id="41" name="solution-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11239500" cy="5191125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28575">
              <a:solidFill>
                <a:srgbClr val="10B981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62000" y="1428750"/>
              <a:ext cx="10668000" cy="1136523"/>
              <a:chOff x="762000" y="1428750"/>
              <a:chExt cx="10668000" cy="1136523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762000" y="1428750"/>
                <a:ext cx="10668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8FAFC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36320" y="1643062"/>
                <a:ext cx="289791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1D4ED8"/>
                    </a:solidFill>
                    <a:latin typeface="+mn-lt"/>
                    <a:ea typeface="+mn-ea"/>
                    <a:cs typeface="+mn-cs"/>
                  </a:rPr>
                  <a:t>a) Phép Giao A ∩ B: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35558" y="2026920"/>
                <a:ext cx="240090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400" b="1" dirty="0">
                    <a:solidFill>
                      <a:srgbClr val="166534"/>
                    </a:solidFill>
                    <a:latin typeface="+mn-lt"/>
                    <a:ea typeface="+mn-ea"/>
                    <a:cs typeface="+mn-cs"/>
                  </a:rPr>
                  <a:t>⇒ A ∩ B = (1; 3)</a:t>
                </a:r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7239000" y="1804035"/>
                <a:ext cx="3619500" cy="761238"/>
                <a:chOff x="7239000" y="1804035"/>
                <a:chExt cx="3619500" cy="761238"/>
              </a:xfrm>
            </p:grpSpPr>
            <p:sp>
              <p:nvSpPr>
                <p:cNvPr id="13" name="Line 13"/>
                <p:cNvSpPr/>
                <p:nvPr/>
              </p:nvSpPr>
              <p:spPr>
                <a:xfrm>
                  <a:off x="7239000" y="2000250"/>
                  <a:ext cx="3619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9500" h="9525">
                      <a:moveTo>
                        <a:pt x="0" y="0"/>
                      </a:moveTo>
                      <a:lnTo>
                        <a:pt x="3619500" y="0"/>
                      </a:lnTo>
                    </a:path>
                  </a:pathLst>
                </a:custGeom>
                <a:noFill/>
                <a:ln w="28575">
                  <a:solidFill>
                    <a:srgbClr val="94A3B8"/>
                  </a:solidFill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892034" y="1804035"/>
                  <a:ext cx="148469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70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(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895082" y="2154555"/>
                  <a:ext cx="178575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6" name="Line 16"/>
                <p:cNvSpPr/>
                <p:nvPr/>
              </p:nvSpPr>
              <p:spPr>
                <a:xfrm>
                  <a:off x="8096250" y="2000250"/>
                  <a:ext cx="1333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0" h="9525">
                      <a:moveTo>
                        <a:pt x="0" y="0"/>
                      </a:moveTo>
                      <a:lnTo>
                        <a:pt x="1333500" y="0"/>
                      </a:lnTo>
                    </a:path>
                  </a:pathLst>
                </a:custGeom>
                <a:noFill/>
                <a:ln w="57150">
                  <a:solidFill>
                    <a:srgbClr val="1D4ED8"/>
                  </a:solidFill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9511284" y="1804035"/>
                  <a:ext cx="148469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700" b="1" dirty="0">
                      <a:solidFill>
                        <a:srgbClr val="1D4ED8"/>
                      </a:solidFill>
                      <a:latin typeface="+mn-lt"/>
                      <a:ea typeface="+mn-ea"/>
                      <a:cs typeface="+mn-cs"/>
                    </a:rPr>
                    <a:t>)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9514332" y="2154555"/>
                  <a:ext cx="178575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</p:grpSp>
        <p:grpSp>
          <p:nvGrpSpPr>
            <p:cNvPr id="31" name="Group 31"/>
            <p:cNvGrpSpPr/>
            <p:nvPr/>
          </p:nvGrpSpPr>
          <p:grpSpPr>
            <a:xfrm>
              <a:off x="762000" y="2619375"/>
              <a:ext cx="10668000" cy="1136523"/>
              <a:chOff x="762000" y="2619375"/>
              <a:chExt cx="10668000" cy="1136523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62000" y="2619375"/>
                <a:ext cx="10668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8FAFC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36320" y="2833688"/>
                <a:ext cx="2834271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047857"/>
                    </a:solidFill>
                    <a:latin typeface="+mn-lt"/>
                    <a:ea typeface="+mn-ea"/>
                    <a:cs typeface="+mn-cs"/>
                  </a:rPr>
                  <a:t>b) Phép Hợp A ∪ B: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35558" y="3217545"/>
                <a:ext cx="251458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400" b="1" dirty="0">
                    <a:solidFill>
                      <a:srgbClr val="166534"/>
                    </a:solidFill>
                    <a:latin typeface="+mn-lt"/>
                    <a:ea typeface="+mn-ea"/>
                    <a:cs typeface="+mn-cs"/>
                  </a:rPr>
                  <a:t>⇒ A ∪ B = [-2; 5]</a:t>
                </a:r>
              </a:p>
            </p:txBody>
          </p:sp>
          <p:grpSp>
            <p:nvGrpSpPr>
              <p:cNvPr id="30" name="Group 30"/>
              <p:cNvGrpSpPr/>
              <p:nvPr/>
            </p:nvGrpSpPr>
            <p:grpSpPr>
              <a:xfrm>
                <a:off x="7239000" y="2994660"/>
                <a:ext cx="3619500" cy="761238"/>
                <a:chOff x="7239000" y="2994660"/>
                <a:chExt cx="3619500" cy="761238"/>
              </a:xfrm>
            </p:grpSpPr>
            <p:sp>
              <p:nvSpPr>
                <p:cNvPr id="24" name="Line 24"/>
                <p:cNvSpPr/>
                <p:nvPr/>
              </p:nvSpPr>
              <p:spPr>
                <a:xfrm>
                  <a:off x="7239000" y="3190875"/>
                  <a:ext cx="3619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9500" h="9525">
                      <a:moveTo>
                        <a:pt x="0" y="0"/>
                      </a:moveTo>
                      <a:lnTo>
                        <a:pt x="3619500" y="0"/>
                      </a:lnTo>
                    </a:path>
                  </a:pathLst>
                </a:custGeom>
                <a:noFill/>
                <a:ln w="28575">
                  <a:solidFill>
                    <a:srgbClr val="94A3B8"/>
                  </a:solidFill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606284" y="2994660"/>
                  <a:ext cx="148469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700" b="1" dirty="0">
                      <a:solidFill>
                        <a:srgbClr val="059669"/>
                      </a:solidFill>
                      <a:latin typeface="+mn-lt"/>
                      <a:ea typeface="+mn-ea"/>
                      <a:cs typeface="+mn-cs"/>
                    </a:rPr>
                    <a:t>[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7609332" y="3345180"/>
                  <a:ext cx="272715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-2</a:t>
                  </a:r>
                </a:p>
              </p:txBody>
            </p:sp>
            <p:sp>
              <p:nvSpPr>
                <p:cNvPr id="27" name="Line 27"/>
                <p:cNvSpPr/>
                <p:nvPr/>
              </p:nvSpPr>
              <p:spPr>
                <a:xfrm>
                  <a:off x="7810500" y="3190875"/>
                  <a:ext cx="2190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50" h="9525">
                      <a:moveTo>
                        <a:pt x="0" y="0"/>
                      </a:moveTo>
                      <a:lnTo>
                        <a:pt x="2190750" y="0"/>
                      </a:lnTo>
                    </a:path>
                  </a:pathLst>
                </a:custGeom>
                <a:noFill/>
                <a:ln w="57150">
                  <a:solidFill>
                    <a:srgbClr val="059669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0082784" y="2994660"/>
                  <a:ext cx="148469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700" b="1" dirty="0">
                      <a:solidFill>
                        <a:srgbClr val="059669"/>
                      </a:solidFill>
                      <a:latin typeface="+mn-lt"/>
                      <a:ea typeface="+mn-ea"/>
                      <a:cs typeface="+mn-cs"/>
                    </a:rPr>
                    <a:t>]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10085832" y="3345180"/>
                  <a:ext cx="178575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vi-VN" sz="2100" b="1" dirty="0">
                      <a:solidFill>
                        <a:srgbClr val="0F172A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</a:p>
              </p:txBody>
            </p:sp>
          </p:grpSp>
        </p:grpSp>
        <p:grpSp>
          <p:nvGrpSpPr>
            <p:cNvPr id="37" name="Group 37"/>
            <p:cNvGrpSpPr/>
            <p:nvPr/>
          </p:nvGrpSpPr>
          <p:grpSpPr>
            <a:xfrm>
              <a:off x="762000" y="3810000"/>
              <a:ext cx="10668000" cy="1095375"/>
              <a:chOff x="762000" y="3810000"/>
              <a:chExt cx="10668000" cy="1095375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762000" y="3810000"/>
                <a:ext cx="10668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F8FAFC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36320" y="4024312"/>
                <a:ext cx="278808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D97706"/>
                    </a:solidFill>
                    <a:latin typeface="+mn-lt"/>
                    <a:ea typeface="+mn-ea"/>
                    <a:cs typeface="+mn-cs"/>
                  </a:rPr>
                  <a:t>c) Phép Hiệu A \ B: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35558" y="4427220"/>
                <a:ext cx="241227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4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⇒ A \ B = [-2; 1]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084570" y="4024312"/>
                <a:ext cx="268693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250" b="1" dirty="0">
                    <a:solidFill>
                      <a:srgbClr val="7C3AED"/>
                    </a:solidFill>
                    <a:latin typeface="+mn-lt"/>
                    <a:ea typeface="+mn-ea"/>
                    <a:cs typeface="+mn-cs"/>
                  </a:rPr>
                  <a:t>d) Phần bù C_ℝ A: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083808" y="4427220"/>
                <a:ext cx="271577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400" b="1" dirty="0">
                    <a:solidFill>
                      <a:srgbClr val="6B21A8"/>
                    </a:solidFill>
                    <a:latin typeface="+mn-lt"/>
                    <a:ea typeface="+mn-ea"/>
                    <a:cs typeface="+mn-cs"/>
                  </a:rPr>
                  <a:t>⇒ (-∞; -2) ∪ [3; +∞)</a:t>
                </a:r>
              </a:p>
            </p:txBody>
          </p:sp>
        </p:grpSp>
        <p:sp>
          <p:nvSpPr>
            <p:cNvPr id="38" name="Rectangle 38"/>
            <p:cNvSpPr/>
            <p:nvPr/>
          </p:nvSpPr>
          <p:spPr>
            <a:xfrm>
              <a:off x="762000" y="5095875"/>
              <a:ext cx="10668000" cy="1047750"/>
            </a:xfrm>
            <a:prstGeom prst="roundRect">
              <a:avLst>
                <a:gd name="adj" fmla="val 12727"/>
              </a:avLst>
            </a:prstGeom>
            <a:solidFill>
              <a:srgbClr val="EFF6FF"/>
            </a:solidFill>
            <a:ln w="19050">
              <a:solidFill>
                <a:srgbClr val="BFDBF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7082" y="5250180"/>
              <a:ext cx="50825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LƯU Ý QUAN TRỌNG VỀ ĐẦU MÚT: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7082" y="5678805"/>
              <a:ext cx="9398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Điểm 1 không thuộc B nên điểm 1 thuộc A \ B (lấy ngoặc vuông tại 1).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6250" y="238125"/>
            <a:ext cx="11239500" cy="714375"/>
            <a:chOff x="476250" y="238125"/>
            <a:chExt cx="1123950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858" y="459105"/>
              <a:ext cx="7848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68137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ỨNG DỤNG THỰC TẾ &amp; CÔNG THỨC ĐẾM</a:t>
              </a:r>
            </a:p>
          </p:txBody>
        </p:sp>
      </p:grpSp>
      <p:grpSp>
        <p:nvGrpSpPr>
          <p:cNvPr id="34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63817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525020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BÀI TOÁN THỂ THAO (SGK TR.18)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8957" y="1964055"/>
              <a:ext cx="48206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Lớp 10A có 24 bạn thi đấu thể thao: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8957" y="2392680"/>
              <a:ext cx="50084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1E40AF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Bóng đá: 16 bạn | Cầu lông: 11 bạn.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8195" y="2852738"/>
              <a:ext cx="5297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B91C1C"/>
                  </a:solidFill>
                  <a:latin typeface="+mn-lt"/>
                  <a:ea typeface="+mn-ea"/>
                  <a:cs typeface="+mn-cs"/>
                </a:rPr>
                <a:t>Hỏi: Có bao nhiêu bạn thi cả 2 môn?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09625" y="3429000"/>
              <a:ext cx="5667375" cy="9525"/>
            </a:xfrm>
            <a:custGeom>
              <a:avLst/>
              <a:gdLst/>
              <a:ahLst/>
              <a:cxnLst/>
              <a:rect l="l" t="t" r="r" b="b"/>
              <a:pathLst>
                <a:path w="5667375" h="9525">
                  <a:moveTo>
                    <a:pt x="0" y="0"/>
                  </a:moveTo>
                  <a:lnTo>
                    <a:pt x="56673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8195" y="3662362"/>
              <a:ext cx="55699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CÔNG THỨC LỰC LƯỢNG TẬP HỢP: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4143375"/>
              <a:ext cx="5715000" cy="809625"/>
            </a:xfrm>
            <a:prstGeom prst="roundRect">
              <a:avLst>
                <a:gd name="adj" fmla="val 16471"/>
              </a:avLst>
            </a:prstGeom>
            <a:solidFill>
              <a:srgbClr val="FEF3C7"/>
            </a:solidFill>
            <a:ln w="19050">
              <a:solidFill>
                <a:srgbClr val="FDE68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26498" y="4405312"/>
              <a:ext cx="46812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2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n(A ∪ B) = n(A) + n(B) - n(A ∩ B)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8957" y="5154930"/>
              <a:ext cx="40710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Suy ra: n(A ∩ B) = 16 + 11 - 24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6671" y="5630228"/>
              <a:ext cx="54823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5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⇒ Kết quả: Có 3 bạn thi cả 2 môn!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43750" y="1190625"/>
              <a:ext cx="4572000" cy="5191125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65695" y="1423988"/>
              <a:ext cx="381021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047857"/>
                  </a:solidFill>
                  <a:latin typeface="+mn-lt"/>
                  <a:ea typeface="+mn-ea"/>
                  <a:cs typeface="+mn-cs"/>
                </a:rPr>
                <a:t>BIỂU ĐỒ VEN MINH HỌA</a:t>
              </a:r>
            </a:p>
          </p:txBody>
        </p:sp>
        <p:grpSp>
          <p:nvGrpSpPr>
            <p:cNvPr id="31" name="real-venn"/>
            <p:cNvGrpSpPr/>
            <p:nvPr/>
          </p:nvGrpSpPr>
          <p:grpSpPr>
            <a:xfrm>
              <a:off x="7381875" y="2143125"/>
              <a:ext cx="3420369" cy="1809750"/>
              <a:chOff x="7381875" y="2143125"/>
              <a:chExt cx="3420369" cy="180975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381875" y="2143125"/>
                <a:ext cx="1809750" cy="1809750"/>
              </a:xfrm>
              <a:prstGeom prst="ellipse">
                <a:avLst/>
              </a:prstGeom>
              <a:solidFill>
                <a:srgbClr val="DBEAFE">
                  <a:alpha val="70000"/>
                </a:srgbClr>
              </a:solidFill>
              <a:ln w="28575">
                <a:solidFill>
                  <a:srgbClr val="2563EB">
                    <a:alpha val="70000"/>
                  </a:srgbClr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8524875" y="2143125"/>
                <a:ext cx="1809750" cy="1809750"/>
              </a:xfrm>
              <a:prstGeom prst="ellipse">
                <a:avLst/>
              </a:prstGeom>
              <a:solidFill>
                <a:srgbClr val="D1FAE5">
                  <a:alpha val="70000"/>
                </a:srgbClr>
              </a:solidFill>
              <a:ln w="28575">
                <a:solidFill>
                  <a:srgbClr val="059669">
                    <a:alpha val="70000"/>
                  </a:srgbClr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508773" y="2333625"/>
                <a:ext cx="698954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698954" h="1428750">
                    <a:moveTo>
                      <a:pt x="349477" y="0"/>
                    </a:moveTo>
                    <a:cubicBezTo>
                      <a:pt x="569976" y="171429"/>
                      <a:pt x="698954" y="435076"/>
                      <a:pt x="698954" y="714375"/>
                    </a:cubicBezTo>
                    <a:cubicBezTo>
                      <a:pt x="698954" y="993674"/>
                      <a:pt x="569976" y="1257321"/>
                      <a:pt x="349477" y="1428750"/>
                    </a:cubicBezTo>
                    <a:cubicBezTo>
                      <a:pt x="128978" y="1257321"/>
                      <a:pt x="0" y="993674"/>
                      <a:pt x="0" y="714375"/>
                    </a:cubicBezTo>
                    <a:cubicBezTo>
                      <a:pt x="0" y="435076"/>
                      <a:pt x="128978" y="171429"/>
                      <a:pt x="349477" y="0"/>
                    </a:cubicBezTo>
                    <a:close/>
                  </a:path>
                </a:pathLst>
              </a:custGeom>
              <a:solidFill>
                <a:srgbClr val="FEF08A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942707" y="2440305"/>
                <a:ext cx="116264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Bóng đá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988808" y="2884170"/>
                <a:ext cx="38378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40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13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561957" y="2440305"/>
                <a:ext cx="124028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Cầu lông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655683" y="2884170"/>
                <a:ext cx="20408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400" b="1" dirty="0">
                    <a:solidFill>
                      <a:srgbClr val="065F46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418585" y="2773680"/>
                <a:ext cx="87932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1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Cả hai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743452" y="3089910"/>
                <a:ext cx="22959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vi-VN" sz="27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</p:grpSp>
        <p:sp>
          <p:nvSpPr>
            <p:cNvPr id="32" name="Rectangle 32"/>
            <p:cNvSpPr/>
            <p:nvPr/>
          </p:nvSpPr>
          <p:spPr>
            <a:xfrm>
              <a:off x="7334250" y="5238750"/>
              <a:ext cx="4191000" cy="904875"/>
            </a:xfrm>
            <a:prstGeom prst="roundRect">
              <a:avLst>
                <a:gd name="adj" fmla="val 14737"/>
              </a:avLst>
            </a:prstGeom>
            <a:solidFill>
              <a:srgbClr val="F8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28305" y="5535930"/>
              <a:ext cx="34028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Tổng: 13 + 3 + 8 = 24 bạn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8" name="header-group"/>
          <p:cNvGrpSpPr/>
          <p:nvPr/>
        </p:nvGrpSpPr>
        <p:grpSpPr>
          <a:xfrm>
            <a:off x="475020" y="238125"/>
            <a:ext cx="11240730" cy="714375"/>
            <a:chOff x="475020" y="238125"/>
            <a:chExt cx="11240730" cy="714375"/>
          </a:xfrm>
        </p:grpSpPr>
        <p:sp>
          <p:nvSpPr>
            <p:cNvPr id="3" name="Rectangle 3"/>
            <p:cNvSpPr/>
            <p:nvPr/>
          </p:nvSpPr>
          <p:spPr>
            <a:xfrm>
              <a:off x="476250" y="238125"/>
              <a:ext cx="11239500" cy="714375"/>
            </a:xfrm>
            <a:prstGeom prst="roundRect">
              <a:avLst>
                <a:gd name="adj" fmla="val 18667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476250" y="23812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14375" y="361950"/>
              <a:ext cx="1095375" cy="457200"/>
            </a:xfrm>
            <a:prstGeom prst="roundRect">
              <a:avLst>
                <a:gd name="adj" fmla="val 20833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75020" y="459105"/>
              <a:ext cx="15645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TỔNG KẾT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88058" y="436245"/>
              <a:ext cx="53346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TỔNG KẾT BÀI HỌC VÀ DẶN DÒ</a:t>
              </a:r>
            </a:p>
          </p:txBody>
        </p:sp>
      </p:grpSp>
      <p:grpSp>
        <p:nvGrpSpPr>
          <p:cNvPr id="33" name="content"/>
          <p:cNvGrpSpPr/>
          <p:nvPr/>
        </p:nvGrpSpPr>
        <p:grpSpPr>
          <a:xfrm>
            <a:off x="476250" y="1190625"/>
            <a:ext cx="11239500" cy="5191125"/>
            <a:chOff x="476250" y="1190625"/>
            <a:chExt cx="11239500" cy="5191125"/>
          </a:xfrm>
        </p:grpSpPr>
        <p:sp>
          <p:nvSpPr>
            <p:cNvPr id="9" name="Rectangle 9"/>
            <p:cNvSpPr/>
            <p:nvPr/>
          </p:nvSpPr>
          <p:spPr>
            <a:xfrm>
              <a:off x="476250" y="1190625"/>
              <a:ext cx="6381750" cy="5191125"/>
            </a:xfrm>
            <a:prstGeom prst="roundRect">
              <a:avLst>
                <a:gd name="adj" fmla="val 330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195" y="1423988"/>
              <a:ext cx="36854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4 GHI NHỚ TRỌNG TÂM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98957" y="2059305"/>
              <a:ext cx="5960553" cy="2839593"/>
              <a:chOff x="798957" y="2059305"/>
              <a:chExt cx="5960553" cy="2839593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98957" y="2059305"/>
                <a:ext cx="152757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1. Tập con: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418207" y="2059305"/>
                <a:ext cx="434130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A ⊂ B | A = B ⇔ (A ⊂ B và B ⊂ A)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809625" y="2619375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98957" y="2868930"/>
                <a:ext cx="165203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2. Chuỗi số: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418207" y="2868930"/>
                <a:ext cx="163536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1E40AF"/>
                    </a:solidFill>
                    <a:latin typeface="+mn-lt"/>
                    <a:ea typeface="+mn-ea"/>
                    <a:cs typeface="+mn-cs"/>
                  </a:rPr>
                  <a:t>ℕ ⊂ ℤ ⊂ ℚ ⊂ ℝ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809625" y="3429000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98957" y="3678555"/>
                <a:ext cx="180875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3. Phép toán: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418207" y="3678555"/>
                <a:ext cx="409220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47857"/>
                    </a:solidFill>
                    <a:latin typeface="+mn-lt"/>
                    <a:ea typeface="+mn-ea"/>
                    <a:cs typeface="+mn-cs"/>
                  </a:rPr>
                  <a:t>Giao ∩, Hợp ∪, Hiệu \, Phần bù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809625" y="4238625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19050">
                <a:solidFill>
                  <a:srgbClr val="F1F5F9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98957" y="4488180"/>
                <a:ext cx="146433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4. Trục số: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418207" y="4488180"/>
                <a:ext cx="411746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vi-VN" sz="2100" b="1" dirty="0">
                    <a:solidFill>
                      <a:srgbClr val="D97706"/>
                    </a:solidFill>
                    <a:latin typeface="+mn-lt"/>
                    <a:ea typeface="+mn-ea"/>
                    <a:cs typeface="+mn-cs"/>
                  </a:rPr>
                  <a:t>Lấy [ ], bỏ ( ), gạch phần ngoài</a:t>
                </a:r>
              </a:p>
            </p:txBody>
          </p:sp>
        </p:grpSp>
        <p:sp>
          <p:nvSpPr>
            <p:cNvPr id="23" name="Rectangle 23"/>
            <p:cNvSpPr/>
            <p:nvPr/>
          </p:nvSpPr>
          <p:spPr>
            <a:xfrm>
              <a:off x="7143750" y="1190625"/>
              <a:ext cx="4572000" cy="5191125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65695" y="1423988"/>
              <a:ext cx="288574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250" b="1" dirty="0">
                  <a:solidFill>
                    <a:srgbClr val="9333EA"/>
                  </a:solidFill>
                  <a:latin typeface="+mn-lt"/>
                  <a:ea typeface="+mn-ea"/>
                  <a:cs typeface="+mn-cs"/>
                </a:rPr>
                <a:t>NHIỆM VỤ VỀ NHÀ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381875" y="2000250"/>
              <a:ext cx="4095750" cy="1857375"/>
            </a:xfrm>
            <a:prstGeom prst="roundRect">
              <a:avLst>
                <a:gd name="adj" fmla="val 7179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09332" y="2249805"/>
              <a:ext cx="29558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0F172A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Làm bài 1.8 đến 1.16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09332" y="2678430"/>
              <a:ext cx="31754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vi-VN" sz="21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(SGK Toán 10, trang 19)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09332" y="3202305"/>
              <a:ext cx="38968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461" indent="-167461">
                <a:buClr>
                  <a:srgbClr val="1E40AF"/>
                </a:buClr>
                <a:buSzTx/>
                <a:buFontTx/>
                <a:buChar char="•"/>
              </a:pPr>
              <a:r>
                <a:rPr lang="vi-VN" sz="21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Chuẩn bị: Bài tập cuối Ch.1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81875" y="4143375"/>
              <a:ext cx="4095750" cy="2000250"/>
            </a:xfrm>
            <a:prstGeom prst="roundRect">
              <a:avLst>
                <a:gd name="adj" fmla="val 7619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03796" y="4455795"/>
              <a:ext cx="245190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CHÚC CÁC EM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16117" y="4884420"/>
              <a:ext cx="36272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400" b="1" dirty="0">
                  <a:solidFill>
                    <a:srgbClr val="38BDF8"/>
                  </a:solidFill>
                  <a:latin typeface="+mn-lt"/>
                  <a:ea typeface="+mn-ea"/>
                  <a:cs typeface="+mn-cs"/>
                </a:rPr>
                <a:t>HỌC TỐT MÔN TOÁN!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27298" y="5535930"/>
              <a:ext cx="32049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vi-VN" sz="210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Thầy Nguyễn Văn Sang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bai2_tap_hop">
  <a:themeElements>
    <a:clrScheme name="bai2_tap_hop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i2_tap_hop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i2_tap_ho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ai2_tap_hop">
  <a:themeElements>
    <a:clrScheme name="bai2_tap_hop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i2_tap_hop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i2_tap_ho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vi-VN</dc:language>
  <cp:lastModifiedBy/>
  <cp:revision>1</cp:revision>
  <dcterms:created xsi:type="dcterms:W3CDTF">2026-09-21T10:09:14Z</dcterms:created>
  <dcterms:modified xsi:type="dcterms:W3CDTF">2026-09-21T10:09:14Z</dcterms:modified>
  <cp:category/>
  <cp:contentStatus/>
</cp:coreProperties>
</file>