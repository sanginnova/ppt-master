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16x9"/>
  <p:notesSz cx="6858000" cy="9144000"/>
  <p:defaultText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vi-V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vi-VN"/>
          </a:p>
        </p:txBody>
      </p:sp>
    </p:spTree>
  </p:cSld>
  <p:clrMap bg1="lt1" tx1="dk1" bg2="lt2" tx2="dk2" accent1="accent1" accent2="accent2" accent3="accent3" accent4="accent4" accent5="accent5" accent6="accent6" hlink="hlink" folHlink="folHlink"/>
  <p:hf/>
  <p:notesStyle>
    <a:lvl1pPr marL="0" algn="l">
      <a:defRPr sz="1200" lang="vi-V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Kính chào quý thầy cô và các em học sinh. Hôm nay chúng ta cùng học Bài 2: Tập hợp và các phép toán trên tập hợp.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Tiết học này giúp các em nắm vững khái niệm tập con, các tập hợp số, thực hiện thành thạo phép giao, hợp, hiệu và biểu diễn chuẩn trên trục số.</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1.a: Khái niệm cơ bản về tập hợp. Các em chú ý hai cách mô tả: liệt kê phần tử hoặc nêu tính chất đặc trưng, cùng khái niệm tập rỗng.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1.b và 1.c: Định nghĩa tập hợp con khi mọi phần tử của A đều thuộc B. Biểu đồ Ven minh họa trực quan hình tròn A nằm trọn trong B.</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2.a: Mối quan hệ giữa các tập hợp số. Chuỗi bao hàm từ số tự nhiên, số nguyên, số hữu tỉ tới số thực R và số vô tỉ 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2.b Phần 1: Khoảng và Đoạn. Điểm khác biệt mấu chốt: Đoạn [a; b] lấy cả hai đầu mút (dùng ngoặc vuông), Khoảng (a; b) bỏ cả hai mút (dùng ngoặc tròn).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2.b Phần 2: Nửa khoảng và Khoảng vô cực. Ghi nhớ quy tắc sư phạm: lấy mút dùng ngoặc vuông, bỏ mút dùng ngoặc tròn, gạch chéo phần ngoài.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3.a: Phép giao lấy các phần tử thuộc cả A VÀ B. Biểu đồ Ven biểu thị vùng giao nhau được tô đậm.</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3.b: Phép hợp gộp tất cả phần tử thuộc A HOẶC B. Không lặp lại phần tử giống nhau.</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Mục 3.c: Phép hiệu thuộc A nhưng không thuộc B. Khi A là tập con của E, hiệu E trừ A được gọi là phần bù của A trong 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Luyện tập: Bài tập 1.15 SGK trang 19. Các em có 5 phút vẽ trục số và tìm các kết quả vào vở.</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Hướng dẫn giải chi tiết bài 1.15: Lưu ý điểm 1 không thuộc B nên 1 thuộc hiệu A trừ B, chuyển thành ngoặc vuông.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Vận dụng bài toán thể thao SGK trang 18: Áp dụng công thức số phần tử hợp bằng tổng hai tập trừ giao, tìm ra 3 bạn chơi cả hai môn.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vi-VN" dirty="0"/>
              <a:t>Tổng kết: 4 ghi nhớ then chốt theo đúng 3 mục của bài học và nhiệm vụ về nhà làm bài 1.8 đến 1.16.</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ai2_tap_hop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VN" smtClean="0"/>
              <a:t>1/27/13</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1FF6DA9-008F-8B48-92A6-B652298478BF}" type="slidenum">
              <a:rPr lang="vi-VN" smtClean="0"/>
              <a:t>‹#›</a:t>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ai2_tap_hop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vi-VN">
                <a:solidFill>
                  <a:schemeClr val="tx1">
                    <a:tint val="75000"/>
                  </a:schemeClr>
                </a:solidFill>
              </a:defRPr>
            </a:lvl1pPr>
          </a:lstStyle>
          <a:p>
            <a:fld id="{5BCAD085-E8A6-8845-BD4E-CB4CCA059FC4}" type="datetimeFigureOut">
              <a:rPr lang="vi-VN" smtClean="0"/>
              <a:t>1/27/13</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vi-VN">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vi-VN">
                <a:solidFill>
                  <a:schemeClr val="tx1">
                    <a:tint val="75000"/>
                  </a:schemeClr>
                </a:solidFill>
              </a:defRPr>
            </a:lvl1pPr>
          </a:lstStyle>
          <a:p>
            <a:fld id="{C1FF6DA9-008F-8B48-92A6-B652298478BF}"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vi-V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vi-V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vi-V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vi-V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vi-VN">
          <a:solidFill>
            <a:schemeClr val="tx1"/>
          </a:solidFill>
          <a:latin typeface="+mn-lt"/>
          <a:ea typeface="+mn-ea"/>
          <a:cs typeface="+mn-cs"/>
        </a:defRPr>
      </a:lvl9pPr>
    </p:bodyStyle>
    <p:otherStyle>
      <a:defPPr>
        <a:defRPr lang="vi-VN"/>
      </a:defPPr>
      <a:lvl1pPr marL="0" algn="l" defTabSz="457200" rtl="0" eaLnBrk="1" latinLnBrk="0" hangingPunct="1">
        <a:defRPr sz="1800" kern="1200" lang="vi-VN">
          <a:solidFill>
            <a:schemeClr val="tx1"/>
          </a:solidFill>
          <a:latin typeface="+mn-lt"/>
          <a:ea typeface="+mn-ea"/>
          <a:cs typeface="+mn-cs"/>
        </a:defRPr>
      </a:lvl1pPr>
      <a:lvl2pPr marL="457200" algn="l" defTabSz="457200" rtl="0" eaLnBrk="1" latinLnBrk="0" hangingPunct="1">
        <a:defRPr sz="1800" kern="1200" lang="vi-VN">
          <a:solidFill>
            <a:schemeClr val="tx1"/>
          </a:solidFill>
          <a:latin typeface="+mn-lt"/>
          <a:ea typeface="+mn-ea"/>
          <a:cs typeface="+mn-cs"/>
        </a:defRPr>
      </a:lvl2pPr>
      <a:lvl3pPr marL="914400" algn="l" defTabSz="457200" rtl="0" eaLnBrk="1" latinLnBrk="0" hangingPunct="1">
        <a:defRPr sz="1800" kern="1200" lang="vi-VN">
          <a:solidFill>
            <a:schemeClr val="tx1"/>
          </a:solidFill>
          <a:latin typeface="+mn-lt"/>
          <a:ea typeface="+mn-ea"/>
          <a:cs typeface="+mn-cs"/>
        </a:defRPr>
      </a:lvl3pPr>
      <a:lvl4pPr marL="1371600" algn="l" defTabSz="457200" rtl="0" eaLnBrk="1" latinLnBrk="0" hangingPunct="1">
        <a:defRPr sz="1800" kern="1200" lang="vi-VN">
          <a:solidFill>
            <a:schemeClr val="tx1"/>
          </a:solidFill>
          <a:latin typeface="+mn-lt"/>
          <a:ea typeface="+mn-ea"/>
          <a:cs typeface="+mn-cs"/>
        </a:defRPr>
      </a:lvl4pPr>
      <a:lvl5pPr marL="1828800" algn="l" defTabSz="457200" rtl="0" eaLnBrk="1" latinLnBrk="0" hangingPunct="1">
        <a:defRPr sz="1800" kern="1200" lang="vi-VN">
          <a:solidFill>
            <a:schemeClr val="tx1"/>
          </a:solidFill>
          <a:latin typeface="+mn-lt"/>
          <a:ea typeface="+mn-ea"/>
          <a:cs typeface="+mn-cs"/>
        </a:defRPr>
      </a:lvl5pPr>
      <a:lvl6pPr marL="2286000" algn="l" defTabSz="457200" rtl="0" eaLnBrk="1" latinLnBrk="0" hangingPunct="1">
        <a:defRPr sz="1800" kern="1200" lang="vi-VN">
          <a:solidFill>
            <a:schemeClr val="tx1"/>
          </a:solidFill>
          <a:latin typeface="+mn-lt"/>
          <a:ea typeface="+mn-ea"/>
          <a:cs typeface="+mn-cs"/>
        </a:defRPr>
      </a:lvl6pPr>
      <a:lvl7pPr marL="2743200" algn="l" defTabSz="457200" rtl="0" eaLnBrk="1" latinLnBrk="0" hangingPunct="1">
        <a:defRPr sz="1800" kern="1200" lang="vi-VN">
          <a:solidFill>
            <a:schemeClr val="tx1"/>
          </a:solidFill>
          <a:latin typeface="+mn-lt"/>
          <a:ea typeface="+mn-ea"/>
          <a:cs typeface="+mn-cs"/>
        </a:defRPr>
      </a:lvl7pPr>
      <a:lvl8pPr marL="3200400" algn="l" defTabSz="457200" rtl="0" eaLnBrk="1" latinLnBrk="0" hangingPunct="1">
        <a:defRPr sz="1800" kern="1200" lang="vi-VN">
          <a:solidFill>
            <a:schemeClr val="tx1"/>
          </a:solidFill>
          <a:latin typeface="+mn-lt"/>
          <a:ea typeface="+mn-ea"/>
          <a:cs typeface="+mn-cs"/>
        </a:defRPr>
      </a:lvl8pPr>
      <a:lvl9pPr marL="3657600" algn="l" defTabSz="457200" rtl="0" eaLnBrk="1" latinLnBrk="0" hangingPunct="1">
        <a:defRPr sz="1800" kern="1200" lang="vi-V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7715bbc00a5f75c.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0d0d6bc18b91b3d.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afe85b64694366d.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c68a5a7805ea86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e2d4d3fc717ee8a.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d1a4378d9dab790.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b0b787540e3e79b.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a617828f6cb4333.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442374dacceea46.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sp>
        <p:nvSpPr>
          <p:cNvPr id="3" name="Ellipse 3"/>
          <p:cNvSpPr/>
          <p:nvPr/>
        </p:nvSpPr>
        <p:spPr>
          <a:xfrm>
            <a:off x="9334500" y="-857250"/>
            <a:ext cx="3810000" cy="3810000"/>
          </a:xfrm>
          <a:prstGeom prst="ellipse">
            <a:avLst/>
          </a:prstGeom>
          <a:solidFill>
            <a:srgbClr val="EFF6FF">
              <a:alpha val="60000"/>
            </a:srgbClr>
          </a:solidFill>
          <a:ln>
            <a:noFill/>
          </a:ln>
        </p:spPr>
      </p:sp>
      <p:sp>
        <p:nvSpPr>
          <p:cNvPr id="4" name="Ellipse 4"/>
          <p:cNvSpPr/>
          <p:nvPr/>
        </p:nvSpPr>
        <p:spPr>
          <a:xfrm>
            <a:off x="9144000" y="4381500"/>
            <a:ext cx="3048000" cy="3048000"/>
          </a:xfrm>
          <a:prstGeom prst="ellipse">
            <a:avLst/>
          </a:prstGeom>
          <a:solidFill>
            <a:srgbClr val="F0FDFA">
              <a:alpha val="60000"/>
            </a:srgbClr>
          </a:solidFill>
          <a:ln>
            <a:noFill/>
          </a:ln>
        </p:spPr>
      </p:sp>
      <p:grpSp>
        <p:nvGrpSpPr>
          <p:cNvPr id="21" name="cover-card"/>
          <p:cNvGrpSpPr/>
          <p:nvPr/>
        </p:nvGrpSpPr>
        <p:grpSpPr>
          <a:xfrm>
            <a:off x="571500" y="428625"/>
            <a:ext cx="11049000" cy="6000750"/>
            <a:chOff x="571500" y="428625"/>
            <a:chExt cx="11049000" cy="6000750"/>
          </a:xfrm>
        </p:grpSpPr>
        <p:sp>
          <p:nvSpPr>
            <p:cNvPr id="5" name="Rectangle 5"/>
            <p:cNvSpPr/>
            <p:nvPr/>
          </p:nvSpPr>
          <p:spPr>
            <a:xfrm>
              <a:off x="571500" y="428625"/>
              <a:ext cx="11049000" cy="6000750"/>
            </a:xfrm>
            <a:prstGeom prst="roundRect">
              <a:avLst>
                <a:gd name="adj" fmla="val 3810"/>
              </a:avLst>
            </a:prstGeom>
            <a:solidFill>
              <a:srgbClr val="FFFFFF"/>
            </a:solidFill>
            <a:ln w="19050">
              <a:solidFill>
                <a:srgbClr val="CBD5E1"/>
              </a:solidFill>
            </a:ln>
          </p:spPr>
        </p:sp>
        <p:sp>
          <p:nvSpPr>
            <p:cNvPr id="6" name="Rectangle 6"/>
            <p:cNvSpPr/>
            <p:nvPr/>
          </p:nvSpPr>
          <p:spPr>
            <a:xfrm>
              <a:off x="571500" y="428625"/>
              <a:ext cx="11049000" cy="133350"/>
            </a:xfrm>
            <a:prstGeom prst="roundRect">
              <a:avLst>
                <a:gd name="adj" fmla="val 50000"/>
              </a:avLst>
            </a:prstGeom>
            <a:solidFill>
              <a:srgbClr val="1E3A8A"/>
            </a:solidFill>
            <a:ln>
              <a:noFill/>
            </a:ln>
          </p:spPr>
        </p:sp>
        <p:sp>
          <p:nvSpPr>
            <p:cNvPr id="7" name="TextBox 7"/>
            <p:cNvSpPr txBox="1"/>
            <p:nvPr/>
          </p:nvSpPr>
          <p:spPr>
            <a:xfrm>
              <a:off x="1037082" y="821055"/>
              <a:ext cx="686365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TRƯỜNG CĐ NGHỀ SỐ 1 - BQP • KHOA CƠ BẢN</a:t>
              </a:r>
            </a:p>
          </p:txBody>
        </p:sp>
        <p:sp>
          <p:nvSpPr>
            <p:cNvPr id="8" name="Line 8"/>
            <p:cNvSpPr/>
            <p:nvPr/>
          </p:nvSpPr>
          <p:spPr>
            <a:xfrm>
              <a:off x="1047750" y="1238250"/>
              <a:ext cx="6572250" cy="9525"/>
            </a:xfrm>
            <a:custGeom>
              <a:avLst/>
              <a:gdLst/>
              <a:ahLst/>
              <a:cxnLst/>
              <a:rect l="l" t="t" r="r" b="b"/>
              <a:pathLst>
                <a:path w="6572250" h="9525">
                  <a:moveTo>
                    <a:pt x="0" y="0"/>
                  </a:moveTo>
                  <a:lnTo>
                    <a:pt x="6572250" y="0"/>
                  </a:lnTo>
                </a:path>
              </a:pathLst>
            </a:custGeom>
            <a:noFill/>
            <a:ln w="19050">
              <a:solidFill>
                <a:srgbClr val="E2E8F0"/>
              </a:solidFill>
            </a:ln>
          </p:spPr>
        </p:sp>
        <p:sp>
          <p:nvSpPr>
            <p:cNvPr id="9" name="Rectangle 9"/>
            <p:cNvSpPr/>
            <p:nvPr/>
          </p:nvSpPr>
          <p:spPr>
            <a:xfrm>
              <a:off x="1047750" y="1476375"/>
              <a:ext cx="1809750" cy="438150"/>
            </a:xfrm>
            <a:prstGeom prst="roundRect">
              <a:avLst>
                <a:gd name="adj" fmla="val 21739"/>
              </a:avLst>
            </a:prstGeom>
            <a:solidFill>
              <a:srgbClr val="DBEAFE"/>
            </a:solidFill>
            <a:ln>
              <a:noFill/>
            </a:ln>
          </p:spPr>
        </p:sp>
        <p:sp>
          <p:nvSpPr>
            <p:cNvPr id="10" name="TextBox 10"/>
            <p:cNvSpPr txBox="1"/>
            <p:nvPr/>
          </p:nvSpPr>
          <p:spPr>
            <a:xfrm>
              <a:off x="1195197" y="1564005"/>
              <a:ext cx="1514856" cy="410718"/>
            </a:xfrm>
            <a:prstGeom prst="rect">
              <a:avLst/>
            </a:prstGeom>
            <a:noFill/>
            <a:ln>
              <a:noFill/>
            </a:ln>
          </p:spPr>
          <p:txBody>
            <a:bodyPr wrap="none" lIns="0" tIns="0" rIns="0" bIns="0" anchor="t" anchorCtr="0">
              <a:spAutoFit/>
            </a:bodyPr>
            <a:lstStyle/>
            <a:p>
              <a:pPr algn="ctr"/>
              <a:r>
                <a:rPr lang="vi-VN" sz="2100" b="1" dirty="0">
                  <a:solidFill>
                    <a:srgbClr val="1E40AF"/>
                  </a:solidFill>
                  <a:latin typeface="+mn-lt"/>
                  <a:ea typeface="+mn-ea"/>
                  <a:cs typeface="+mn-cs"/>
                </a:rPr>
                <a:t>CHƯƠNG I</a:t>
              </a:r>
            </a:p>
          </p:txBody>
        </p:sp>
        <p:sp>
          <p:nvSpPr>
            <p:cNvPr id="11" name="TextBox 11"/>
            <p:cNvSpPr txBox="1"/>
            <p:nvPr/>
          </p:nvSpPr>
          <p:spPr>
            <a:xfrm>
              <a:off x="1030986" y="2120265"/>
              <a:ext cx="8379224" cy="645414"/>
            </a:xfrm>
            <a:prstGeom prst="rect">
              <a:avLst/>
            </a:prstGeom>
            <a:noFill/>
            <a:ln>
              <a:noFill/>
            </a:ln>
          </p:spPr>
          <p:txBody>
            <a:bodyPr wrap="none" lIns="0" tIns="0" rIns="0" bIns="0" anchor="t" anchorCtr="0">
              <a:spAutoFit/>
            </a:bodyPr>
            <a:lstStyle/>
            <a:p>
              <a:pPr algn="l"/>
              <a:r>
                <a:rPr lang="vi-VN" sz="3300" b="1" dirty="0">
                  <a:solidFill>
                    <a:srgbClr val="0F172A"/>
                  </a:solidFill>
                  <a:latin typeface="+mn-lt"/>
                  <a:ea typeface="+mn-ea"/>
                  <a:cs typeface="+mn-cs"/>
                </a:rPr>
                <a:t>BÀI 2. TẬP HỢP VÀ CÁC PHÉP TOÁN</a:t>
              </a:r>
            </a:p>
          </p:txBody>
        </p:sp>
        <p:sp>
          <p:nvSpPr>
            <p:cNvPr id="12" name="TextBox 12"/>
            <p:cNvSpPr txBox="1"/>
            <p:nvPr/>
          </p:nvSpPr>
          <p:spPr>
            <a:xfrm>
              <a:off x="1030986" y="2691765"/>
              <a:ext cx="3528058" cy="645414"/>
            </a:xfrm>
            <a:prstGeom prst="rect">
              <a:avLst/>
            </a:prstGeom>
            <a:noFill/>
            <a:ln>
              <a:noFill/>
            </a:ln>
          </p:spPr>
          <p:txBody>
            <a:bodyPr wrap="none" lIns="0" tIns="0" rIns="0" bIns="0" anchor="t" anchorCtr="0">
              <a:spAutoFit/>
            </a:bodyPr>
            <a:lstStyle/>
            <a:p>
              <a:pPr algn="l"/>
              <a:r>
                <a:rPr lang="vi-VN" sz="3300" b="1" dirty="0">
                  <a:solidFill>
                    <a:srgbClr val="2563EB"/>
                  </a:solidFill>
                  <a:latin typeface="+mn-lt"/>
                  <a:ea typeface="+mn-ea"/>
                  <a:cs typeface="+mn-cs"/>
                </a:rPr>
                <a:t>TRÊN TẬP HỢP</a:t>
              </a:r>
            </a:p>
          </p:txBody>
        </p:sp>
        <p:sp>
          <p:nvSpPr>
            <p:cNvPr id="13" name="TextBox 13"/>
            <p:cNvSpPr txBox="1"/>
            <p:nvPr/>
          </p:nvSpPr>
          <p:spPr>
            <a:xfrm>
              <a:off x="1037082" y="3392805"/>
              <a:ext cx="62903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Toán 10 — Sách Kết nối tri thức với cuộc sống</a:t>
              </a:r>
            </a:p>
          </p:txBody>
        </p:sp>
        <p:sp>
          <p:nvSpPr>
            <p:cNvPr id="14" name="Rectangle 14"/>
            <p:cNvSpPr/>
            <p:nvPr/>
          </p:nvSpPr>
          <p:spPr>
            <a:xfrm>
              <a:off x="1047750" y="4048125"/>
              <a:ext cx="4381500" cy="571500"/>
            </a:xfrm>
            <a:prstGeom prst="roundRect">
              <a:avLst>
                <a:gd name="adj" fmla="val 20000"/>
              </a:avLst>
            </a:prstGeom>
            <a:solidFill>
              <a:srgbClr val="F8FAFC"/>
            </a:solidFill>
            <a:ln w="14288">
              <a:solidFill>
                <a:srgbClr val="CBD5E1"/>
              </a:solidFill>
            </a:ln>
          </p:spPr>
        </p:sp>
        <p:sp>
          <p:nvSpPr>
            <p:cNvPr id="15" name="TextBox 15"/>
            <p:cNvSpPr txBox="1"/>
            <p:nvPr/>
          </p:nvSpPr>
          <p:spPr>
            <a:xfrm>
              <a:off x="1189379" y="4202430"/>
              <a:ext cx="4098243"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1. Khái niệm &amp; Các tập hợp số</a:t>
              </a:r>
            </a:p>
          </p:txBody>
        </p:sp>
        <p:sp>
          <p:nvSpPr>
            <p:cNvPr id="16" name="Rectangle 16"/>
            <p:cNvSpPr/>
            <p:nvPr/>
          </p:nvSpPr>
          <p:spPr>
            <a:xfrm>
              <a:off x="5715000" y="4048125"/>
              <a:ext cx="4953000" cy="571500"/>
            </a:xfrm>
            <a:prstGeom prst="roundRect">
              <a:avLst>
                <a:gd name="adj" fmla="val 20000"/>
              </a:avLst>
            </a:prstGeom>
            <a:solidFill>
              <a:srgbClr val="F8FAFC"/>
            </a:solidFill>
            <a:ln w="14288">
              <a:solidFill>
                <a:srgbClr val="CBD5E1"/>
              </a:solidFill>
            </a:ln>
          </p:spPr>
        </p:sp>
        <p:sp>
          <p:nvSpPr>
            <p:cNvPr id="17" name="TextBox 17"/>
            <p:cNvSpPr txBox="1"/>
            <p:nvPr/>
          </p:nvSpPr>
          <p:spPr>
            <a:xfrm>
              <a:off x="6225881" y="4202430"/>
              <a:ext cx="3931238"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2. Phép toán Giao, Hợp, Hiệu</a:t>
              </a:r>
            </a:p>
          </p:txBody>
        </p:sp>
        <p:sp>
          <p:nvSpPr>
            <p:cNvPr id="18" name="Rectangle 18"/>
            <p:cNvSpPr/>
            <p:nvPr/>
          </p:nvSpPr>
          <p:spPr>
            <a:xfrm>
              <a:off x="1047750" y="4953000"/>
              <a:ext cx="9620250" cy="1047750"/>
            </a:xfrm>
            <a:prstGeom prst="roundRect">
              <a:avLst>
                <a:gd name="adj" fmla="val 14545"/>
              </a:avLst>
            </a:prstGeom>
            <a:solidFill>
              <a:srgbClr val="EFF6FF"/>
            </a:solidFill>
            <a:ln w="14288">
              <a:solidFill>
                <a:srgbClr val="BFDBFE"/>
              </a:solidFill>
            </a:ln>
          </p:spPr>
        </p:sp>
        <p:sp>
          <p:nvSpPr>
            <p:cNvPr id="19" name="TextBox 19"/>
            <p:cNvSpPr txBox="1"/>
            <p:nvPr/>
          </p:nvSpPr>
          <p:spPr>
            <a:xfrm>
              <a:off x="1417320" y="5138738"/>
              <a:ext cx="5140284" cy="440055"/>
            </a:xfrm>
            <a:prstGeom prst="rect">
              <a:avLst/>
            </a:prstGeom>
            <a:noFill/>
            <a:ln>
              <a:noFill/>
            </a:ln>
          </p:spPr>
          <p:txBody>
            <a:bodyPr wrap="none" lIns="0" tIns="0" rIns="0" bIns="0" anchor="t" anchorCtr="0">
              <a:spAutoFit/>
            </a:bodyPr>
            <a:lstStyle/>
            <a:p>
              <a:pPr algn="l"/>
              <a:r>
                <a:rPr lang="vi-VN" sz="2250" b="1" dirty="0">
                  <a:solidFill>
                    <a:srgbClr val="1E3A8A"/>
                  </a:solidFill>
                  <a:latin typeface="+mn-lt"/>
                  <a:ea typeface="+mn-ea"/>
                  <a:cs typeface="+mn-cs"/>
                </a:rPr>
                <a:t>Giảng viên: ThS. Nguyễn Văn Sang</a:t>
              </a:r>
            </a:p>
          </p:txBody>
        </p:sp>
        <p:sp>
          <p:nvSpPr>
            <p:cNvPr id="20" name="TextBox 20"/>
            <p:cNvSpPr txBox="1"/>
            <p:nvPr/>
          </p:nvSpPr>
          <p:spPr>
            <a:xfrm>
              <a:off x="1418082" y="5535930"/>
              <a:ext cx="4698825"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Khoa Cơ bản — Tiết PPCT: 03 - 04</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53389" y="459105"/>
              <a:ext cx="146497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TIÊU</a:t>
              </a:r>
            </a:p>
          </p:txBody>
        </p:sp>
        <p:sp>
          <p:nvSpPr>
            <p:cNvPr id="7" name="TextBox 7"/>
            <p:cNvSpPr txBox="1"/>
            <p:nvPr/>
          </p:nvSpPr>
          <p:spPr>
            <a:xfrm>
              <a:off x="2036445" y="452438"/>
              <a:ext cx="4538752"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MỤC TIÊU BÀI HỌC CẦN ĐẠT</a:t>
              </a:r>
            </a:p>
          </p:txBody>
        </p:sp>
      </p:grpSp>
      <p:grpSp>
        <p:nvGrpSpPr>
          <p:cNvPr id="24" name="body-grid"/>
          <p:cNvGrpSpPr/>
          <p:nvPr/>
        </p:nvGrpSpPr>
        <p:grpSpPr>
          <a:xfrm>
            <a:off x="476250" y="1190625"/>
            <a:ext cx="11280636" cy="5191125"/>
            <a:chOff x="476250" y="1190625"/>
            <a:chExt cx="11280636" cy="5191125"/>
          </a:xfrm>
        </p:grpSpPr>
        <p:sp>
          <p:nvSpPr>
            <p:cNvPr id="9" name="Rectangle 9"/>
            <p:cNvSpPr/>
            <p:nvPr/>
          </p:nvSpPr>
          <p:spPr>
            <a:xfrm>
              <a:off x="476250" y="1190625"/>
              <a:ext cx="11239500" cy="1524000"/>
            </a:xfrm>
            <a:prstGeom prst="roundRect">
              <a:avLst>
                <a:gd name="adj" fmla="val 11250"/>
              </a:avLst>
            </a:prstGeom>
            <a:solidFill>
              <a:srgbClr val="FFFFFF"/>
            </a:solidFill>
            <a:ln w="19050">
              <a:solidFill>
                <a:srgbClr val="CBD5E1"/>
              </a:solidFill>
            </a:ln>
          </p:spPr>
        </p:sp>
        <p:sp>
          <p:nvSpPr>
            <p:cNvPr id="10" name="Rectangle 10"/>
            <p:cNvSpPr/>
            <p:nvPr/>
          </p:nvSpPr>
          <p:spPr>
            <a:xfrm>
              <a:off x="476250" y="1190625"/>
              <a:ext cx="114300" cy="1524000"/>
            </a:xfrm>
            <a:prstGeom prst="roundRect">
              <a:avLst>
                <a:gd name="adj" fmla="val 50000"/>
              </a:avLst>
            </a:prstGeom>
            <a:solidFill>
              <a:srgbClr val="2563EB"/>
            </a:solidFill>
            <a:ln>
              <a:noFill/>
            </a:ln>
          </p:spPr>
        </p:sp>
        <p:sp>
          <p:nvSpPr>
            <p:cNvPr id="11" name="TextBox 11"/>
            <p:cNvSpPr txBox="1"/>
            <p:nvPr/>
          </p:nvSpPr>
          <p:spPr>
            <a:xfrm>
              <a:off x="845820" y="1423988"/>
              <a:ext cx="4147728"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KIẾN THỨC TRỌNG TÂM</a:t>
              </a:r>
            </a:p>
          </p:txBody>
        </p:sp>
        <mc:AlternateContent xmlns:mc="http://schemas.openxmlformats.org/markup-compatibility/2006">
          <mc:Choice xmlns:a14="http://schemas.microsoft.com/office/drawing/2010/main" Requires="a14">
            <p:sp>
              <p:nvSpPr>
                <p:cNvPr id="12" name="TextBox 12"/>
                <p:cNvSpPr txBox="1"/>
                <p:nvPr/>
              </p:nvSpPr>
              <p:spPr>
                <a:xfrm>
                  <a:off x="846582" y="1868805"/>
                  <a:ext cx="8541497"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Khái niệm tập hợp, tập con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r>
                    <a:rPr lang="vi-VN" sz="2100" b="1" dirty="0">
                      <a:solidFill>
                        <a:srgbClr val="0F172A"/>
                      </a:solidFill>
                      <a:latin typeface="+mn-lt"/>
                      <a:ea typeface="+mn-ea"/>
                      <a:cs typeface="+mn-cs"/>
                    </a:rPr>
                    <a:t>), hai tập bằng nhau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846582" y="2268855"/>
                  <a:ext cx="8352305"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Các tập hợp số: </a:t>
                  </a:r>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N</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Z</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Q</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 xml:space="preserve"> và các tập con khoảng, đoạn của </a:t>
                  </a:r>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a:t>
                  </a:r>
                </a:p>
              </p:txBody>
            </p:sp>
          </mc:Choice>
        </mc:AlternateContent>
        <p:sp>
          <p:nvSpPr>
            <p:cNvPr id="14" name="Rectangle 14"/>
            <p:cNvSpPr/>
            <p:nvPr/>
          </p:nvSpPr>
          <p:spPr>
            <a:xfrm>
              <a:off x="476250" y="2952750"/>
              <a:ext cx="11239500" cy="1524000"/>
            </a:xfrm>
            <a:prstGeom prst="roundRect">
              <a:avLst>
                <a:gd name="adj" fmla="val 11250"/>
              </a:avLst>
            </a:prstGeom>
            <a:solidFill>
              <a:srgbClr val="FFFFFF"/>
            </a:solidFill>
            <a:ln w="19050">
              <a:solidFill>
                <a:srgbClr val="CBD5E1"/>
              </a:solidFill>
            </a:ln>
          </p:spPr>
        </p:sp>
        <p:sp>
          <p:nvSpPr>
            <p:cNvPr id="15" name="Rectangle 15"/>
            <p:cNvSpPr/>
            <p:nvPr/>
          </p:nvSpPr>
          <p:spPr>
            <a:xfrm>
              <a:off x="476250" y="2952750"/>
              <a:ext cx="114300" cy="1524000"/>
            </a:xfrm>
            <a:prstGeom prst="roundRect">
              <a:avLst>
                <a:gd name="adj" fmla="val 50000"/>
              </a:avLst>
            </a:prstGeom>
            <a:solidFill>
              <a:srgbClr val="059669"/>
            </a:solidFill>
            <a:ln>
              <a:noFill/>
            </a:ln>
          </p:spPr>
        </p:sp>
        <p:sp>
          <p:nvSpPr>
            <p:cNvPr id="16" name="TextBox 16"/>
            <p:cNvSpPr txBox="1"/>
            <p:nvPr/>
          </p:nvSpPr>
          <p:spPr>
            <a:xfrm>
              <a:off x="845820" y="3186112"/>
              <a:ext cx="3383472"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2. KỸ NĂNG CẦN ĐẠT</a:t>
              </a:r>
            </a:p>
          </p:txBody>
        </p:sp>
        <mc:AlternateContent xmlns:mc="http://schemas.openxmlformats.org/markup-compatibility/2006">
          <mc:Choice xmlns:a14="http://schemas.microsoft.com/office/drawing/2010/main" Requires="a14">
            <p:sp>
              <p:nvSpPr>
                <p:cNvPr id="17" name="TextBox 17"/>
                <p:cNvSpPr txBox="1"/>
                <p:nvPr/>
              </p:nvSpPr>
              <p:spPr>
                <a:xfrm>
                  <a:off x="846582" y="3630930"/>
                  <a:ext cx="10910304" cy="455257"/>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Thực hiện thành thạo: Giao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r>
                    <a:rPr lang="vi-VN" sz="2100" b="1" dirty="0">
                      <a:solidFill>
                        <a:srgbClr val="0F172A"/>
                      </a:solidFill>
                      <a:latin typeface="+mn-lt"/>
                      <a:ea typeface="+mn-ea"/>
                      <a:cs typeface="+mn-cs"/>
                    </a:rPr>
                    <a:t>), Hợp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r>
                    <a:rPr lang="vi-VN" sz="2100" b="1" dirty="0">
                      <a:solidFill>
                        <a:srgbClr val="0F172A"/>
                      </a:solidFill>
                      <a:latin typeface="+mn-lt"/>
                      <a:ea typeface="+mn-ea"/>
                      <a:cs typeface="+mn-cs"/>
                    </a:rPr>
                    <a:t>), Hiệu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r>
                    <a:rPr lang="vi-VN" sz="2100" b="1" dirty="0">
                      <a:solidFill>
                        <a:srgbClr val="0F172A"/>
                      </a:solidFill>
                      <a:latin typeface="+mn-lt"/>
                      <a:ea typeface="+mn-ea"/>
                      <a:cs typeface="+mn-cs"/>
                    </a:rPr>
                    <a:t>), Phần bù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C</m:t>
                          </m:r>
                        </m:e>
                        <m:sub>
                          <m:r>
                            <a:rPr lang="vi-VN" sz="2100" dirty="0">
                              <a:solidFill>
                                <a:srgbClr val="0F172A"/>
                              </a:solidFill>
                              <a:latin typeface="Cambria Math"/>
                              <a:ea typeface="Cambria Math"/>
                              <a:cs typeface="Cambria Math"/>
                            </a:rPr>
                            <m:t>E</m:t>
                          </m:r>
                        </m:sub>
                      </m:sSub>
                      <m:r>
                        <a:rPr lang="vi-VN" sz="2100" dirty="0">
                          <a:solidFill>
                            <a:srgbClr val="0F172A"/>
                          </a:solidFill>
                          <a:latin typeface="Cambria Math"/>
                          <a:ea typeface="Cambria Math"/>
                          <a:cs typeface="Cambria Math"/>
                        </a:rPr>
                        <m:t>A</m:t>
                      </m:r>
                    </m:oMath>
                  </a14:m>
                  <a:r>
                    <a:rPr lang="vi-VN" sz="2100" b="1" dirty="0">
                      <a:solidFill>
                        <a:srgbClr val="0F172A"/>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846582" y="4030980"/>
                  <a:ext cx="827922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Biểu diễn chính xác các tập hợp con của </a:t>
                  </a:r>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R</m:t>
                      </m:r>
                    </m:oMath>
                  </a14:m>
                  <a:r>
                    <a:rPr lang="vi-VN" sz="2100" b="1" dirty="0">
                      <a:solidFill>
                        <a:srgbClr val="0F172A"/>
                      </a:solidFill>
                      <a:latin typeface="+mn-lt"/>
                      <a:ea typeface="+mn-ea"/>
                      <a:cs typeface="+mn-cs"/>
                    </a:rPr>
                    <a:t xml:space="preserve"> trên trục số thực.</a:t>
                  </a:r>
                </a:p>
              </p:txBody>
            </p:sp>
          </mc:Choice>
        </mc:AlternateContent>
        <p:sp>
          <p:nvSpPr>
            <p:cNvPr id="19" name="Rectangle 19"/>
            <p:cNvSpPr/>
            <p:nvPr/>
          </p:nvSpPr>
          <p:spPr>
            <a:xfrm>
              <a:off x="476250" y="4714875"/>
              <a:ext cx="11239500" cy="1666875"/>
            </a:xfrm>
            <a:prstGeom prst="roundRect">
              <a:avLst>
                <a:gd name="adj" fmla="val 10286"/>
              </a:avLst>
            </a:prstGeom>
            <a:solidFill>
              <a:srgbClr val="FFFFFF"/>
            </a:solidFill>
            <a:ln w="19050">
              <a:solidFill>
                <a:srgbClr val="CBD5E1"/>
              </a:solidFill>
            </a:ln>
          </p:spPr>
        </p:sp>
        <p:sp>
          <p:nvSpPr>
            <p:cNvPr id="20" name="Rectangle 20"/>
            <p:cNvSpPr/>
            <p:nvPr/>
          </p:nvSpPr>
          <p:spPr>
            <a:xfrm>
              <a:off x="476250" y="4714875"/>
              <a:ext cx="114300" cy="1666875"/>
            </a:xfrm>
            <a:prstGeom prst="roundRect">
              <a:avLst>
                <a:gd name="adj" fmla="val 50000"/>
              </a:avLst>
            </a:prstGeom>
            <a:solidFill>
              <a:srgbClr val="D97706"/>
            </a:solidFill>
            <a:ln>
              <a:noFill/>
            </a:ln>
          </p:spPr>
        </p:sp>
        <p:sp>
          <p:nvSpPr>
            <p:cNvPr id="21" name="TextBox 21"/>
            <p:cNvSpPr txBox="1"/>
            <p:nvPr/>
          </p:nvSpPr>
          <p:spPr>
            <a:xfrm>
              <a:off x="845820" y="4948238"/>
              <a:ext cx="4948020"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3. PHẨM CHẤT &amp; NĂNG LỰC SỐ</a:t>
              </a:r>
            </a:p>
          </p:txBody>
        </p:sp>
        <p:sp>
          <p:nvSpPr>
            <p:cNvPr id="22" name="TextBox 22"/>
            <p:cNvSpPr txBox="1"/>
            <p:nvPr/>
          </p:nvSpPr>
          <p:spPr>
            <a:xfrm>
              <a:off x="846582" y="5393055"/>
              <a:ext cx="10488004"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Tư duy logic, chính xác trong việc xử lý các điều kiện mút của khoảng, đoạn.</a:t>
              </a:r>
            </a:p>
          </p:txBody>
        </p:sp>
        <p:sp>
          <p:nvSpPr>
            <p:cNvPr id="23" name="TextBox 23"/>
            <p:cNvSpPr txBox="1"/>
            <p:nvPr/>
          </p:nvSpPr>
          <p:spPr>
            <a:xfrm>
              <a:off x="846582" y="5793105"/>
              <a:ext cx="8265960"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Ứng dụng giải quyết bài toán đếm thực tế bằng biểu đồ Ven.</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93845" y="459105"/>
              <a:ext cx="1184059"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1.a</a:t>
              </a:r>
            </a:p>
          </p:txBody>
        </p:sp>
        <p:sp>
          <p:nvSpPr>
            <p:cNvPr id="7" name="TextBox 7"/>
            <p:cNvSpPr txBox="1"/>
            <p:nvPr/>
          </p:nvSpPr>
          <p:spPr>
            <a:xfrm>
              <a:off x="2036445" y="452438"/>
              <a:ext cx="7483450"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1. CÁC KHÁI NIỆM CƠ BẢN: a. Tập hợp và phần tử</a:t>
              </a:r>
            </a:p>
          </p:txBody>
        </p:sp>
      </p:grpSp>
      <p:grpSp>
        <p:nvGrpSpPr>
          <p:cNvPr id="25" name="content"/>
          <p:cNvGrpSpPr/>
          <p:nvPr/>
        </p:nvGrpSpPr>
        <p:grpSpPr>
          <a:xfrm>
            <a:off x="476250" y="1190625"/>
            <a:ext cx="11807029" cy="5191125"/>
            <a:chOff x="476250" y="1190625"/>
            <a:chExt cx="11807029" cy="5191125"/>
          </a:xfrm>
        </p:grpSpPr>
        <p:sp>
          <p:nvSpPr>
            <p:cNvPr id="9" name="Rectangle 9"/>
            <p:cNvSpPr/>
            <p:nvPr/>
          </p:nvSpPr>
          <p:spPr>
            <a:xfrm>
              <a:off x="476250" y="1190625"/>
              <a:ext cx="11239500" cy="1428750"/>
            </a:xfrm>
            <a:prstGeom prst="roundRect">
              <a:avLst>
                <a:gd name="adj" fmla="val 12000"/>
              </a:avLst>
            </a:prstGeom>
            <a:solidFill>
              <a:srgbClr val="FFFFFF"/>
            </a:solidFill>
            <a:ln w="19050">
              <a:solidFill>
                <a:srgbClr val="CBD5E1"/>
              </a:solidFill>
            </a:ln>
          </p:spPr>
        </p:sp>
        <p:sp>
          <p:nvSpPr>
            <p:cNvPr id="10" name="TextBox 10"/>
            <p:cNvSpPr txBox="1"/>
            <p:nvPr/>
          </p:nvSpPr>
          <p:spPr>
            <a:xfrm>
              <a:off x="798195" y="1423988"/>
              <a:ext cx="5374953"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A. KHÁI NIỆM CƠ BẢN VÀ KÝ HIỆU</a:t>
              </a:r>
            </a:p>
          </p:txBody>
        </p:sp>
        <p:sp>
          <p:nvSpPr>
            <p:cNvPr id="11" name="TextBox 11"/>
            <p:cNvSpPr txBox="1"/>
            <p:nvPr/>
          </p:nvSpPr>
          <p:spPr>
            <a:xfrm>
              <a:off x="798957" y="1868805"/>
              <a:ext cx="7251373"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Tập hợp là một khái niệm nguyên thủy của toán học.</a:t>
              </a:r>
            </a:p>
          </p:txBody>
        </p:sp>
        <mc:AlternateContent xmlns:mc="http://schemas.openxmlformats.org/markup-compatibility/2006">
          <mc:Choice xmlns:a14="http://schemas.microsoft.com/office/drawing/2010/main" Requires="a14">
            <p:sp>
              <p:nvSpPr>
                <p:cNvPr id="12" name="TextBox 12"/>
                <p:cNvSpPr txBox="1"/>
                <p:nvPr/>
              </p:nvSpPr>
              <p:spPr>
                <a:xfrm>
                  <a:off x="798957" y="2230755"/>
                  <a:ext cx="8006166"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oMath>
                  </a14:m>
                  <a:r>
                    <a:rPr lang="vi-VN" sz="2100" b="1" dirty="0">
                      <a:solidFill>
                        <a:srgbClr val="0F172A"/>
                      </a:solidFill>
                      <a:latin typeface="+mn-lt"/>
                      <a:ea typeface="+mn-ea"/>
                      <a:cs typeface="+mn-cs"/>
                    </a:rPr>
                    <a:t xml:space="preserve">: a thuộc tập hợp A |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oMath>
                  </a14:m>
                  <a:r>
                    <a:rPr lang="vi-VN" sz="2100" b="1" dirty="0">
                      <a:solidFill>
                        <a:srgbClr val="0F172A"/>
                      </a:solidFill>
                      <a:latin typeface="+mn-lt"/>
                      <a:ea typeface="+mn-ea"/>
                      <a:cs typeface="+mn-cs"/>
                    </a:rPr>
                    <a:t>: b không thuộc tập hợp A.</a:t>
                  </a:r>
                </a:p>
              </p:txBody>
            </p:sp>
          </mc:Choice>
        </mc:AlternateContent>
        <p:sp>
          <p:nvSpPr>
            <p:cNvPr id="13" name="Rectangle 13"/>
            <p:cNvSpPr/>
            <p:nvPr/>
          </p:nvSpPr>
          <p:spPr>
            <a:xfrm>
              <a:off x="476250" y="2857500"/>
              <a:ext cx="11239500" cy="809625"/>
            </a:xfrm>
            <a:prstGeom prst="roundRect">
              <a:avLst>
                <a:gd name="adj" fmla="val 16471"/>
              </a:avLst>
            </a:prstGeom>
            <a:solidFill>
              <a:srgbClr val="FEF3C7"/>
            </a:solidFill>
            <a:ln w="19050">
              <a:solidFill>
                <a:srgbClr val="FDE68A"/>
              </a:solidFill>
            </a:ln>
          </p:spPr>
        </p:sp>
        <mc:AlternateContent xmlns:mc="http://schemas.openxmlformats.org/markup-compatibility/2006">
          <mc:Choice xmlns:a14="http://schemas.microsoft.com/office/drawing/2010/main" Requires="a14">
            <p:sp>
              <p:nvSpPr>
                <p:cNvPr id="14" name="TextBox 14"/>
                <p:cNvSpPr txBox="1"/>
                <p:nvPr/>
              </p:nvSpPr>
              <p:spPr>
                <a:xfrm>
                  <a:off x="798957" y="3126105"/>
                  <a:ext cx="10245241" cy="410718"/>
                </a:xfrm>
                <a:prstGeom prst="rect">
                  <a:avLst/>
                </a:prstGeom>
                <a:noFill/>
                <a:ln>
                  <a:noFill/>
                </a:ln>
              </p:spPr>
              <p:txBody>
                <a:bodyPr wrap="none" lIns="0" tIns="0" rIns="0" bIns="0" anchor="t" anchorCtr="0">
                  <a:spAutoFit/>
                </a:bodyPr>
                <a:lstStyle/>
                <a:p>
                  <a:pPr algn="l"/>
                  <a:r>
                    <a:rPr lang="vi-VN" sz="2100" b="1" dirty="0">
                      <a:solidFill>
                        <a:srgbClr val="92400E"/>
                      </a:solidFill>
                      <a:latin typeface="+mn-lt"/>
                      <a:ea typeface="+mn-ea"/>
                      <a:cs typeface="+mn-cs"/>
                    </a:rPr>
                    <a:t xml:space="preserve">TẬP RỖNG: Ký hiệu là </a:t>
                  </a:r>
                  <a14:m>
                    <m:oMath xmlns:a="http://schemas.openxmlformats.org/drawingml/2006/main" xmlns:m="http://schemas.openxmlformats.org/officeDocument/2006/math">
                      <m:r>
                        <m:rPr>
                          <m:sty m:val="p"/>
                        </m:rPr>
                        <a:rPr lang="vi-VN" sz="2100" dirty="0">
                          <a:solidFill>
                            <a:srgbClr val="92400E"/>
                          </a:solidFill>
                          <a:latin typeface="Cambria Math"/>
                          <a:ea typeface="Cambria Math"/>
                          <a:cs typeface="Cambria Math"/>
                        </a:rPr>
                        <m:t>∅</m:t>
                      </m:r>
                    </m:oMath>
                  </a14:m>
                  <a:r>
                    <a:rPr lang="vi-VN" sz="2100" b="1" dirty="0">
                      <a:solidFill>
                        <a:srgbClr val="92400E"/>
                      </a:solidFill>
                      <a:latin typeface="+mn-lt"/>
                      <a:ea typeface="+mn-ea"/>
                      <a:cs typeface="+mn-cs"/>
                    </a:rPr>
                    <a:t>, là tập hợp không chứa bất kì phần tử nào.</a:t>
                  </a:r>
                </a:p>
              </p:txBody>
            </p:sp>
          </mc:Choice>
        </mc:AlternateContent>
        <p:sp>
          <p:nvSpPr>
            <p:cNvPr id="15" name="Rectangle 15"/>
            <p:cNvSpPr/>
            <p:nvPr/>
          </p:nvSpPr>
          <p:spPr>
            <a:xfrm>
              <a:off x="476250" y="3905250"/>
              <a:ext cx="11239500" cy="2476500"/>
            </a:xfrm>
            <a:prstGeom prst="roundRect">
              <a:avLst>
                <a:gd name="adj" fmla="val 6923"/>
              </a:avLst>
            </a:prstGeom>
            <a:solidFill>
              <a:srgbClr val="FFFFFF"/>
            </a:solidFill>
            <a:ln w="19050">
              <a:solidFill>
                <a:srgbClr val="CBD5E1"/>
              </a:solidFill>
            </a:ln>
          </p:spPr>
        </p:sp>
        <p:sp>
          <p:nvSpPr>
            <p:cNvPr id="16" name="TextBox 16"/>
            <p:cNvSpPr txBox="1"/>
            <p:nvPr/>
          </p:nvSpPr>
          <p:spPr>
            <a:xfrm>
              <a:off x="798195" y="4090988"/>
              <a:ext cx="7081406"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 HAI CÁCH XÁC ĐỊNH TẬP HỢP (SGK KNTT)</a:t>
              </a:r>
            </a:p>
          </p:txBody>
        </p:sp>
        <p:sp>
          <p:nvSpPr>
            <p:cNvPr id="17" name="Rectangle 17"/>
            <p:cNvSpPr/>
            <p:nvPr/>
          </p:nvSpPr>
          <p:spPr>
            <a:xfrm>
              <a:off x="809625" y="4524375"/>
              <a:ext cx="5048250" cy="1666875"/>
            </a:xfrm>
            <a:prstGeom prst="roundRect">
              <a:avLst>
                <a:gd name="adj" fmla="val 8000"/>
              </a:avLst>
            </a:prstGeom>
            <a:solidFill>
              <a:srgbClr val="F8FAFC"/>
            </a:solidFill>
            <a:ln w="14288">
              <a:solidFill>
                <a:srgbClr val="E2E8F0"/>
              </a:solidFill>
            </a:ln>
          </p:spPr>
        </p:sp>
        <p:sp>
          <p:nvSpPr>
            <p:cNvPr id="18" name="TextBox 18"/>
            <p:cNvSpPr txBox="1"/>
            <p:nvPr/>
          </p:nvSpPr>
          <p:spPr>
            <a:xfrm>
              <a:off x="1037082" y="4726305"/>
              <a:ext cx="3871392"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CÁCH 1: LIỆT KÊ PHẦN TỬ</a:t>
              </a:r>
            </a:p>
          </p:txBody>
        </p:sp>
        <mc:AlternateContent xmlns:mc="http://schemas.openxmlformats.org/markup-compatibility/2006">
          <mc:Choice xmlns:a14="http://schemas.microsoft.com/office/drawing/2010/main" Requires="a14">
            <p:sp>
              <p:nvSpPr>
                <p:cNvPr id="19" name="TextBox 19"/>
                <p:cNvSpPr txBox="1"/>
                <p:nvPr/>
              </p:nvSpPr>
              <p:spPr>
                <a:xfrm>
                  <a:off x="1037082" y="5141595"/>
                  <a:ext cx="5276658"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Viết trong dấu </a:t>
                  </a: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cách nhau bởi dấu </a:t>
                  </a: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oMath>
                  </a14:m>
                </a:p>
              </p:txBody>
            </p:sp>
          </mc:Choice>
        </mc:AlternateContent>
        <mc:AlternateContent xmlns:mc="http://schemas.openxmlformats.org/markup-compatibility/2006">
          <mc:Choice xmlns:a14="http://schemas.microsoft.com/office/drawing/2010/main" Requires="a14">
            <p:sp>
              <p:nvSpPr>
                <p:cNvPr id="20" name="TextBox 20"/>
                <p:cNvSpPr txBox="1"/>
                <p:nvPr/>
              </p:nvSpPr>
              <p:spPr>
                <a:xfrm>
                  <a:off x="1037082" y="5570220"/>
                  <a:ext cx="2602796" cy="437388"/>
                </a:xfrm>
                <a:prstGeom prst="rect">
                  <a:avLst/>
                </a:prstGeom>
                <a:noFill/>
                <a:ln>
                  <a:noFill/>
                </a:ln>
              </p:spPr>
              <p:txBody>
                <a:bodyPr wrap="none" lIns="0" tIns="0" rIns="0" bIns="0" anchor="t" anchorCtr="0">
                  <a:spAutoFit/>
                </a:bodyPr>
                <a:lstStyle/>
                <a:p>
                  <a:pPr algn="l"/>
                  <a:r>
                    <a:rPr lang="vi-VN" sz="2100" b="1" dirty="0">
                      <a:solidFill>
                        <a:srgbClr val="2563EB"/>
                      </a:solidFill>
                      <a:latin typeface="+mn-lt"/>
                      <a:ea typeface="+mn-ea"/>
                      <a:cs typeface="+mn-cs"/>
                    </a:rPr>
                    <a:t xml:space="preserve">VD: </a:t>
                  </a:r>
                  <a14:m>
                    <m:oMath xmlns:a="http://schemas.openxmlformats.org/drawingml/2006/main" xmlns:m="http://schemas.openxmlformats.org/officeDocument/2006/math">
                      <m:r>
                        <a:rPr lang="vi-VN" sz="2100" dirty="0">
                          <a:solidFill>
                            <a:srgbClr val="2563EB"/>
                          </a:solidFill>
                          <a:latin typeface="Cambria Math"/>
                          <a:ea typeface="Cambria Math"/>
                          <a:cs typeface="Cambria Math"/>
                        </a:rPr>
                        <m:t>P</m:t>
                      </m:r>
                      <m:r>
                        <m:rPr>
                          <m:sty m:val="p"/>
                        </m:rPr>
                        <a:rPr lang="vi-VN" sz="2100" dirty="0">
                          <a:solidFill>
                            <a:srgbClr val="2563EB"/>
                          </a:solidFill>
                          <a:latin typeface="Cambria Math"/>
                          <a:ea typeface="Cambria Math"/>
                          <a:cs typeface="Cambria Math"/>
                        </a:rPr>
                        <m:t>=</m:t>
                      </m:r>
                      <m:d>
                        <m:dPr>
                          <m:begChr m:val="{"/>
                          <m:sepChr m:val=""/>
                          <m:endChr m:val="}"/>
                          <m:grow m:val="on"/>
                          <m:ctrlPr>
                            <a:rPr lang="vi-VN" sz="2100" dirty="0">
                              <a:solidFill>
                                <a:srgbClr val="2563EB"/>
                              </a:solidFill>
                              <a:latin typeface="Cambria Math"/>
                              <a:ea typeface="Cambria Math"/>
                              <a:cs typeface="Cambria Math"/>
                            </a:rPr>
                          </m:ctrlPr>
                        </m:dPr>
                        <m:e>
                          <m:r>
                            <a:rPr lang="vi-VN" sz="2100" dirty="0">
                              <a:solidFill>
                                <a:srgbClr val="2563EB"/>
                              </a:solidFill>
                              <a:latin typeface="Cambria Math"/>
                              <a:ea typeface="Cambria Math"/>
                              <a:cs typeface="Cambria Math"/>
                            </a:rPr>
                            <m:t>2</m:t>
                          </m:r>
                          <m:r>
                            <m:rPr>
                              <m:sty m:val="p"/>
                            </m:rPr>
                            <a:rPr lang="vi-VN" sz="2100" dirty="0">
                              <a:solidFill>
                                <a:srgbClr val="2563EB"/>
                              </a:solidFill>
                              <a:latin typeface="Cambria Math"/>
                              <a:ea typeface="Cambria Math"/>
                              <a:cs typeface="Cambria Math"/>
                            </a:rPr>
                            <m:t>;</m:t>
                          </m:r>
                          <m:r>
                            <a:rPr lang="vi-VN" sz="2100" dirty="0">
                              <a:solidFill>
                                <a:srgbClr val="2563EB"/>
                              </a:solidFill>
                              <a:latin typeface="Cambria Math"/>
                              <a:ea typeface="Cambria Math"/>
                              <a:cs typeface="Cambria Math"/>
                            </a:rPr>
                            <m:t>3</m:t>
                          </m:r>
                          <m:r>
                            <m:rPr>
                              <m:sty m:val="p"/>
                            </m:rPr>
                            <a:rPr lang="vi-VN" sz="2100" dirty="0">
                              <a:solidFill>
                                <a:srgbClr val="2563EB"/>
                              </a:solidFill>
                              <a:latin typeface="Cambria Math"/>
                              <a:ea typeface="Cambria Math"/>
                              <a:cs typeface="Cambria Math"/>
                            </a:rPr>
                            <m:t>;</m:t>
                          </m:r>
                          <m:r>
                            <a:rPr lang="vi-VN" sz="2100" dirty="0">
                              <a:solidFill>
                                <a:srgbClr val="2563EB"/>
                              </a:solidFill>
                              <a:latin typeface="Cambria Math"/>
                              <a:ea typeface="Cambria Math"/>
                              <a:cs typeface="Cambria Math"/>
                            </a:rPr>
                            <m:t>5</m:t>
                          </m:r>
                          <m:r>
                            <m:rPr>
                              <m:sty m:val="p"/>
                            </m:rPr>
                            <a:rPr lang="vi-VN" sz="2100" dirty="0">
                              <a:solidFill>
                                <a:srgbClr val="2563EB"/>
                              </a:solidFill>
                              <a:latin typeface="Cambria Math"/>
                              <a:ea typeface="Cambria Math"/>
                              <a:cs typeface="Cambria Math"/>
                            </a:rPr>
                            <m:t>;</m:t>
                          </m:r>
                          <m:r>
                            <a:rPr lang="vi-VN" sz="2100" dirty="0">
                              <a:solidFill>
                                <a:srgbClr val="2563EB"/>
                              </a:solidFill>
                              <a:latin typeface="Cambria Math"/>
                              <a:ea typeface="Cambria Math"/>
                              <a:cs typeface="Cambria Math"/>
                            </a:rPr>
                            <m:t>7</m:t>
                          </m:r>
                        </m:e>
                      </m:d>
                    </m:oMath>
                  </a14:m>
                </a:p>
              </p:txBody>
            </p:sp>
          </mc:Choice>
        </mc:AlternateContent>
        <p:sp>
          <p:nvSpPr>
            <p:cNvPr id="21" name="Rectangle 21"/>
            <p:cNvSpPr/>
            <p:nvPr/>
          </p:nvSpPr>
          <p:spPr>
            <a:xfrm>
              <a:off x="6143625" y="4524375"/>
              <a:ext cx="5286375" cy="1666875"/>
            </a:xfrm>
            <a:prstGeom prst="roundRect">
              <a:avLst>
                <a:gd name="adj" fmla="val 8000"/>
              </a:avLst>
            </a:prstGeom>
            <a:solidFill>
              <a:srgbClr val="F8FAFC"/>
            </a:solidFill>
            <a:ln w="14288">
              <a:solidFill>
                <a:srgbClr val="E2E8F0"/>
              </a:solidFill>
            </a:ln>
          </p:spPr>
        </p:sp>
        <p:sp>
          <p:nvSpPr>
            <p:cNvPr id="22" name="TextBox 22"/>
            <p:cNvSpPr txBox="1"/>
            <p:nvPr/>
          </p:nvSpPr>
          <p:spPr>
            <a:xfrm>
              <a:off x="6371082" y="4726305"/>
              <a:ext cx="5912197"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CÁCH 2: CHỈ RA TÍNH CHẤT ĐẶC TRƯNG</a:t>
              </a:r>
            </a:p>
          </p:txBody>
        </p:sp>
        <mc:AlternateContent xmlns:mc="http://schemas.openxmlformats.org/markup-compatibility/2006">
          <mc:Choice xmlns:a14="http://schemas.microsoft.com/office/drawing/2010/main" Requires="a14">
            <p:sp>
              <p:nvSpPr>
                <p:cNvPr id="23" name="TextBox 23"/>
                <p:cNvSpPr txBox="1"/>
                <p:nvPr/>
              </p:nvSpPr>
              <p:spPr>
                <a:xfrm>
                  <a:off x="6371082" y="5128260"/>
                  <a:ext cx="3170112" cy="46405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Dạng: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P</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e>
                          </m:d>
                        </m:e>
                      </m:d>
                    </m:oMath>
                  </a14:m>
                </a:p>
              </p:txBody>
            </p:sp>
          </mc:Choice>
        </mc:AlternateContent>
        <mc:AlternateContent xmlns:mc="http://schemas.openxmlformats.org/markup-compatibility/2006">
          <mc:Choice xmlns:a14="http://schemas.microsoft.com/office/drawing/2010/main" Requires="a14">
            <p:sp>
              <p:nvSpPr>
                <p:cNvPr id="24" name="TextBox 24"/>
                <p:cNvSpPr txBox="1"/>
                <p:nvPr/>
              </p:nvSpPr>
              <p:spPr>
                <a:xfrm>
                  <a:off x="6371082" y="5509679"/>
                  <a:ext cx="3433489" cy="497929"/>
                </a:xfrm>
                <a:prstGeom prst="rect">
                  <a:avLst/>
                </a:prstGeom>
                <a:noFill/>
                <a:ln>
                  <a:noFill/>
                </a:ln>
              </p:spPr>
              <p:txBody>
                <a:bodyPr wrap="none" lIns="0" tIns="0" rIns="0" bIns="0" anchor="t" anchorCtr="0">
                  <a:spAutoFit/>
                </a:bodyPr>
                <a:lstStyle/>
                <a:p>
                  <a:pPr algn="l"/>
                  <a:r>
                    <a:rPr lang="vi-VN" sz="2100" b="1" dirty="0">
                      <a:solidFill>
                        <a:srgbClr val="059669"/>
                      </a:solidFill>
                      <a:latin typeface="+mn-lt"/>
                      <a:ea typeface="+mn-ea"/>
                      <a:cs typeface="+mn-cs"/>
                    </a:rPr>
                    <a:t xml:space="preserve">VD: </a:t>
                  </a:r>
                  <a14:m>
                    <m:oMath xmlns:a="http://schemas.openxmlformats.org/drawingml/2006/main" xmlns:m="http://schemas.openxmlformats.org/officeDocument/2006/math">
                      <m:r>
                        <a:rPr lang="vi-VN" sz="2100" dirty="0">
                          <a:solidFill>
                            <a:srgbClr val="059669"/>
                          </a:solidFill>
                          <a:latin typeface="Cambria Math"/>
                          <a:ea typeface="Cambria Math"/>
                          <a:cs typeface="Cambria Math"/>
                        </a:rPr>
                        <m:t>A</m:t>
                      </m:r>
                      <m:r>
                        <m:rPr>
                          <m:sty m:val="p"/>
                        </m:rPr>
                        <a:rPr lang="vi-VN" sz="2100" dirty="0">
                          <a:solidFill>
                            <a:srgbClr val="059669"/>
                          </a:solidFill>
                          <a:latin typeface="Cambria Math"/>
                          <a:ea typeface="Cambria Math"/>
                          <a:cs typeface="Cambria Math"/>
                        </a:rPr>
                        <m:t>=</m:t>
                      </m:r>
                      <m:d>
                        <m:dPr>
                          <m:begChr m:val="{"/>
                          <m:sepChr m:val=""/>
                          <m:endChr m:val="}"/>
                          <m:grow m:val="on"/>
                          <m:ctrlPr>
                            <a:rPr lang="vi-VN" sz="2100" dirty="0">
                              <a:solidFill>
                                <a:srgbClr val="059669"/>
                              </a:solidFill>
                              <a:latin typeface="Cambria Math"/>
                              <a:ea typeface="Cambria Math"/>
                              <a:cs typeface="Cambria Math"/>
                            </a:rPr>
                          </m:ctrlPr>
                        </m:dPr>
                        <m:e>
                          <m:r>
                            <a:rPr lang="vi-VN" sz="2100" dirty="0">
                              <a:solidFill>
                                <a:srgbClr val="059669"/>
                              </a:solidFill>
                              <a:latin typeface="Cambria Math"/>
                              <a:ea typeface="Cambria Math"/>
                              <a:cs typeface="Cambria Math"/>
                            </a:rPr>
                            <m:t>x</m:t>
                          </m:r>
                          <m:r>
                            <m:rPr>
                              <m:sty m:val="p"/>
                            </m:rPr>
                            <a:rPr lang="vi-VN" sz="2100" dirty="0">
                              <a:solidFill>
                                <a:srgbClr val="059669"/>
                              </a:solidFill>
                              <a:latin typeface="Cambria Math"/>
                              <a:ea typeface="Cambria Math"/>
                              <a:cs typeface="Cambria Math"/>
                            </a:rPr>
                            <m:t>∈</m:t>
                          </m:r>
                          <m:r>
                            <m:rPr>
                              <m:scr m:val="double-struck"/>
                              <m:sty m:val="p"/>
                            </m:rPr>
                            <a:rPr lang="vi-VN" sz="2100" dirty="0">
                              <a:solidFill>
                                <a:srgbClr val="059669"/>
                              </a:solidFill>
                              <a:latin typeface="Cambria Math"/>
                              <a:ea typeface="Cambria Math"/>
                              <a:cs typeface="Cambria Math"/>
                            </a:rPr>
                            <m:t>R</m:t>
                          </m:r>
                          <m:r>
                            <m:rPr>
                              <m:sty m:val="p"/>
                            </m:rPr>
                            <a:rPr lang="vi-VN" sz="2100" dirty="0">
                              <a:solidFill>
                                <a:srgbClr val="059669"/>
                              </a:solidFill>
                              <a:latin typeface="Cambria Math"/>
                              <a:ea typeface="Cambria Math"/>
                              <a:cs typeface="Cambria Math"/>
                            </a:rPr>
                            <m:t>∣</m:t>
                          </m:r>
                          <m:sSup>
                            <m:e>
                              <m:r>
                                <a:rPr lang="vi-VN" sz="2100" dirty="0">
                                  <a:solidFill>
                                    <a:srgbClr val="059669"/>
                                  </a:solidFill>
                                  <a:latin typeface="Cambria Math"/>
                                  <a:ea typeface="Cambria Math"/>
                                  <a:cs typeface="Cambria Math"/>
                                </a:rPr>
                                <m:t>x</m:t>
                              </m:r>
                            </m:e>
                            <m:sup>
                              <m:r>
                                <a:rPr lang="vi-VN" sz="2100" dirty="0">
                                  <a:solidFill>
                                    <a:srgbClr val="059669"/>
                                  </a:solidFill>
                                  <a:latin typeface="Cambria Math"/>
                                  <a:ea typeface="Cambria Math"/>
                                  <a:cs typeface="Cambria Math"/>
                                </a:rPr>
                                <m:t>2</m:t>
                              </m:r>
                            </m:sup>
                          </m:sSup>
                          <m:r>
                            <m:rPr>
                              <m:sty m:val="p"/>
                            </m:rPr>
                            <a:rPr lang="vi-VN" sz="2100" dirty="0">
                              <a:solidFill>
                                <a:srgbClr val="059669"/>
                              </a:solidFill>
                              <a:latin typeface="Cambria Math"/>
                              <a:ea typeface="Cambria Math"/>
                              <a:cs typeface="Cambria Math"/>
                            </a:rPr>
                            <m:t>−</m:t>
                          </m:r>
                          <m:r>
                            <a:rPr lang="vi-VN" sz="2100" dirty="0">
                              <a:solidFill>
                                <a:srgbClr val="059669"/>
                              </a:solidFill>
                              <a:latin typeface="Cambria Math"/>
                              <a:ea typeface="Cambria Math"/>
                              <a:cs typeface="Cambria Math"/>
                            </a:rPr>
                            <m:t>4</m:t>
                          </m:r>
                          <m:r>
                            <m:rPr>
                              <m:sty m:val="p"/>
                            </m:rPr>
                            <a:rPr lang="vi-VN" sz="2100" dirty="0">
                              <a:solidFill>
                                <a:srgbClr val="059669"/>
                              </a:solidFill>
                              <a:latin typeface="Cambria Math"/>
                              <a:ea typeface="Cambria Math"/>
                              <a:cs typeface="Cambria Math"/>
                            </a:rPr>
                            <m:t>=</m:t>
                          </m:r>
                          <m:r>
                            <a:rPr lang="vi-VN" sz="2100" dirty="0">
                              <a:solidFill>
                                <a:srgbClr val="059669"/>
                              </a:solidFill>
                              <a:latin typeface="Cambria Math"/>
                              <a:ea typeface="Cambria Math"/>
                              <a:cs typeface="Cambria Math"/>
                            </a:rPr>
                            <m:t>0</m:t>
                          </m:r>
                        </m:e>
                      </m:d>
                    </m:oMath>
                  </a14:m>
                </a:p>
              </p:txBody>
            </p:sp>
          </mc:Choice>
        </mc:AlternateContent>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68710" y="459105"/>
              <a:ext cx="143433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1.b,c</a:t>
              </a:r>
            </a:p>
          </p:txBody>
        </p:sp>
        <p:sp>
          <p:nvSpPr>
            <p:cNvPr id="7" name="TextBox 7"/>
            <p:cNvSpPr txBox="1"/>
            <p:nvPr/>
          </p:nvSpPr>
          <p:spPr>
            <a:xfrm>
              <a:off x="2036445" y="452438"/>
              <a:ext cx="9249968"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1. CÁC KHÁI NIỆM CƠ BẢN: b. Tập con &amp; c. Hai tập bằng nhau</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4597187"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 ĐỊNH NGHĨA TẬP HỢP CON</a:t>
              </a:r>
            </a:p>
          </p:txBody>
        </p:sp>
        <p:sp>
          <p:nvSpPr>
            <p:cNvPr id="11" name="TextBox 11"/>
            <p:cNvSpPr txBox="1"/>
            <p:nvPr/>
          </p:nvSpPr>
          <p:spPr>
            <a:xfrm>
              <a:off x="798957" y="1964055"/>
              <a:ext cx="492304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Nếu mọi phần tử của A đều thuộc B:</a:t>
              </a:r>
            </a:p>
          </p:txBody>
        </p:sp>
        <mc:AlternateContent xmlns:mc="http://schemas.openxmlformats.org/markup-compatibility/2006">
          <mc:Choice xmlns:a14="http://schemas.microsoft.com/office/drawing/2010/main" Requires="a14">
            <p:sp>
              <p:nvSpPr>
                <p:cNvPr id="12" name="TextBox 12"/>
                <p:cNvSpPr txBox="1"/>
                <p:nvPr/>
              </p:nvSpPr>
              <p:spPr>
                <a:xfrm>
                  <a:off x="797433" y="2407920"/>
                  <a:ext cx="5269314" cy="469392"/>
                </a:xfrm>
                <a:prstGeom prst="rect">
                  <a:avLst/>
                </a:prstGeom>
                <a:noFill/>
                <a:ln>
                  <a:noFill/>
                </a:ln>
              </p:spPr>
              <p:txBody>
                <a:bodyPr wrap="none" lIns="0" tIns="0" rIns="0" bIns="0" anchor="t" anchorCtr="0">
                  <a:spAutoFit/>
                </a:bodyPr>
                <a:lstStyle/>
                <a:p>
                  <a:pPr algn="l"/>
                  <a:r>
                    <a:rPr lang="vi-VN" sz="2400" b="1" dirty="0">
                      <a:solidFill>
                        <a:srgbClr val="1E40AF"/>
                      </a:solidFill>
                      <a:latin typeface="+mn-lt"/>
                      <a:ea typeface="+mn-ea"/>
                      <a:cs typeface="+mn-cs"/>
                    </a:rPr>
                    <a:t xml:space="preserve">Ta viết: </a:t>
                  </a:r>
                  <a14:m>
                    <m:oMath xmlns:a="http://schemas.openxmlformats.org/drawingml/2006/main" xmlns:m="http://schemas.openxmlformats.org/officeDocument/2006/math">
                      <m:r>
                        <a:rPr lang="vi-VN" sz="2400" dirty="0">
                          <a:solidFill>
                            <a:srgbClr val="1E40AF"/>
                          </a:solidFill>
                          <a:latin typeface="Cambria Math"/>
                          <a:ea typeface="Cambria Math"/>
                          <a:cs typeface="Cambria Math"/>
                        </a:rPr>
                        <m:t>A</m:t>
                      </m:r>
                      <m:r>
                        <m:rPr>
                          <m:sty m:val="p"/>
                        </m:rPr>
                        <a:rPr lang="vi-VN" sz="2400" dirty="0">
                          <a:solidFill>
                            <a:srgbClr val="1E40AF"/>
                          </a:solidFill>
                          <a:latin typeface="Cambria Math"/>
                          <a:ea typeface="Cambria Math"/>
                          <a:cs typeface="Cambria Math"/>
                        </a:rPr>
                        <m:t>⊂</m:t>
                      </m:r>
                      <m:r>
                        <a:rPr lang="vi-VN" sz="2400" dirty="0">
                          <a:solidFill>
                            <a:srgbClr val="1E40AF"/>
                          </a:solidFill>
                          <a:latin typeface="Cambria Math"/>
                          <a:ea typeface="Cambria Math"/>
                          <a:cs typeface="Cambria Math"/>
                        </a:rPr>
                        <m:t>B</m:t>
                      </m:r>
                    </m:oMath>
                  </a14:m>
                  <a:r>
                    <a:rPr lang="vi-VN" sz="2400" b="1" dirty="0">
                      <a:solidFill>
                        <a:srgbClr val="1E40AF"/>
                      </a:solidFill>
                      <a:latin typeface="+mn-lt"/>
                      <a:ea typeface="+mn-ea"/>
                      <a:cs typeface="+mn-cs"/>
                    </a:rPr>
                    <a:t xml:space="preserve"> (A là tập con của B)</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98957" y="2855595"/>
                  <a:ext cx="4210492" cy="43738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Logic: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r>
                        <m:rPr>
                          <m:sty m:val="p"/>
                        </m:rPr>
                        <a:rPr lang="vi-VN" sz="2100" dirty="0">
                          <a:solidFill>
                            <a:srgbClr val="475569"/>
                          </a:solidFill>
                          <a:latin typeface="Cambria Math"/>
                          <a:ea typeface="Cambria Math"/>
                          <a:cs typeface="Cambria Math"/>
                        </a:rPr>
                        <m:t>⇔</m:t>
                      </m:r>
                      <m:d>
                        <m:dPr>
                          <m:begChr m:val="("/>
                          <m:sepChr m:val=""/>
                          <m:endChr m:val=")"/>
                          <m:grow m:val="on"/>
                          <m:ctrlPr>
                            <a:rPr lang="vi-VN" sz="2100" dirty="0">
                              <a:solidFill>
                                <a:srgbClr val="475569"/>
                              </a:solidFill>
                              <a:latin typeface="Cambria Math"/>
                              <a:ea typeface="Cambria Math"/>
                              <a:cs typeface="Cambria Math"/>
                            </a:rPr>
                          </m:ctrlPr>
                        </m:dPr>
                        <m:e>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e>
                      </m:d>
                    </m:oMath>
                  </a14:m>
                </a:p>
              </p:txBody>
            </p:sp>
          </mc:Choice>
        </mc:AlternateContent>
        <p:sp>
          <p:nvSpPr>
            <p:cNvPr id="14" name="Line 14"/>
            <p:cNvSpPr/>
            <p:nvPr/>
          </p:nvSpPr>
          <p:spPr>
            <a:xfrm>
              <a:off x="809625" y="3381375"/>
              <a:ext cx="5667375" cy="9525"/>
            </a:xfrm>
            <a:custGeom>
              <a:avLst/>
              <a:gdLst/>
              <a:ahLst/>
              <a:cxnLst/>
              <a:rect l="l" t="t" r="r" b="b"/>
              <a:pathLst>
                <a:path w="5667375" h="9525">
                  <a:moveTo>
                    <a:pt x="0" y="0"/>
                  </a:moveTo>
                  <a:lnTo>
                    <a:pt x="5667375" y="0"/>
                  </a:lnTo>
                </a:path>
              </a:pathLst>
            </a:custGeom>
            <a:noFill/>
            <a:ln w="19050">
              <a:solidFill>
                <a:srgbClr val="E2E8F0"/>
              </a:solidFill>
            </a:ln>
          </p:spPr>
        </p:sp>
        <p:sp>
          <p:nvSpPr>
            <p:cNvPr id="15" name="TextBox 15"/>
            <p:cNvSpPr txBox="1"/>
            <p:nvPr/>
          </p:nvSpPr>
          <p:spPr>
            <a:xfrm>
              <a:off x="798195" y="3614738"/>
              <a:ext cx="5823357" cy="44005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c. TÍNH CHẤT &amp; HAI TẬP BẰNG NHAU</a:t>
              </a:r>
            </a:p>
          </p:txBody>
        </p:sp>
        <mc:AlternateContent xmlns:mc="http://schemas.openxmlformats.org/markup-compatibility/2006">
          <mc:Choice xmlns:a14="http://schemas.microsoft.com/office/drawing/2010/main" Requires="a14">
            <p:sp>
              <p:nvSpPr>
                <p:cNvPr id="16" name="TextBox 16"/>
                <p:cNvSpPr txBox="1"/>
                <p:nvPr/>
              </p:nvSpPr>
              <p:spPr>
                <a:xfrm>
                  <a:off x="798957" y="4107180"/>
                  <a:ext cx="8366475"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Quy ước: </a:t>
                  </a: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oMath>
                  </a14:m>
                  <a:r>
                    <a:rPr lang="vi-VN" sz="2100" b="1" dirty="0">
                      <a:solidFill>
                        <a:srgbClr val="0F172A"/>
                      </a:solidFill>
                      <a:latin typeface="+mn-lt"/>
                      <a:ea typeface="+mn-ea"/>
                      <a:cs typeface="+mn-cs"/>
                    </a:rPr>
                    <a:t xml:space="preserve"> và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oMath>
                  </a14:m>
                  <a:r>
                    <a:rPr lang="vi-VN" sz="2100" b="1" dirty="0">
                      <a:solidFill>
                        <a:srgbClr val="0F172A"/>
                      </a:solidFill>
                      <a:latin typeface="+mn-lt"/>
                      <a:ea typeface="+mn-ea"/>
                      <a:cs typeface="+mn-cs"/>
                    </a:rPr>
                    <a:t xml:space="preserve"> (với mọi tập A).</a:t>
                  </a:r>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798957" y="4583430"/>
                  <a:ext cx="5204449"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 xml:space="preserve">Tính bắc cầu: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C</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C</m:t>
                      </m:r>
                    </m:oMath>
                  </a14:m>
                </a:p>
              </p:txBody>
            </p:sp>
          </mc:Choice>
        </mc:AlternateContent>
        <p:sp>
          <p:nvSpPr>
            <p:cNvPr id="18" name="TextBox 18"/>
            <p:cNvSpPr txBox="1"/>
            <p:nvPr/>
          </p:nvSpPr>
          <p:spPr>
            <a:xfrm>
              <a:off x="798957" y="5154930"/>
              <a:ext cx="4250453" cy="410718"/>
            </a:xfrm>
            <a:prstGeom prst="rect">
              <a:avLst/>
            </a:prstGeom>
            <a:noFill/>
            <a:ln>
              <a:noFill/>
            </a:ln>
          </p:spPr>
          <p:txBody>
            <a:bodyPr wrap="none" lIns="0" tIns="0" rIns="0" bIns="0" anchor="t" anchorCtr="0">
              <a:spAutoFit/>
            </a:bodyPr>
            <a:lstStyle/>
            <a:p>
              <a:pPr algn="l" marL="167461" indent="-167461">
                <a:buClr>
                  <a:srgbClr val="047857"/>
                </a:buClr>
                <a:buSzTx/>
                <a:buFontTx/>
                <a:buChar char="•"/>
              </a:pPr>
              <a:r>
                <a:rPr lang="vi-VN" sz="2100" b="1" dirty="0">
                  <a:solidFill>
                    <a:srgbClr val="047857"/>
                  </a:solidFill>
                  <a:latin typeface="+mn-lt"/>
                  <a:ea typeface="+mn-ea"/>
                  <a:cs typeface="+mn-cs"/>
                </a:rPr>
                <a:t>Định nghĩa hai tập bằng nhau:</a:t>
              </a:r>
            </a:p>
          </p:txBody>
        </p:sp>
        <mc:AlternateContent xmlns:mc="http://schemas.openxmlformats.org/markup-compatibility/2006">
          <mc:Choice xmlns:a14="http://schemas.microsoft.com/office/drawing/2010/main" Requires="a14">
            <p:sp>
              <p:nvSpPr>
                <p:cNvPr id="19" name="TextBox 19"/>
                <p:cNvSpPr txBox="1"/>
                <p:nvPr/>
              </p:nvSpPr>
              <p:spPr>
                <a:xfrm>
                  <a:off x="798195" y="5600700"/>
                  <a:ext cx="3561228" cy="46863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250" dirty="0">
                          <a:solidFill>
                            <a:srgbClr val="047857"/>
                          </a:solidFill>
                          <a:latin typeface="Cambria Math"/>
                          <a:ea typeface="Cambria Math"/>
                          <a:cs typeface="Cambria Math"/>
                        </a:rPr>
                        <m:t>A</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r>
                        <m:rPr>
                          <m:sty m:val="p"/>
                        </m:rPr>
                        <a:rPr lang="vi-VN" sz="2250" dirty="0">
                          <a:solidFill>
                            <a:srgbClr val="047857"/>
                          </a:solidFill>
                          <a:latin typeface="Cambria Math"/>
                          <a:ea typeface="Cambria Math"/>
                          <a:cs typeface="Cambria Math"/>
                        </a:rPr>
                        <m:t>⇔</m:t>
                      </m:r>
                      <m:d>
                        <m:dPr>
                          <m:begChr m:val="("/>
                          <m:sepChr m:val=""/>
                          <m:endChr m:val=")"/>
                          <m:grow m:val="on"/>
                          <m:ctrlPr>
                            <a:rPr lang="vi-VN" sz="2250" dirty="0">
                              <a:solidFill>
                                <a:srgbClr val="047857"/>
                              </a:solidFill>
                              <a:latin typeface="Cambria Math"/>
                              <a:ea typeface="Cambria Math"/>
                              <a:cs typeface="Cambria Math"/>
                            </a:rPr>
                          </m:ctrlPr>
                        </m:dPr>
                        <m:e>
                          <m:r>
                            <a:rPr lang="vi-VN" sz="2250" dirty="0">
                              <a:solidFill>
                                <a:srgbClr val="047857"/>
                              </a:solidFill>
                              <a:latin typeface="Cambria Math"/>
                              <a:ea typeface="Cambria Math"/>
                              <a:cs typeface="Cambria Math"/>
                            </a:rPr>
                            <m:t>A</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A</m:t>
                          </m:r>
                        </m:e>
                      </m:d>
                    </m:oMath>
                  </a14:m>
                </a:p>
              </p:txBody>
            </p:sp>
          </mc:Choice>
        </mc:AlternateContent>
        <p:sp>
          <p:nvSpPr>
            <p:cNvPr id="20" name="Rectangle 20"/>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1" name="TextBox 21"/>
            <p:cNvSpPr txBox="1"/>
            <p:nvPr/>
          </p:nvSpPr>
          <p:spPr>
            <a:xfrm>
              <a:off x="7177720" y="1423988"/>
              <a:ext cx="4504060"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BIỂU ĐỒ VEN (HÌNH 1.2 SGK)</a:t>
              </a:r>
            </a:p>
          </p:txBody>
        </p:sp>
        <p:pic>
          <p:nvPicPr>
            <p:cNvPr id="22" name="Image 22"/>
            <p:cNvPicPr>
              <a:picLocks noChangeAspect="1"/>
            </p:cNvPicPr>
            <p:nvPr/>
          </p:nvPicPr>
          <p:blipFill>
            <a:blip r:embed="rId2"/>
            <a:stretch>
              <a:fillRect/>
            </a:stretch>
          </p:blipFill>
          <p:spPr>
            <a:xfrm>
              <a:off x="7334250" y="1882917"/>
              <a:ext cx="4191000" cy="2949292"/>
            </a:xfrm>
            <a:prstGeom prst="rect">
              <a:avLst/>
            </a:prstGeom>
          </p:spPr>
        </p:pic>
        <p:sp>
          <p:nvSpPr>
            <p:cNvPr id="23" name="Rectangle 23"/>
            <p:cNvSpPr/>
            <p:nvPr/>
          </p:nvSpPr>
          <p:spPr>
            <a:xfrm>
              <a:off x="7381875" y="5095875"/>
              <a:ext cx="4095750" cy="1047750"/>
            </a:xfrm>
            <a:prstGeom prst="roundRect">
              <a:avLst>
                <a:gd name="adj" fmla="val 12727"/>
              </a:avLst>
            </a:prstGeom>
            <a:solidFill>
              <a:srgbClr val="EFF6FF"/>
            </a:solidFill>
            <a:ln w="14288">
              <a:solidFill>
                <a:srgbClr val="BFDBFE"/>
              </a:solidFill>
            </a:ln>
          </p:spPr>
        </p:sp>
        <p:sp>
          <p:nvSpPr>
            <p:cNvPr id="24" name="TextBox 24"/>
            <p:cNvSpPr txBox="1"/>
            <p:nvPr/>
          </p:nvSpPr>
          <p:spPr>
            <a:xfrm>
              <a:off x="7542140" y="5250180"/>
              <a:ext cx="3775221" cy="410718"/>
            </a:xfrm>
            <a:prstGeom prst="rect">
              <a:avLst/>
            </a:prstGeom>
            <a:noFill/>
            <a:ln>
              <a:noFill/>
            </a:ln>
          </p:spPr>
          <p:txBody>
            <a:bodyPr wrap="none" lIns="0" tIns="0" rIns="0" bIns="0" anchor="t" anchorCtr="0">
              <a:spAutoFit/>
            </a:bodyPr>
            <a:lstStyle/>
            <a:p>
              <a:pPr algn="ctr"/>
              <a:r>
                <a:rPr lang="vi-VN" sz="2100" b="1" dirty="0">
                  <a:solidFill>
                    <a:srgbClr val="1E40AF"/>
                  </a:solidFill>
                  <a:latin typeface="+mn-lt"/>
                  <a:ea typeface="+mn-ea"/>
                  <a:cs typeface="+mn-cs"/>
                </a:rPr>
                <a:t>Tập A nằm trọn vẹn trong B</a:t>
              </a:r>
            </a:p>
          </p:txBody>
        </p:sp>
        <mc:AlternateContent xmlns:mc="http://schemas.openxmlformats.org/markup-compatibility/2006">
          <mc:Choice xmlns:a14="http://schemas.microsoft.com/office/drawing/2010/main" Requires="a14">
            <p:sp>
              <p:nvSpPr>
                <p:cNvPr id="25" name="TextBox 25"/>
                <p:cNvSpPr txBox="1"/>
                <p:nvPr/>
              </p:nvSpPr>
              <p:spPr>
                <a:xfrm>
                  <a:off x="8469413" y="5678805"/>
                  <a:ext cx="1920673" cy="410718"/>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oMath>
                  </a14:m>
                </a:p>
              </p:txBody>
            </p:sp>
          </mc:Choice>
        </mc:AlternateContent>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93845" y="459105"/>
              <a:ext cx="1184059"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2.a</a:t>
              </a:r>
            </a:p>
          </p:txBody>
        </p:sp>
        <p:sp>
          <p:nvSpPr>
            <p:cNvPr id="7" name="TextBox 7"/>
            <p:cNvSpPr txBox="1"/>
            <p:nvPr/>
          </p:nvSpPr>
          <p:spPr>
            <a:xfrm>
              <a:off x="2036445" y="452438"/>
              <a:ext cx="8321877"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2. CÁC TẬP HỢP SỐ: a. Mối quan hệ giữa các tập hợp số</a:t>
              </a:r>
            </a:p>
          </p:txBody>
        </p:sp>
      </p:grpSp>
      <p:grpSp>
        <p:nvGrpSpPr>
          <p:cNvPr id="28" name="content"/>
          <p:cNvGrpSpPr/>
          <p:nvPr/>
        </p:nvGrpSpPr>
        <p:grpSpPr>
          <a:xfrm>
            <a:off x="476250" y="1143000"/>
            <a:ext cx="11239500" cy="5340858"/>
            <a:chOff x="476250" y="1143000"/>
            <a:chExt cx="11239500" cy="5340858"/>
          </a:xfrm>
        </p:grpSpPr>
        <p:sp>
          <p:nvSpPr>
            <p:cNvPr id="9" name="Rectangle 9"/>
            <p:cNvSpPr/>
            <p:nvPr/>
          </p:nvSpPr>
          <p:spPr>
            <a:xfrm>
              <a:off x="476250" y="1143000"/>
              <a:ext cx="11239500" cy="666750"/>
            </a:xfrm>
            <a:prstGeom prst="roundRect">
              <a:avLst>
                <a:gd name="adj" fmla="val 20000"/>
              </a:avLst>
            </a:prstGeom>
            <a:solidFill>
              <a:srgbClr val="EFF6FF"/>
            </a:solidFill>
            <a:ln w="19050">
              <a:solidFill>
                <a:srgbClr val="2563EB"/>
              </a:solidFill>
            </a:ln>
          </p:spPr>
        </p:sp>
        <mc:AlternateContent xmlns:mc="http://schemas.openxmlformats.org/markup-compatibility/2006">
          <mc:Choice xmlns:a14="http://schemas.microsoft.com/office/drawing/2010/main" Requires="a14">
            <p:sp>
              <p:nvSpPr>
                <p:cNvPr id="10" name="TextBox 10"/>
                <p:cNvSpPr txBox="1"/>
                <p:nvPr/>
              </p:nvSpPr>
              <p:spPr>
                <a:xfrm>
                  <a:off x="4742688" y="1241889"/>
                  <a:ext cx="2706624" cy="572243"/>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sSup>
                        <m:e>
                          <m:r>
                            <m:rPr>
                              <m:scr m:val="double-struck"/>
                              <m:sty m:val="p"/>
                            </m:rPr>
                            <a:rPr lang="vi-VN" sz="2550" dirty="0">
                              <a:solidFill>
                                <a:srgbClr val="1D4ED8"/>
                              </a:solidFill>
                              <a:latin typeface="Cambria Math"/>
                              <a:ea typeface="Cambria Math"/>
                              <a:cs typeface="Cambria Math"/>
                            </a:rPr>
                            <m:t>N</m:t>
                          </m:r>
                        </m:e>
                        <m:sup>
                          <m:r>
                            <m:rPr>
                              <m:sty m:val="p"/>
                            </m:rPr>
                            <a:rPr lang="vi-VN" sz="2550" dirty="0">
                              <a:solidFill>
                                <a:srgbClr val="1D4ED8"/>
                              </a:solidFill>
                              <a:latin typeface="Cambria Math"/>
                              <a:ea typeface="Cambria Math"/>
                              <a:cs typeface="Cambria Math"/>
                            </a:rPr>
                            <m:t>*</m:t>
                          </m:r>
                        </m:sup>
                      </m:sSup>
                      <m:r>
                        <m:rPr>
                          <m:sty m:val="p"/>
                        </m:rPr>
                        <a:rPr lang="vi-VN" sz="2550" dirty="0">
                          <a:solidFill>
                            <a:srgbClr val="1D4ED8"/>
                          </a:solidFill>
                          <a:latin typeface="Cambria Math"/>
                          <a:ea typeface="Cambria Math"/>
                          <a:cs typeface="Cambria Math"/>
                        </a:rPr>
                        <m:t>⊂</m:t>
                      </m:r>
                      <m:r>
                        <m:rPr>
                          <m:scr m:val="double-struck"/>
                          <m:sty m:val="p"/>
                        </m:rPr>
                        <a:rPr lang="vi-VN" sz="2550" dirty="0">
                          <a:solidFill>
                            <a:srgbClr val="1D4ED8"/>
                          </a:solidFill>
                          <a:latin typeface="Cambria Math"/>
                          <a:ea typeface="Cambria Math"/>
                          <a:cs typeface="Cambria Math"/>
                        </a:rPr>
                        <m:t>N</m:t>
                      </m:r>
                      <m:r>
                        <m:rPr>
                          <m:sty m:val="p"/>
                        </m:rPr>
                        <a:rPr lang="vi-VN" sz="2550" dirty="0">
                          <a:solidFill>
                            <a:srgbClr val="1D4ED8"/>
                          </a:solidFill>
                          <a:latin typeface="Cambria Math"/>
                          <a:ea typeface="Cambria Math"/>
                          <a:cs typeface="Cambria Math"/>
                        </a:rPr>
                        <m:t>⊂</m:t>
                      </m:r>
                      <m:r>
                        <m:rPr>
                          <m:scr m:val="double-struck"/>
                          <m:sty m:val="p"/>
                        </m:rPr>
                        <a:rPr lang="vi-VN" sz="2550" dirty="0">
                          <a:solidFill>
                            <a:srgbClr val="1D4ED8"/>
                          </a:solidFill>
                          <a:latin typeface="Cambria Math"/>
                          <a:ea typeface="Cambria Math"/>
                          <a:cs typeface="Cambria Math"/>
                        </a:rPr>
                        <m:t>Z</m:t>
                      </m:r>
                      <m:r>
                        <m:rPr>
                          <m:sty m:val="p"/>
                        </m:rPr>
                        <a:rPr lang="vi-VN" sz="2550" dirty="0">
                          <a:solidFill>
                            <a:srgbClr val="1D4ED8"/>
                          </a:solidFill>
                          <a:latin typeface="Cambria Math"/>
                          <a:ea typeface="Cambria Math"/>
                          <a:cs typeface="Cambria Math"/>
                        </a:rPr>
                        <m:t>⊂</m:t>
                      </m:r>
                      <m:r>
                        <m:rPr>
                          <m:scr m:val="double-struck"/>
                          <m:sty m:val="p"/>
                        </m:rPr>
                        <a:rPr lang="vi-VN" sz="2550" dirty="0">
                          <a:solidFill>
                            <a:srgbClr val="1D4ED8"/>
                          </a:solidFill>
                          <a:latin typeface="Cambria Math"/>
                          <a:ea typeface="Cambria Math"/>
                          <a:cs typeface="Cambria Math"/>
                        </a:rPr>
                        <m:t>Q</m:t>
                      </m:r>
                      <m:r>
                        <m:rPr>
                          <m:sty m:val="p"/>
                        </m:rPr>
                        <a:rPr lang="vi-VN" sz="2550" dirty="0">
                          <a:solidFill>
                            <a:srgbClr val="1D4ED8"/>
                          </a:solidFill>
                          <a:latin typeface="Cambria Math"/>
                          <a:ea typeface="Cambria Math"/>
                          <a:cs typeface="Cambria Math"/>
                        </a:rPr>
                        <m:t>⊂</m:t>
                      </m:r>
                      <m:r>
                        <m:rPr>
                          <m:scr m:val="double-struck"/>
                          <m:sty m:val="p"/>
                        </m:rPr>
                        <a:rPr lang="vi-VN" sz="2550" dirty="0">
                          <a:solidFill>
                            <a:srgbClr val="1D4ED8"/>
                          </a:solidFill>
                          <a:latin typeface="Cambria Math"/>
                          <a:ea typeface="Cambria Math"/>
                          <a:cs typeface="Cambria Math"/>
                        </a:rPr>
                        <m:t>R</m:t>
                      </m:r>
                    </m:oMath>
                  </a14:m>
                </a:p>
              </p:txBody>
            </p:sp>
          </mc:Choice>
        </mc:AlternateContent>
        <p:sp>
          <p:nvSpPr>
            <p:cNvPr id="11" name="Rectangle 11"/>
            <p:cNvSpPr/>
            <p:nvPr/>
          </p:nvSpPr>
          <p:spPr>
            <a:xfrm>
              <a:off x="476250" y="1952625"/>
              <a:ext cx="5715000" cy="4429125"/>
            </a:xfrm>
            <a:prstGeom prst="roundRect">
              <a:avLst>
                <a:gd name="adj" fmla="val 3871"/>
              </a:avLst>
            </a:prstGeom>
            <a:solidFill>
              <a:srgbClr val="FFFFFF"/>
            </a:solidFill>
            <a:ln w="19050">
              <a:solidFill>
                <a:srgbClr val="CBD5E1"/>
              </a:solidFill>
            </a:ln>
          </p:spPr>
        </p:sp>
        <p:grpSp>
          <p:nvGrpSpPr>
            <p:cNvPr id="23" name="Group 23"/>
            <p:cNvGrpSpPr/>
            <p:nvPr/>
          </p:nvGrpSpPr>
          <p:grpSpPr>
            <a:xfrm>
              <a:off x="751332" y="2297430"/>
              <a:ext cx="5154168" cy="3934968"/>
              <a:chOff x="751332" y="2297430"/>
              <a:chExt cx="5154168" cy="3934968"/>
            </a:xfrm>
          </p:grpSpPr>
          <mc:AlternateContent xmlns:mc="http://schemas.openxmlformats.org/markup-compatibility/2006">
            <mc:Choice xmlns:a14="http://schemas.microsoft.com/office/drawing/2010/main" Requires="a14">
              <p:sp>
                <p:nvSpPr>
                  <p:cNvPr id="12" name="TextBox 12"/>
                  <p:cNvSpPr txBox="1"/>
                  <p:nvPr/>
                </p:nvSpPr>
                <p:spPr>
                  <a:xfrm>
                    <a:off x="751332" y="2297430"/>
                    <a:ext cx="2222645"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1. Số tự nhiên </a:t>
                    </a:r>
                    <a14:m>
                      <m:oMath xmlns:a="http://schemas.openxmlformats.org/drawingml/2006/main" xmlns:m="http://schemas.openxmlformats.org/officeDocument/2006/math">
                        <m:r>
                          <m:rPr>
                            <m:scr m:val="double-struck"/>
                            <m:sty m:val="p"/>
                          </m:rPr>
                          <a:rPr lang="vi-VN" sz="2100" dirty="0">
                            <a:solidFill>
                              <a:srgbClr val="1E40AF"/>
                            </a:solidFill>
                            <a:latin typeface="Cambria Math"/>
                            <a:ea typeface="Cambria Math"/>
                            <a:cs typeface="Cambria Math"/>
                          </a:rPr>
                          <m:t>N</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3" name="TextBox 13"/>
                  <p:cNvSpPr txBox="1"/>
                  <p:nvPr/>
                </p:nvSpPr>
                <p:spPr>
                  <a:xfrm>
                    <a:off x="751332" y="2617889"/>
                    <a:ext cx="3899272" cy="484594"/>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N</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e>
                        </m:d>
                      </m:oMath>
                    </a14:m>
                    <a:r>
                      <a:rPr lang="vi-VN" sz="2100" b="1" dirty="0">
                        <a:solidFill>
                          <a:srgbClr val="0F172A"/>
                        </a:solidFill>
                        <a:latin typeface="+mn-lt"/>
                        <a:ea typeface="+mn-ea"/>
                        <a:cs typeface="+mn-cs"/>
                      </a:rPr>
                      <a:t xml:space="preserve"> | </a:t>
                    </a:r>
                    <a14:m>
                      <m:oMath xmlns:a="http://schemas.openxmlformats.org/drawingml/2006/main" xmlns:m="http://schemas.openxmlformats.org/officeDocument/2006/math">
                        <m:sSup>
                          <m:e>
                            <m:r>
                              <m:rPr>
                                <m:scr m:val="double-struck"/>
                                <m:sty m:val="p"/>
                              </m:rPr>
                              <a:rPr lang="vi-VN" sz="2100" dirty="0">
                                <a:solidFill>
                                  <a:srgbClr val="0F172A"/>
                                </a:solidFill>
                                <a:latin typeface="Cambria Math"/>
                                <a:ea typeface="Cambria Math"/>
                                <a:cs typeface="Cambria Math"/>
                              </a:rPr>
                              <m:t>N</m:t>
                            </m:r>
                          </m:e>
                          <m:sup>
                            <m:r>
                              <m:rPr>
                                <m:sty m:val="p"/>
                              </m:rPr>
                              <a:rPr lang="vi-VN" sz="2100" dirty="0">
                                <a:solidFill>
                                  <a:srgbClr val="0F172A"/>
                                </a:solidFill>
                                <a:latin typeface="Cambria Math"/>
                                <a:ea typeface="Cambria Math"/>
                                <a:cs typeface="Cambria Math"/>
                              </a:rPr>
                              <m:t>*</m:t>
                            </m:r>
                          </m:sup>
                        </m:sSup>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e>
                        </m:d>
                      </m:oMath>
                    </a14:m>
                  </a:p>
                </p:txBody>
              </p:sp>
            </mc:Choice>
          </mc:AlternateContent>
          <p:sp>
            <p:nvSpPr>
              <p:cNvPr id="14" name="Line 14"/>
              <p:cNvSpPr/>
              <p:nvPr/>
            </p:nvSpPr>
            <p:spPr>
              <a:xfrm>
                <a:off x="762000" y="3190875"/>
                <a:ext cx="5143500" cy="9525"/>
              </a:xfrm>
              <a:custGeom>
                <a:avLst/>
                <a:gdLst/>
                <a:ahLst/>
                <a:cxnLst/>
                <a:rect l="l" t="t" r="r" b="b"/>
                <a:pathLst>
                  <a:path w="5143500" h="9525">
                    <a:moveTo>
                      <a:pt x="0" y="0"/>
                    </a:moveTo>
                    <a:lnTo>
                      <a:pt x="5143500" y="0"/>
                    </a:lnTo>
                  </a:path>
                </a:pathLst>
              </a:custGeom>
              <a:noFill/>
              <a:ln w="19050">
                <a:solidFill>
                  <a:srgbClr val="F1F5F9"/>
                </a:solidFill>
              </a:ln>
            </p:spPr>
          </p:sp>
          <mc:AlternateContent xmlns:mc="http://schemas.openxmlformats.org/markup-compatibility/2006">
            <mc:Choice xmlns:a14="http://schemas.microsoft.com/office/drawing/2010/main" Requires="a14">
              <p:sp>
                <p:nvSpPr>
                  <p:cNvPr id="15" name="TextBox 15"/>
                  <p:cNvSpPr txBox="1"/>
                  <p:nvPr/>
                </p:nvSpPr>
                <p:spPr>
                  <a:xfrm>
                    <a:off x="751332" y="3345180"/>
                    <a:ext cx="2129529"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2. Số nguyên </a:t>
                    </a:r>
                    <a14:m>
                      <m:oMath xmlns:a="http://schemas.openxmlformats.org/drawingml/2006/main" xmlns:m="http://schemas.openxmlformats.org/officeDocument/2006/math">
                        <m:r>
                          <m:rPr>
                            <m:scr m:val="double-struck"/>
                            <m:sty m:val="p"/>
                          </m:rPr>
                          <a:rPr lang="vi-VN" sz="2100" dirty="0">
                            <a:solidFill>
                              <a:srgbClr val="1E40AF"/>
                            </a:solidFill>
                            <a:latin typeface="Cambria Math"/>
                            <a:ea typeface="Cambria Math"/>
                            <a:cs typeface="Cambria Math"/>
                          </a:rPr>
                          <m:t>Z</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751332" y="3712845"/>
                    <a:ext cx="3208547"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Z</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e>
                        </m:d>
                      </m:oMath>
                    </a14:m>
                  </a:p>
                </p:txBody>
              </p:sp>
            </mc:Choice>
          </mc:AlternateContent>
          <p:sp>
            <p:nvSpPr>
              <p:cNvPr id="17" name="Line 17"/>
              <p:cNvSpPr/>
              <p:nvPr/>
            </p:nvSpPr>
            <p:spPr>
              <a:xfrm>
                <a:off x="762000" y="4238625"/>
                <a:ext cx="5143500" cy="9525"/>
              </a:xfrm>
              <a:custGeom>
                <a:avLst/>
                <a:gdLst/>
                <a:ahLst/>
                <a:cxnLst/>
                <a:rect l="l" t="t" r="r" b="b"/>
                <a:pathLst>
                  <a:path w="5143500" h="9525">
                    <a:moveTo>
                      <a:pt x="0" y="0"/>
                    </a:moveTo>
                    <a:lnTo>
                      <a:pt x="5143500" y="0"/>
                    </a:lnTo>
                  </a:path>
                </a:pathLst>
              </a:custGeom>
              <a:noFill/>
              <a:ln w="19050">
                <a:solidFill>
                  <a:srgbClr val="F1F5F9"/>
                </a:solidFill>
              </a:ln>
            </p:spPr>
          </p:sp>
          <mc:AlternateContent xmlns:mc="http://schemas.openxmlformats.org/markup-compatibility/2006">
            <mc:Choice xmlns:a14="http://schemas.microsoft.com/office/drawing/2010/main" Requires="a14">
              <p:sp>
                <p:nvSpPr>
                  <p:cNvPr id="18" name="TextBox 18"/>
                  <p:cNvSpPr txBox="1"/>
                  <p:nvPr/>
                </p:nvSpPr>
                <p:spPr>
                  <a:xfrm>
                    <a:off x="751332" y="4392930"/>
                    <a:ext cx="1893535"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 xml:space="preserve">3. Số hữu tỉ </a:t>
                    </a:r>
                    <a14:m>
                      <m:oMath xmlns:a="http://schemas.openxmlformats.org/drawingml/2006/main" xmlns:m="http://schemas.openxmlformats.org/officeDocument/2006/math">
                        <m:r>
                          <m:rPr>
                            <m:scr m:val="double-struck"/>
                            <m:sty m:val="p"/>
                          </m:rPr>
                          <a:rPr lang="vi-VN" sz="2100" dirty="0">
                            <a:solidFill>
                              <a:srgbClr val="1E40AF"/>
                            </a:solidFill>
                            <a:latin typeface="Cambria Math"/>
                            <a:ea typeface="Cambria Math"/>
                            <a:cs typeface="Cambria Math"/>
                          </a:rPr>
                          <m:t>Q</m:t>
                        </m:r>
                      </m:oMath>
                    </a14:m>
                    <a:r>
                      <a:rPr lang="vi-VN" sz="2100" b="1" dirty="0">
                        <a:solidFill>
                          <a:srgbClr val="1E40AF"/>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9" name="TextBox 19"/>
                  <p:cNvSpPr txBox="1"/>
                  <p:nvPr/>
                </p:nvSpPr>
                <p:spPr>
                  <a:xfrm>
                    <a:off x="751332" y="4694987"/>
                    <a:ext cx="3062672" cy="643280"/>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cr m:val="double-struck"/>
                            <m:sty m:val="p"/>
                          </m:rPr>
                          <a:rPr lang="vi-VN" sz="2100" dirty="0">
                            <a:solidFill>
                              <a:srgbClr val="0F172A"/>
                            </a:solidFill>
                            <a:latin typeface="Cambria Math"/>
                            <a:ea typeface="Cambria Math"/>
                            <a:cs typeface="Cambria Math"/>
                          </a:rPr>
                          <m:t>Q</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f>
                              <m:fPr>
                                <m:type m:val="bar"/>
                                <m:ctrlPr>
                                  <a:rPr lang="vi-VN" sz="2100" dirty="0">
                                    <a:solidFill>
                                      <a:srgbClr val="0F172A"/>
                                    </a:solidFill>
                                    <a:latin typeface="Cambria Math"/>
                                    <a:ea typeface="Cambria Math"/>
                                    <a:cs typeface="Cambria Math"/>
                                  </a:rPr>
                                </m:ctrlPr>
                              </m:fPr>
                              <m:num>
                                <m:r>
                                  <a:rPr lang="vi-VN" sz="2100" dirty="0">
                                    <a:solidFill>
                                      <a:srgbClr val="0F172A"/>
                                    </a:solidFill>
                                    <a:latin typeface="Cambria Math"/>
                                    <a:ea typeface="Cambria Math"/>
                                    <a:cs typeface="Cambria Math"/>
                                  </a:rPr>
                                  <m:t>a</m:t>
                                </m:r>
                              </m:num>
                              <m:den>
                                <m:r>
                                  <a:rPr lang="vi-VN" sz="2100" dirty="0">
                                    <a:solidFill>
                                      <a:srgbClr val="0F172A"/>
                                    </a:solidFill>
                                    <a:latin typeface="Cambria Math"/>
                                    <a:ea typeface="Cambria Math"/>
                                    <a:cs typeface="Cambria Math"/>
                                  </a:rPr>
                                  <m:t>b</m:t>
                                </m:r>
                              </m:den>
                            </m:f>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Z</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e>
                        </m:d>
                      </m:oMath>
                    </a14:m>
                  </a:p>
                </p:txBody>
              </p:sp>
            </mc:Choice>
          </mc:AlternateContent>
          <p:sp>
            <p:nvSpPr>
              <p:cNvPr id="20" name="Line 20"/>
              <p:cNvSpPr/>
              <p:nvPr/>
            </p:nvSpPr>
            <p:spPr>
              <a:xfrm>
                <a:off x="762000" y="5286375"/>
                <a:ext cx="5143500" cy="9525"/>
              </a:xfrm>
              <a:custGeom>
                <a:avLst/>
                <a:gdLst/>
                <a:ahLst/>
                <a:cxnLst/>
                <a:rect l="l" t="t" r="r" b="b"/>
                <a:pathLst>
                  <a:path w="5143500" h="9525">
                    <a:moveTo>
                      <a:pt x="0" y="0"/>
                    </a:moveTo>
                    <a:lnTo>
                      <a:pt x="5143500" y="0"/>
                    </a:lnTo>
                  </a:path>
                </a:pathLst>
              </a:custGeom>
              <a:noFill/>
              <a:ln w="19050">
                <a:solidFill>
                  <a:srgbClr val="F1F5F9"/>
                </a:solidFill>
              </a:ln>
            </p:spPr>
          </p:sp>
          <mc:AlternateContent xmlns:mc="http://schemas.openxmlformats.org/markup-compatibility/2006">
            <mc:Choice xmlns:a14="http://schemas.microsoft.com/office/drawing/2010/main" Requires="a14">
              <p:sp>
                <p:nvSpPr>
                  <p:cNvPr id="21" name="TextBox 21"/>
                  <p:cNvSpPr txBox="1"/>
                  <p:nvPr/>
                </p:nvSpPr>
                <p:spPr>
                  <a:xfrm>
                    <a:off x="751332" y="5440680"/>
                    <a:ext cx="1721562"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4. Số thực </a:t>
                    </a:r>
                    <a14:m>
                      <m:oMath xmlns:a="http://schemas.openxmlformats.org/drawingml/2006/main" xmlns:m="http://schemas.openxmlformats.org/officeDocument/2006/math">
                        <m:r>
                          <m:rPr>
                            <m:scr m:val="double-struck"/>
                            <m:sty m:val="p"/>
                          </m:rPr>
                          <a:rPr lang="vi-VN" sz="2100" dirty="0">
                            <a:solidFill>
                              <a:srgbClr val="047857"/>
                            </a:solidFill>
                            <a:latin typeface="Cambria Math"/>
                            <a:ea typeface="Cambria Math"/>
                            <a:cs typeface="Cambria Math"/>
                          </a:rPr>
                          <m:t>R</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2" name="TextBox 22"/>
                  <p:cNvSpPr txBox="1"/>
                  <p:nvPr/>
                </p:nvSpPr>
                <p:spPr>
                  <a:xfrm>
                    <a:off x="751332" y="5821680"/>
                    <a:ext cx="4060780"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cr m:val="double-struck"/>
                            <m:sty m:val="p"/>
                          </m:rPr>
                          <a:rPr lang="vi-VN" sz="2100" dirty="0">
                            <a:solidFill>
                              <a:srgbClr val="047857"/>
                            </a:solidFill>
                            <a:latin typeface="Cambria Math"/>
                            <a:ea typeface="Cambria Math"/>
                            <a:cs typeface="Cambria Math"/>
                          </a:rPr>
                          <m:t>R</m:t>
                        </m:r>
                      </m:oMath>
                    </a14:m>
                    <a:r>
                      <a:rPr lang="vi-VN" sz="2100" b="1" dirty="0">
                        <a:solidFill>
                          <a:srgbClr val="047857"/>
                        </a:solidFill>
                        <a:latin typeface="+mn-lt"/>
                        <a:ea typeface="+mn-ea"/>
                        <a:cs typeface="+mn-cs"/>
                      </a:rPr>
                      <a:t xml:space="preserve"> gồm số hữu tỉ </a:t>
                    </a:r>
                    <a14:m>
                      <m:oMath xmlns:a="http://schemas.openxmlformats.org/drawingml/2006/main" xmlns:m="http://schemas.openxmlformats.org/officeDocument/2006/math">
                        <m:r>
                          <m:rPr>
                            <m:scr m:val="double-struck"/>
                            <m:sty m:val="p"/>
                          </m:rPr>
                          <a:rPr lang="vi-VN" sz="2100" dirty="0">
                            <a:solidFill>
                              <a:srgbClr val="047857"/>
                            </a:solidFill>
                            <a:latin typeface="Cambria Math"/>
                            <a:ea typeface="Cambria Math"/>
                            <a:cs typeface="Cambria Math"/>
                          </a:rPr>
                          <m:t>Q</m:t>
                        </m:r>
                      </m:oMath>
                    </a14:m>
                    <a:r>
                      <a:rPr lang="vi-VN" sz="2100" b="1" dirty="0">
                        <a:solidFill>
                          <a:srgbClr val="047857"/>
                        </a:solidFill>
                        <a:latin typeface="+mn-lt"/>
                        <a:ea typeface="+mn-ea"/>
                        <a:cs typeface="+mn-cs"/>
                      </a:rPr>
                      <a:t xml:space="preserve"> và số vô tỉ </a:t>
                    </a:r>
                    <a14:m>
                      <m:oMath xmlns:a="http://schemas.openxmlformats.org/drawingml/2006/main" xmlns:m="http://schemas.openxmlformats.org/officeDocument/2006/math">
                        <m:r>
                          <m:rPr>
                            <m:scr m:val="double-struck"/>
                            <m:sty m:val="p"/>
                          </m:rPr>
                          <a:rPr lang="vi-VN" sz="2100" dirty="0">
                            <a:solidFill>
                              <a:srgbClr val="047857"/>
                            </a:solidFill>
                            <a:latin typeface="Cambria Math"/>
                            <a:ea typeface="Cambria Math"/>
                            <a:cs typeface="Cambria Math"/>
                          </a:rPr>
                          <m:t>I</m:t>
                        </m:r>
                      </m:oMath>
                    </a14:m>
                  </a:p>
                </p:txBody>
              </p:sp>
            </mc:Choice>
          </mc:AlternateContent>
        </p:grpSp>
        <p:sp>
          <p:nvSpPr>
            <p:cNvPr id="24" name="Rectangle 24"/>
            <p:cNvSpPr/>
            <p:nvPr/>
          </p:nvSpPr>
          <p:spPr>
            <a:xfrm>
              <a:off x="6381750" y="1952625"/>
              <a:ext cx="5334000" cy="4429125"/>
            </a:xfrm>
            <a:prstGeom prst="roundRect">
              <a:avLst>
                <a:gd name="adj" fmla="val 3871"/>
              </a:avLst>
            </a:prstGeom>
            <a:solidFill>
              <a:srgbClr val="FFFFFF"/>
            </a:solidFill>
            <a:ln w="19050">
              <a:solidFill>
                <a:srgbClr val="CBD5E1"/>
              </a:solidFill>
            </a:ln>
          </p:spPr>
        </p:sp>
        <p:sp>
          <p:nvSpPr>
            <p:cNvPr id="25" name="TextBox 25"/>
            <p:cNvSpPr txBox="1"/>
            <p:nvPr/>
          </p:nvSpPr>
          <p:spPr>
            <a:xfrm>
              <a:off x="7099126" y="2090738"/>
              <a:ext cx="3899248"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SƠ ĐỒ CÁC TẬP HỢP SỐ</a:t>
              </a:r>
            </a:p>
          </p:txBody>
        </p:sp>
        <p:pic>
          <p:nvPicPr>
            <p:cNvPr id="26" name="Image 26"/>
            <p:cNvPicPr>
              <a:picLocks noChangeAspect="1"/>
            </p:cNvPicPr>
            <p:nvPr/>
          </p:nvPicPr>
          <p:blipFill>
            <a:blip r:embed="rId2"/>
            <a:stretch>
              <a:fillRect/>
            </a:stretch>
          </p:blipFill>
          <p:spPr>
            <a:xfrm>
              <a:off x="6524625" y="2497820"/>
              <a:ext cx="5048250" cy="3624486"/>
            </a:xfrm>
            <a:prstGeom prst="rect">
              <a:avLst/>
            </a:prstGeom>
          </p:spPr>
        </p:pic>
        <mc:AlternateContent xmlns:mc="http://schemas.openxmlformats.org/markup-compatibility/2006">
          <mc:Choice xmlns:a14="http://schemas.microsoft.com/office/drawing/2010/main" Requires="a14">
            <p:sp>
              <p:nvSpPr>
                <p:cNvPr id="27" name="TextBox 27"/>
                <p:cNvSpPr txBox="1"/>
                <p:nvPr/>
              </p:nvSpPr>
              <p:spPr>
                <a:xfrm>
                  <a:off x="7465687" y="6006465"/>
                  <a:ext cx="3166125" cy="477393"/>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m:rPr>
                          <m:scr m:val="double-struck"/>
                          <m:sty m:val="p"/>
                        </m:rPr>
                        <a:rPr lang="vi-VN" sz="2100" dirty="0">
                          <a:solidFill>
                            <a:srgbClr val="64748B"/>
                          </a:solidFill>
                          <a:latin typeface="Cambria Math"/>
                          <a:ea typeface="Cambria Math"/>
                          <a:cs typeface="Cambria Math"/>
                        </a:rPr>
                        <m:t>R</m:t>
                      </m:r>
                      <m:r>
                        <m:rPr>
                          <m:sty m:val="p"/>
                        </m:rPr>
                        <a:rPr lang="vi-VN" sz="2100" dirty="0">
                          <a:solidFill>
                            <a:srgbClr val="64748B"/>
                          </a:solidFill>
                          <a:latin typeface="Cambria Math"/>
                          <a:ea typeface="Cambria Math"/>
                          <a:cs typeface="Cambria Math"/>
                        </a:rPr>
                        <m:t>=</m:t>
                      </m:r>
                      <m:r>
                        <m:rPr>
                          <m:scr m:val="double-struck"/>
                          <m:sty m:val="p"/>
                        </m:rPr>
                        <a:rPr lang="vi-VN" sz="2100" dirty="0">
                          <a:solidFill>
                            <a:srgbClr val="64748B"/>
                          </a:solidFill>
                          <a:latin typeface="Cambria Math"/>
                          <a:ea typeface="Cambria Math"/>
                          <a:cs typeface="Cambria Math"/>
                        </a:rPr>
                        <m:t>Q</m:t>
                      </m:r>
                      <m:r>
                        <m:rPr>
                          <m:sty m:val="p"/>
                        </m:rPr>
                        <a:rPr lang="vi-VN" sz="2100" dirty="0">
                          <a:solidFill>
                            <a:srgbClr val="64748B"/>
                          </a:solidFill>
                          <a:latin typeface="Cambria Math"/>
                          <a:ea typeface="Cambria Math"/>
                          <a:cs typeface="Cambria Math"/>
                        </a:rPr>
                        <m:t>∪</m:t>
                      </m:r>
                      <m:r>
                        <m:rPr>
                          <m:scr m:val="double-struck"/>
                          <m:sty m:val="p"/>
                        </m:rPr>
                        <a:rPr lang="vi-VN" sz="2100" dirty="0">
                          <a:solidFill>
                            <a:srgbClr val="64748B"/>
                          </a:solidFill>
                          <a:latin typeface="Cambria Math"/>
                          <a:ea typeface="Cambria Math"/>
                          <a:cs typeface="Cambria Math"/>
                        </a:rPr>
                        <m:t>I</m:t>
                      </m:r>
                    </m:oMath>
                  </a14:m>
                  <a:r>
                    <a:rPr lang="vi-VN" sz="2100" b="1" dirty="0">
                      <a:solidFill>
                        <a:srgbClr val="64748B"/>
                      </a:solidFill>
                      <a:latin typeface="+mn-lt"/>
                      <a:ea typeface="+mn-ea"/>
                      <a:cs typeface="+mn-cs"/>
                    </a:rPr>
                    <a:t xml:space="preserve"> (Vô tỉ: </a:t>
                  </a:r>
                  <a14:m>
                    <m:oMath xmlns:a="http://schemas.openxmlformats.org/drawingml/2006/main" xmlns:m="http://schemas.openxmlformats.org/officeDocument/2006/math">
                      <m:rad>
                        <m:radPr>
                          <m:degHide m:val="on"/>
                          <m:ctrlPr>
                            <a:rPr lang="vi-VN" sz="2100" dirty="0">
                              <a:solidFill>
                                <a:srgbClr val="64748B"/>
                              </a:solidFill>
                              <a:latin typeface="Cambria Math"/>
                              <a:ea typeface="Cambria Math"/>
                              <a:cs typeface="Cambria Math"/>
                            </a:rPr>
                          </m:ctrlPr>
                        </m:radPr>
                        <m:deg/>
                        <m:e>
                          <m:r>
                            <a:rPr lang="vi-VN" sz="2100" dirty="0">
                              <a:solidFill>
                                <a:srgbClr val="64748B"/>
                              </a:solidFill>
                              <a:latin typeface="Cambria Math"/>
                              <a:ea typeface="Cambria Math"/>
                              <a:cs typeface="Cambria Math"/>
                            </a:rPr>
                            <m:t>2</m:t>
                          </m:r>
                        </m:e>
                      </m:rad>
                      <m:r>
                        <m:rPr>
                          <m:sty m:val="p"/>
                        </m:rPr>
                        <a:rPr lang="vi-VN" sz="2100" dirty="0">
                          <a:solidFill>
                            <a:srgbClr val="64748B"/>
                          </a:solidFill>
                          <a:latin typeface="Cambria Math"/>
                          <a:ea typeface="Cambria Math"/>
                          <a:cs typeface="Cambria Math"/>
                        </a:rPr>
                        <m:t>,</m:t>
                      </m:r>
                      <m:r>
                        <a:rPr lang="vi-VN" sz="2100" dirty="0">
                          <a:solidFill>
                            <a:srgbClr val="64748B"/>
                          </a:solidFill>
                          <a:latin typeface="Cambria Math"/>
                          <a:ea typeface="Cambria Math"/>
                          <a:cs typeface="Cambria Math"/>
                        </a:rPr>
                        <m:t>π</m:t>
                      </m:r>
                      <m:r>
                        <m:rPr>
                          <m:sty m:val="p"/>
                        </m:rPr>
                        <a:rPr lang="vi-VN" sz="2100" dirty="0">
                          <a:solidFill>
                            <a:srgbClr val="64748B"/>
                          </a:solidFill>
                          <a:latin typeface="Cambria Math"/>
                          <a:ea typeface="Cambria Math"/>
                          <a:cs typeface="Cambria Math"/>
                        </a:rPr>
                        <m:t>,</m:t>
                      </m:r>
                      <m:r>
                        <a:rPr lang="vi-VN" sz="2100" dirty="0">
                          <a:solidFill>
                            <a:srgbClr val="64748B"/>
                          </a:solidFill>
                          <a:latin typeface="Cambria Math"/>
                          <a:ea typeface="Cambria Math"/>
                          <a:cs typeface="Cambria Math"/>
                        </a:rPr>
                        <m:t>e</m:t>
                      </m:r>
                    </m:oMath>
                  </a14:m>
                  <a:r>
                    <a:rPr lang="vi-VN" sz="2100" b="1" dirty="0">
                      <a:solidFill>
                        <a:srgbClr val="64748B"/>
                      </a:solidFill>
                      <a:latin typeface="+mn-lt"/>
                      <a:ea typeface="+mn-ea"/>
                      <a:cs typeface="+mn-cs"/>
                    </a:rPr>
                    <a:t>)</a:t>
                  </a:r>
                </a:p>
              </p:txBody>
            </p:sp>
          </mc:Choice>
        </mc:AlternateContent>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85800" y="459105"/>
              <a:ext cx="120015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2.b</a:t>
              </a:r>
            </a:p>
          </p:txBody>
        </p:sp>
        <p:sp>
          <p:nvSpPr>
            <p:cNvPr id="7" name="TextBox 7"/>
            <p:cNvSpPr txBox="1"/>
            <p:nvPr/>
          </p:nvSpPr>
          <p:spPr>
            <a:xfrm>
              <a:off x="2036445" y="452438"/>
              <a:ext cx="9036374"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2. CÁC TẬP HỢP SỐ: b. Các tập con của ℝ — Khoảng &amp; Đoạn</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334000" cy="5191125"/>
            </a:xfrm>
            <a:prstGeom prst="roundRect">
              <a:avLst>
                <a:gd name="adj" fmla="val 3303"/>
              </a:avLst>
            </a:prstGeom>
            <a:solidFill>
              <a:srgbClr val="FFFFFF"/>
            </a:solidFill>
            <a:ln w="19050">
              <a:solidFill>
                <a:srgbClr val="CBD5E1"/>
              </a:solidFill>
            </a:ln>
          </p:spPr>
        </p:sp>
        <p:grpSp>
          <p:nvGrpSpPr>
            <p:cNvPr id="21" name="Group 21"/>
            <p:cNvGrpSpPr/>
            <p:nvPr/>
          </p:nvGrpSpPr>
          <p:grpSpPr>
            <a:xfrm>
              <a:off x="762000" y="1476375"/>
              <a:ext cx="5651606" cy="4613148"/>
              <a:chOff x="762000" y="1476375"/>
              <a:chExt cx="5651606" cy="4613148"/>
            </a:xfrm>
          </p:grpSpPr>
          <p:sp>
            <p:nvSpPr>
              <p:cNvPr id="10" name="Rectangle 10"/>
              <p:cNvSpPr/>
              <p:nvPr/>
            </p:nvSpPr>
            <p:spPr>
              <a:xfrm>
                <a:off x="762000" y="1476375"/>
                <a:ext cx="4762500" cy="1857375"/>
              </a:xfrm>
              <a:prstGeom prst="roundRect">
                <a:avLst>
                  <a:gd name="adj" fmla="val 7179"/>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1" name="TextBox 11"/>
                  <p:cNvSpPr txBox="1"/>
                  <p:nvPr/>
                </p:nvSpPr>
                <p:spPr>
                  <a:xfrm>
                    <a:off x="941070" y="1647825"/>
                    <a:ext cx="2250992" cy="468630"/>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 xml:space="preserve">1. ĐOẠN </a:t>
                    </a:r>
                    <a14:m>
                      <m:oMath xmlns:a="http://schemas.openxmlformats.org/drawingml/2006/main" xmlns:m="http://schemas.openxmlformats.org/officeDocument/2006/math">
                        <m:d>
                          <m:dPr>
                            <m:begChr m:val="["/>
                            <m:sepChr m:val=""/>
                            <m:endChr m:val="]"/>
                            <m:grow m:val="on"/>
                            <m:ctrlPr>
                              <a:rPr lang="vi-VN" sz="2250" dirty="0">
                                <a:solidFill>
                                  <a:srgbClr val="1D4ED8"/>
                                </a:solidFill>
                                <a:latin typeface="Cambria Math"/>
                                <a:ea typeface="Cambria Math"/>
                                <a:cs typeface="Cambria Math"/>
                              </a:rPr>
                            </m:ctrlPr>
                          </m:dPr>
                          <m:e>
                            <m:r>
                              <a:rPr lang="vi-VN" sz="2250" dirty="0">
                                <a:solidFill>
                                  <a:srgbClr val="1D4ED8"/>
                                </a:solidFill>
                                <a:latin typeface="Cambria Math"/>
                                <a:ea typeface="Cambria Math"/>
                                <a:cs typeface="Cambria Math"/>
                              </a:rPr>
                              <m:t>a</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b</m:t>
                            </m:r>
                          </m:e>
                        </m:d>
                      </m:oMath>
                    </a14:m>
                    <a:r>
                      <a:rPr lang="vi-VN" sz="225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2" name="TextBox 12"/>
                  <p:cNvSpPr txBox="1"/>
                  <p:nvPr/>
                </p:nvSpPr>
                <p:spPr>
                  <a:xfrm>
                    <a:off x="941832" y="2093595"/>
                    <a:ext cx="3243008"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oMath>
                    </a14:m>
                  </a:p>
                </p:txBody>
              </p:sp>
            </mc:Choice>
          </mc:AlternateContent>
          <p:sp>
            <p:nvSpPr>
              <p:cNvPr id="13" name="TextBox 13"/>
              <p:cNvSpPr txBox="1"/>
              <p:nvPr/>
            </p:nvSpPr>
            <p:spPr>
              <a:xfrm>
                <a:off x="941832" y="2487930"/>
                <a:ext cx="4739958" cy="410718"/>
              </a:xfrm>
              <a:prstGeom prst="rect">
                <a:avLst/>
              </a:prstGeom>
              <a:noFill/>
              <a:ln>
                <a:noFill/>
              </a:ln>
            </p:spPr>
            <p:txBody>
              <a:bodyPr wrap="none" lIns="0" tIns="0" rIns="0" bIns="0" anchor="t" anchorCtr="0">
                <a:spAutoFit/>
              </a:bodyPr>
              <a:lstStyle/>
              <a:p>
                <a:pPr algn="l"/>
                <a:r>
                  <a:rPr lang="vi-VN" sz="2100" b="1" dirty="0">
                    <a:solidFill>
                      <a:srgbClr val="1E40AF"/>
                    </a:solidFill>
                    <a:latin typeface="+mn-lt"/>
                    <a:ea typeface="+mn-ea"/>
                    <a:cs typeface="+mn-cs"/>
                  </a:rPr>
                  <a:t>Ký hiệu mút: Dùng ngoặc vuông [ ]</a:t>
                </a:r>
              </a:p>
            </p:txBody>
          </p:sp>
          <p:sp>
            <p:nvSpPr>
              <p:cNvPr id="14" name="TextBox 14"/>
              <p:cNvSpPr txBox="1"/>
              <p:nvPr/>
            </p:nvSpPr>
            <p:spPr>
              <a:xfrm>
                <a:off x="941832" y="2868930"/>
                <a:ext cx="4557712"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LẤY CẢ HAI ĐẦU MÚT a VÀ b</a:t>
                </a:r>
              </a:p>
            </p:txBody>
          </p:sp>
          <p:sp>
            <p:nvSpPr>
              <p:cNvPr id="15" name="Rectangle 15"/>
              <p:cNvSpPr/>
              <p:nvPr/>
            </p:nvSpPr>
            <p:spPr>
              <a:xfrm>
                <a:off x="762000" y="3524250"/>
                <a:ext cx="4762500" cy="1857375"/>
              </a:xfrm>
              <a:prstGeom prst="roundRect">
                <a:avLst>
                  <a:gd name="adj" fmla="val 7179"/>
                </a:avLst>
              </a:prstGeom>
              <a:solidFill>
                <a:srgbClr val="F0FDF4"/>
              </a:solidFill>
              <a:ln w="14288">
                <a:solidFill>
                  <a:srgbClr val="BBF7D0"/>
                </a:solidFill>
              </a:ln>
            </p:spPr>
          </p:sp>
          <mc:AlternateContent xmlns:mc="http://schemas.openxmlformats.org/markup-compatibility/2006">
            <mc:Choice xmlns:a14="http://schemas.microsoft.com/office/drawing/2010/main" Requires="a14">
              <p:sp>
                <p:nvSpPr>
                  <p:cNvPr id="16" name="TextBox 16"/>
                  <p:cNvSpPr txBox="1"/>
                  <p:nvPr/>
                </p:nvSpPr>
                <p:spPr>
                  <a:xfrm>
                    <a:off x="941070" y="3695700"/>
                    <a:ext cx="2731052" cy="468630"/>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 xml:space="preserve">2. KHOẢNG </a:t>
                    </a:r>
                    <a14:m>
                      <m:oMath xmlns:a="http://schemas.openxmlformats.org/drawingml/2006/main" xmlns:m="http://schemas.openxmlformats.org/officeDocument/2006/math">
                        <m:d>
                          <m:dPr>
                            <m:begChr m:val="("/>
                            <m:sepChr m:val=""/>
                            <m:endChr m:val=")"/>
                            <m:grow m:val="on"/>
                            <m:ctrlPr>
                              <a:rPr lang="vi-VN" sz="2250" dirty="0">
                                <a:solidFill>
                                  <a:srgbClr val="047857"/>
                                </a:solidFill>
                                <a:latin typeface="Cambria Math"/>
                                <a:ea typeface="Cambria Math"/>
                                <a:cs typeface="Cambria Math"/>
                              </a:rPr>
                            </m:ctrlPr>
                          </m:dPr>
                          <m:e>
                            <m:r>
                              <a:rPr lang="vi-VN" sz="2250" dirty="0">
                                <a:solidFill>
                                  <a:srgbClr val="047857"/>
                                </a:solidFill>
                                <a:latin typeface="Cambria Math"/>
                                <a:ea typeface="Cambria Math"/>
                                <a:cs typeface="Cambria Math"/>
                              </a:rPr>
                              <m:t>a</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e>
                        </m:d>
                      </m:oMath>
                    </a14:m>
                    <a:r>
                      <a:rPr lang="vi-VN" sz="225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941832" y="4141470"/>
                    <a:ext cx="3262910" cy="43738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b</m:t>
                            </m:r>
                          </m:e>
                        </m:d>
                      </m:oMath>
                    </a14:m>
                  </a:p>
                </p:txBody>
              </p:sp>
            </mc:Choice>
          </mc:AlternateContent>
          <p:sp>
            <p:nvSpPr>
              <p:cNvPr id="18" name="TextBox 18"/>
              <p:cNvSpPr txBox="1"/>
              <p:nvPr/>
            </p:nvSpPr>
            <p:spPr>
              <a:xfrm>
                <a:off x="941832" y="4535805"/>
                <a:ext cx="4441053" cy="410718"/>
              </a:xfrm>
              <a:prstGeom prst="rect">
                <a:avLst/>
              </a:prstGeom>
              <a:noFill/>
              <a:ln>
                <a:noFill/>
              </a:ln>
            </p:spPr>
            <p:txBody>
              <a:bodyPr wrap="none" lIns="0" tIns="0" rIns="0" bIns="0" anchor="t" anchorCtr="0">
                <a:spAutoFit/>
              </a:bodyPr>
              <a:lstStyle/>
              <a:p>
                <a:pPr algn="l"/>
                <a:r>
                  <a:rPr lang="vi-VN" sz="2100" b="1" dirty="0">
                    <a:solidFill>
                      <a:srgbClr val="065F46"/>
                    </a:solidFill>
                    <a:latin typeface="+mn-lt"/>
                    <a:ea typeface="+mn-ea"/>
                    <a:cs typeface="+mn-cs"/>
                  </a:rPr>
                  <a:t>Ký hiệu mút: Dùng ngoặc tròn ( )</a:t>
                </a:r>
              </a:p>
            </p:txBody>
          </p:sp>
          <p:sp>
            <p:nvSpPr>
              <p:cNvPr id="19" name="TextBox 19"/>
              <p:cNvSpPr txBox="1"/>
              <p:nvPr/>
            </p:nvSpPr>
            <p:spPr>
              <a:xfrm>
                <a:off x="941832" y="4916805"/>
                <a:ext cx="4407703"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BỎ CẢ HAI ĐẦU MÚT a VÀ b</a:t>
                </a:r>
              </a:p>
            </p:txBody>
          </p:sp>
          <p:sp>
            <p:nvSpPr>
              <p:cNvPr id="20" name="TextBox 20"/>
              <p:cNvSpPr txBox="1"/>
              <p:nvPr/>
            </p:nvSpPr>
            <p:spPr>
              <a:xfrm>
                <a:off x="941832" y="5678805"/>
                <a:ext cx="5471774" cy="410718"/>
              </a:xfrm>
              <a:prstGeom prst="rect">
                <a:avLst/>
              </a:prstGeom>
              <a:noFill/>
              <a:ln>
                <a:noFill/>
              </a:ln>
            </p:spPr>
            <p:txBody>
              <a:bodyPr wrap="none" lIns="0" tIns="0" rIns="0" bIns="0" anchor="t" anchorCtr="0">
                <a:spAutoFit/>
              </a:bodyPr>
              <a:lstStyle/>
              <a:p>
                <a:pPr algn="l"/>
                <a:r>
                  <a:rPr lang="vi-VN" sz="2100" b="1" dirty="0">
                    <a:solidFill>
                      <a:srgbClr val="475569"/>
                    </a:solidFill>
                    <a:latin typeface="+mn-lt"/>
                    <a:ea typeface="+mn-ea"/>
                    <a:cs typeface="+mn-cs"/>
                  </a:rPr>
                  <a:t>a, b được gọi là các đầu mút của tập hợp</a:t>
                </a:r>
              </a:p>
            </p:txBody>
          </p:sp>
        </p:grpSp>
        <p:sp>
          <p:nvSpPr>
            <p:cNvPr id="22" name="Rectangle 22"/>
            <p:cNvSpPr/>
            <p:nvPr/>
          </p:nvSpPr>
          <p:spPr>
            <a:xfrm>
              <a:off x="6000750" y="1190625"/>
              <a:ext cx="5715000" cy="5191125"/>
            </a:xfrm>
            <a:prstGeom prst="roundRect">
              <a:avLst>
                <a:gd name="adj" fmla="val 3303"/>
              </a:avLst>
            </a:prstGeom>
            <a:solidFill>
              <a:srgbClr val="FFFFFF"/>
            </a:solidFill>
            <a:ln w="19050">
              <a:solidFill>
                <a:srgbClr val="CBD5E1"/>
              </a:solidFill>
            </a:ln>
          </p:spPr>
        </p:sp>
        <p:sp>
          <p:nvSpPr>
            <p:cNvPr id="23" name="TextBox 23"/>
            <p:cNvSpPr txBox="1"/>
            <p:nvPr/>
          </p:nvSpPr>
          <p:spPr>
            <a:xfrm>
              <a:off x="6304230" y="1376362"/>
              <a:ext cx="5108040"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BIỂU DIỄN TRÊN TRỤC SỐ THỰC</a:t>
              </a:r>
            </a:p>
          </p:txBody>
        </p:sp>
        <p:pic>
          <p:nvPicPr>
            <p:cNvPr id="24" name="Image 24"/>
            <p:cNvPicPr>
              <a:picLocks noChangeAspect="1"/>
            </p:cNvPicPr>
            <p:nvPr/>
          </p:nvPicPr>
          <p:blipFill>
            <a:blip r:embed="rId2"/>
            <a:stretch>
              <a:fillRect/>
            </a:stretch>
          </p:blipFill>
          <p:spPr>
            <a:xfrm>
              <a:off x="6191250" y="2416076"/>
              <a:ext cx="5334000" cy="2787848"/>
            </a:xfrm>
            <a:prstGeom prst="rect">
              <a:avLst/>
            </a:prstGeom>
          </p:spPr>
        </p:pic>
        <p:sp>
          <p:nvSpPr>
            <p:cNvPr id="25" name="TextBox 25"/>
            <p:cNvSpPr txBox="1"/>
            <p:nvPr/>
          </p:nvSpPr>
          <p:spPr>
            <a:xfrm>
              <a:off x="6056173" y="5916930"/>
              <a:ext cx="5604153"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Quy ước SGK: Gạch chéo phần ngoài tập</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85800" y="459105"/>
              <a:ext cx="120015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2.b</a:t>
              </a:r>
            </a:p>
          </p:txBody>
        </p:sp>
        <p:sp>
          <p:nvSpPr>
            <p:cNvPr id="7" name="TextBox 7"/>
            <p:cNvSpPr txBox="1"/>
            <p:nvPr/>
          </p:nvSpPr>
          <p:spPr>
            <a:xfrm>
              <a:off x="2036445" y="452438"/>
              <a:ext cx="7976536"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2. CÁC TẬP HỢP SỐ: b. Nửa khoảng &amp; Khoảng vô cực</a:t>
              </a:r>
            </a:p>
          </p:txBody>
        </p:sp>
      </p:grpSp>
      <p:grpSp>
        <p:nvGrpSpPr>
          <p:cNvPr id="26" name="content"/>
          <p:cNvGrpSpPr/>
          <p:nvPr/>
        </p:nvGrpSpPr>
        <p:grpSpPr>
          <a:xfrm>
            <a:off x="476250" y="1190625"/>
            <a:ext cx="11239500" cy="5191125"/>
            <a:chOff x="476250" y="1190625"/>
            <a:chExt cx="11239500" cy="5191125"/>
          </a:xfrm>
        </p:grpSpPr>
        <p:sp>
          <p:nvSpPr>
            <p:cNvPr id="9" name="Rectangle 9"/>
            <p:cNvSpPr/>
            <p:nvPr/>
          </p:nvSpPr>
          <p:spPr>
            <a:xfrm>
              <a:off x="476250" y="1190625"/>
              <a:ext cx="5334000" cy="5191125"/>
            </a:xfrm>
            <a:prstGeom prst="roundRect">
              <a:avLst>
                <a:gd name="adj" fmla="val 3303"/>
              </a:avLst>
            </a:prstGeom>
            <a:solidFill>
              <a:srgbClr val="FFFFFF"/>
            </a:solidFill>
            <a:ln w="19050">
              <a:solidFill>
                <a:srgbClr val="CBD5E1"/>
              </a:solidFill>
            </a:ln>
          </p:spPr>
        </p:sp>
        <p:grpSp>
          <p:nvGrpSpPr>
            <p:cNvPr id="22" name="Group 22"/>
            <p:cNvGrpSpPr/>
            <p:nvPr/>
          </p:nvGrpSpPr>
          <p:grpSpPr>
            <a:xfrm>
              <a:off x="750570" y="1519238"/>
              <a:ext cx="5999274" cy="4529137"/>
              <a:chOff x="750570" y="1519238"/>
              <a:chExt cx="5999274" cy="4529137"/>
            </a:xfrm>
          </p:grpSpPr>
          <p:sp>
            <p:nvSpPr>
              <p:cNvPr id="10" name="TextBox 10"/>
              <p:cNvSpPr txBox="1"/>
              <p:nvPr/>
            </p:nvSpPr>
            <p:spPr>
              <a:xfrm>
                <a:off x="750570" y="1519238"/>
                <a:ext cx="4681106" cy="440055"/>
              </a:xfrm>
              <a:prstGeom prst="rect">
                <a:avLst/>
              </a:prstGeom>
              <a:noFill/>
              <a:ln>
                <a:noFill/>
              </a:ln>
            </p:spPr>
            <p:txBody>
              <a:bodyPr wrap="none" lIns="0" tIns="0" rIns="0" bIns="0" anchor="t" anchorCtr="0">
                <a:spAutoFit/>
              </a:bodyPr>
              <a:lstStyle/>
              <a:p>
                <a:pPr algn="l"/>
                <a:r>
                  <a:rPr lang="vi-VN" sz="2250" b="1" dirty="0">
                    <a:solidFill>
                      <a:srgbClr val="D97706"/>
                    </a:solidFill>
                    <a:latin typeface="+mn-lt"/>
                    <a:ea typeface="+mn-ea"/>
                    <a:cs typeface="+mn-cs"/>
                  </a:rPr>
                  <a:t>3. NỬA KHOẢNG (LẤY 1 MÚT):</a:t>
                </a:r>
              </a:p>
            </p:txBody>
          </p:sp>
          <mc:AlternateContent xmlns:mc="http://schemas.openxmlformats.org/markup-compatibility/2006">
            <mc:Choice xmlns:a14="http://schemas.microsoft.com/office/drawing/2010/main" Requires="a14">
              <p:sp>
                <p:nvSpPr>
                  <p:cNvPr id="11" name="TextBox 11"/>
                  <p:cNvSpPr txBox="1"/>
                  <p:nvPr/>
                </p:nvSpPr>
                <p:spPr>
                  <a:xfrm>
                    <a:off x="751332" y="1903095"/>
                    <a:ext cx="3420420"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b</m:t>
                            </m:r>
                          </m:e>
                        </m:d>
                      </m:oMath>
                    </a14:m>
                  </a:p>
                </p:txBody>
              </p:sp>
            </mc:Choice>
          </mc:AlternateContent>
          <mc:AlternateContent xmlns:mc="http://schemas.openxmlformats.org/markup-compatibility/2006">
            <mc:Choice xmlns:a14="http://schemas.microsoft.com/office/drawing/2010/main" Requires="a14">
              <p:sp>
                <p:nvSpPr>
                  <p:cNvPr id="12" name="TextBox 12"/>
                  <p:cNvSpPr txBox="1"/>
                  <p:nvPr/>
                </p:nvSpPr>
                <p:spPr>
                  <a:xfrm>
                    <a:off x="751332" y="2284095"/>
                    <a:ext cx="3420420"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oMath>
                    </a14:m>
                  </a:p>
                </p:txBody>
              </p:sp>
            </mc:Choice>
          </mc:AlternateContent>
          <p:sp>
            <p:nvSpPr>
              <p:cNvPr id="13" name="Line 13"/>
              <p:cNvSpPr/>
              <p:nvPr/>
            </p:nvSpPr>
            <p:spPr>
              <a:xfrm>
                <a:off x="762000" y="2762250"/>
                <a:ext cx="4762500" cy="9525"/>
              </a:xfrm>
              <a:custGeom>
                <a:avLst/>
                <a:gdLst/>
                <a:ahLst/>
                <a:cxnLst/>
                <a:rect l="l" t="t" r="r" b="b"/>
                <a:pathLst>
                  <a:path w="4762500" h="9525">
                    <a:moveTo>
                      <a:pt x="0" y="0"/>
                    </a:moveTo>
                    <a:lnTo>
                      <a:pt x="4762500" y="0"/>
                    </a:lnTo>
                  </a:path>
                </a:pathLst>
              </a:custGeom>
              <a:noFill/>
              <a:ln w="19050">
                <a:solidFill>
                  <a:srgbClr val="F1F5F9"/>
                </a:solidFill>
              </a:ln>
            </p:spPr>
          </p:sp>
          <p:sp>
            <p:nvSpPr>
              <p:cNvPr id="14" name="TextBox 14"/>
              <p:cNvSpPr txBox="1"/>
              <p:nvPr/>
            </p:nvSpPr>
            <p:spPr>
              <a:xfrm>
                <a:off x="750570" y="2900362"/>
                <a:ext cx="3241246" cy="440055"/>
              </a:xfrm>
              <a:prstGeom prst="rect">
                <a:avLst/>
              </a:prstGeom>
              <a:noFill/>
              <a:ln>
                <a:noFill/>
              </a:ln>
            </p:spPr>
            <p:txBody>
              <a:bodyPr wrap="none" lIns="0" tIns="0" rIns="0" bIns="0" anchor="t" anchorCtr="0">
                <a:spAutoFit/>
              </a:bodyPr>
              <a:lstStyle/>
              <a:p>
                <a:pPr algn="l"/>
                <a:r>
                  <a:rPr lang="vi-VN" sz="2250" b="1" dirty="0">
                    <a:solidFill>
                      <a:srgbClr val="7C3AED"/>
                    </a:solidFill>
                    <a:latin typeface="+mn-lt"/>
                    <a:ea typeface="+mn-ea"/>
                    <a:cs typeface="+mn-cs"/>
                  </a:rPr>
                  <a:t>4. KHOẢNG VÔ CỰC:</a:t>
                </a:r>
              </a:p>
            </p:txBody>
          </p:sp>
          <mc:AlternateContent xmlns:mc="http://schemas.openxmlformats.org/markup-compatibility/2006">
            <mc:Choice xmlns:a14="http://schemas.microsoft.com/office/drawing/2010/main" Requires="a14">
              <p:sp>
                <p:nvSpPr>
                  <p:cNvPr id="15" name="TextBox 15"/>
                  <p:cNvSpPr txBox="1"/>
                  <p:nvPr/>
                </p:nvSpPr>
                <p:spPr>
                  <a:xfrm>
                    <a:off x="751332" y="3284220"/>
                    <a:ext cx="3119540"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a</m:t>
                            </m:r>
                          </m:e>
                        </m:d>
                      </m:oMath>
                    </a14:m>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751332" y="3665220"/>
                    <a:ext cx="3129491"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&gt;</m:t>
                            </m:r>
                            <m:r>
                              <a:rPr lang="vi-VN" sz="2100" dirty="0">
                                <a:solidFill>
                                  <a:srgbClr val="0F172A"/>
                                </a:solidFill>
                                <a:latin typeface="Cambria Math"/>
                                <a:ea typeface="Cambria Math"/>
                                <a:cs typeface="Cambria Math"/>
                              </a:rPr>
                              <m:t>a</m:t>
                            </m:r>
                          </m:e>
                        </m:d>
                      </m:oMath>
                    </a14:m>
                  </a:p>
                </p:txBody>
              </p:sp>
            </mc:Choice>
          </mc:AlternateContent>
          <mc:AlternateContent xmlns:mc="http://schemas.openxmlformats.org/markup-compatibility/2006">
            <mc:Choice xmlns:a14="http://schemas.microsoft.com/office/drawing/2010/main" Requires="a14">
              <p:sp>
                <p:nvSpPr>
                  <p:cNvPr id="17" name="TextBox 17"/>
                  <p:cNvSpPr txBox="1"/>
                  <p:nvPr/>
                </p:nvSpPr>
                <p:spPr>
                  <a:xfrm>
                    <a:off x="751332" y="4046220"/>
                    <a:ext cx="3089404"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x</m:t>
                            </m:r>
                            <m:r>
                              <m:rPr>
                                <m:sty m:val="p"/>
                              </m:rPr>
                              <a:rPr lang="vi-VN" sz="2100" dirty="0">
                                <a:solidFill>
                                  <a:srgbClr val="0F172A"/>
                                </a:solidFill>
                                <a:latin typeface="Cambria Math"/>
                                <a:ea typeface="Cambria Math"/>
                                <a:cs typeface="Cambria Math"/>
                              </a:rPr>
                              <m:t>&lt;</m:t>
                            </m:r>
                            <m:r>
                              <a:rPr lang="vi-VN" sz="2100" dirty="0">
                                <a:solidFill>
                                  <a:srgbClr val="0F172A"/>
                                </a:solidFill>
                                <a:latin typeface="Cambria Math"/>
                                <a:ea typeface="Cambria Math"/>
                                <a:cs typeface="Cambria Math"/>
                              </a:rPr>
                              <m:t>b</m:t>
                            </m:r>
                          </m:e>
                        </m:d>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751332" y="4427220"/>
                    <a:ext cx="1697493" cy="437388"/>
                  </a:xfrm>
                  <a:prstGeom prst="rect">
                    <a:avLst/>
                  </a:prstGeom>
                  <a:noFill/>
                  <a:ln>
                    <a:noFill/>
                  </a:ln>
                </p:spPr>
                <p:txBody>
                  <a:bodyPr wrap="none" lIns="0" tIns="0" rIns="0" bIns="0" anchor="t" anchorCtr="0">
                    <a:spAutoFit/>
                  </a:bodyPr>
                  <a:lstStyle/>
                  <a:p>
                    <a:pPr algn="l" marL="167461" indent="-167461">
                      <a:buClr>
                        <a:srgbClr val="0F172A"/>
                      </a:buClr>
                      <a:buSzTx/>
                      <a:buFontTx/>
                      <a:buChar char="•"/>
                    </a:pPr>
                    <a14:m>
                      <m:oMath xmlns:a="http://schemas.openxmlformats.org/drawingml/2006/main" xmlns:m="http://schemas.openxmlformats.org/officeDocument/2006/math">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e>
                        </m:d>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oMath>
                    </a14:m>
                  </a:p>
                </p:txBody>
              </p:sp>
            </mc:Choice>
          </mc:AlternateContent>
          <p:sp>
            <p:nvSpPr>
              <p:cNvPr id="19" name="Rectangle 19"/>
              <p:cNvSpPr/>
              <p:nvPr/>
            </p:nvSpPr>
            <p:spPr>
              <a:xfrm>
                <a:off x="762000" y="5000625"/>
                <a:ext cx="4762500" cy="1047750"/>
              </a:xfrm>
              <a:prstGeom prst="roundRect">
                <a:avLst>
                  <a:gd name="adj" fmla="val 10909"/>
                </a:avLst>
              </a:prstGeom>
              <a:solidFill>
                <a:srgbClr val="FEF3C7"/>
              </a:solidFill>
              <a:ln w="14288">
                <a:solidFill>
                  <a:srgbClr val="FDE68A"/>
                </a:solidFill>
              </a:ln>
            </p:spPr>
          </p:sp>
          <p:sp>
            <p:nvSpPr>
              <p:cNvPr id="20" name="TextBox 20"/>
              <p:cNvSpPr txBox="1"/>
              <p:nvPr/>
            </p:nvSpPr>
            <p:spPr>
              <a:xfrm>
                <a:off x="894207" y="5154930"/>
                <a:ext cx="3838116" cy="410718"/>
              </a:xfrm>
              <a:prstGeom prst="rect">
                <a:avLst/>
              </a:prstGeom>
              <a:noFill/>
              <a:ln>
                <a:noFill/>
              </a:ln>
            </p:spPr>
            <p:txBody>
              <a:bodyPr wrap="none" lIns="0" tIns="0" rIns="0" bIns="0" anchor="t" anchorCtr="0">
                <a:spAutoFit/>
              </a:bodyPr>
              <a:lstStyle/>
              <a:p>
                <a:pPr algn="l"/>
                <a:r>
                  <a:rPr lang="vi-VN" sz="2100" b="1" dirty="0">
                    <a:solidFill>
                      <a:srgbClr val="92400E"/>
                    </a:solidFill>
                    <a:latin typeface="+mn-lt"/>
                    <a:ea typeface="+mn-ea"/>
                    <a:cs typeface="+mn-cs"/>
                  </a:rPr>
                  <a:t>QUY TẮC VÀNG TRỤC SỐ:</a:t>
                </a:r>
              </a:p>
            </p:txBody>
          </p:sp>
          <p:sp>
            <p:nvSpPr>
              <p:cNvPr id="21" name="TextBox 21"/>
              <p:cNvSpPr txBox="1"/>
              <p:nvPr/>
            </p:nvSpPr>
            <p:spPr>
              <a:xfrm>
                <a:off x="894207" y="5535930"/>
                <a:ext cx="585563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Lấy mút: [ ]. Bỏ mút: ( ). Gạch bỏ ngoài tập.</a:t>
                </a:r>
              </a:p>
            </p:txBody>
          </p:sp>
        </p:grpSp>
        <p:sp>
          <p:nvSpPr>
            <p:cNvPr id="23" name="Rectangle 23"/>
            <p:cNvSpPr/>
            <p:nvPr/>
          </p:nvSpPr>
          <p:spPr>
            <a:xfrm>
              <a:off x="6000750" y="1190625"/>
              <a:ext cx="5715000" cy="5191125"/>
            </a:xfrm>
            <a:prstGeom prst="roundRect">
              <a:avLst>
                <a:gd name="adj" fmla="val 3303"/>
              </a:avLst>
            </a:prstGeom>
            <a:solidFill>
              <a:srgbClr val="FFFFFF"/>
            </a:solidFill>
            <a:ln w="19050">
              <a:solidFill>
                <a:srgbClr val="CBD5E1"/>
              </a:solidFill>
            </a:ln>
          </p:spPr>
        </p:sp>
        <p:sp>
          <p:nvSpPr>
            <p:cNvPr id="24" name="TextBox 24"/>
            <p:cNvSpPr txBox="1"/>
            <p:nvPr/>
          </p:nvSpPr>
          <p:spPr>
            <a:xfrm>
              <a:off x="6286404" y="1328738"/>
              <a:ext cx="5143692" cy="440055"/>
            </a:xfrm>
            <a:prstGeom prst="rect">
              <a:avLst/>
            </a:prstGeom>
            <a:noFill/>
            <a:ln>
              <a:noFill/>
            </a:ln>
          </p:spPr>
          <p:txBody>
            <a:bodyPr wrap="none" lIns="0" tIns="0" rIns="0" bIns="0" anchor="t" anchorCtr="0">
              <a:spAutoFit/>
            </a:bodyPr>
            <a:lstStyle/>
            <a:p>
              <a:pPr algn="ctr"/>
              <a:r>
                <a:rPr lang="vi-VN" sz="2250" b="1" dirty="0">
                  <a:solidFill>
                    <a:srgbClr val="D97706"/>
                  </a:solidFill>
                  <a:latin typeface="+mn-lt"/>
                  <a:ea typeface="+mn-ea"/>
                  <a:cs typeface="+mn-cs"/>
                </a:rPr>
                <a:t>HÌNH VẼ TRỤC SỐ NỬA KHOẢNG</a:t>
              </a:r>
            </a:p>
          </p:txBody>
        </p:sp>
        <p:pic>
          <p:nvPicPr>
            <p:cNvPr id="25" name="Image 25"/>
            <p:cNvPicPr>
              <a:picLocks noChangeAspect="1"/>
            </p:cNvPicPr>
            <p:nvPr/>
          </p:nvPicPr>
          <p:blipFill>
            <a:blip r:embed="rId2"/>
            <a:stretch>
              <a:fillRect/>
            </a:stretch>
          </p:blipFill>
          <p:spPr>
            <a:xfrm>
              <a:off x="6191250" y="1943249"/>
              <a:ext cx="5334000" cy="4019252"/>
            </a:xfrm>
            <a:prstGeom prst="rect">
              <a:avLst/>
            </a:prstGeom>
          </p:spPr>
        </p:pic>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93845" y="459105"/>
              <a:ext cx="1184059"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3.a</a:t>
              </a:r>
            </a:p>
          </p:txBody>
        </p:sp>
        <p:sp>
          <p:nvSpPr>
            <p:cNvPr id="7" name="TextBox 7"/>
            <p:cNvSpPr txBox="1"/>
            <p:nvPr/>
          </p:nvSpPr>
          <p:spPr>
            <a:xfrm>
              <a:off x="2036445" y="452438"/>
              <a:ext cx="8991314"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3. CÁC PHÉP TOÁN TRÊN TẬP HỢP: a. Giao của hai tập hợp</a:t>
              </a:r>
            </a:p>
          </p:txBody>
        </p:sp>
      </p:grpSp>
      <p:grpSp>
        <p:nvGrpSpPr>
          <p:cNvPr id="24" name="content"/>
          <p:cNvGrpSpPr/>
          <p:nvPr/>
        </p:nvGrpSpPr>
        <p:grpSpPr>
          <a:xfrm>
            <a:off x="476250" y="1190625"/>
            <a:ext cx="11239500" cy="5191125"/>
            <a:chOff x="476250" y="1190625"/>
            <a:chExt cx="11239500"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730261"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ĐỊNH NGHĨA PHÉP GIAO (SGK KNTT)</a:t>
              </a:r>
            </a:p>
          </p:txBody>
        </p:sp>
        <p:sp>
          <p:nvSpPr>
            <p:cNvPr id="11" name="TextBox 11"/>
            <p:cNvSpPr txBox="1"/>
            <p:nvPr/>
          </p:nvSpPr>
          <p:spPr>
            <a:xfrm>
              <a:off x="798957" y="1964055"/>
              <a:ext cx="5873457"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Tập hợp gồm các phần tử thuộc cả A VÀ B:</a:t>
              </a:r>
            </a:p>
          </p:txBody>
        </p:sp>
        <p:sp>
          <p:nvSpPr>
            <p:cNvPr id="12" name="Rectangle 12"/>
            <p:cNvSpPr/>
            <p:nvPr/>
          </p:nvSpPr>
          <p:spPr>
            <a:xfrm>
              <a:off x="809625" y="2428875"/>
              <a:ext cx="5715000" cy="809625"/>
            </a:xfrm>
            <a:prstGeom prst="roundRect">
              <a:avLst>
                <a:gd name="adj" fmla="val 16471"/>
              </a:avLst>
            </a:prstGeom>
            <a:solidFill>
              <a:srgbClr val="EFF6FF"/>
            </a:solidFill>
            <a:ln w="19050">
              <a:solidFill>
                <a:srgbClr val="BFDBFE"/>
              </a:solidFill>
            </a:ln>
          </p:spPr>
        </p:sp>
        <mc:AlternateContent xmlns:mc="http://schemas.openxmlformats.org/markup-compatibility/2006">
          <mc:Choice xmlns:a14="http://schemas.microsoft.com/office/drawing/2010/main" Requires="a14">
            <p:sp>
              <p:nvSpPr>
                <p:cNvPr id="13" name="TextBox 13"/>
                <p:cNvSpPr txBox="1"/>
                <p:nvPr/>
              </p:nvSpPr>
              <p:spPr>
                <a:xfrm>
                  <a:off x="1733902" y="2676525"/>
                  <a:ext cx="3866446" cy="468630"/>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B</m:t>
                      </m:r>
                      <m:r>
                        <m:rPr>
                          <m:sty m:val="p"/>
                        </m:rPr>
                        <a:rPr lang="vi-VN" sz="2250" dirty="0">
                          <a:solidFill>
                            <a:srgbClr val="1E40AF"/>
                          </a:solidFill>
                          <a:latin typeface="Cambria Math"/>
                          <a:ea typeface="Cambria Math"/>
                          <a:cs typeface="Cambria Math"/>
                        </a:rPr>
                        <m:t>=</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A</m:t>
                          </m:r>
                          <m:r>
                            <m:rPr>
                              <m:nor m:val="on"/>
                            </m:rPr>
                            <a:rPr lang="vi-VN" sz="2250" dirty="0">
                              <a:solidFill>
                                <a:srgbClr val="1E40AF"/>
                              </a:solidFill>
                              <a:latin typeface="Cambria Math"/>
                              <a:ea typeface="Cambria Math"/>
                              <a:cs typeface="Cambria Math"/>
                            </a:rPr>
                            <m:t xml:space="preserve"> và </m:t>
                          </m:r>
                          <m:r>
                            <a:rPr lang="vi-VN" sz="2250" dirty="0">
                              <a:solidFill>
                                <a:srgbClr val="1E40AF"/>
                              </a:solidFill>
                              <a:latin typeface="Cambria Math"/>
                              <a:ea typeface="Cambria Math"/>
                              <a:cs typeface="Cambria Math"/>
                            </a:rPr>
                            <m:t>x</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B</m:t>
                          </m:r>
                        </m:e>
                      </m:d>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79470"/>
                  <a:ext cx="4333894" cy="43738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Logic: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r>
                        <m:rPr>
                          <m:sty m:val="p"/>
                        </m:rPr>
                        <a:rPr lang="vi-VN" sz="2100" dirty="0">
                          <a:solidFill>
                            <a:srgbClr val="475569"/>
                          </a:solidFill>
                          <a:latin typeface="Cambria Math"/>
                          <a:ea typeface="Cambria Math"/>
                          <a:cs typeface="Cambria Math"/>
                        </a:rPr>
                        <m:t>⇔</m:t>
                      </m:r>
                      <m:d>
                        <m:dPr>
                          <m:begChr m:val="("/>
                          <m:sepChr m:val=""/>
                          <m:endChr m:val=")"/>
                          <m:grow m:val="on"/>
                          <m:ctrlPr>
                            <a:rPr lang="vi-VN" sz="2100" dirty="0">
                              <a:solidFill>
                                <a:srgbClr val="475569"/>
                              </a:solidFill>
                              <a:latin typeface="Cambria Math"/>
                              <a:ea typeface="Cambria Math"/>
                              <a:cs typeface="Cambria Math"/>
                            </a:rPr>
                          </m:ctrlPr>
                        </m:dPr>
                        <m:e>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e>
                      </m:d>
                    </m:oMath>
                  </a14:m>
                </a:p>
              </p:txBody>
            </p:sp>
          </mc:Choice>
        </mc:AlternateContent>
        <p:sp>
          <p:nvSpPr>
            <p:cNvPr id="15" name="Line 15"/>
            <p:cNvSpPr/>
            <p:nvPr/>
          </p:nvSpPr>
          <p:spPr>
            <a:xfrm>
              <a:off x="809625" y="3905250"/>
              <a:ext cx="5667375" cy="9525"/>
            </a:xfrm>
            <a:custGeom>
              <a:avLst/>
              <a:gdLst/>
              <a:ahLst/>
              <a:cxnLst/>
              <a:rect l="l" t="t" r="r" b="b"/>
              <a:pathLst>
                <a:path w="5667375" h="9525">
                  <a:moveTo>
                    <a:pt x="0" y="0"/>
                  </a:moveTo>
                  <a:lnTo>
                    <a:pt x="5667375" y="0"/>
                  </a:lnTo>
                </a:path>
              </a:pathLst>
            </a:custGeom>
            <a:noFill/>
            <a:ln w="19050">
              <a:solidFill>
                <a:srgbClr val="E2E8F0"/>
              </a:solidFill>
            </a:ln>
          </p:spPr>
        </p:sp>
        <p:sp>
          <p:nvSpPr>
            <p:cNvPr id="16" name="TextBox 16"/>
            <p:cNvSpPr txBox="1"/>
            <p:nvPr/>
          </p:nvSpPr>
          <p:spPr>
            <a:xfrm>
              <a:off x="798195" y="4138612"/>
              <a:ext cx="3917107"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VÍ DỤ 6 (SGK TRANG 16):</a:t>
              </a:r>
            </a:p>
          </p:txBody>
        </p:sp>
        <mc:AlternateContent xmlns:mc="http://schemas.openxmlformats.org/markup-compatibility/2006">
          <mc:Choice xmlns:a14="http://schemas.microsoft.com/office/drawing/2010/main" Requires="a14">
            <p:sp>
              <p:nvSpPr>
                <p:cNvPr id="17" name="TextBox 17"/>
                <p:cNvSpPr txBox="1"/>
                <p:nvPr/>
              </p:nvSpPr>
              <p:spPr>
                <a:xfrm>
                  <a:off x="798957" y="4570095"/>
                  <a:ext cx="4863811"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4</m:t>
                          </m:r>
                        </m:e>
                      </m:d>
                    </m:oMath>
                  </a14:m>
                  <a:r>
                    <a:rPr lang="vi-VN" sz="2100" b="1" dirty="0">
                      <a:solidFill>
                        <a:srgbClr val="0F172A"/>
                      </a:solidFill>
                      <a:latin typeface="+mn-lt"/>
                      <a:ea typeface="+mn-ea"/>
                      <a:cs typeface="+mn-cs"/>
                    </a:rPr>
                    <a:t xml:space="preserve"> và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2</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4</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6</m:t>
                          </m:r>
                        </m:e>
                      </m:d>
                    </m:oMath>
                  </a14:m>
                  <a:r>
                    <a:rPr lang="vi-VN" sz="2100" b="1" dirty="0">
                      <a:solidFill>
                        <a:srgbClr val="0F172A"/>
                      </a:solidFill>
                      <a:latin typeface="+mn-lt"/>
                      <a:ea typeface="+mn-ea"/>
                      <a:cs typeface="+mn-cs"/>
                    </a:rPr>
                    <a:t>.</a:t>
                  </a:r>
                </a:p>
              </p:txBody>
            </p:sp>
          </mc:Choice>
        </mc:AlternateContent>
        <p:sp>
          <p:nvSpPr>
            <p:cNvPr id="18" name="Rectangle 18"/>
            <p:cNvSpPr/>
            <p:nvPr/>
          </p:nvSpPr>
          <p:spPr>
            <a:xfrm>
              <a:off x="809625" y="5048250"/>
              <a:ext cx="5715000" cy="809625"/>
            </a:xfrm>
            <a:prstGeom prst="roundRect">
              <a:avLst>
                <a:gd name="adj" fmla="val 16471"/>
              </a:avLst>
            </a:prstGeom>
            <a:solidFill>
              <a:srgbClr val="F0FDF4"/>
            </a:solidFill>
            <a:ln w="14288">
              <a:solidFill>
                <a:srgbClr val="BBF7D0"/>
              </a:solidFill>
            </a:ln>
          </p:spPr>
        </p:sp>
        <mc:AlternateContent xmlns:mc="http://schemas.openxmlformats.org/markup-compatibility/2006">
          <mc:Choice xmlns:a14="http://schemas.microsoft.com/office/drawing/2010/main" Requires="a14">
            <p:sp>
              <p:nvSpPr>
                <p:cNvPr id="19" name="TextBox 19"/>
                <p:cNvSpPr txBox="1"/>
                <p:nvPr/>
              </p:nvSpPr>
              <p:spPr>
                <a:xfrm>
                  <a:off x="1036320" y="5286375"/>
                  <a:ext cx="5518224" cy="468630"/>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Giao: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A</m:t>
                      </m:r>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B</m:t>
                      </m:r>
                      <m:r>
                        <m:rPr>
                          <m:sty m:val="p"/>
                        </m:rPr>
                        <a:rPr lang="vi-VN" sz="2250" dirty="0">
                          <a:solidFill>
                            <a:srgbClr val="166534"/>
                          </a:solidFill>
                          <a:latin typeface="Cambria Math"/>
                          <a:ea typeface="Cambria Math"/>
                          <a:cs typeface="Cambria Math"/>
                        </a:rPr>
                        <m:t>=</m:t>
                      </m:r>
                      <m:d>
                        <m:dPr>
                          <m:begChr m:val="{"/>
                          <m:sepChr m:val=""/>
                          <m:endChr m:val="}"/>
                          <m:grow m:val="on"/>
                          <m:ctrlPr>
                            <a:rPr lang="vi-VN" sz="2250" dirty="0">
                              <a:solidFill>
                                <a:srgbClr val="166534"/>
                              </a:solidFill>
                              <a:latin typeface="Cambria Math"/>
                              <a:ea typeface="Cambria Math"/>
                              <a:cs typeface="Cambria Math"/>
                            </a:rPr>
                          </m:ctrlPr>
                        </m:dPr>
                        <m:e>
                          <m:r>
                            <a:rPr lang="vi-VN" sz="2250" dirty="0">
                              <a:solidFill>
                                <a:srgbClr val="166534"/>
                              </a:solidFill>
                              <a:latin typeface="Cambria Math"/>
                              <a:ea typeface="Cambria Math"/>
                              <a:cs typeface="Cambria Math"/>
                            </a:rPr>
                            <m:t>2</m:t>
                          </m:r>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4</m:t>
                          </m:r>
                        </m:e>
                      </m:d>
                    </m:oMath>
                  </a14:m>
                  <a:r>
                    <a:rPr lang="vi-VN" sz="2250" b="1" dirty="0">
                      <a:solidFill>
                        <a:srgbClr val="166534"/>
                      </a:solidFill>
                      <a:latin typeface="+mn-lt"/>
                      <a:ea typeface="+mn-ea"/>
                      <a:cs typeface="+mn-cs"/>
                    </a:rPr>
                    <a:t xml:space="preserve"> (phần tử chung)</a:t>
                  </a:r>
                </a:p>
              </p:txBody>
            </p:sp>
          </mc:Choice>
        </mc:AlternateContent>
        <p:sp>
          <p:nvSpPr>
            <p:cNvPr id="20" name="Rectangle 20"/>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1" name="TextBox 21"/>
            <p:cNvSpPr txBox="1"/>
            <p:nvPr/>
          </p:nvSpPr>
          <p:spPr>
            <a:xfrm>
              <a:off x="7444409" y="1423988"/>
              <a:ext cx="3970681"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BIỂU ĐỒ VEN PHÉP GIAO</a:t>
              </a:r>
            </a:p>
          </p:txBody>
        </p:sp>
        <p:pic>
          <p:nvPicPr>
            <p:cNvPr id="22" name="Image 22"/>
            <p:cNvPicPr>
              <a:picLocks noChangeAspect="1"/>
            </p:cNvPicPr>
            <p:nvPr/>
          </p:nvPicPr>
          <p:blipFill>
            <a:blip r:embed="rId2"/>
            <a:stretch>
              <a:fillRect/>
            </a:stretch>
          </p:blipFill>
          <p:spPr>
            <a:xfrm>
              <a:off x="7411225" y="1905000"/>
              <a:ext cx="4037050" cy="3619500"/>
            </a:xfrm>
            <a:prstGeom prst="rect">
              <a:avLst/>
            </a:prstGeom>
          </p:spPr>
        </p:pic>
        <p:sp>
          <p:nvSpPr>
            <p:cNvPr id="23" name="TextBox 23"/>
            <p:cNvSpPr txBox="1"/>
            <p:nvPr/>
          </p:nvSpPr>
          <p:spPr>
            <a:xfrm>
              <a:off x="7528945" y="5821680"/>
              <a:ext cx="3801610"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Phần giao được tô màu đậm</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85800" y="459105"/>
              <a:ext cx="120015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3.b</a:t>
              </a:r>
            </a:p>
          </p:txBody>
        </p:sp>
        <p:sp>
          <p:nvSpPr>
            <p:cNvPr id="7" name="TextBox 7"/>
            <p:cNvSpPr txBox="1"/>
            <p:nvPr/>
          </p:nvSpPr>
          <p:spPr>
            <a:xfrm>
              <a:off x="2036445" y="452438"/>
              <a:ext cx="8928811"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3. CÁC PHÉP TOÁN TRÊN TẬP HỢP: b. Hợp của hai tập hợp</a:t>
              </a:r>
            </a:p>
          </p:txBody>
        </p:sp>
      </p:grpSp>
      <p:grpSp>
        <p:nvGrpSpPr>
          <p:cNvPr id="24" name="content"/>
          <p:cNvGrpSpPr/>
          <p:nvPr/>
        </p:nvGrpSpPr>
        <p:grpSpPr>
          <a:xfrm>
            <a:off x="476250" y="1190625"/>
            <a:ext cx="11239500" cy="5191125"/>
            <a:chOff x="476250" y="1190625"/>
            <a:chExt cx="11239500"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605894"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ĐỊNH NGHĨA PHÉP HỢP (SGK KNTT)</a:t>
              </a:r>
            </a:p>
          </p:txBody>
        </p:sp>
        <p:sp>
          <p:nvSpPr>
            <p:cNvPr id="11" name="TextBox 11"/>
            <p:cNvSpPr txBox="1"/>
            <p:nvPr/>
          </p:nvSpPr>
          <p:spPr>
            <a:xfrm>
              <a:off x="798957" y="1964055"/>
              <a:ext cx="6394991"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Gộp tất cả các phần tử thuộc A HOẶC thuộc B:</a:t>
              </a:r>
            </a:p>
          </p:txBody>
        </p:sp>
        <p:sp>
          <p:nvSpPr>
            <p:cNvPr id="12" name="Rectangle 12"/>
            <p:cNvSpPr/>
            <p:nvPr/>
          </p:nvSpPr>
          <p:spPr>
            <a:xfrm>
              <a:off x="809625" y="2428875"/>
              <a:ext cx="5715000" cy="809625"/>
            </a:xfrm>
            <a:prstGeom prst="roundRect">
              <a:avLst>
                <a:gd name="adj" fmla="val 16471"/>
              </a:avLst>
            </a:prstGeom>
            <a:solidFill>
              <a:srgbClr val="F0FDF4"/>
            </a:solidFill>
            <a:ln w="19050">
              <a:solidFill>
                <a:srgbClr val="BBF7D0"/>
              </a:solidFill>
            </a:ln>
          </p:spPr>
        </p:sp>
        <mc:AlternateContent xmlns:mc="http://schemas.openxmlformats.org/markup-compatibility/2006">
          <mc:Choice xmlns:a14="http://schemas.microsoft.com/office/drawing/2010/main" Requires="a14">
            <p:sp>
              <p:nvSpPr>
                <p:cNvPr id="13" name="TextBox 13"/>
                <p:cNvSpPr txBox="1"/>
                <p:nvPr/>
              </p:nvSpPr>
              <p:spPr>
                <a:xfrm>
                  <a:off x="1553660" y="2676525"/>
                  <a:ext cx="4226929" cy="468630"/>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a:rPr lang="vi-VN" sz="2250" dirty="0">
                          <a:solidFill>
                            <a:srgbClr val="047857"/>
                          </a:solidFill>
                          <a:latin typeface="Cambria Math"/>
                          <a:ea typeface="Cambria Math"/>
                          <a:cs typeface="Cambria Math"/>
                        </a:rPr>
                        <m:t>A</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r>
                        <m:rPr>
                          <m:sty m:val="p"/>
                        </m:rPr>
                        <a:rPr lang="vi-VN" sz="2250" dirty="0">
                          <a:solidFill>
                            <a:srgbClr val="047857"/>
                          </a:solidFill>
                          <a:latin typeface="Cambria Math"/>
                          <a:ea typeface="Cambria Math"/>
                          <a:cs typeface="Cambria Math"/>
                        </a:rPr>
                        <m:t>=</m:t>
                      </m:r>
                      <m:d>
                        <m:dPr>
                          <m:begChr m:val="{"/>
                          <m:sepChr m:val=""/>
                          <m:endChr m:val="}"/>
                          <m:grow m:val="on"/>
                          <m:ctrlPr>
                            <a:rPr lang="vi-VN" sz="2250" dirty="0">
                              <a:solidFill>
                                <a:srgbClr val="047857"/>
                              </a:solidFill>
                              <a:latin typeface="Cambria Math"/>
                              <a:ea typeface="Cambria Math"/>
                              <a:cs typeface="Cambria Math"/>
                            </a:rPr>
                          </m:ctrlPr>
                        </m:dPr>
                        <m:e>
                          <m:r>
                            <a:rPr lang="vi-VN" sz="2250" dirty="0">
                              <a:solidFill>
                                <a:srgbClr val="047857"/>
                              </a:solidFill>
                              <a:latin typeface="Cambria Math"/>
                              <a:ea typeface="Cambria Math"/>
                              <a:cs typeface="Cambria Math"/>
                            </a:rPr>
                            <m:t>x</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x</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A</m:t>
                          </m:r>
                          <m:r>
                            <m:rPr>
                              <m:nor m:val="on"/>
                            </m:rPr>
                            <a:rPr lang="vi-VN" sz="2250" dirty="0">
                              <a:solidFill>
                                <a:srgbClr val="047857"/>
                              </a:solidFill>
                              <a:latin typeface="Cambria Math"/>
                              <a:ea typeface="Cambria Math"/>
                              <a:cs typeface="Cambria Math"/>
                            </a:rPr>
                            <m:t xml:space="preserve"> hoặc </m:t>
                          </m:r>
                          <m:r>
                            <a:rPr lang="vi-VN" sz="2250" dirty="0">
                              <a:solidFill>
                                <a:srgbClr val="047857"/>
                              </a:solidFill>
                              <a:latin typeface="Cambria Math"/>
                              <a:ea typeface="Cambria Math"/>
                              <a:cs typeface="Cambria Math"/>
                            </a:rPr>
                            <m:t>x</m:t>
                          </m:r>
                          <m:r>
                            <m:rPr>
                              <m:sty m:val="p"/>
                            </m:rPr>
                            <a:rPr lang="vi-VN" sz="2250" dirty="0">
                              <a:solidFill>
                                <a:srgbClr val="047857"/>
                              </a:solidFill>
                              <a:latin typeface="Cambria Math"/>
                              <a:ea typeface="Cambria Math"/>
                              <a:cs typeface="Cambria Math"/>
                            </a:rPr>
                            <m:t>∈</m:t>
                          </m:r>
                          <m:r>
                            <a:rPr lang="vi-VN" sz="2250" dirty="0">
                              <a:solidFill>
                                <a:srgbClr val="047857"/>
                              </a:solidFill>
                              <a:latin typeface="Cambria Math"/>
                              <a:ea typeface="Cambria Math"/>
                              <a:cs typeface="Cambria Math"/>
                            </a:rPr>
                            <m:t>B</m:t>
                          </m:r>
                        </m:e>
                      </m:d>
                    </m:oMath>
                  </a14:m>
                </a:p>
              </p:txBody>
            </p:sp>
          </mc:Choice>
        </mc:AlternateContent>
        <mc:AlternateContent xmlns:mc="http://schemas.openxmlformats.org/markup-compatibility/2006">
          <mc:Choice xmlns:a14="http://schemas.microsoft.com/office/drawing/2010/main" Requires="a14">
            <p:sp>
              <p:nvSpPr>
                <p:cNvPr id="14" name="TextBox 14"/>
                <p:cNvSpPr txBox="1"/>
                <p:nvPr/>
              </p:nvSpPr>
              <p:spPr>
                <a:xfrm>
                  <a:off x="798957" y="3379470"/>
                  <a:ext cx="4639361" cy="437388"/>
                </a:xfrm>
                <a:prstGeom prst="rect">
                  <a:avLst/>
                </a:prstGeom>
                <a:noFill/>
                <a:ln>
                  <a:noFill/>
                </a:ln>
              </p:spPr>
              <p:txBody>
                <a:bodyPr wrap="none" lIns="0" tIns="0" rIns="0" bIns="0" anchor="t" anchorCtr="0">
                  <a:spAutoFit/>
                </a:bodyPr>
                <a:lstStyle/>
                <a:p>
                  <a:pPr algn="l"/>
                  <a:r>
                    <a:rPr lang="vi-VN" sz="2100" dirty="0">
                      <a:solidFill>
                        <a:srgbClr val="475569"/>
                      </a:solidFill>
                      <a:latin typeface="+mn-lt"/>
                      <a:ea typeface="+mn-ea"/>
                      <a:cs typeface="+mn-cs"/>
                    </a:rPr>
                    <a:t xml:space="preserve">Logic: </a:t>
                  </a:r>
                  <a14:m>
                    <m:oMath xmlns:a="http://schemas.openxmlformats.org/drawingml/2006/main" xmlns:m="http://schemas.openxmlformats.org/officeDocument/2006/math">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r>
                        <m:rPr>
                          <m:sty m:val="p"/>
                        </m:rPr>
                        <a:rPr lang="vi-VN" sz="2100" dirty="0">
                          <a:solidFill>
                            <a:srgbClr val="475569"/>
                          </a:solidFill>
                          <a:latin typeface="Cambria Math"/>
                          <a:ea typeface="Cambria Math"/>
                          <a:cs typeface="Cambria Math"/>
                        </a:rPr>
                        <m:t>⇔</m:t>
                      </m:r>
                      <m:d>
                        <m:dPr>
                          <m:begChr m:val="("/>
                          <m:sepChr m:val=""/>
                          <m:endChr m:val=")"/>
                          <m:grow m:val="on"/>
                          <m:ctrlPr>
                            <a:rPr lang="vi-VN" sz="2100" dirty="0">
                              <a:solidFill>
                                <a:srgbClr val="475569"/>
                              </a:solidFill>
                              <a:latin typeface="Cambria Math"/>
                              <a:ea typeface="Cambria Math"/>
                              <a:cs typeface="Cambria Math"/>
                            </a:rPr>
                          </m:ctrlPr>
                        </m:dPr>
                        <m:e>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A</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x</m:t>
                          </m:r>
                          <m:r>
                            <m:rPr>
                              <m:sty m:val="p"/>
                            </m:rPr>
                            <a:rPr lang="vi-VN" sz="2100" dirty="0">
                              <a:solidFill>
                                <a:srgbClr val="475569"/>
                              </a:solidFill>
                              <a:latin typeface="Cambria Math"/>
                              <a:ea typeface="Cambria Math"/>
                              <a:cs typeface="Cambria Math"/>
                            </a:rPr>
                            <m:t>∈</m:t>
                          </m:r>
                          <m:r>
                            <a:rPr lang="vi-VN" sz="2100" dirty="0">
                              <a:solidFill>
                                <a:srgbClr val="475569"/>
                              </a:solidFill>
                              <a:latin typeface="Cambria Math"/>
                              <a:ea typeface="Cambria Math"/>
                              <a:cs typeface="Cambria Math"/>
                            </a:rPr>
                            <m:t>B</m:t>
                          </m:r>
                        </m:e>
                      </m:d>
                    </m:oMath>
                  </a14:m>
                </a:p>
              </p:txBody>
            </p:sp>
          </mc:Choice>
        </mc:AlternateContent>
        <p:sp>
          <p:nvSpPr>
            <p:cNvPr id="15" name="Line 15"/>
            <p:cNvSpPr/>
            <p:nvPr/>
          </p:nvSpPr>
          <p:spPr>
            <a:xfrm>
              <a:off x="809625" y="3905250"/>
              <a:ext cx="5667375" cy="9525"/>
            </a:xfrm>
            <a:custGeom>
              <a:avLst/>
              <a:gdLst/>
              <a:ahLst/>
              <a:cxnLst/>
              <a:rect l="l" t="t" r="r" b="b"/>
              <a:pathLst>
                <a:path w="5667375" h="9525">
                  <a:moveTo>
                    <a:pt x="0" y="0"/>
                  </a:moveTo>
                  <a:lnTo>
                    <a:pt x="5667375" y="0"/>
                  </a:lnTo>
                </a:path>
              </a:pathLst>
            </a:custGeom>
            <a:noFill/>
            <a:ln w="19050">
              <a:solidFill>
                <a:srgbClr val="E2E8F0"/>
              </a:solidFill>
            </a:ln>
          </p:spPr>
        </p:sp>
        <p:sp>
          <p:nvSpPr>
            <p:cNvPr id="16" name="TextBox 16"/>
            <p:cNvSpPr txBox="1"/>
            <p:nvPr/>
          </p:nvSpPr>
          <p:spPr>
            <a:xfrm>
              <a:off x="798195" y="4138612"/>
              <a:ext cx="3917107"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VÍ DỤ 7 (SGK TRANG 17):</a:t>
              </a:r>
            </a:p>
          </p:txBody>
        </p:sp>
        <mc:AlternateContent xmlns:mc="http://schemas.openxmlformats.org/markup-compatibility/2006">
          <mc:Choice xmlns:a14="http://schemas.microsoft.com/office/drawing/2010/main" Requires="a14">
            <p:sp>
              <p:nvSpPr>
                <p:cNvPr id="17" name="TextBox 17"/>
                <p:cNvSpPr txBox="1"/>
                <p:nvPr/>
              </p:nvSpPr>
              <p:spPr>
                <a:xfrm>
                  <a:off x="798957" y="4570095"/>
                  <a:ext cx="4413785"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Cho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c</m:t>
                          </m:r>
                        </m:e>
                      </m:d>
                    </m:oMath>
                  </a14:m>
                  <a:r>
                    <a:rPr lang="vi-VN" sz="2100" b="1" dirty="0">
                      <a:solidFill>
                        <a:srgbClr val="0F172A"/>
                      </a:solidFill>
                      <a:latin typeface="+mn-lt"/>
                      <a:ea typeface="+mn-ea"/>
                      <a:cs typeface="+mn-cs"/>
                    </a:rPr>
                    <a:t xml:space="preserve"> và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B</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c</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d</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e</m:t>
                          </m:r>
                        </m:e>
                      </m:d>
                    </m:oMath>
                  </a14:m>
                  <a:r>
                    <a:rPr lang="vi-VN" sz="2100" b="1" dirty="0">
                      <a:solidFill>
                        <a:srgbClr val="0F172A"/>
                      </a:solidFill>
                      <a:latin typeface="+mn-lt"/>
                      <a:ea typeface="+mn-ea"/>
                      <a:cs typeface="+mn-cs"/>
                    </a:rPr>
                    <a:t>.</a:t>
                  </a:r>
                </a:p>
              </p:txBody>
            </p:sp>
          </mc:Choice>
        </mc:AlternateContent>
        <p:sp>
          <p:nvSpPr>
            <p:cNvPr id="18" name="Rectangle 18"/>
            <p:cNvSpPr/>
            <p:nvPr/>
          </p:nvSpPr>
          <p:spPr>
            <a:xfrm>
              <a:off x="809625" y="5048250"/>
              <a:ext cx="5715000" cy="809625"/>
            </a:xfrm>
            <a:prstGeom prst="roundRect">
              <a:avLst>
                <a:gd name="adj" fmla="val 16471"/>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9" name="TextBox 19"/>
                <p:cNvSpPr txBox="1"/>
                <p:nvPr/>
              </p:nvSpPr>
              <p:spPr>
                <a:xfrm>
                  <a:off x="1036320" y="5286375"/>
                  <a:ext cx="4100461" cy="468630"/>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 Hợp: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B</m:t>
                      </m:r>
                      <m:r>
                        <m:rPr>
                          <m:sty m:val="p"/>
                        </m:rPr>
                        <a:rPr lang="vi-VN" sz="2250" dirty="0">
                          <a:solidFill>
                            <a:srgbClr val="1E40AF"/>
                          </a:solidFill>
                          <a:latin typeface="Cambria Math"/>
                          <a:ea typeface="Cambria Math"/>
                          <a:cs typeface="Cambria Math"/>
                        </a:rPr>
                        <m:t>=</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a</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b</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c</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d</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e</m:t>
                          </m:r>
                        </m:e>
                      </m:d>
                    </m:oMath>
                  </a14:m>
                </a:p>
              </p:txBody>
            </p:sp>
          </mc:Choice>
        </mc:AlternateContent>
        <p:sp>
          <p:nvSpPr>
            <p:cNvPr id="20" name="Rectangle 20"/>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1" name="TextBox 21"/>
            <p:cNvSpPr txBox="1"/>
            <p:nvPr/>
          </p:nvSpPr>
          <p:spPr>
            <a:xfrm>
              <a:off x="7506593" y="1423988"/>
              <a:ext cx="3846314"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BIỂU ĐỒ VEN PHÉP HỢP</a:t>
              </a:r>
            </a:p>
          </p:txBody>
        </p:sp>
        <p:pic>
          <p:nvPicPr>
            <p:cNvPr id="22" name="Image 22"/>
            <p:cNvPicPr>
              <a:picLocks noChangeAspect="1"/>
            </p:cNvPicPr>
            <p:nvPr/>
          </p:nvPicPr>
          <p:blipFill>
            <a:blip r:embed="rId2"/>
            <a:stretch>
              <a:fillRect/>
            </a:stretch>
          </p:blipFill>
          <p:spPr>
            <a:xfrm>
              <a:off x="7334250" y="1921945"/>
              <a:ext cx="4191000" cy="3585610"/>
            </a:xfrm>
            <a:prstGeom prst="rect">
              <a:avLst/>
            </a:prstGeom>
          </p:spPr>
        </p:pic>
        <p:sp>
          <p:nvSpPr>
            <p:cNvPr id="23" name="TextBox 23"/>
            <p:cNvSpPr txBox="1"/>
            <p:nvPr/>
          </p:nvSpPr>
          <p:spPr>
            <a:xfrm>
              <a:off x="7615188" y="5821680"/>
              <a:ext cx="3629124"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Toàn bộ 2 tập được tô màu</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93845" y="459105"/>
              <a:ext cx="1184059"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MỤC 3.c</a:t>
              </a:r>
            </a:p>
          </p:txBody>
        </p:sp>
        <p:sp>
          <p:nvSpPr>
            <p:cNvPr id="7" name="TextBox 7"/>
            <p:cNvSpPr txBox="1"/>
            <p:nvPr/>
          </p:nvSpPr>
          <p:spPr>
            <a:xfrm>
              <a:off x="2036445" y="452438"/>
              <a:ext cx="8103663"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3. CÁC PHÉP TOÁN: c. Hiệu của hai tập hợp &amp; Phần bù</a:t>
              </a:r>
            </a:p>
          </p:txBody>
        </p:sp>
      </p:grpSp>
      <p:grpSp>
        <p:nvGrpSpPr>
          <p:cNvPr id="26" name="content"/>
          <p:cNvGrpSpPr/>
          <p:nvPr/>
        </p:nvGrpSpPr>
        <p:grpSpPr>
          <a:xfrm>
            <a:off x="476250" y="1190625"/>
            <a:ext cx="11734399" cy="5191125"/>
            <a:chOff x="476250" y="1190625"/>
            <a:chExt cx="11734399"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mc:AlternateContent xmlns:mc="http://schemas.openxmlformats.org/markup-compatibility/2006">
          <mc:Choice xmlns:a14="http://schemas.microsoft.com/office/drawing/2010/main" Requires="a14">
            <p:sp>
              <p:nvSpPr>
                <p:cNvPr id="10" name="TextBox 10"/>
                <p:cNvSpPr txBox="1"/>
                <p:nvPr/>
              </p:nvSpPr>
              <p:spPr>
                <a:xfrm>
                  <a:off x="798195" y="1423988"/>
                  <a:ext cx="5120445"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1. ĐỊNH NGHĨA PHÉP HIỆU (</a:t>
                  </a:r>
                  <a14:m>
                    <m:oMath xmlns:a="http://schemas.openxmlformats.org/drawingml/2006/main" xmlns:m="http://schemas.openxmlformats.org/officeDocument/2006/math">
                      <m:r>
                        <a:rPr lang="vi-VN" sz="2250" dirty="0">
                          <a:solidFill>
                            <a:srgbClr val="1D4ED8"/>
                          </a:solidFill>
                          <a:latin typeface="Cambria Math"/>
                          <a:ea typeface="Cambria Math"/>
                          <a:cs typeface="Cambria Math"/>
                        </a:rPr>
                        <m:t>A</m:t>
                      </m:r>
                      <m:r>
                        <m:rPr>
                          <m:sty m:val="p"/>
                        </m:rPr>
                        <a:rPr lang="vi-VN" sz="2250" dirty="0">
                          <a:solidFill>
                            <a:srgbClr val="1D4ED8"/>
                          </a:solidFill>
                          <a:latin typeface="Cambria Math"/>
                          <a:ea typeface="Cambria Math"/>
                          <a:cs typeface="Cambria Math"/>
                        </a:rPr>
                        <m:t>∖</m:t>
                      </m:r>
                      <m:r>
                        <a:rPr lang="vi-VN" sz="2250" dirty="0">
                          <a:solidFill>
                            <a:srgbClr val="1D4ED8"/>
                          </a:solidFill>
                          <a:latin typeface="Cambria Math"/>
                          <a:ea typeface="Cambria Math"/>
                          <a:cs typeface="Cambria Math"/>
                        </a:rPr>
                        <m:t>B</m:t>
                      </m:r>
                    </m:oMath>
                  </a14:m>
                  <a:r>
                    <a:rPr lang="vi-VN" sz="2250" b="1" dirty="0">
                      <a:solidFill>
                        <a:srgbClr val="1D4ED8"/>
                      </a:solidFill>
                      <a:latin typeface="+mn-lt"/>
                      <a:ea typeface="+mn-ea"/>
                      <a:cs typeface="+mn-cs"/>
                    </a:rPr>
                    <a:t>)</a:t>
                  </a:r>
                </a:p>
              </p:txBody>
            </p:sp>
          </mc:Choice>
        </mc:AlternateContent>
        <p:sp>
          <p:nvSpPr>
            <p:cNvPr id="11" name="TextBox 11"/>
            <p:cNvSpPr txBox="1"/>
            <p:nvPr/>
          </p:nvSpPr>
          <p:spPr>
            <a:xfrm>
              <a:off x="798957" y="1868805"/>
              <a:ext cx="6832322"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Gồm các phần tử thuộc A nhưng KHÔNG thuộc B:</a:t>
              </a:r>
            </a:p>
          </p:txBody>
        </p:sp>
        <p:sp>
          <p:nvSpPr>
            <p:cNvPr id="12" name="Rectangle 12"/>
            <p:cNvSpPr/>
            <p:nvPr/>
          </p:nvSpPr>
          <p:spPr>
            <a:xfrm>
              <a:off x="809625" y="2333625"/>
              <a:ext cx="5715000" cy="714375"/>
            </a:xfrm>
            <a:prstGeom prst="roundRect">
              <a:avLst>
                <a:gd name="adj" fmla="val 16000"/>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3" name="TextBox 13"/>
                <p:cNvSpPr txBox="1"/>
                <p:nvPr/>
              </p:nvSpPr>
              <p:spPr>
                <a:xfrm>
                  <a:off x="1906212" y="2541270"/>
                  <a:ext cx="3521825" cy="437388"/>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A</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B</m:t>
                      </m:r>
                      <m:r>
                        <m:rPr>
                          <m:sty m:val="p"/>
                        </m:rPr>
                        <a:rPr lang="vi-VN" sz="2100" dirty="0">
                          <a:solidFill>
                            <a:srgbClr val="1E40AF"/>
                          </a:solidFill>
                          <a:latin typeface="Cambria Math"/>
                          <a:ea typeface="Cambria Math"/>
                          <a:cs typeface="Cambria Math"/>
                        </a:rPr>
                        <m:t>=</m:t>
                      </m:r>
                      <m:d>
                        <m:dPr>
                          <m:begChr m:val="{"/>
                          <m:sepChr m:val=""/>
                          <m:endChr m:val="}"/>
                          <m:grow m:val="on"/>
                          <m:ctrlPr>
                            <a:rPr lang="vi-VN" sz="2100" dirty="0">
                              <a:solidFill>
                                <a:srgbClr val="1E40AF"/>
                              </a:solidFill>
                              <a:latin typeface="Cambria Math"/>
                              <a:ea typeface="Cambria Math"/>
                              <a:cs typeface="Cambria Math"/>
                            </a:rPr>
                          </m:ctrlPr>
                        </m:dPr>
                        <m:e>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A</m:t>
                          </m:r>
                          <m:r>
                            <m:rPr>
                              <m:nor m:val="on"/>
                            </m:rPr>
                            <a:rPr lang="vi-VN" sz="2100" dirty="0">
                              <a:solidFill>
                                <a:srgbClr val="1E40AF"/>
                              </a:solidFill>
                              <a:latin typeface="Cambria Math"/>
                              <a:ea typeface="Cambria Math"/>
                              <a:cs typeface="Cambria Math"/>
                            </a:rPr>
                            <m:t xml:space="preserve"> và </m:t>
                          </m:r>
                          <m:r>
                            <a:rPr lang="vi-VN" sz="2100" dirty="0">
                              <a:solidFill>
                                <a:srgbClr val="1E40AF"/>
                              </a:solidFill>
                              <a:latin typeface="Cambria Math"/>
                              <a:ea typeface="Cambria Math"/>
                              <a:cs typeface="Cambria Math"/>
                            </a:rPr>
                            <m:t>x</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B</m:t>
                          </m:r>
                        </m:e>
                      </m:d>
                    </m:oMath>
                  </a14:m>
                </a:p>
              </p:txBody>
            </p:sp>
          </mc:Choice>
        </mc:AlternateContent>
        <p:sp>
          <p:nvSpPr>
            <p:cNvPr id="14" name="Line 14"/>
            <p:cNvSpPr/>
            <p:nvPr/>
          </p:nvSpPr>
          <p:spPr>
            <a:xfrm>
              <a:off x="809625" y="3238500"/>
              <a:ext cx="5667375" cy="9525"/>
            </a:xfrm>
            <a:custGeom>
              <a:avLst/>
              <a:gdLst/>
              <a:ahLst/>
              <a:cxnLst/>
              <a:rect l="l" t="t" r="r" b="b"/>
              <a:pathLst>
                <a:path w="5667375" h="9525">
                  <a:moveTo>
                    <a:pt x="0" y="0"/>
                  </a:moveTo>
                  <a:lnTo>
                    <a:pt x="5667375" y="0"/>
                  </a:lnTo>
                </a:path>
              </a:pathLst>
            </a:custGeom>
            <a:noFill/>
            <a:ln w="19050">
              <a:solidFill>
                <a:srgbClr val="E2E8F0"/>
              </a:solidFill>
            </a:ln>
          </p:spPr>
        </p:sp>
        <mc:AlternateContent xmlns:mc="http://schemas.openxmlformats.org/markup-compatibility/2006">
          <mc:Choice xmlns:a14="http://schemas.microsoft.com/office/drawing/2010/main" Requires="a14">
            <p:sp>
              <p:nvSpPr>
                <p:cNvPr id="15" name="TextBox 15"/>
                <p:cNvSpPr txBox="1"/>
                <p:nvPr/>
              </p:nvSpPr>
              <p:spPr>
                <a:xfrm>
                  <a:off x="798195" y="3424238"/>
                  <a:ext cx="5067062" cy="487775"/>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2. ĐỊNH NGHĨA PHẦN BÙ (</a:t>
                  </a:r>
                  <a14:m>
                    <m:oMath xmlns:a="http://schemas.openxmlformats.org/drawingml/2006/main" xmlns:m="http://schemas.openxmlformats.org/officeDocument/2006/math">
                      <m:sSub>
                        <m:e>
                          <m:r>
                            <a:rPr lang="vi-VN" sz="2250" dirty="0">
                              <a:solidFill>
                                <a:srgbClr val="B45309"/>
                              </a:solidFill>
                              <a:latin typeface="Cambria Math"/>
                              <a:ea typeface="Cambria Math"/>
                              <a:cs typeface="Cambria Math"/>
                            </a:rPr>
                            <m:t>C</m:t>
                          </m:r>
                        </m:e>
                        <m:sub>
                          <m:r>
                            <a:rPr lang="vi-VN" sz="2250" dirty="0">
                              <a:solidFill>
                                <a:srgbClr val="B45309"/>
                              </a:solidFill>
                              <a:latin typeface="Cambria Math"/>
                              <a:ea typeface="Cambria Math"/>
                              <a:cs typeface="Cambria Math"/>
                            </a:rPr>
                            <m:t>E</m:t>
                          </m:r>
                        </m:sub>
                      </m:sSub>
                      <m:r>
                        <a:rPr lang="vi-VN" sz="2250" dirty="0">
                          <a:solidFill>
                            <a:srgbClr val="B45309"/>
                          </a:solidFill>
                          <a:latin typeface="Cambria Math"/>
                          <a:ea typeface="Cambria Math"/>
                          <a:cs typeface="Cambria Math"/>
                        </a:rPr>
                        <m:t>A</m:t>
                      </m:r>
                    </m:oMath>
                  </a14:m>
                  <a:r>
                    <a:rPr lang="vi-VN" sz="2250" b="1" dirty="0">
                      <a:solidFill>
                        <a:srgbClr val="B45309"/>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6" name="TextBox 16"/>
                <p:cNvSpPr txBox="1"/>
                <p:nvPr/>
              </p:nvSpPr>
              <p:spPr>
                <a:xfrm>
                  <a:off x="798957" y="3869055"/>
                  <a:ext cx="413793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Khi A là tập con của E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E</m:t>
                      </m:r>
                    </m:oMath>
                  </a14:m>
                  <a:r>
                    <a:rPr lang="vi-VN" sz="2100" b="1" dirty="0">
                      <a:solidFill>
                        <a:srgbClr val="0F172A"/>
                      </a:solidFill>
                      <a:latin typeface="+mn-lt"/>
                      <a:ea typeface="+mn-ea"/>
                      <a:cs typeface="+mn-cs"/>
                    </a:rPr>
                    <a:t>):</a:t>
                  </a:r>
                </a:p>
              </p:txBody>
            </p:sp>
          </mc:Choice>
        </mc:AlternateContent>
        <p:sp>
          <p:nvSpPr>
            <p:cNvPr id="17" name="Rectangle 17"/>
            <p:cNvSpPr/>
            <p:nvPr/>
          </p:nvSpPr>
          <p:spPr>
            <a:xfrm>
              <a:off x="809625" y="4333875"/>
              <a:ext cx="5715000" cy="714375"/>
            </a:xfrm>
            <a:prstGeom prst="roundRect">
              <a:avLst>
                <a:gd name="adj" fmla="val 16000"/>
              </a:avLst>
            </a:prstGeom>
            <a:solidFill>
              <a:srgbClr val="FEF3C7"/>
            </a:solidFill>
            <a:ln w="14288">
              <a:solidFill>
                <a:srgbClr val="FDE68A"/>
              </a:solidFill>
            </a:ln>
          </p:spPr>
        </p:sp>
        <mc:AlternateContent xmlns:mc="http://schemas.openxmlformats.org/markup-compatibility/2006">
          <mc:Choice xmlns:a14="http://schemas.microsoft.com/office/drawing/2010/main" Requires="a14">
            <p:sp>
              <p:nvSpPr>
                <p:cNvPr id="18" name="TextBox 18"/>
                <p:cNvSpPr txBox="1"/>
                <p:nvPr/>
              </p:nvSpPr>
              <p:spPr>
                <a:xfrm>
                  <a:off x="1006954" y="4554855"/>
                  <a:ext cx="5320343" cy="455257"/>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sSub>
                        <m:e>
                          <m:r>
                            <a:rPr lang="vi-VN" sz="2100" dirty="0">
                              <a:solidFill>
                                <a:srgbClr val="B45309"/>
                              </a:solidFill>
                              <a:latin typeface="Cambria Math"/>
                              <a:ea typeface="Cambria Math"/>
                              <a:cs typeface="Cambria Math"/>
                            </a:rPr>
                            <m:t>C</m:t>
                          </m:r>
                        </m:e>
                        <m:sub>
                          <m:r>
                            <a:rPr lang="vi-VN" sz="2100" dirty="0">
                              <a:solidFill>
                                <a:srgbClr val="B45309"/>
                              </a:solidFill>
                              <a:latin typeface="Cambria Math"/>
                              <a:ea typeface="Cambria Math"/>
                              <a:cs typeface="Cambria Math"/>
                            </a:rPr>
                            <m:t>E</m:t>
                          </m:r>
                        </m:sub>
                      </m:sSub>
                      <m:r>
                        <a:rPr lang="vi-VN" sz="2100" dirty="0">
                          <a:solidFill>
                            <a:srgbClr val="B45309"/>
                          </a:solidFill>
                          <a:latin typeface="Cambria Math"/>
                          <a:ea typeface="Cambria Math"/>
                          <a:cs typeface="Cambria Math"/>
                        </a:rPr>
                        <m:t>A</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E</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A</m:t>
                      </m:r>
                    </m:oMath>
                  </a14:m>
                  <a:r>
                    <a:rPr lang="vi-VN" sz="2100" b="1" dirty="0">
                      <a:solidFill>
                        <a:srgbClr val="B45309"/>
                      </a:solidFill>
                      <a:latin typeface="+mn-lt"/>
                      <a:ea typeface="+mn-ea"/>
                      <a:cs typeface="+mn-cs"/>
                    </a:rPr>
                    <a:t xml:space="preserve"> (Phần còn thiếu để đủ E)</a:t>
                  </a:r>
                </a:p>
              </p:txBody>
            </p:sp>
          </mc:Choice>
        </mc:AlternateContent>
        <p:sp>
          <p:nvSpPr>
            <p:cNvPr id="19" name="Rectangle 19"/>
            <p:cNvSpPr/>
            <p:nvPr/>
          </p:nvSpPr>
          <p:spPr>
            <a:xfrm>
              <a:off x="809625" y="5286375"/>
              <a:ext cx="5715000" cy="904875"/>
            </a:xfrm>
            <a:prstGeom prst="roundRect">
              <a:avLst>
                <a:gd name="adj" fmla="val 12632"/>
              </a:avLst>
            </a:prstGeom>
            <a:solidFill>
              <a:srgbClr val="F8FAFC"/>
            </a:solidFill>
            <a:ln w="14288">
              <a:solidFill>
                <a:srgbClr val="E2E8F0"/>
              </a:solidFill>
            </a:ln>
          </p:spPr>
        </p:sp>
        <mc:AlternateContent xmlns:mc="http://schemas.openxmlformats.org/markup-compatibility/2006">
          <mc:Choice xmlns:a14="http://schemas.microsoft.com/office/drawing/2010/main" Requires="a14">
            <p:sp>
              <p:nvSpPr>
                <p:cNvPr id="20" name="TextBox 20"/>
                <p:cNvSpPr txBox="1"/>
                <p:nvPr/>
              </p:nvSpPr>
              <p:spPr>
                <a:xfrm>
                  <a:off x="989457" y="5427345"/>
                  <a:ext cx="5088103" cy="468592"/>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VD: </a:t>
                  </a:r>
                  <a14:m>
                    <m:oMath xmlns:a="http://schemas.openxmlformats.org/drawingml/2006/main" xmlns:m="http://schemas.openxmlformats.org/officeDocument/2006/math">
                      <m:sSub>
                        <m:e>
                          <m:r>
                            <a:rPr lang="vi-VN" sz="2100" dirty="0">
                              <a:solidFill>
                                <a:srgbClr val="0F172A"/>
                              </a:solidFill>
                              <a:latin typeface="Cambria Math"/>
                              <a:ea typeface="Cambria Math"/>
                              <a:cs typeface="Cambria Math"/>
                            </a:rPr>
                            <m:t>C</m:t>
                          </m:r>
                        </m:e>
                        <m:sub>
                          <m:r>
                            <m:rPr>
                              <m:scr m:val="double-struck"/>
                              <m:sty m:val="p"/>
                            </m:rPr>
                            <a:rPr lang="vi-VN" sz="2100" dirty="0">
                              <a:solidFill>
                                <a:srgbClr val="0F172A"/>
                              </a:solidFill>
                              <a:latin typeface="Cambria Math"/>
                              <a:ea typeface="Cambria Math"/>
                              <a:cs typeface="Cambria Math"/>
                            </a:rPr>
                            <m:t>R</m:t>
                          </m:r>
                        </m:sub>
                      </m:sSub>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m:t>
                      </m:r>
                      <m:r>
                        <m:rPr>
                          <m:sty m:val="p"/>
                        </m:rPr>
                        <a:rPr lang="vi-VN" sz="2100" dirty="0">
                          <a:solidFill>
                            <a:srgbClr val="0F172A"/>
                          </a:solidFill>
                          <a:latin typeface="Cambria Math"/>
                          <a:ea typeface="Cambria Math"/>
                          <a:cs typeface="Cambria Math"/>
                        </a:rPr>
                        <m:t>=</m:t>
                      </m:r>
                      <m:r>
                        <m:rPr>
                          <m:scr m:val="double-struck"/>
                          <m:sty m:val="p"/>
                        </m:rPr>
                        <a:rPr lang="vi-VN" sz="2100" dirty="0">
                          <a:solidFill>
                            <a:srgbClr val="0F172A"/>
                          </a:solidFill>
                          <a:latin typeface="Cambria Math"/>
                          <a:ea typeface="Cambria Math"/>
                          <a:cs typeface="Cambria Math"/>
                        </a:rPr>
                        <m:t>R</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m:t>
                      </m:r>
                      <m:r>
                        <m:rPr>
                          <m:sty m:val="p"/>
                        </m:rPr>
                        <a:rPr lang="vi-VN" sz="2100" dirty="0">
                          <a:solidFill>
                            <a:srgbClr val="0F172A"/>
                          </a:solidFill>
                          <a:latin typeface="Cambria Math"/>
                          <a:ea typeface="Cambria Math"/>
                          <a:cs typeface="Cambria Math"/>
                        </a:rPr>
                        <m:t>=</m:t>
                      </m:r>
                      <m:d>
                        <m:dPr>
                          <m:begChr m:val="("/>
                          <m:sepChr m:val=""/>
                          <m:endChr m:val=")"/>
                          <m:grow m:val="on"/>
                          <m:ctrlPr>
                            <a:rPr lang="vi-VN" sz="2100" dirty="0">
                              <a:solidFill>
                                <a:srgbClr val="0F172A"/>
                              </a:solidFill>
                              <a:latin typeface="Cambria Math"/>
                              <a:ea typeface="Cambria Math"/>
                              <a:cs typeface="Cambria Math"/>
                            </a:rPr>
                          </m:ctrlPr>
                        </m:dPr>
                        <m:e>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0</m:t>
                          </m:r>
                        </m:e>
                      </m:d>
                    </m:oMath>
                  </a14:m>
                </a:p>
              </p:txBody>
            </p:sp>
          </mc:Choice>
        </mc:AlternateContent>
        <p:sp>
          <p:nvSpPr>
            <p:cNvPr id="21" name="TextBox 21"/>
            <p:cNvSpPr txBox="1"/>
            <p:nvPr/>
          </p:nvSpPr>
          <p:spPr>
            <a:xfrm>
              <a:off x="989457" y="5821680"/>
              <a:ext cx="6041321"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Lưu ý: Đổi mút từ ngoặc vuông sang tròn!</a:t>
              </a:r>
            </a:p>
          </p:txBody>
        </p:sp>
        <p:sp>
          <p:nvSpPr>
            <p:cNvPr id="22" name="Rectangle 22"/>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3" name="TextBox 23"/>
            <p:cNvSpPr txBox="1"/>
            <p:nvPr/>
          </p:nvSpPr>
          <p:spPr>
            <a:xfrm>
              <a:off x="7524643" y="1423988"/>
              <a:ext cx="3810213" cy="440055"/>
            </a:xfrm>
            <a:prstGeom prst="rect">
              <a:avLst/>
            </a:prstGeom>
            <a:noFill/>
            <a:ln>
              <a:noFill/>
            </a:ln>
          </p:spPr>
          <p:txBody>
            <a:bodyPr wrap="none" lIns="0" tIns="0" rIns="0" bIns="0" anchor="t" anchorCtr="0">
              <a:spAutoFit/>
            </a:bodyPr>
            <a:lstStyle/>
            <a:p>
              <a:pPr algn="ctr"/>
              <a:r>
                <a:rPr lang="vi-VN" sz="2250" b="1" dirty="0">
                  <a:solidFill>
                    <a:srgbClr val="1E40AF"/>
                  </a:solidFill>
                  <a:latin typeface="+mn-lt"/>
                  <a:ea typeface="+mn-ea"/>
                  <a:cs typeface="+mn-cs"/>
                </a:rPr>
                <a:t>BIỂU ĐỒ VEN MINH HỌA</a:t>
              </a:r>
            </a:p>
          </p:txBody>
        </p:sp>
        <p:pic>
          <p:nvPicPr>
            <p:cNvPr id="24" name="Image 24"/>
            <p:cNvPicPr>
              <a:picLocks noChangeAspect="1"/>
            </p:cNvPicPr>
            <p:nvPr/>
          </p:nvPicPr>
          <p:blipFill>
            <a:blip r:embed="rId2"/>
            <a:stretch>
              <a:fillRect/>
            </a:stretch>
          </p:blipFill>
          <p:spPr>
            <a:xfrm>
              <a:off x="7239000" y="2728912"/>
              <a:ext cx="4381500" cy="1971675"/>
            </a:xfrm>
            <a:prstGeom prst="rect">
              <a:avLst/>
            </a:prstGeom>
          </p:spPr>
        </p:pic>
        <p:sp>
          <p:nvSpPr>
            <p:cNvPr id="25" name="TextBox 25"/>
            <p:cNvSpPr txBox="1"/>
            <p:nvPr/>
          </p:nvSpPr>
          <p:spPr>
            <a:xfrm>
              <a:off x="6648852" y="5821680"/>
              <a:ext cx="5561797"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Vùng khuyết (Hiệu) &amp; Khung E (Phần bù)</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28829" y="238125"/>
            <a:ext cx="11286921" cy="714375"/>
            <a:chOff x="428829" y="238125"/>
            <a:chExt cx="11286921"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428829" y="459105"/>
              <a:ext cx="171409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LUYỆN TẬP</a:t>
              </a:r>
            </a:p>
          </p:txBody>
        </p:sp>
        <p:sp>
          <p:nvSpPr>
            <p:cNvPr id="7" name="TextBox 7"/>
            <p:cNvSpPr txBox="1"/>
            <p:nvPr/>
          </p:nvSpPr>
          <p:spPr>
            <a:xfrm>
              <a:off x="2036445" y="452438"/>
              <a:ext cx="7384740"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BÀI TẬP 1.15 SGK TRANG 19 — TRỤC SỐ THỰC</a:t>
              </a:r>
            </a:p>
          </p:txBody>
        </p:sp>
      </p:grpSp>
      <p:grpSp>
        <p:nvGrpSpPr>
          <p:cNvPr id="24" name="exercise-content"/>
          <p:cNvGrpSpPr/>
          <p:nvPr/>
        </p:nvGrpSpPr>
        <p:grpSpPr>
          <a:xfrm>
            <a:off x="476250" y="1190625"/>
            <a:ext cx="11239500" cy="5191125"/>
            <a:chOff x="476250" y="1190625"/>
            <a:chExt cx="11239500" cy="5191125"/>
          </a:xfrm>
        </p:grpSpPr>
        <p:sp>
          <p:nvSpPr>
            <p:cNvPr id="9" name="Rectangle 9"/>
            <p:cNvSpPr/>
            <p:nvPr/>
          </p:nvSpPr>
          <p:spPr>
            <a:xfrm>
              <a:off x="476250" y="1190625"/>
              <a:ext cx="11239500" cy="5191125"/>
            </a:xfrm>
            <a:prstGeom prst="roundRect">
              <a:avLst>
                <a:gd name="adj" fmla="val 3670"/>
              </a:avLst>
            </a:prstGeom>
            <a:solidFill>
              <a:srgbClr val="FFFFFF"/>
            </a:solidFill>
            <a:ln w="28575">
              <a:solidFill>
                <a:srgbClr val="3B82F6"/>
              </a:solidFill>
            </a:ln>
          </p:spPr>
        </p:sp>
        <p:sp>
          <p:nvSpPr>
            <p:cNvPr id="10" name="Rectangle 10"/>
            <p:cNvSpPr/>
            <p:nvPr/>
          </p:nvSpPr>
          <p:spPr>
            <a:xfrm>
              <a:off x="762000" y="1476375"/>
              <a:ext cx="10668000" cy="1381125"/>
            </a:xfrm>
            <a:prstGeom prst="roundRect">
              <a:avLst>
                <a:gd name="adj" fmla="val 9655"/>
              </a:avLst>
            </a:prstGeom>
            <a:solidFill>
              <a:srgbClr val="EFF6FF"/>
            </a:solidFill>
            <a:ln w="19050">
              <a:solidFill>
                <a:srgbClr val="BFDBFE"/>
              </a:solidFill>
            </a:ln>
          </p:spPr>
        </p:sp>
        <mc:AlternateContent xmlns:mc="http://schemas.openxmlformats.org/markup-compatibility/2006">
          <mc:Choice xmlns:a14="http://schemas.microsoft.com/office/drawing/2010/main" Requires="a14">
            <p:sp>
              <p:nvSpPr>
                <p:cNvPr id="11" name="TextBox 11"/>
                <p:cNvSpPr txBox="1"/>
                <p:nvPr/>
              </p:nvSpPr>
              <p:spPr>
                <a:xfrm>
                  <a:off x="1035558" y="1693545"/>
                  <a:ext cx="6765185" cy="469392"/>
                </a:xfrm>
                <a:prstGeom prst="rect">
                  <a:avLst/>
                </a:prstGeom>
                <a:noFill/>
                <a:ln>
                  <a:noFill/>
                </a:ln>
              </p:spPr>
              <p:txBody>
                <a:bodyPr wrap="none" lIns="0" tIns="0" rIns="0" bIns="0" anchor="t" anchorCtr="0">
                  <a:spAutoFit/>
                </a:bodyPr>
                <a:lstStyle/>
                <a:p>
                  <a:pPr algn="l"/>
                  <a:r>
                    <a:rPr lang="vi-VN" sz="2400" b="1" dirty="0">
                      <a:solidFill>
                        <a:srgbClr val="1D4ED8"/>
                      </a:solidFill>
                      <a:latin typeface="+mn-lt"/>
                      <a:ea typeface="+mn-ea"/>
                      <a:cs typeface="+mn-cs"/>
                    </a:rPr>
                    <a:t xml:space="preserve">ĐỀ BÀI: Cho hai tập hợp con của số thực </a:t>
                  </a:r>
                  <a14:m>
                    <m:oMath xmlns:a="http://schemas.openxmlformats.org/drawingml/2006/main" xmlns:m="http://schemas.openxmlformats.org/officeDocument/2006/math">
                      <m:r>
                        <m:rPr>
                          <m:scr m:val="double-struck"/>
                          <m:sty m:val="p"/>
                        </m:rPr>
                        <a:rPr lang="vi-VN" sz="2400" dirty="0">
                          <a:solidFill>
                            <a:srgbClr val="1D4ED8"/>
                          </a:solidFill>
                          <a:latin typeface="Cambria Math"/>
                          <a:ea typeface="Cambria Math"/>
                          <a:cs typeface="Cambria Math"/>
                        </a:rPr>
                        <m:t>R</m:t>
                      </m:r>
                    </m:oMath>
                  </a14:m>
                  <a:r>
                    <a:rPr lang="vi-VN" sz="240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2" name="TextBox 12"/>
                <p:cNvSpPr txBox="1"/>
                <p:nvPr/>
              </p:nvSpPr>
              <p:spPr>
                <a:xfrm>
                  <a:off x="1034796" y="2201228"/>
                  <a:ext cx="3803061" cy="49872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550" dirty="0">
                          <a:solidFill>
                            <a:srgbClr val="0F172A"/>
                          </a:solidFill>
                          <a:latin typeface="Cambria Math"/>
                          <a:ea typeface="Cambria Math"/>
                          <a:cs typeface="Cambria Math"/>
                        </a:rPr>
                        <m:t>A</m:t>
                      </m:r>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2</m:t>
                      </m:r>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3)</m:t>
                      </m:r>
                    </m:oMath>
                  </a14:m>
                  <a:r>
                    <a:rPr lang="vi-VN" sz="2550" b="1" dirty="0">
                      <a:solidFill>
                        <a:srgbClr val="0F172A"/>
                      </a:solidFill>
                      <a:latin typeface="+mn-lt"/>
                      <a:ea typeface="+mn-ea"/>
                      <a:cs typeface="+mn-cs"/>
                    </a:rPr>
                    <a:t xml:space="preserve"> và </a:t>
                  </a:r>
                  <a14:m>
                    <m:oMath xmlns:a="http://schemas.openxmlformats.org/drawingml/2006/main" xmlns:m="http://schemas.openxmlformats.org/officeDocument/2006/math">
                      <m:r>
                        <a:rPr lang="vi-VN" sz="2550" dirty="0">
                          <a:solidFill>
                            <a:srgbClr val="0F172A"/>
                          </a:solidFill>
                          <a:latin typeface="Cambria Math"/>
                          <a:ea typeface="Cambria Math"/>
                          <a:cs typeface="Cambria Math"/>
                        </a:rPr>
                        <m:t>B</m:t>
                      </m:r>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1</m:t>
                      </m:r>
                      <m:r>
                        <m:rPr>
                          <m:sty m:val="p"/>
                        </m:rPr>
                        <a:rPr lang="vi-VN" sz="2550" dirty="0">
                          <a:solidFill>
                            <a:srgbClr val="0F172A"/>
                          </a:solidFill>
                          <a:latin typeface="Cambria Math"/>
                          <a:ea typeface="Cambria Math"/>
                          <a:cs typeface="Cambria Math"/>
                        </a:rPr>
                        <m:t>;</m:t>
                      </m:r>
                      <m:r>
                        <a:rPr lang="vi-VN" sz="2550" dirty="0">
                          <a:solidFill>
                            <a:srgbClr val="0F172A"/>
                          </a:solidFill>
                          <a:latin typeface="Cambria Math"/>
                          <a:ea typeface="Cambria Math"/>
                          <a:cs typeface="Cambria Math"/>
                        </a:rPr>
                        <m:t>5]</m:t>
                      </m:r>
                    </m:oMath>
                  </a14:m>
                </a:p>
              </p:txBody>
            </p:sp>
          </mc:Choice>
        </mc:AlternateContent>
        <p:grpSp>
          <p:nvGrpSpPr>
            <p:cNvPr id="21" name="Group 21"/>
            <p:cNvGrpSpPr/>
            <p:nvPr/>
          </p:nvGrpSpPr>
          <p:grpSpPr>
            <a:xfrm>
              <a:off x="762000" y="3095625"/>
              <a:ext cx="10668000" cy="2047875"/>
              <a:chOff x="762000" y="3095625"/>
              <a:chExt cx="10668000" cy="2047875"/>
            </a:xfrm>
          </p:grpSpPr>
          <p:sp>
            <p:nvSpPr>
              <p:cNvPr id="13" name="Rectangle 13"/>
              <p:cNvSpPr/>
              <p:nvPr/>
            </p:nvSpPr>
            <p:spPr>
              <a:xfrm>
                <a:off x="762000" y="3095625"/>
                <a:ext cx="5191125" cy="904875"/>
              </a:xfrm>
              <a:prstGeom prst="roundRect">
                <a:avLst>
                  <a:gd name="adj" fmla="val 14737"/>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4" name="TextBox 14"/>
                  <p:cNvSpPr txBox="1"/>
                  <p:nvPr/>
                </p:nvSpPr>
                <p:spPr>
                  <a:xfrm>
                    <a:off x="1035558" y="3388995"/>
                    <a:ext cx="3271302" cy="469392"/>
                  </a:xfrm>
                  <a:prstGeom prst="rect">
                    <a:avLst/>
                  </a:prstGeom>
                  <a:noFill/>
                  <a:ln>
                    <a:noFill/>
                  </a:ln>
                </p:spPr>
                <p:txBody>
                  <a:bodyPr wrap="none" lIns="0" tIns="0" rIns="0" bIns="0" anchor="t" anchorCtr="0">
                    <a:spAutoFit/>
                  </a:bodyPr>
                  <a:lstStyle/>
                  <a:p>
                    <a:pPr algn="l"/>
                    <a:r>
                      <a:rPr lang="vi-VN" sz="2400" b="1" dirty="0">
                        <a:solidFill>
                          <a:srgbClr val="1D4ED8"/>
                        </a:solidFill>
                        <a:latin typeface="+mn-lt"/>
                        <a:ea typeface="+mn-ea"/>
                        <a:cs typeface="+mn-cs"/>
                      </a:rPr>
                      <a:t xml:space="preserve">Câu a) Tìm </a:t>
                    </a:r>
                    <a14:m>
                      <m:oMath xmlns:a="http://schemas.openxmlformats.org/drawingml/2006/main" xmlns:m="http://schemas.openxmlformats.org/officeDocument/2006/math">
                        <m:r>
                          <a:rPr lang="vi-VN" sz="2400" dirty="0">
                            <a:solidFill>
                              <a:srgbClr val="1D4ED8"/>
                            </a:solidFill>
                            <a:latin typeface="Cambria Math"/>
                            <a:ea typeface="Cambria Math"/>
                            <a:cs typeface="Cambria Math"/>
                          </a:rPr>
                          <m:t>A</m:t>
                        </m:r>
                        <m:r>
                          <m:rPr>
                            <m:sty m:val="p"/>
                          </m:rPr>
                          <a:rPr lang="vi-VN" sz="2400" dirty="0">
                            <a:solidFill>
                              <a:srgbClr val="1D4ED8"/>
                            </a:solidFill>
                            <a:latin typeface="Cambria Math"/>
                            <a:ea typeface="Cambria Math"/>
                            <a:cs typeface="Cambria Math"/>
                          </a:rPr>
                          <m:t>∩</m:t>
                        </m:r>
                        <m:r>
                          <a:rPr lang="vi-VN" sz="2400" dirty="0">
                            <a:solidFill>
                              <a:srgbClr val="1D4ED8"/>
                            </a:solidFill>
                            <a:latin typeface="Cambria Math"/>
                            <a:ea typeface="Cambria Math"/>
                            <a:cs typeface="Cambria Math"/>
                          </a:rPr>
                          <m:t>B</m:t>
                        </m:r>
                        <m:r>
                          <m:rPr>
                            <m:sty m:val="p"/>
                          </m:rPr>
                          <a:rPr lang="vi-VN" sz="2400" dirty="0">
                            <a:solidFill>
                              <a:srgbClr val="1D4ED8"/>
                            </a:solidFill>
                            <a:latin typeface="Cambria Math"/>
                            <a:ea typeface="Cambria Math"/>
                            <a:cs typeface="Cambria Math"/>
                          </a:rPr>
                          <m:t>=?</m:t>
                        </m:r>
                      </m:oMath>
                    </a14:m>
                  </a:p>
                </p:txBody>
              </p:sp>
            </mc:Choice>
          </mc:AlternateContent>
          <p:sp>
            <p:nvSpPr>
              <p:cNvPr id="15" name="Rectangle 15"/>
              <p:cNvSpPr/>
              <p:nvPr/>
            </p:nvSpPr>
            <p:spPr>
              <a:xfrm>
                <a:off x="6238875" y="3095625"/>
                <a:ext cx="5191125" cy="904875"/>
              </a:xfrm>
              <a:prstGeom prst="roundRect">
                <a:avLst>
                  <a:gd name="adj" fmla="val 14737"/>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6" name="TextBox 16"/>
                  <p:cNvSpPr txBox="1"/>
                  <p:nvPr/>
                </p:nvSpPr>
                <p:spPr>
                  <a:xfrm>
                    <a:off x="6512433" y="3388995"/>
                    <a:ext cx="3289228" cy="469392"/>
                  </a:xfrm>
                  <a:prstGeom prst="rect">
                    <a:avLst/>
                  </a:prstGeom>
                  <a:noFill/>
                  <a:ln>
                    <a:noFill/>
                  </a:ln>
                </p:spPr>
                <p:txBody>
                  <a:bodyPr wrap="none" lIns="0" tIns="0" rIns="0" bIns="0" anchor="t" anchorCtr="0">
                    <a:spAutoFit/>
                  </a:bodyPr>
                  <a:lstStyle/>
                  <a:p>
                    <a:pPr algn="l"/>
                    <a:r>
                      <a:rPr lang="vi-VN" sz="2400" b="1" dirty="0">
                        <a:solidFill>
                          <a:srgbClr val="047857"/>
                        </a:solidFill>
                        <a:latin typeface="+mn-lt"/>
                        <a:ea typeface="+mn-ea"/>
                        <a:cs typeface="+mn-cs"/>
                      </a:rPr>
                      <a:t xml:space="preserve">Câu b) Tìm </a:t>
                    </a:r>
                    <a14:m>
                      <m:oMath xmlns:a="http://schemas.openxmlformats.org/drawingml/2006/main" xmlns:m="http://schemas.openxmlformats.org/officeDocument/2006/math">
                        <m:r>
                          <a:rPr lang="vi-VN" sz="2400" dirty="0">
                            <a:solidFill>
                              <a:srgbClr val="047857"/>
                            </a:solidFill>
                            <a:latin typeface="Cambria Math"/>
                            <a:ea typeface="Cambria Math"/>
                            <a:cs typeface="Cambria Math"/>
                          </a:rPr>
                          <m:t>A</m:t>
                        </m:r>
                        <m:r>
                          <m:rPr>
                            <m:sty m:val="p"/>
                          </m:rPr>
                          <a:rPr lang="vi-VN" sz="2400" dirty="0">
                            <a:solidFill>
                              <a:srgbClr val="047857"/>
                            </a:solidFill>
                            <a:latin typeface="Cambria Math"/>
                            <a:ea typeface="Cambria Math"/>
                            <a:cs typeface="Cambria Math"/>
                          </a:rPr>
                          <m:t>∪</m:t>
                        </m:r>
                        <m:r>
                          <a:rPr lang="vi-VN" sz="2400" dirty="0">
                            <a:solidFill>
                              <a:srgbClr val="047857"/>
                            </a:solidFill>
                            <a:latin typeface="Cambria Math"/>
                            <a:ea typeface="Cambria Math"/>
                            <a:cs typeface="Cambria Math"/>
                          </a:rPr>
                          <m:t>B</m:t>
                        </m:r>
                        <m:r>
                          <m:rPr>
                            <m:sty m:val="p"/>
                          </m:rPr>
                          <a:rPr lang="vi-VN" sz="2400" dirty="0">
                            <a:solidFill>
                              <a:srgbClr val="047857"/>
                            </a:solidFill>
                            <a:latin typeface="Cambria Math"/>
                            <a:ea typeface="Cambria Math"/>
                            <a:cs typeface="Cambria Math"/>
                          </a:rPr>
                          <m:t>=?</m:t>
                        </m:r>
                      </m:oMath>
                    </a14:m>
                  </a:p>
                </p:txBody>
              </p:sp>
            </mc:Choice>
          </mc:AlternateContent>
          <p:sp>
            <p:nvSpPr>
              <p:cNvPr id="17" name="Rectangle 17"/>
              <p:cNvSpPr/>
              <p:nvPr/>
            </p:nvSpPr>
            <p:spPr>
              <a:xfrm>
                <a:off x="762000" y="4238625"/>
                <a:ext cx="5191125" cy="904875"/>
              </a:xfrm>
              <a:prstGeom prst="roundRect">
                <a:avLst>
                  <a:gd name="adj" fmla="val 14737"/>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18" name="TextBox 18"/>
                  <p:cNvSpPr txBox="1"/>
                  <p:nvPr/>
                </p:nvSpPr>
                <p:spPr>
                  <a:xfrm>
                    <a:off x="1035558" y="4531995"/>
                    <a:ext cx="3168991" cy="469392"/>
                  </a:xfrm>
                  <a:prstGeom prst="rect">
                    <a:avLst/>
                  </a:prstGeom>
                  <a:noFill/>
                  <a:ln>
                    <a:noFill/>
                  </a:ln>
                </p:spPr>
                <p:txBody>
                  <a:bodyPr wrap="none" lIns="0" tIns="0" rIns="0" bIns="0" anchor="t" anchorCtr="0">
                    <a:spAutoFit/>
                  </a:bodyPr>
                  <a:lstStyle/>
                  <a:p>
                    <a:pPr algn="l"/>
                    <a:r>
                      <a:rPr lang="vi-VN" sz="2400" b="1" dirty="0">
                        <a:solidFill>
                          <a:srgbClr val="D97706"/>
                        </a:solidFill>
                        <a:latin typeface="+mn-lt"/>
                        <a:ea typeface="+mn-ea"/>
                        <a:cs typeface="+mn-cs"/>
                      </a:rPr>
                      <a:t xml:space="preserve">Câu c) Tìm </a:t>
                    </a:r>
                    <a14:m>
                      <m:oMath xmlns:a="http://schemas.openxmlformats.org/drawingml/2006/main" xmlns:m="http://schemas.openxmlformats.org/officeDocument/2006/math">
                        <m:r>
                          <a:rPr lang="vi-VN" sz="2400" dirty="0">
                            <a:solidFill>
                              <a:srgbClr val="D97706"/>
                            </a:solidFill>
                            <a:latin typeface="Cambria Math"/>
                            <a:ea typeface="Cambria Math"/>
                            <a:cs typeface="Cambria Math"/>
                          </a:rPr>
                          <m:t>A</m:t>
                        </m:r>
                        <m:r>
                          <m:rPr>
                            <m:sty m:val="p"/>
                          </m:rPr>
                          <a:rPr lang="vi-VN" sz="2400" dirty="0">
                            <a:solidFill>
                              <a:srgbClr val="D97706"/>
                            </a:solidFill>
                            <a:latin typeface="Cambria Math"/>
                            <a:ea typeface="Cambria Math"/>
                            <a:cs typeface="Cambria Math"/>
                          </a:rPr>
                          <m:t>∖</m:t>
                        </m:r>
                        <m:r>
                          <a:rPr lang="vi-VN" sz="2400" dirty="0">
                            <a:solidFill>
                              <a:srgbClr val="D97706"/>
                            </a:solidFill>
                            <a:latin typeface="Cambria Math"/>
                            <a:ea typeface="Cambria Math"/>
                            <a:cs typeface="Cambria Math"/>
                          </a:rPr>
                          <m:t>B</m:t>
                        </m:r>
                        <m:r>
                          <m:rPr>
                            <m:sty m:val="p"/>
                          </m:rPr>
                          <a:rPr lang="vi-VN" sz="2400" dirty="0">
                            <a:solidFill>
                              <a:srgbClr val="D97706"/>
                            </a:solidFill>
                            <a:latin typeface="Cambria Math"/>
                            <a:ea typeface="Cambria Math"/>
                            <a:cs typeface="Cambria Math"/>
                          </a:rPr>
                          <m:t>=?</m:t>
                        </m:r>
                      </m:oMath>
                    </a14:m>
                  </a:p>
                </p:txBody>
              </p:sp>
            </mc:Choice>
          </mc:AlternateContent>
          <p:sp>
            <p:nvSpPr>
              <p:cNvPr id="19" name="Rectangle 19"/>
              <p:cNvSpPr/>
              <p:nvPr/>
            </p:nvSpPr>
            <p:spPr>
              <a:xfrm>
                <a:off x="6238875" y="4238625"/>
                <a:ext cx="5191125" cy="904875"/>
              </a:xfrm>
              <a:prstGeom prst="roundRect">
                <a:avLst>
                  <a:gd name="adj" fmla="val 14737"/>
                </a:avLst>
              </a:prstGeom>
              <a:solidFill>
                <a:srgbClr val="F8FAFC"/>
              </a:solidFill>
              <a:ln w="14288">
                <a:solidFill>
                  <a:srgbClr val="CBD5E1"/>
                </a:solidFill>
              </a:ln>
            </p:spPr>
          </p:sp>
          <mc:AlternateContent xmlns:mc="http://schemas.openxmlformats.org/markup-compatibility/2006">
            <mc:Choice xmlns:a14="http://schemas.microsoft.com/office/drawing/2010/main" Requires="a14">
              <p:sp>
                <p:nvSpPr>
                  <p:cNvPr id="20" name="TextBox 20"/>
                  <p:cNvSpPr txBox="1"/>
                  <p:nvPr/>
                </p:nvSpPr>
                <p:spPr>
                  <a:xfrm>
                    <a:off x="6512433" y="4531995"/>
                    <a:ext cx="3384267" cy="520294"/>
                  </a:xfrm>
                  <a:prstGeom prst="rect">
                    <a:avLst/>
                  </a:prstGeom>
                  <a:noFill/>
                  <a:ln>
                    <a:noFill/>
                  </a:ln>
                </p:spPr>
                <p:txBody>
                  <a:bodyPr wrap="none" lIns="0" tIns="0" rIns="0" bIns="0" anchor="t" anchorCtr="0">
                    <a:spAutoFit/>
                  </a:bodyPr>
                  <a:lstStyle/>
                  <a:p>
                    <a:pPr algn="l"/>
                    <a:r>
                      <a:rPr lang="vi-VN" sz="2400" b="1" dirty="0">
                        <a:solidFill>
                          <a:srgbClr val="7C3AED"/>
                        </a:solidFill>
                        <a:latin typeface="+mn-lt"/>
                        <a:ea typeface="+mn-ea"/>
                        <a:cs typeface="+mn-cs"/>
                      </a:rPr>
                      <a:t xml:space="preserve">Câu d) Tìm </a:t>
                    </a:r>
                    <a14:m>
                      <m:oMath xmlns:a="http://schemas.openxmlformats.org/drawingml/2006/main" xmlns:m="http://schemas.openxmlformats.org/officeDocument/2006/math">
                        <m:sSub>
                          <m:e>
                            <m:r>
                              <a:rPr lang="vi-VN" sz="2400" dirty="0">
                                <a:solidFill>
                                  <a:srgbClr val="7C3AED"/>
                                </a:solidFill>
                                <a:latin typeface="Cambria Math"/>
                                <a:ea typeface="Cambria Math"/>
                                <a:cs typeface="Cambria Math"/>
                              </a:rPr>
                              <m:t>C</m:t>
                            </m:r>
                          </m:e>
                          <m:sub>
                            <m:r>
                              <m:rPr>
                                <m:scr m:val="double-struck"/>
                                <m:sty m:val="p"/>
                              </m:rPr>
                              <a:rPr lang="vi-VN" sz="2400" dirty="0">
                                <a:solidFill>
                                  <a:srgbClr val="7C3AED"/>
                                </a:solidFill>
                                <a:latin typeface="Cambria Math"/>
                                <a:ea typeface="Cambria Math"/>
                                <a:cs typeface="Cambria Math"/>
                              </a:rPr>
                              <m:t>R</m:t>
                            </m:r>
                          </m:sub>
                        </m:sSub>
                        <m:r>
                          <a:rPr lang="vi-VN" sz="2400" dirty="0">
                            <a:solidFill>
                              <a:srgbClr val="7C3AED"/>
                            </a:solidFill>
                            <a:latin typeface="Cambria Math"/>
                            <a:ea typeface="Cambria Math"/>
                            <a:cs typeface="Cambria Math"/>
                          </a:rPr>
                          <m:t>A</m:t>
                        </m:r>
                        <m:r>
                          <m:rPr>
                            <m:sty m:val="p"/>
                          </m:rPr>
                          <a:rPr lang="vi-VN" sz="2400" dirty="0">
                            <a:solidFill>
                              <a:srgbClr val="7C3AED"/>
                            </a:solidFill>
                            <a:latin typeface="Cambria Math"/>
                            <a:ea typeface="Cambria Math"/>
                            <a:cs typeface="Cambria Math"/>
                          </a:rPr>
                          <m:t>=?</m:t>
                        </m:r>
                      </m:oMath>
                    </a14:m>
                  </a:p>
                </p:txBody>
              </p:sp>
            </mc:Choice>
          </mc:AlternateContent>
        </p:grpSp>
        <p:sp>
          <p:nvSpPr>
            <p:cNvPr id="22" name="Rectangle 22"/>
            <p:cNvSpPr/>
            <p:nvPr/>
          </p:nvSpPr>
          <p:spPr>
            <a:xfrm>
              <a:off x="762000" y="5429250"/>
              <a:ext cx="10668000" cy="714375"/>
            </a:xfrm>
            <a:prstGeom prst="roundRect">
              <a:avLst>
                <a:gd name="adj" fmla="val 18667"/>
              </a:avLst>
            </a:prstGeom>
            <a:solidFill>
              <a:srgbClr val="FEF2F2"/>
            </a:solidFill>
            <a:ln w="19050">
              <a:solidFill>
                <a:srgbClr val="FECACA"/>
              </a:solidFill>
            </a:ln>
          </p:spPr>
        </p:sp>
        <p:sp>
          <p:nvSpPr>
            <p:cNvPr id="23" name="TextBox 23"/>
            <p:cNvSpPr txBox="1"/>
            <p:nvPr/>
          </p:nvSpPr>
          <p:spPr>
            <a:xfrm>
              <a:off x="693576" y="5643562"/>
              <a:ext cx="10804848" cy="440055"/>
            </a:xfrm>
            <a:prstGeom prst="rect">
              <a:avLst/>
            </a:prstGeom>
            <a:noFill/>
            <a:ln>
              <a:noFill/>
            </a:ln>
          </p:spPr>
          <p:txBody>
            <a:bodyPr wrap="none" lIns="0" tIns="0" rIns="0" bIns="0" anchor="t" anchorCtr="0">
              <a:spAutoFit/>
            </a:bodyPr>
            <a:lstStyle/>
            <a:p>
              <a:pPr algn="ctr"/>
              <a:r>
                <a:rPr lang="vi-VN" sz="2250" b="1" dirty="0">
                  <a:solidFill>
                    <a:srgbClr val="991B1B"/>
                  </a:solidFill>
                  <a:latin typeface="+mn-lt"/>
                  <a:ea typeface="+mn-ea"/>
                  <a:cs typeface="+mn-cs"/>
                </a:rPr>
                <a:t>⏱ CẢ LỚP LÀM VÀO VỞ TRONG 5 PHÚT — BIỂU DIỄN TRÊN TRỤC SỐ!</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677829" y="459105"/>
              <a:ext cx="1216092"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LỜI GIẢI</a:t>
              </a:r>
            </a:p>
          </p:txBody>
        </p:sp>
        <p:sp>
          <p:nvSpPr>
            <p:cNvPr id="7" name="TextBox 7"/>
            <p:cNvSpPr txBox="1"/>
            <p:nvPr/>
          </p:nvSpPr>
          <p:spPr>
            <a:xfrm>
              <a:off x="2036445" y="452438"/>
              <a:ext cx="8006642"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HƯỚNG DẪN GIẢI CHI TIẾT BÀI 1.15 TRÊN TRỤC SỐ</a:t>
              </a:r>
            </a:p>
          </p:txBody>
        </p:sp>
      </p:grpSp>
      <p:grpSp>
        <p:nvGrpSpPr>
          <p:cNvPr id="28" name="solution-content"/>
          <p:cNvGrpSpPr/>
          <p:nvPr/>
        </p:nvGrpSpPr>
        <p:grpSpPr>
          <a:xfrm>
            <a:off x="476250" y="1190625"/>
            <a:ext cx="11558593" cy="5279898"/>
            <a:chOff x="476250" y="1190625"/>
            <a:chExt cx="11558593" cy="5279898"/>
          </a:xfrm>
        </p:grpSpPr>
        <p:sp>
          <p:nvSpPr>
            <p:cNvPr id="9" name="Rectangle 9"/>
            <p:cNvSpPr/>
            <p:nvPr/>
          </p:nvSpPr>
          <p:spPr>
            <a:xfrm>
              <a:off x="476250" y="1190625"/>
              <a:ext cx="5334000" cy="5191125"/>
            </a:xfrm>
            <a:prstGeom prst="roundRect">
              <a:avLst>
                <a:gd name="adj" fmla="val 3670"/>
              </a:avLst>
            </a:prstGeom>
            <a:solidFill>
              <a:srgbClr val="FFFFFF"/>
            </a:solidFill>
            <a:ln w="28575">
              <a:solidFill>
                <a:srgbClr val="10B981"/>
              </a:solidFill>
            </a:ln>
          </p:spPr>
        </p:sp>
        <p:grpSp>
          <p:nvGrpSpPr>
            <p:cNvPr id="23" name="Group 23"/>
            <p:cNvGrpSpPr/>
            <p:nvPr/>
          </p:nvGrpSpPr>
          <p:grpSpPr>
            <a:xfrm>
              <a:off x="714375" y="1381125"/>
              <a:ext cx="4857750" cy="4613148"/>
              <a:chOff x="714375" y="1381125"/>
              <a:chExt cx="4857750" cy="4613148"/>
            </a:xfrm>
          </p:grpSpPr>
          <p:sp>
            <p:nvSpPr>
              <p:cNvPr id="10" name="Rectangle 10"/>
              <p:cNvSpPr/>
              <p:nvPr/>
            </p:nvSpPr>
            <p:spPr>
              <a:xfrm>
                <a:off x="714375" y="1381125"/>
                <a:ext cx="4857750" cy="904875"/>
              </a:xfrm>
              <a:prstGeom prst="roundRect">
                <a:avLst>
                  <a:gd name="adj" fmla="val 12632"/>
                </a:avLst>
              </a:prstGeom>
              <a:solidFill>
                <a:srgbClr val="EFF6FF"/>
              </a:solidFill>
              <a:ln w="14288">
                <a:solidFill>
                  <a:srgbClr val="BFDBFE"/>
                </a:solidFill>
              </a:ln>
            </p:spPr>
          </p:sp>
          <mc:AlternateContent xmlns:mc="http://schemas.openxmlformats.org/markup-compatibility/2006">
            <mc:Choice xmlns:a14="http://schemas.microsoft.com/office/drawing/2010/main" Requires="a14">
              <p:sp>
                <p:nvSpPr>
                  <p:cNvPr id="11" name="TextBox 11"/>
                  <p:cNvSpPr txBox="1"/>
                  <p:nvPr/>
                </p:nvSpPr>
                <p:spPr>
                  <a:xfrm>
                    <a:off x="894207" y="1535430"/>
                    <a:ext cx="2714574" cy="410718"/>
                  </a:xfrm>
                  <a:prstGeom prst="rect">
                    <a:avLst/>
                  </a:prstGeom>
                  <a:noFill/>
                  <a:ln>
                    <a:noFill/>
                  </a:ln>
                </p:spPr>
                <p:txBody>
                  <a:bodyPr wrap="none" lIns="0" tIns="0" rIns="0" bIns="0" anchor="t" anchorCtr="0">
                    <a:spAutoFit/>
                  </a:bodyPr>
                  <a:lstStyle/>
                  <a:p>
                    <a:pPr algn="l"/>
                    <a:r>
                      <a:rPr lang="vi-VN" sz="2100" b="1" dirty="0">
                        <a:solidFill>
                          <a:srgbClr val="1D4ED8"/>
                        </a:solidFill>
                        <a:latin typeface="+mn-lt"/>
                        <a:ea typeface="+mn-ea"/>
                        <a:cs typeface="+mn-cs"/>
                      </a:rPr>
                      <a:t xml:space="preserve">a) Phép Giao </a:t>
                    </a:r>
                    <a14:m>
                      <m:oMath xmlns:a="http://schemas.openxmlformats.org/drawingml/2006/main" xmlns:m="http://schemas.openxmlformats.org/officeDocument/2006/math">
                        <m:r>
                          <a:rPr lang="vi-VN" sz="2100" dirty="0">
                            <a:solidFill>
                              <a:srgbClr val="1D4ED8"/>
                            </a:solidFill>
                            <a:latin typeface="Cambria Math"/>
                            <a:ea typeface="Cambria Math"/>
                            <a:cs typeface="Cambria Math"/>
                          </a:rPr>
                          <m:t>A</m:t>
                        </m:r>
                        <m:r>
                          <m:rPr>
                            <m:sty m:val="p"/>
                          </m:rPr>
                          <a:rPr lang="vi-VN" sz="2100" dirty="0">
                            <a:solidFill>
                              <a:srgbClr val="1D4ED8"/>
                            </a:solidFill>
                            <a:latin typeface="Cambria Math"/>
                            <a:ea typeface="Cambria Math"/>
                            <a:cs typeface="Cambria Math"/>
                          </a:rPr>
                          <m:t>∩</m:t>
                        </m:r>
                        <m:r>
                          <a:rPr lang="vi-VN" sz="2100" dirty="0">
                            <a:solidFill>
                              <a:srgbClr val="1D4ED8"/>
                            </a:solidFill>
                            <a:latin typeface="Cambria Math"/>
                            <a:ea typeface="Cambria Math"/>
                            <a:cs typeface="Cambria Math"/>
                          </a:rPr>
                          <m:t>B</m:t>
                        </m:r>
                      </m:oMath>
                    </a14:m>
                    <a:r>
                      <a:rPr lang="vi-VN" sz="2100" b="1" dirty="0">
                        <a:solidFill>
                          <a:srgbClr val="1D4ED8"/>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2" name="TextBox 12"/>
                  <p:cNvSpPr txBox="1"/>
                  <p:nvPr/>
                </p:nvSpPr>
                <p:spPr>
                  <a:xfrm>
                    <a:off x="893445" y="1866900"/>
                    <a:ext cx="2236186" cy="468630"/>
                  </a:xfrm>
                  <a:prstGeom prst="rect">
                    <a:avLst/>
                  </a:prstGeom>
                  <a:noFill/>
                  <a:ln>
                    <a:noFill/>
                  </a:ln>
                </p:spPr>
                <p:txBody>
                  <a:bodyPr wrap="none" lIns="0" tIns="0" rIns="0" bIns="0" anchor="t" anchorCtr="0">
                    <a:spAutoFit/>
                  </a:bodyPr>
                  <a:lstStyle/>
                  <a:p>
                    <a:pPr algn="l"/>
                    <a:r>
                      <a:rPr lang="vi-VN" sz="2250" b="1" dirty="0">
                        <a:solidFill>
                          <a:srgbClr val="1E40AF"/>
                        </a:solidFill>
                        <a:latin typeface="+mn-lt"/>
                        <a:ea typeface="+mn-ea"/>
                        <a:cs typeface="+mn-cs"/>
                      </a:rPr>
                      <a:t xml:space="preserve">⇒ </a:t>
                    </a:r>
                    <a14:m>
                      <m:oMath xmlns:a="http://schemas.openxmlformats.org/drawingml/2006/main" xmlns:m="http://schemas.openxmlformats.org/officeDocument/2006/math">
                        <m:r>
                          <a:rPr lang="vi-VN" sz="2250" dirty="0">
                            <a:solidFill>
                              <a:srgbClr val="1E40AF"/>
                            </a:solidFill>
                            <a:latin typeface="Cambria Math"/>
                            <a:ea typeface="Cambria Math"/>
                            <a:cs typeface="Cambria Math"/>
                          </a:rPr>
                          <m:t>A</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B</m:t>
                        </m:r>
                        <m:r>
                          <m:rPr>
                            <m:sty m:val="p"/>
                          </m:rPr>
                          <a:rPr lang="vi-VN" sz="2250" dirty="0">
                            <a:solidFill>
                              <a:srgbClr val="1E40AF"/>
                            </a:solidFill>
                            <a:latin typeface="Cambria Math"/>
                            <a:ea typeface="Cambria Math"/>
                            <a:cs typeface="Cambria Math"/>
                          </a:rPr>
                          <m:t>=</m:t>
                        </m:r>
                        <m:d>
                          <m:dPr>
                            <m:begChr m:val="("/>
                            <m:sepChr m:val=""/>
                            <m:endChr m:val=")"/>
                            <m:grow m:val="on"/>
                            <m:ctrlPr>
                              <a:rPr lang="vi-VN" sz="2250" dirty="0">
                                <a:solidFill>
                                  <a:srgbClr val="1E40AF"/>
                                </a:solidFill>
                                <a:latin typeface="Cambria Math"/>
                                <a:ea typeface="Cambria Math"/>
                                <a:cs typeface="Cambria Math"/>
                              </a:rPr>
                            </m:ctrlPr>
                          </m:dPr>
                          <m:e>
                            <m:r>
                              <a:rPr lang="vi-VN" sz="2250" dirty="0">
                                <a:solidFill>
                                  <a:srgbClr val="1E40AF"/>
                                </a:solidFill>
                                <a:latin typeface="Cambria Math"/>
                                <a:ea typeface="Cambria Math"/>
                                <a:cs typeface="Cambria Math"/>
                              </a:rPr>
                              <m:t>1</m:t>
                            </m:r>
                            <m:r>
                              <m:rPr>
                                <m:sty m:val="p"/>
                              </m:rPr>
                              <a:rPr lang="vi-VN" sz="2250" dirty="0">
                                <a:solidFill>
                                  <a:srgbClr val="1E40AF"/>
                                </a:solidFill>
                                <a:latin typeface="Cambria Math"/>
                                <a:ea typeface="Cambria Math"/>
                                <a:cs typeface="Cambria Math"/>
                              </a:rPr>
                              <m:t>;</m:t>
                            </m:r>
                            <m:r>
                              <a:rPr lang="vi-VN" sz="2250" dirty="0">
                                <a:solidFill>
                                  <a:srgbClr val="1E40AF"/>
                                </a:solidFill>
                                <a:latin typeface="Cambria Math"/>
                                <a:ea typeface="Cambria Math"/>
                                <a:cs typeface="Cambria Math"/>
                              </a:rPr>
                              <m:t>3</m:t>
                            </m:r>
                          </m:e>
                        </m:d>
                      </m:oMath>
                    </a14:m>
                  </a:p>
                </p:txBody>
              </p:sp>
            </mc:Choice>
          </mc:AlternateContent>
          <p:sp>
            <p:nvSpPr>
              <p:cNvPr id="13" name="Rectangle 13"/>
              <p:cNvSpPr/>
              <p:nvPr/>
            </p:nvSpPr>
            <p:spPr>
              <a:xfrm>
                <a:off x="714375" y="2428875"/>
                <a:ext cx="4857750" cy="904875"/>
              </a:xfrm>
              <a:prstGeom prst="roundRect">
                <a:avLst>
                  <a:gd name="adj" fmla="val 12632"/>
                </a:avLst>
              </a:prstGeom>
              <a:solidFill>
                <a:srgbClr val="F0FDF4"/>
              </a:solidFill>
              <a:ln w="14288">
                <a:solidFill>
                  <a:srgbClr val="BBF7D0"/>
                </a:solidFill>
              </a:ln>
            </p:spPr>
          </p:sp>
          <mc:AlternateContent xmlns:mc="http://schemas.openxmlformats.org/markup-compatibility/2006">
            <mc:Choice xmlns:a14="http://schemas.microsoft.com/office/drawing/2010/main" Requires="a14">
              <p:sp>
                <p:nvSpPr>
                  <p:cNvPr id="14" name="TextBox 14"/>
                  <p:cNvSpPr txBox="1"/>
                  <p:nvPr/>
                </p:nvSpPr>
                <p:spPr>
                  <a:xfrm>
                    <a:off x="894207" y="2583180"/>
                    <a:ext cx="2653136" cy="410718"/>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b) Phép Hợp </a:t>
                    </a:r>
                    <a14:m>
                      <m:oMath xmlns:a="http://schemas.openxmlformats.org/drawingml/2006/main" xmlns:m="http://schemas.openxmlformats.org/officeDocument/2006/math">
                        <m:r>
                          <a:rPr lang="vi-VN" sz="2100" dirty="0">
                            <a:solidFill>
                              <a:srgbClr val="047857"/>
                            </a:solidFill>
                            <a:latin typeface="Cambria Math"/>
                            <a:ea typeface="Cambria Math"/>
                            <a:cs typeface="Cambria Math"/>
                          </a:rPr>
                          <m:t>A</m:t>
                        </m:r>
                        <m:r>
                          <m:rPr>
                            <m:sty m:val="p"/>
                          </m:rPr>
                          <a:rPr lang="vi-VN" sz="2100" dirty="0">
                            <a:solidFill>
                              <a:srgbClr val="047857"/>
                            </a:solidFill>
                            <a:latin typeface="Cambria Math"/>
                            <a:ea typeface="Cambria Math"/>
                            <a:cs typeface="Cambria Math"/>
                          </a:rPr>
                          <m:t>∪</m:t>
                        </m:r>
                        <m:r>
                          <a:rPr lang="vi-VN" sz="2100" dirty="0">
                            <a:solidFill>
                              <a:srgbClr val="047857"/>
                            </a:solidFill>
                            <a:latin typeface="Cambria Math"/>
                            <a:ea typeface="Cambria Math"/>
                            <a:cs typeface="Cambria Math"/>
                          </a:rPr>
                          <m:t>B</m:t>
                        </m:r>
                      </m:oMath>
                    </a14:m>
                    <a:r>
                      <a:rPr lang="vi-VN" sz="2100" b="1" dirty="0">
                        <a:solidFill>
                          <a:srgbClr val="047857"/>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5" name="TextBox 15"/>
                  <p:cNvSpPr txBox="1"/>
                  <p:nvPr/>
                </p:nvSpPr>
                <p:spPr>
                  <a:xfrm>
                    <a:off x="893445" y="2914650"/>
                    <a:ext cx="2342760" cy="468630"/>
                  </a:xfrm>
                  <a:prstGeom prst="rect">
                    <a:avLst/>
                  </a:prstGeom>
                  <a:noFill/>
                  <a:ln>
                    <a:noFill/>
                  </a:ln>
                </p:spPr>
                <p:txBody>
                  <a:bodyPr wrap="none" lIns="0" tIns="0" rIns="0" bIns="0" anchor="t" anchorCtr="0">
                    <a:spAutoFit/>
                  </a:bodyPr>
                  <a:lstStyle/>
                  <a:p>
                    <a:pPr algn="l"/>
                    <a:r>
                      <a:rPr lang="vi-VN" sz="2250" b="1" dirty="0">
                        <a:solidFill>
                          <a:srgbClr val="166534"/>
                        </a:solidFill>
                        <a:latin typeface="+mn-lt"/>
                        <a:ea typeface="+mn-ea"/>
                        <a:cs typeface="+mn-cs"/>
                      </a:rPr>
                      <a:t xml:space="preserve">⇒ </a:t>
                    </a:r>
                    <a14:m>
                      <m:oMath xmlns:a="http://schemas.openxmlformats.org/drawingml/2006/main" xmlns:m="http://schemas.openxmlformats.org/officeDocument/2006/math">
                        <m:r>
                          <a:rPr lang="vi-VN" sz="2250" dirty="0">
                            <a:solidFill>
                              <a:srgbClr val="166534"/>
                            </a:solidFill>
                            <a:latin typeface="Cambria Math"/>
                            <a:ea typeface="Cambria Math"/>
                            <a:cs typeface="Cambria Math"/>
                          </a:rPr>
                          <m:t>A</m:t>
                        </m:r>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B</m:t>
                        </m:r>
                        <m:r>
                          <m:rPr>
                            <m:sty m:val="p"/>
                          </m:rPr>
                          <a:rPr lang="vi-VN" sz="2250" dirty="0">
                            <a:solidFill>
                              <a:srgbClr val="166534"/>
                            </a:solidFill>
                            <a:latin typeface="Cambria Math"/>
                            <a:ea typeface="Cambria Math"/>
                            <a:cs typeface="Cambria Math"/>
                          </a:rPr>
                          <m:t>=</m:t>
                        </m:r>
                        <m:d>
                          <m:dPr>
                            <m:begChr m:val="["/>
                            <m:sepChr m:val=""/>
                            <m:endChr m:val="]"/>
                            <m:grow m:val="on"/>
                            <m:ctrlPr>
                              <a:rPr lang="vi-VN" sz="2250" dirty="0">
                                <a:solidFill>
                                  <a:srgbClr val="166534"/>
                                </a:solidFill>
                                <a:latin typeface="Cambria Math"/>
                                <a:ea typeface="Cambria Math"/>
                                <a:cs typeface="Cambria Math"/>
                              </a:rPr>
                            </m:ctrlPr>
                          </m:dPr>
                          <m:e>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2</m:t>
                            </m:r>
                            <m:r>
                              <m:rPr>
                                <m:sty m:val="p"/>
                              </m:rPr>
                              <a:rPr lang="vi-VN" sz="2250" dirty="0">
                                <a:solidFill>
                                  <a:srgbClr val="166534"/>
                                </a:solidFill>
                                <a:latin typeface="Cambria Math"/>
                                <a:ea typeface="Cambria Math"/>
                                <a:cs typeface="Cambria Math"/>
                              </a:rPr>
                              <m:t>;</m:t>
                            </m:r>
                            <m:r>
                              <a:rPr lang="vi-VN" sz="2250" dirty="0">
                                <a:solidFill>
                                  <a:srgbClr val="166534"/>
                                </a:solidFill>
                                <a:latin typeface="Cambria Math"/>
                                <a:ea typeface="Cambria Math"/>
                                <a:cs typeface="Cambria Math"/>
                              </a:rPr>
                              <m:t>5</m:t>
                            </m:r>
                          </m:e>
                        </m:d>
                      </m:oMath>
                    </a14:m>
                  </a:p>
                </p:txBody>
              </p:sp>
            </mc:Choice>
          </mc:AlternateContent>
          <p:sp>
            <p:nvSpPr>
              <p:cNvPr id="16" name="Rectangle 16"/>
              <p:cNvSpPr/>
              <p:nvPr/>
            </p:nvSpPr>
            <p:spPr>
              <a:xfrm>
                <a:off x="714375" y="3476625"/>
                <a:ext cx="4857750" cy="904875"/>
              </a:xfrm>
              <a:prstGeom prst="roundRect">
                <a:avLst>
                  <a:gd name="adj" fmla="val 12632"/>
                </a:avLst>
              </a:prstGeom>
              <a:solidFill>
                <a:srgbClr val="FFFBEB"/>
              </a:solidFill>
              <a:ln w="14288">
                <a:solidFill>
                  <a:srgbClr val="FDE68A"/>
                </a:solidFill>
              </a:ln>
            </p:spPr>
          </p:sp>
          <mc:AlternateContent xmlns:mc="http://schemas.openxmlformats.org/markup-compatibility/2006">
            <mc:Choice xmlns:a14="http://schemas.microsoft.com/office/drawing/2010/main" Requires="a14">
              <p:sp>
                <p:nvSpPr>
                  <p:cNvPr id="17" name="TextBox 17"/>
                  <p:cNvSpPr txBox="1"/>
                  <p:nvPr/>
                </p:nvSpPr>
                <p:spPr>
                  <a:xfrm>
                    <a:off x="894207" y="3630930"/>
                    <a:ext cx="2609136" cy="410718"/>
                  </a:xfrm>
                  <a:prstGeom prst="rect">
                    <a:avLst/>
                  </a:prstGeom>
                  <a:noFill/>
                  <a:ln>
                    <a:noFill/>
                  </a:ln>
                </p:spPr>
                <p:txBody>
                  <a:bodyPr wrap="none" lIns="0" tIns="0" rIns="0" bIns="0" anchor="t" anchorCtr="0">
                    <a:spAutoFit/>
                  </a:bodyPr>
                  <a:lstStyle/>
                  <a:p>
                    <a:pPr algn="l"/>
                    <a:r>
                      <a:rPr lang="vi-VN" sz="2100" b="1" dirty="0">
                        <a:solidFill>
                          <a:srgbClr val="D97706"/>
                        </a:solidFill>
                        <a:latin typeface="+mn-lt"/>
                        <a:ea typeface="+mn-ea"/>
                        <a:cs typeface="+mn-cs"/>
                      </a:rPr>
                      <a:t xml:space="preserve">c) Phép Hiệu </a:t>
                    </a:r>
                    <a14:m>
                      <m:oMath xmlns:a="http://schemas.openxmlformats.org/drawingml/2006/main" xmlns:m="http://schemas.openxmlformats.org/officeDocument/2006/math">
                        <m:r>
                          <a:rPr lang="vi-VN" sz="2100" dirty="0">
                            <a:solidFill>
                              <a:srgbClr val="D97706"/>
                            </a:solidFill>
                            <a:latin typeface="Cambria Math"/>
                            <a:ea typeface="Cambria Math"/>
                            <a:cs typeface="Cambria Math"/>
                          </a:rPr>
                          <m:t>A</m:t>
                        </m:r>
                        <m:r>
                          <m:rPr>
                            <m:sty m:val="p"/>
                          </m:rPr>
                          <a:rPr lang="vi-VN" sz="2100" dirty="0">
                            <a:solidFill>
                              <a:srgbClr val="D97706"/>
                            </a:solidFill>
                            <a:latin typeface="Cambria Math"/>
                            <a:ea typeface="Cambria Math"/>
                            <a:cs typeface="Cambria Math"/>
                          </a:rPr>
                          <m:t>∖</m:t>
                        </m:r>
                        <m:r>
                          <a:rPr lang="vi-VN" sz="2100" dirty="0">
                            <a:solidFill>
                              <a:srgbClr val="D97706"/>
                            </a:solidFill>
                            <a:latin typeface="Cambria Math"/>
                            <a:ea typeface="Cambria Math"/>
                            <a:cs typeface="Cambria Math"/>
                          </a:rPr>
                          <m:t>B</m:t>
                        </m:r>
                      </m:oMath>
                    </a14:m>
                    <a:r>
                      <a:rPr lang="vi-VN" sz="2100" b="1" dirty="0">
                        <a:solidFill>
                          <a:srgbClr val="D97706"/>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893445" y="3962400"/>
                    <a:ext cx="2246844" cy="468630"/>
                  </a:xfrm>
                  <a:prstGeom prst="rect">
                    <a:avLst/>
                  </a:prstGeom>
                  <a:noFill/>
                  <a:ln>
                    <a:noFill/>
                  </a:ln>
                </p:spPr>
                <p:txBody>
                  <a:bodyPr wrap="none" lIns="0" tIns="0" rIns="0" bIns="0" anchor="t" anchorCtr="0">
                    <a:spAutoFit/>
                  </a:bodyPr>
                  <a:lstStyle/>
                  <a:p>
                    <a:pPr algn="l"/>
                    <a:r>
                      <a:rPr lang="vi-VN" sz="2250" b="1" dirty="0">
                        <a:solidFill>
                          <a:srgbClr val="B45309"/>
                        </a:solidFill>
                        <a:latin typeface="+mn-lt"/>
                        <a:ea typeface="+mn-ea"/>
                        <a:cs typeface="+mn-cs"/>
                      </a:rPr>
                      <a:t xml:space="preserve">⇒ </a:t>
                    </a:r>
                    <a14:m>
                      <m:oMath xmlns:a="http://schemas.openxmlformats.org/drawingml/2006/main" xmlns:m="http://schemas.openxmlformats.org/officeDocument/2006/math">
                        <m:r>
                          <a:rPr lang="vi-VN" sz="2250" dirty="0">
                            <a:solidFill>
                              <a:srgbClr val="B45309"/>
                            </a:solidFill>
                            <a:latin typeface="Cambria Math"/>
                            <a:ea typeface="Cambria Math"/>
                            <a:cs typeface="Cambria Math"/>
                          </a:rPr>
                          <m:t>A</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B</m:t>
                        </m:r>
                        <m:r>
                          <m:rPr>
                            <m:sty m:val="p"/>
                          </m:rPr>
                          <a:rPr lang="vi-VN" sz="2250" dirty="0">
                            <a:solidFill>
                              <a:srgbClr val="B45309"/>
                            </a:solidFill>
                            <a:latin typeface="Cambria Math"/>
                            <a:ea typeface="Cambria Math"/>
                            <a:cs typeface="Cambria Math"/>
                          </a:rPr>
                          <m:t>=</m:t>
                        </m:r>
                        <m:d>
                          <m:dPr>
                            <m:begChr m:val="["/>
                            <m:sepChr m:val=""/>
                            <m:endChr m:val="]"/>
                            <m:grow m:val="on"/>
                            <m:ctrlPr>
                              <a:rPr lang="vi-VN" sz="2250" dirty="0">
                                <a:solidFill>
                                  <a:srgbClr val="B45309"/>
                                </a:solidFill>
                                <a:latin typeface="Cambria Math"/>
                                <a:ea typeface="Cambria Math"/>
                                <a:cs typeface="Cambria Math"/>
                              </a:rPr>
                            </m:ctrlPr>
                          </m:dPr>
                          <m:e>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2</m:t>
                            </m:r>
                            <m:r>
                              <m:rPr>
                                <m:sty m:val="p"/>
                              </m:rPr>
                              <a:rPr lang="vi-VN" sz="2250" dirty="0">
                                <a:solidFill>
                                  <a:srgbClr val="B45309"/>
                                </a:solidFill>
                                <a:latin typeface="Cambria Math"/>
                                <a:ea typeface="Cambria Math"/>
                                <a:cs typeface="Cambria Math"/>
                              </a:rPr>
                              <m:t>;</m:t>
                            </m:r>
                            <m:r>
                              <a:rPr lang="vi-VN" sz="2250" dirty="0">
                                <a:solidFill>
                                  <a:srgbClr val="B45309"/>
                                </a:solidFill>
                                <a:latin typeface="Cambria Math"/>
                                <a:ea typeface="Cambria Math"/>
                                <a:cs typeface="Cambria Math"/>
                              </a:rPr>
                              <m:t>1</m:t>
                            </m:r>
                          </m:e>
                        </m:d>
                      </m:oMath>
                    </a14:m>
                  </a:p>
                </p:txBody>
              </p:sp>
            </mc:Choice>
          </mc:AlternateContent>
          <p:sp>
            <p:nvSpPr>
              <p:cNvPr id="19" name="Rectangle 19"/>
              <p:cNvSpPr/>
              <p:nvPr/>
            </p:nvSpPr>
            <p:spPr>
              <a:xfrm>
                <a:off x="714375" y="4524375"/>
                <a:ext cx="4857750" cy="904875"/>
              </a:xfrm>
              <a:prstGeom prst="roundRect">
                <a:avLst>
                  <a:gd name="adj" fmla="val 12632"/>
                </a:avLst>
              </a:prstGeom>
              <a:solidFill>
                <a:srgbClr val="FAF5FF"/>
              </a:solidFill>
              <a:ln w="14288">
                <a:solidFill>
                  <a:srgbClr val="E9D5FF"/>
                </a:solidFill>
              </a:ln>
            </p:spPr>
          </p:sp>
          <mc:AlternateContent xmlns:mc="http://schemas.openxmlformats.org/markup-compatibility/2006">
            <mc:Choice xmlns:a14="http://schemas.microsoft.com/office/drawing/2010/main" Requires="a14">
              <p:sp>
                <p:nvSpPr>
                  <p:cNvPr id="20" name="TextBox 20"/>
                  <p:cNvSpPr txBox="1"/>
                  <p:nvPr/>
                </p:nvSpPr>
                <p:spPr>
                  <a:xfrm>
                    <a:off x="894207" y="4678680"/>
                    <a:ext cx="2519905" cy="455257"/>
                  </a:xfrm>
                  <a:prstGeom prst="rect">
                    <a:avLst/>
                  </a:prstGeom>
                  <a:noFill/>
                  <a:ln>
                    <a:noFill/>
                  </a:ln>
                </p:spPr>
                <p:txBody>
                  <a:bodyPr wrap="none" lIns="0" tIns="0" rIns="0" bIns="0" anchor="t" anchorCtr="0">
                    <a:spAutoFit/>
                  </a:bodyPr>
                  <a:lstStyle/>
                  <a:p>
                    <a:pPr algn="l"/>
                    <a:r>
                      <a:rPr lang="vi-VN" sz="2100" b="1" dirty="0">
                        <a:solidFill>
                          <a:srgbClr val="7C3AED"/>
                        </a:solidFill>
                        <a:latin typeface="+mn-lt"/>
                        <a:ea typeface="+mn-ea"/>
                        <a:cs typeface="+mn-cs"/>
                      </a:rPr>
                      <a:t xml:space="preserve">d) Phần bù </a:t>
                    </a:r>
                    <a14:m>
                      <m:oMath xmlns:a="http://schemas.openxmlformats.org/drawingml/2006/main" xmlns:m="http://schemas.openxmlformats.org/officeDocument/2006/math">
                        <m:sSub>
                          <m:e>
                            <m:r>
                              <a:rPr lang="vi-VN" sz="2100" dirty="0">
                                <a:solidFill>
                                  <a:srgbClr val="7C3AED"/>
                                </a:solidFill>
                                <a:latin typeface="Cambria Math"/>
                                <a:ea typeface="Cambria Math"/>
                                <a:cs typeface="Cambria Math"/>
                              </a:rPr>
                              <m:t>C</m:t>
                            </m:r>
                          </m:e>
                          <m:sub>
                            <m:r>
                              <m:rPr>
                                <m:scr m:val="double-struck"/>
                                <m:sty m:val="p"/>
                              </m:rPr>
                              <a:rPr lang="vi-VN" sz="2100" dirty="0">
                                <a:solidFill>
                                  <a:srgbClr val="7C3AED"/>
                                </a:solidFill>
                                <a:latin typeface="Cambria Math"/>
                                <a:ea typeface="Cambria Math"/>
                                <a:cs typeface="Cambria Math"/>
                              </a:rPr>
                              <m:t>R</m:t>
                            </m:r>
                          </m:sub>
                        </m:sSub>
                        <m:r>
                          <a:rPr lang="vi-VN" sz="2100" dirty="0">
                            <a:solidFill>
                              <a:srgbClr val="7C3AED"/>
                            </a:solidFill>
                            <a:latin typeface="Cambria Math"/>
                            <a:ea typeface="Cambria Math"/>
                            <a:cs typeface="Cambria Math"/>
                          </a:rPr>
                          <m:t>A</m:t>
                        </m:r>
                      </m:oMath>
                    </a14:m>
                    <a:r>
                      <a:rPr lang="vi-VN" sz="2100" b="1" dirty="0">
                        <a:solidFill>
                          <a:srgbClr val="7C3AED"/>
                        </a:solidFill>
                        <a:latin typeface="+mn-lt"/>
                        <a:ea typeface="+mn-ea"/>
                        <a:cs typeface="+mn-cs"/>
                      </a:rPr>
                      <a:t>:</a:t>
                    </a:r>
                  </a:p>
                </p:txBody>
              </p:sp>
            </mc:Choice>
          </mc:AlternateContent>
          <mc:AlternateContent xmlns:mc="http://schemas.openxmlformats.org/markup-compatibility/2006">
            <mc:Choice xmlns:a14="http://schemas.microsoft.com/office/drawing/2010/main" Requires="a14">
              <p:sp>
                <p:nvSpPr>
                  <p:cNvPr id="21" name="TextBox 21"/>
                  <p:cNvSpPr txBox="1"/>
                  <p:nvPr/>
                </p:nvSpPr>
                <p:spPr>
                  <a:xfrm>
                    <a:off x="894207" y="5027295"/>
                    <a:ext cx="2376300" cy="437388"/>
                  </a:xfrm>
                  <a:prstGeom prst="rect">
                    <a:avLst/>
                  </a:prstGeom>
                  <a:noFill/>
                  <a:ln>
                    <a:noFill/>
                  </a:ln>
                </p:spPr>
                <p:txBody>
                  <a:bodyPr wrap="none" lIns="0" tIns="0" rIns="0" bIns="0" anchor="t" anchorCtr="0">
                    <a:spAutoFit/>
                  </a:bodyPr>
                  <a:lstStyle/>
                  <a:p>
                    <a:pPr algn="l"/>
                    <a:r>
                      <a:rPr lang="vi-VN" sz="2100" b="1" dirty="0">
                        <a:solidFill>
                          <a:srgbClr val="6B21A8"/>
                        </a:solidFill>
                        <a:latin typeface="+mn-lt"/>
                        <a:ea typeface="+mn-ea"/>
                        <a:cs typeface="+mn-cs"/>
                      </a:rPr>
                      <a:t xml:space="preserve">⇒ </a:t>
                    </a:r>
                    <a14:m>
                      <m:oMath xmlns:a="http://schemas.openxmlformats.org/drawingml/2006/main" xmlns:m="http://schemas.openxmlformats.org/officeDocument/2006/math">
                        <m:d>
                          <m:dPr>
                            <m:begChr m:val="("/>
                            <m:sepChr m:val=""/>
                            <m:endChr m:val=")"/>
                            <m:grow m:val="on"/>
                            <m:ctrlPr>
                              <a:rPr lang="vi-VN" sz="2100" dirty="0">
                                <a:solidFill>
                                  <a:srgbClr val="6B21A8"/>
                                </a:solidFill>
                                <a:latin typeface="Cambria Math"/>
                                <a:ea typeface="Cambria Math"/>
                                <a:cs typeface="Cambria Math"/>
                              </a:rPr>
                            </m:ctrlPr>
                          </m:dPr>
                          <m:e>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2</m:t>
                            </m:r>
                          </m:e>
                        </m:d>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3</m:t>
                        </m:r>
                        <m:r>
                          <m:rPr>
                            <m:sty m:val="p"/>
                          </m:rPr>
                          <a:rPr lang="vi-VN" sz="2100" dirty="0">
                            <a:solidFill>
                              <a:srgbClr val="6B21A8"/>
                            </a:solidFill>
                            <a:latin typeface="Cambria Math"/>
                            <a:ea typeface="Cambria Math"/>
                            <a:cs typeface="Cambria Math"/>
                          </a:rPr>
                          <m:t>;+∞</m:t>
                        </m:r>
                        <m:r>
                          <a:rPr lang="vi-VN" sz="2100" dirty="0">
                            <a:solidFill>
                              <a:srgbClr val="6B21A8"/>
                            </a:solidFill>
                            <a:latin typeface="Cambria Math"/>
                            <a:ea typeface="Cambria Math"/>
                            <a:cs typeface="Cambria Math"/>
                          </a:rPr>
                          <m:t>)</m:t>
                        </m:r>
                      </m:oMath>
                    </a14:m>
                  </a:p>
                </p:txBody>
              </p:sp>
            </mc:Choice>
          </mc:AlternateContent>
          <p:sp>
            <p:nvSpPr>
              <p:cNvPr id="22" name="TextBox 22"/>
              <p:cNvSpPr txBox="1"/>
              <p:nvPr/>
            </p:nvSpPr>
            <p:spPr>
              <a:xfrm>
                <a:off x="894207" y="5583555"/>
                <a:ext cx="4033294" cy="410718"/>
              </a:xfrm>
              <a:prstGeom prst="rect">
                <a:avLst/>
              </a:prstGeom>
              <a:noFill/>
              <a:ln>
                <a:noFill/>
              </a:ln>
            </p:spPr>
            <p:txBody>
              <a:bodyPr wrap="none" lIns="0" tIns="0" rIns="0" bIns="0" anchor="t" anchorCtr="0">
                <a:spAutoFit/>
              </a:bodyPr>
              <a:lstStyle/>
              <a:p>
                <a:pPr algn="l"/>
                <a:r>
                  <a:rPr lang="vi-VN" sz="2100" b="1" dirty="0">
                    <a:solidFill>
                      <a:srgbClr val="DC2626"/>
                    </a:solidFill>
                    <a:latin typeface="+mn-lt"/>
                    <a:ea typeface="+mn-ea"/>
                    <a:cs typeface="+mn-cs"/>
                  </a:rPr>
                  <a:t>⚠️ LƯU Ý: 1 ∉ B nên 1 ∈ A \ B</a:t>
                </a:r>
              </a:p>
            </p:txBody>
          </p:sp>
        </p:grpSp>
        <p:sp>
          <p:nvSpPr>
            <p:cNvPr id="24" name="Rectangle 24"/>
            <p:cNvSpPr/>
            <p:nvPr/>
          </p:nvSpPr>
          <p:spPr>
            <a:xfrm>
              <a:off x="6000750" y="1190625"/>
              <a:ext cx="5715000" cy="5191125"/>
            </a:xfrm>
            <a:prstGeom prst="roundRect">
              <a:avLst>
                <a:gd name="adj" fmla="val 3670"/>
              </a:avLst>
            </a:prstGeom>
            <a:solidFill>
              <a:srgbClr val="FFFFFF"/>
            </a:solidFill>
            <a:ln w="19050">
              <a:solidFill>
                <a:srgbClr val="CBD5E1"/>
              </a:solidFill>
            </a:ln>
          </p:spPr>
        </p:sp>
        <p:sp>
          <p:nvSpPr>
            <p:cNvPr id="25" name="TextBox 25"/>
            <p:cNvSpPr txBox="1"/>
            <p:nvPr/>
          </p:nvSpPr>
          <p:spPr>
            <a:xfrm>
              <a:off x="5681656" y="1376362"/>
              <a:ext cx="6353187"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BIỂU DIỄN 4 PHÉP TOÁN TRÊN TRỤC SỐ</a:t>
              </a:r>
            </a:p>
          </p:txBody>
        </p:sp>
        <p:pic>
          <p:nvPicPr>
            <p:cNvPr id="26" name="Image 26"/>
            <p:cNvPicPr>
              <a:picLocks noChangeAspect="1"/>
            </p:cNvPicPr>
            <p:nvPr/>
          </p:nvPicPr>
          <p:blipFill>
            <a:blip r:embed="rId2"/>
            <a:stretch>
              <a:fillRect/>
            </a:stretch>
          </p:blipFill>
          <p:spPr>
            <a:xfrm>
              <a:off x="6191250" y="1939528"/>
              <a:ext cx="5334000" cy="4083844"/>
            </a:xfrm>
            <a:prstGeom prst="rect">
              <a:avLst/>
            </a:prstGeom>
          </p:spPr>
        </p:pic>
        <p:sp>
          <p:nvSpPr>
            <p:cNvPr id="27" name="TextBox 27"/>
            <p:cNvSpPr txBox="1"/>
            <p:nvPr/>
          </p:nvSpPr>
          <p:spPr>
            <a:xfrm>
              <a:off x="5740729" y="6059805"/>
              <a:ext cx="6235043" cy="410718"/>
            </a:xfrm>
            <a:prstGeom prst="rect">
              <a:avLst/>
            </a:prstGeom>
            <a:noFill/>
            <a:ln>
              <a:noFill/>
            </a:ln>
          </p:spPr>
          <p:txBody>
            <a:bodyPr wrap="none" lIns="0" tIns="0" rIns="0" bIns="0" anchor="t" anchorCtr="0">
              <a:spAutoFit/>
            </a:bodyPr>
            <a:lstStyle/>
            <a:p>
              <a:pPr algn="ctr"/>
              <a:r>
                <a:rPr lang="vi-VN" sz="2100" b="1" dirty="0">
                  <a:solidFill>
                    <a:srgbClr val="64748B"/>
                  </a:solidFill>
                  <a:latin typeface="+mn-lt"/>
                  <a:ea typeface="+mn-ea"/>
                  <a:cs typeface="+mn-cs"/>
                </a:rPr>
                <a:t>Đổi ngoặc tròn thành vuông khi lấy hiệu và bù</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478623" y="459105"/>
              <a:ext cx="1614504"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VẬN DỤNG</a:t>
              </a:r>
            </a:p>
          </p:txBody>
        </p:sp>
        <p:sp>
          <p:nvSpPr>
            <p:cNvPr id="7" name="TextBox 7"/>
            <p:cNvSpPr txBox="1"/>
            <p:nvPr/>
          </p:nvSpPr>
          <p:spPr>
            <a:xfrm>
              <a:off x="2036445" y="452438"/>
              <a:ext cx="7614913"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VẬN DỤNG: BÀI TOÁN THỰC TẾ (SGK TRANG 18)</a:t>
              </a:r>
            </a:p>
          </p:txBody>
        </p:sp>
      </p:grpSp>
      <p:grpSp>
        <p:nvGrpSpPr>
          <p:cNvPr id="25" name="content"/>
          <p:cNvGrpSpPr/>
          <p:nvPr/>
        </p:nvGrpSpPr>
        <p:grpSpPr>
          <a:xfrm>
            <a:off x="476250" y="1190625"/>
            <a:ext cx="11239500" cy="5191125"/>
            <a:chOff x="476250" y="1190625"/>
            <a:chExt cx="11239500" cy="5191125"/>
          </a:xfrm>
        </p:grpSpPr>
        <p:sp>
          <p:nvSpPr>
            <p:cNvPr id="9" name="Rectangle 9"/>
            <p:cNvSpPr/>
            <p:nvPr/>
          </p:nvSpPr>
          <p:spPr>
            <a:xfrm>
              <a:off x="476250" y="1190625"/>
              <a:ext cx="552450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4717015"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BÀI TOÁN THỂ THAO LỚP 10A</a:t>
              </a:r>
            </a:p>
          </p:txBody>
        </p:sp>
        <p:sp>
          <p:nvSpPr>
            <p:cNvPr id="11" name="TextBox 11"/>
            <p:cNvSpPr txBox="1"/>
            <p:nvPr/>
          </p:nvSpPr>
          <p:spPr>
            <a:xfrm>
              <a:off x="798957" y="1916430"/>
              <a:ext cx="4820686"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Lớp 10A có 24 bạn thi đấu thể thao:</a:t>
              </a:r>
            </a:p>
          </p:txBody>
        </p:sp>
        <p:sp>
          <p:nvSpPr>
            <p:cNvPr id="12" name="TextBox 12"/>
            <p:cNvSpPr txBox="1"/>
            <p:nvPr/>
          </p:nvSpPr>
          <p:spPr>
            <a:xfrm>
              <a:off x="798957" y="2345055"/>
              <a:ext cx="5008407"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Bóng đá: 16 bạn | Cầu lông: 11 bạn.</a:t>
              </a:r>
            </a:p>
          </p:txBody>
        </p:sp>
        <p:sp>
          <p:nvSpPr>
            <p:cNvPr id="13" name="TextBox 13"/>
            <p:cNvSpPr txBox="1"/>
            <p:nvPr/>
          </p:nvSpPr>
          <p:spPr>
            <a:xfrm>
              <a:off x="798195" y="2757488"/>
              <a:ext cx="5297704" cy="440055"/>
            </a:xfrm>
            <a:prstGeom prst="rect">
              <a:avLst/>
            </a:prstGeom>
            <a:noFill/>
            <a:ln>
              <a:noFill/>
            </a:ln>
          </p:spPr>
          <p:txBody>
            <a:bodyPr wrap="none" lIns="0" tIns="0" rIns="0" bIns="0" anchor="t" anchorCtr="0">
              <a:spAutoFit/>
            </a:bodyPr>
            <a:lstStyle/>
            <a:p>
              <a:pPr algn="l"/>
              <a:r>
                <a:rPr lang="vi-VN" sz="2250" b="1" dirty="0">
                  <a:solidFill>
                    <a:srgbClr val="B91C1C"/>
                  </a:solidFill>
                  <a:latin typeface="+mn-lt"/>
                  <a:ea typeface="+mn-ea"/>
                  <a:cs typeface="+mn-cs"/>
                </a:rPr>
                <a:t>Hỏi: Có bao nhiêu bạn thi cả 2 môn?</a:t>
              </a:r>
            </a:p>
          </p:txBody>
        </p:sp>
        <p:sp>
          <p:nvSpPr>
            <p:cNvPr id="14" name="Line 14"/>
            <p:cNvSpPr/>
            <p:nvPr/>
          </p:nvSpPr>
          <p:spPr>
            <a:xfrm>
              <a:off x="809625" y="3286125"/>
              <a:ext cx="4810125" cy="9525"/>
            </a:xfrm>
            <a:custGeom>
              <a:avLst/>
              <a:gdLst/>
              <a:ahLst/>
              <a:cxnLst/>
              <a:rect l="l" t="t" r="r" b="b"/>
              <a:pathLst>
                <a:path w="4810125" h="9525">
                  <a:moveTo>
                    <a:pt x="0" y="0"/>
                  </a:moveTo>
                  <a:lnTo>
                    <a:pt x="4810125" y="0"/>
                  </a:lnTo>
                </a:path>
              </a:pathLst>
            </a:custGeom>
            <a:noFill/>
            <a:ln w="19050">
              <a:solidFill>
                <a:srgbClr val="E2E8F0"/>
              </a:solidFill>
            </a:ln>
          </p:spPr>
        </p:sp>
        <p:sp>
          <p:nvSpPr>
            <p:cNvPr id="15" name="TextBox 15"/>
            <p:cNvSpPr txBox="1"/>
            <p:nvPr/>
          </p:nvSpPr>
          <p:spPr>
            <a:xfrm>
              <a:off x="798195" y="3471862"/>
              <a:ext cx="4129933" cy="440055"/>
            </a:xfrm>
            <a:prstGeom prst="rect">
              <a:avLst/>
            </a:prstGeom>
            <a:noFill/>
            <a:ln>
              <a:noFill/>
            </a:ln>
          </p:spPr>
          <p:txBody>
            <a:bodyPr wrap="none" lIns="0" tIns="0" rIns="0" bIns="0" anchor="t" anchorCtr="0">
              <a:spAutoFit/>
            </a:bodyPr>
            <a:lstStyle/>
            <a:p>
              <a:pPr algn="l"/>
              <a:r>
                <a:rPr lang="vi-VN" sz="2250" b="1" dirty="0">
                  <a:solidFill>
                    <a:srgbClr val="047857"/>
                  </a:solidFill>
                  <a:latin typeface="+mn-lt"/>
                  <a:ea typeface="+mn-ea"/>
                  <a:cs typeface="+mn-cs"/>
                </a:rPr>
                <a:t>CÔNG THỨC SỐ PHẦN TỬ:</a:t>
              </a:r>
            </a:p>
          </p:txBody>
        </p:sp>
        <p:sp>
          <p:nvSpPr>
            <p:cNvPr id="16" name="Rectangle 16"/>
            <p:cNvSpPr/>
            <p:nvPr/>
          </p:nvSpPr>
          <p:spPr>
            <a:xfrm>
              <a:off x="809625" y="3952875"/>
              <a:ext cx="4857750" cy="762000"/>
            </a:xfrm>
            <a:prstGeom prst="roundRect">
              <a:avLst>
                <a:gd name="adj" fmla="val 17500"/>
              </a:avLst>
            </a:prstGeom>
            <a:solidFill>
              <a:srgbClr val="FEF3C7"/>
            </a:solidFill>
            <a:ln w="19050">
              <a:solidFill>
                <a:srgbClr val="FDE68A"/>
              </a:solidFill>
            </a:ln>
          </p:spPr>
        </p:sp>
        <mc:AlternateContent xmlns:mc="http://schemas.openxmlformats.org/markup-compatibility/2006">
          <mc:Choice xmlns:a14="http://schemas.microsoft.com/office/drawing/2010/main" Requires="a14">
            <p:sp>
              <p:nvSpPr>
                <p:cNvPr id="17" name="TextBox 17"/>
                <p:cNvSpPr txBox="1"/>
                <p:nvPr/>
              </p:nvSpPr>
              <p:spPr>
                <a:xfrm>
                  <a:off x="1053915" y="4189095"/>
                  <a:ext cx="4369171" cy="437388"/>
                </a:xfrm>
                <a:prstGeom prst="rect">
                  <a:avLst/>
                </a:prstGeom>
                <a:noFill/>
                <a:ln>
                  <a:noFill/>
                </a:ln>
              </p:spPr>
              <p:txBody>
                <a:bodyPr wrap="none" lIns="0" tIns="0" rIns="0" bIns="0" anchor="t" anchorCtr="0">
                  <a:spAutoFit/>
                </a:bodyPr>
                <a:lstStyle/>
                <a:p>
                  <a:pPr algn="ctr"/>
                  <a14:m>
                    <m:oMath xmlns:a="http://schemas.openxmlformats.org/drawingml/2006/main" xmlns:m="http://schemas.openxmlformats.org/officeDocument/2006/math">
                      <m:r>
                        <a:rPr lang="vi-VN" sz="2100" dirty="0">
                          <a:solidFill>
                            <a:srgbClr val="B45309"/>
                          </a:solidFill>
                          <a:latin typeface="Cambria Math"/>
                          <a:ea typeface="Cambria Math"/>
                          <a:cs typeface="Cambria Math"/>
                        </a:rPr>
                        <m:t>n</m:t>
                      </m:r>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A</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B</m:t>
                          </m:r>
                        </m:e>
                      </m:d>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n</m:t>
                      </m:r>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A</m:t>
                          </m:r>
                        </m:e>
                      </m:d>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n</m:t>
                      </m:r>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B</m:t>
                          </m:r>
                        </m:e>
                      </m:d>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n</m:t>
                      </m:r>
                      <m:d>
                        <m:dPr>
                          <m:begChr m:val="("/>
                          <m:sepChr m:val=""/>
                          <m:endChr m:val=")"/>
                          <m:grow m:val="on"/>
                          <m:ctrlPr>
                            <a:rPr lang="vi-VN" sz="2100" dirty="0">
                              <a:solidFill>
                                <a:srgbClr val="B45309"/>
                              </a:solidFill>
                              <a:latin typeface="Cambria Math"/>
                              <a:ea typeface="Cambria Math"/>
                              <a:cs typeface="Cambria Math"/>
                            </a:rPr>
                          </m:ctrlPr>
                        </m:dPr>
                        <m:e>
                          <m:r>
                            <a:rPr lang="vi-VN" sz="2100" dirty="0">
                              <a:solidFill>
                                <a:srgbClr val="B45309"/>
                              </a:solidFill>
                              <a:latin typeface="Cambria Math"/>
                              <a:ea typeface="Cambria Math"/>
                              <a:cs typeface="Cambria Math"/>
                            </a:rPr>
                            <m:t>A</m:t>
                          </m:r>
                          <m:r>
                            <m:rPr>
                              <m:sty m:val="p"/>
                            </m:rPr>
                            <a:rPr lang="vi-VN" sz="2100" dirty="0">
                              <a:solidFill>
                                <a:srgbClr val="B45309"/>
                              </a:solidFill>
                              <a:latin typeface="Cambria Math"/>
                              <a:ea typeface="Cambria Math"/>
                              <a:cs typeface="Cambria Math"/>
                            </a:rPr>
                            <m:t>∩</m:t>
                          </m:r>
                          <m:r>
                            <a:rPr lang="vi-VN" sz="2100" dirty="0">
                              <a:solidFill>
                                <a:srgbClr val="B45309"/>
                              </a:solidFill>
                              <a:latin typeface="Cambria Math"/>
                              <a:ea typeface="Cambria Math"/>
                              <a:cs typeface="Cambria Math"/>
                            </a:rPr>
                            <m:t>B</m:t>
                          </m:r>
                        </m:e>
                      </m:d>
                    </m:oMath>
                  </a14:m>
                </a:p>
              </p:txBody>
            </p:sp>
          </mc:Choice>
        </mc:AlternateContent>
        <mc:AlternateContent xmlns:mc="http://schemas.openxmlformats.org/markup-compatibility/2006">
          <mc:Choice xmlns:a14="http://schemas.microsoft.com/office/drawing/2010/main" Requires="a14">
            <p:sp>
              <p:nvSpPr>
                <p:cNvPr id="18" name="TextBox 18"/>
                <p:cNvSpPr txBox="1"/>
                <p:nvPr/>
              </p:nvSpPr>
              <p:spPr>
                <a:xfrm>
                  <a:off x="798957" y="4903470"/>
                  <a:ext cx="4606631" cy="43738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 xml:space="preserve">Suy ra: </a:t>
                  </a:r>
                  <a14:m>
                    <m:oMath xmlns:a="http://schemas.openxmlformats.org/drawingml/2006/main" xmlns:m="http://schemas.openxmlformats.org/officeDocument/2006/math">
                      <m:r>
                        <a:rPr lang="vi-VN" sz="2100" dirty="0">
                          <a:solidFill>
                            <a:srgbClr val="0F172A"/>
                          </a:solidFill>
                          <a:latin typeface="Cambria Math"/>
                          <a:ea typeface="Cambria Math"/>
                          <a:cs typeface="Cambria Math"/>
                        </a:rPr>
                        <m:t>n</m:t>
                      </m:r>
                      <m:d>
                        <m:dPr>
                          <m:begChr m:val="("/>
                          <m:sepChr m:val=""/>
                          <m:endChr m:val=")"/>
                          <m:grow m:val="on"/>
                          <m:ctrlPr>
                            <a:rPr lang="vi-VN" sz="2100" dirty="0">
                              <a:solidFill>
                                <a:srgbClr val="0F172A"/>
                              </a:solidFill>
                              <a:latin typeface="Cambria Math"/>
                              <a:ea typeface="Cambria Math"/>
                              <a:cs typeface="Cambria Math"/>
                            </a:rPr>
                          </m:ctrlPr>
                        </m:dPr>
                        <m:e>
                          <m:r>
                            <a:rPr lang="vi-VN" sz="2100" dirty="0">
                              <a:solidFill>
                                <a:srgbClr val="0F172A"/>
                              </a:solidFill>
                              <a:latin typeface="Cambria Math"/>
                              <a:ea typeface="Cambria Math"/>
                              <a:cs typeface="Cambria Math"/>
                            </a:rPr>
                            <m:t>A</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B</m:t>
                          </m:r>
                        </m:e>
                      </m:d>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16</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11</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24</m:t>
                      </m:r>
                      <m:r>
                        <m:rPr>
                          <m:sty m:val="p"/>
                        </m:rPr>
                        <a:rPr lang="vi-VN" sz="2100" dirty="0">
                          <a:solidFill>
                            <a:srgbClr val="0F172A"/>
                          </a:solidFill>
                          <a:latin typeface="Cambria Math"/>
                          <a:ea typeface="Cambria Math"/>
                          <a:cs typeface="Cambria Math"/>
                        </a:rPr>
                        <m:t>=</m:t>
                      </m:r>
                      <m:r>
                        <a:rPr lang="vi-VN" sz="2100" dirty="0">
                          <a:solidFill>
                            <a:srgbClr val="0F172A"/>
                          </a:solidFill>
                          <a:latin typeface="Cambria Math"/>
                          <a:ea typeface="Cambria Math"/>
                          <a:cs typeface="Cambria Math"/>
                        </a:rPr>
                        <m:t>3</m:t>
                      </m:r>
                    </m:oMath>
                  </a14:m>
                </a:p>
              </p:txBody>
            </p:sp>
          </mc:Choice>
        </mc:AlternateContent>
        <p:sp>
          <p:nvSpPr>
            <p:cNvPr id="19" name="TextBox 19"/>
            <p:cNvSpPr txBox="1"/>
            <p:nvPr/>
          </p:nvSpPr>
          <p:spPr>
            <a:xfrm>
              <a:off x="796671" y="5487352"/>
              <a:ext cx="5482375" cy="498729"/>
            </a:xfrm>
            <a:prstGeom prst="rect">
              <a:avLst/>
            </a:prstGeom>
            <a:noFill/>
            <a:ln>
              <a:noFill/>
            </a:ln>
          </p:spPr>
          <p:txBody>
            <a:bodyPr wrap="none" lIns="0" tIns="0" rIns="0" bIns="0" anchor="t" anchorCtr="0">
              <a:spAutoFit/>
            </a:bodyPr>
            <a:lstStyle/>
            <a:p>
              <a:pPr algn="l"/>
              <a:r>
                <a:rPr lang="vi-VN" sz="2550" b="1" dirty="0">
                  <a:solidFill>
                    <a:srgbClr val="047857"/>
                  </a:solidFill>
                  <a:latin typeface="+mn-lt"/>
                  <a:ea typeface="+mn-ea"/>
                  <a:cs typeface="+mn-cs"/>
                </a:rPr>
                <a:t>⇒ Kết quả: Có 3 bạn thi cả 2 môn!</a:t>
              </a:r>
            </a:p>
          </p:txBody>
        </p:sp>
        <p:sp>
          <p:nvSpPr>
            <p:cNvPr id="20" name="Rectangle 20"/>
            <p:cNvSpPr/>
            <p:nvPr/>
          </p:nvSpPr>
          <p:spPr>
            <a:xfrm>
              <a:off x="6191250" y="1190625"/>
              <a:ext cx="5524500" cy="5191125"/>
            </a:xfrm>
            <a:prstGeom prst="roundRect">
              <a:avLst>
                <a:gd name="adj" fmla="val 3303"/>
              </a:avLst>
            </a:prstGeom>
            <a:solidFill>
              <a:srgbClr val="FFFFFF"/>
            </a:solidFill>
            <a:ln w="19050">
              <a:solidFill>
                <a:srgbClr val="CBD5E1"/>
              </a:solidFill>
            </a:ln>
          </p:spPr>
        </p:sp>
        <p:sp>
          <p:nvSpPr>
            <p:cNvPr id="21" name="TextBox 21"/>
            <p:cNvSpPr txBox="1"/>
            <p:nvPr/>
          </p:nvSpPr>
          <p:spPr>
            <a:xfrm>
              <a:off x="6292587" y="1423988"/>
              <a:ext cx="5321826" cy="440055"/>
            </a:xfrm>
            <a:prstGeom prst="rect">
              <a:avLst/>
            </a:prstGeom>
            <a:noFill/>
            <a:ln>
              <a:noFill/>
            </a:ln>
          </p:spPr>
          <p:txBody>
            <a:bodyPr wrap="none" lIns="0" tIns="0" rIns="0" bIns="0" anchor="t" anchorCtr="0">
              <a:spAutoFit/>
            </a:bodyPr>
            <a:lstStyle/>
            <a:p>
              <a:pPr algn="ctr"/>
              <a:r>
                <a:rPr lang="vi-VN" sz="2250" b="1" dirty="0">
                  <a:solidFill>
                    <a:srgbClr val="047857"/>
                  </a:solidFill>
                  <a:latin typeface="+mn-lt"/>
                  <a:ea typeface="+mn-ea"/>
                  <a:cs typeface="+mn-cs"/>
                </a:rPr>
                <a:t>BIỂU ĐỒ VEN PHÂN BỔ HỌC SINH</a:t>
              </a:r>
            </a:p>
          </p:txBody>
        </p:sp>
        <p:pic>
          <p:nvPicPr>
            <p:cNvPr id="22" name="Image 22"/>
            <p:cNvPicPr>
              <a:picLocks noChangeAspect="1"/>
            </p:cNvPicPr>
            <p:nvPr/>
          </p:nvPicPr>
          <p:blipFill>
            <a:blip r:embed="rId2"/>
            <a:stretch>
              <a:fillRect/>
            </a:stretch>
          </p:blipFill>
          <p:spPr>
            <a:xfrm>
              <a:off x="6381750" y="1995971"/>
              <a:ext cx="5143500" cy="3104183"/>
            </a:xfrm>
            <a:prstGeom prst="rect">
              <a:avLst/>
            </a:prstGeom>
          </p:spPr>
        </p:pic>
        <p:sp>
          <p:nvSpPr>
            <p:cNvPr id="23" name="Rectangle 23"/>
            <p:cNvSpPr/>
            <p:nvPr/>
          </p:nvSpPr>
          <p:spPr>
            <a:xfrm>
              <a:off x="6429375" y="5381625"/>
              <a:ext cx="5048250" cy="809625"/>
            </a:xfrm>
            <a:prstGeom prst="roundRect">
              <a:avLst>
                <a:gd name="adj" fmla="val 16471"/>
              </a:avLst>
            </a:prstGeom>
            <a:solidFill>
              <a:srgbClr val="F8FAFC"/>
            </a:solidFill>
            <a:ln w="14288">
              <a:solidFill>
                <a:srgbClr val="E2E8F0"/>
              </a:solidFill>
            </a:ln>
          </p:spPr>
        </p:sp>
        <p:sp>
          <p:nvSpPr>
            <p:cNvPr id="24" name="TextBox 24"/>
            <p:cNvSpPr txBox="1"/>
            <p:nvPr/>
          </p:nvSpPr>
          <p:spPr>
            <a:xfrm>
              <a:off x="6675052" y="5659755"/>
              <a:ext cx="4556895" cy="410718"/>
            </a:xfrm>
            <a:prstGeom prst="rect">
              <a:avLst/>
            </a:prstGeom>
            <a:noFill/>
            <a:ln>
              <a:noFill/>
            </a:ln>
          </p:spPr>
          <p:txBody>
            <a:bodyPr wrap="none" lIns="0" tIns="0" rIns="0" bIns="0" anchor="t" anchorCtr="0">
              <a:spAutoFit/>
            </a:bodyPr>
            <a:lstStyle/>
            <a:p>
              <a:pPr algn="ctr"/>
              <a:r>
                <a:rPr lang="vi-VN" sz="2100" b="1" dirty="0">
                  <a:solidFill>
                    <a:srgbClr val="0F172A"/>
                  </a:solidFill>
                  <a:latin typeface="+mn-lt"/>
                  <a:ea typeface="+mn-ea"/>
                  <a:cs typeface="+mn-cs"/>
                </a:rPr>
                <a:t>Tổng kiểm tra: 13 + 3 + 8 = 24 bạn</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95250"/>
          </a:xfrm>
          <a:prstGeom prst="rect">
            <a:avLst/>
          </a:prstGeom>
          <a:solidFill>
            <a:srgbClr val="2563EB"/>
          </a:solidFill>
          <a:ln>
            <a:noFill/>
          </a:ln>
        </p:spPr>
      </p:sp>
      <p:grpSp>
        <p:nvGrpSpPr>
          <p:cNvPr id="8" name="header-group"/>
          <p:cNvGrpSpPr/>
          <p:nvPr/>
        </p:nvGrpSpPr>
        <p:grpSpPr>
          <a:xfrm>
            <a:off x="476250" y="238125"/>
            <a:ext cx="11239500" cy="714375"/>
            <a:chOff x="476250" y="238125"/>
            <a:chExt cx="11239500" cy="714375"/>
          </a:xfrm>
        </p:grpSpPr>
        <p:sp>
          <p:nvSpPr>
            <p:cNvPr id="3" name="Rectangle 3"/>
            <p:cNvSpPr/>
            <p:nvPr/>
          </p:nvSpPr>
          <p:spPr>
            <a:xfrm>
              <a:off x="476250" y="238125"/>
              <a:ext cx="11239500" cy="714375"/>
            </a:xfrm>
            <a:prstGeom prst="roundRect">
              <a:avLst>
                <a:gd name="adj" fmla="val 18667"/>
              </a:avLst>
            </a:prstGeom>
            <a:solidFill>
              <a:srgbClr val="FFFFFF"/>
            </a:solidFill>
            <a:ln w="19050">
              <a:solidFill>
                <a:srgbClr val="CBD5E1"/>
              </a:solidFill>
            </a:ln>
          </p:spPr>
        </p:sp>
        <p:sp>
          <p:nvSpPr>
            <p:cNvPr id="4" name="Rectangle 4"/>
            <p:cNvSpPr/>
            <p:nvPr/>
          </p:nvSpPr>
          <p:spPr>
            <a:xfrm>
              <a:off x="476250" y="238125"/>
              <a:ext cx="76200" cy="714375"/>
            </a:xfrm>
            <a:prstGeom prst="roundRect">
              <a:avLst>
                <a:gd name="adj" fmla="val 50000"/>
              </a:avLst>
            </a:prstGeom>
            <a:solidFill>
              <a:srgbClr val="2563EB"/>
            </a:solidFill>
            <a:ln>
              <a:noFill/>
            </a:ln>
          </p:spPr>
        </p:sp>
        <p:sp>
          <p:nvSpPr>
            <p:cNvPr id="5" name="Rectangle 5"/>
            <p:cNvSpPr/>
            <p:nvPr/>
          </p:nvSpPr>
          <p:spPr>
            <a:xfrm>
              <a:off x="714375" y="361950"/>
              <a:ext cx="1143000" cy="457200"/>
            </a:xfrm>
            <a:prstGeom prst="roundRect">
              <a:avLst>
                <a:gd name="adj" fmla="val 20833"/>
              </a:avLst>
            </a:prstGeom>
            <a:solidFill>
              <a:srgbClr val="EFF6FF"/>
            </a:solidFill>
            <a:ln w="14288">
              <a:solidFill>
                <a:srgbClr val="BFDBFE"/>
              </a:solidFill>
            </a:ln>
          </p:spPr>
        </p:sp>
        <p:sp>
          <p:nvSpPr>
            <p:cNvPr id="6" name="TextBox 6"/>
            <p:cNvSpPr txBox="1"/>
            <p:nvPr/>
          </p:nvSpPr>
          <p:spPr>
            <a:xfrm>
              <a:off x="503595" y="459105"/>
              <a:ext cx="1564560" cy="410718"/>
            </a:xfrm>
            <a:prstGeom prst="rect">
              <a:avLst/>
            </a:prstGeom>
            <a:noFill/>
            <a:ln>
              <a:noFill/>
            </a:ln>
          </p:spPr>
          <p:txBody>
            <a:bodyPr wrap="none" lIns="0" tIns="0" rIns="0" bIns="0" anchor="t" anchorCtr="0">
              <a:spAutoFit/>
            </a:bodyPr>
            <a:lstStyle/>
            <a:p>
              <a:pPr algn="ctr"/>
              <a:r>
                <a:rPr lang="vi-VN" sz="2100" b="1" dirty="0">
                  <a:solidFill>
                    <a:srgbClr val="1D4ED8"/>
                  </a:solidFill>
                  <a:latin typeface="+mn-lt"/>
                  <a:ea typeface="+mn-ea"/>
                  <a:cs typeface="+mn-cs"/>
                </a:rPr>
                <a:t>TỔNG KẾT</a:t>
              </a:r>
            </a:p>
          </p:txBody>
        </p:sp>
        <p:sp>
          <p:nvSpPr>
            <p:cNvPr id="7" name="TextBox 7"/>
            <p:cNvSpPr txBox="1"/>
            <p:nvPr/>
          </p:nvSpPr>
          <p:spPr>
            <a:xfrm>
              <a:off x="2036445" y="452438"/>
              <a:ext cx="6601794" cy="440055"/>
            </a:xfrm>
            <a:prstGeom prst="rect">
              <a:avLst/>
            </a:prstGeom>
            <a:noFill/>
            <a:ln>
              <a:noFill/>
            </a:ln>
          </p:spPr>
          <p:txBody>
            <a:bodyPr wrap="none" lIns="0" tIns="0" rIns="0" bIns="0" anchor="t" anchorCtr="0">
              <a:spAutoFit/>
            </a:bodyPr>
            <a:lstStyle/>
            <a:p>
              <a:pPr algn="l"/>
              <a:r>
                <a:rPr lang="vi-VN" sz="2250" b="1" dirty="0">
                  <a:solidFill>
                    <a:srgbClr val="0F172A"/>
                  </a:solidFill>
                  <a:latin typeface="+mn-lt"/>
                  <a:ea typeface="+mn-ea"/>
                  <a:cs typeface="+mn-cs"/>
                </a:rPr>
                <a:t>TỔNG KẾT BÀI HỌC VÀ NHIỆM VỤ VỀ NHÀ</a:t>
              </a:r>
            </a:p>
          </p:txBody>
        </p:sp>
      </p:grpSp>
      <p:grpSp>
        <p:nvGrpSpPr>
          <p:cNvPr id="33" name="content"/>
          <p:cNvGrpSpPr/>
          <p:nvPr/>
        </p:nvGrpSpPr>
        <p:grpSpPr>
          <a:xfrm>
            <a:off x="476250" y="1190625"/>
            <a:ext cx="11239500" cy="5191125"/>
            <a:chOff x="476250" y="1190625"/>
            <a:chExt cx="11239500" cy="5191125"/>
          </a:xfrm>
        </p:grpSpPr>
        <p:sp>
          <p:nvSpPr>
            <p:cNvPr id="9" name="Rectangle 9"/>
            <p:cNvSpPr/>
            <p:nvPr/>
          </p:nvSpPr>
          <p:spPr>
            <a:xfrm>
              <a:off x="476250" y="1190625"/>
              <a:ext cx="6381750" cy="5191125"/>
            </a:xfrm>
            <a:prstGeom prst="roundRect">
              <a:avLst>
                <a:gd name="adj" fmla="val 3303"/>
              </a:avLst>
            </a:prstGeom>
            <a:solidFill>
              <a:srgbClr val="FFFFFF"/>
            </a:solidFill>
            <a:ln w="19050">
              <a:solidFill>
                <a:srgbClr val="CBD5E1"/>
              </a:solidFill>
            </a:ln>
          </p:spPr>
        </p:sp>
        <p:sp>
          <p:nvSpPr>
            <p:cNvPr id="10" name="TextBox 10"/>
            <p:cNvSpPr txBox="1"/>
            <p:nvPr/>
          </p:nvSpPr>
          <p:spPr>
            <a:xfrm>
              <a:off x="798195" y="1423988"/>
              <a:ext cx="5445810" cy="440055"/>
            </a:xfrm>
            <a:prstGeom prst="rect">
              <a:avLst/>
            </a:prstGeom>
            <a:noFill/>
            <a:ln>
              <a:noFill/>
            </a:ln>
          </p:spPr>
          <p:txBody>
            <a:bodyPr wrap="none" lIns="0" tIns="0" rIns="0" bIns="0" anchor="t" anchorCtr="0">
              <a:spAutoFit/>
            </a:bodyPr>
            <a:lstStyle/>
            <a:p>
              <a:pPr algn="l"/>
              <a:r>
                <a:rPr lang="vi-VN" sz="2250" b="1" dirty="0">
                  <a:solidFill>
                    <a:srgbClr val="1D4ED8"/>
                  </a:solidFill>
                  <a:latin typeface="+mn-lt"/>
                  <a:ea typeface="+mn-ea"/>
                  <a:cs typeface="+mn-cs"/>
                </a:rPr>
                <a:t>4 GHI NHỚ TRỌNG TÂM THEO SGK</a:t>
              </a:r>
            </a:p>
          </p:txBody>
        </p:sp>
        <p:grpSp>
          <p:nvGrpSpPr>
            <p:cNvPr id="22" name="Group 22"/>
            <p:cNvGrpSpPr/>
            <p:nvPr/>
          </p:nvGrpSpPr>
          <p:grpSpPr>
            <a:xfrm>
              <a:off x="798957" y="2059305"/>
              <a:ext cx="6665850" cy="2839593"/>
              <a:chOff x="798957" y="2059305"/>
              <a:chExt cx="6665850" cy="2839593"/>
            </a:xfrm>
          </p:grpSpPr>
          <p:sp>
            <p:nvSpPr>
              <p:cNvPr id="11" name="TextBox 11"/>
              <p:cNvSpPr txBox="1"/>
              <p:nvPr/>
            </p:nvSpPr>
            <p:spPr>
              <a:xfrm>
                <a:off x="798957" y="2059305"/>
                <a:ext cx="125378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1. Mục 1:</a:t>
                </a:r>
              </a:p>
            </p:txBody>
          </p:sp>
          <mc:AlternateContent xmlns:mc="http://schemas.openxmlformats.org/markup-compatibility/2006">
            <mc:Choice xmlns:a14="http://schemas.microsoft.com/office/drawing/2010/main" Requires="a14">
              <p:sp>
                <p:nvSpPr>
                  <p:cNvPr id="12" name="TextBox 12"/>
                  <p:cNvSpPr txBox="1"/>
                  <p:nvPr/>
                </p:nvSpPr>
                <p:spPr>
                  <a:xfrm>
                    <a:off x="2418207" y="2059305"/>
                    <a:ext cx="4747791" cy="410718"/>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a:rPr lang="vi-VN" sz="2100" dirty="0">
                            <a:solidFill>
                              <a:srgbClr val="1E40AF"/>
                            </a:solidFill>
                            <a:latin typeface="Cambria Math"/>
                            <a:ea typeface="Cambria Math"/>
                            <a:cs typeface="Cambria Math"/>
                          </a:rPr>
                          <m:t>A</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B</m:t>
                        </m:r>
                      </m:oMath>
                    </a14:m>
                    <a:r>
                      <a:rPr lang="vi-VN" sz="2100" b="1" dirty="0">
                        <a:solidFill>
                          <a:srgbClr val="1E40AF"/>
                        </a:solidFill>
                        <a:latin typeface="+mn-lt"/>
                        <a:ea typeface="+mn-ea"/>
                        <a:cs typeface="+mn-cs"/>
                      </a:rPr>
                      <a:t xml:space="preserve"> | </a:t>
                    </a:r>
                    <a14:m>
                      <m:oMath xmlns:a="http://schemas.openxmlformats.org/drawingml/2006/main" xmlns:m="http://schemas.openxmlformats.org/officeDocument/2006/math">
                        <m:r>
                          <a:rPr lang="vi-VN" sz="2100" dirty="0">
                            <a:solidFill>
                              <a:srgbClr val="1E40AF"/>
                            </a:solidFill>
                            <a:latin typeface="Cambria Math"/>
                            <a:ea typeface="Cambria Math"/>
                            <a:cs typeface="Cambria Math"/>
                          </a:rPr>
                          <m:t>A</m:t>
                        </m:r>
                        <m:r>
                          <m:rPr>
                            <m:sty m:val="p"/>
                          </m:rPr>
                          <a:rPr lang="vi-VN" sz="2100" dirty="0">
                            <a:solidFill>
                              <a:srgbClr val="1E40AF"/>
                            </a:solidFill>
                            <a:latin typeface="Cambria Math"/>
                            <a:ea typeface="Cambria Math"/>
                            <a:cs typeface="Cambria Math"/>
                          </a:rPr>
                          <m:t>=</m:t>
                        </m:r>
                        <m:r>
                          <a:rPr lang="vi-VN" sz="2100" dirty="0">
                            <a:solidFill>
                              <a:srgbClr val="1E40AF"/>
                            </a:solidFill>
                            <a:latin typeface="Cambria Math"/>
                            <a:ea typeface="Cambria Math"/>
                            <a:cs typeface="Cambria Math"/>
                          </a:rPr>
                          <m:t>B</m:t>
                        </m:r>
                      </m:oMath>
                    </a14:m>
                    <a:r>
                      <a:rPr lang="vi-VN" sz="2100" b="1" dirty="0">
                        <a:solidFill>
                          <a:srgbClr val="1E40AF"/>
                        </a:solidFill>
                        <a:latin typeface="+mn-lt"/>
                        <a:ea typeface="+mn-ea"/>
                        <a:cs typeface="+mn-cs"/>
                      </a:rPr>
                      <a:t xml:space="preserve"> (Tập con, bằng nhau)</a:t>
                    </a:r>
                  </a:p>
                </p:txBody>
              </p:sp>
            </mc:Choice>
          </mc:AlternateContent>
          <p:sp>
            <p:nvSpPr>
              <p:cNvPr id="13" name="Line 13"/>
              <p:cNvSpPr/>
              <p:nvPr/>
            </p:nvSpPr>
            <p:spPr>
              <a:xfrm>
                <a:off x="809625" y="2619375"/>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14" name="TextBox 14"/>
              <p:cNvSpPr txBox="1"/>
              <p:nvPr/>
            </p:nvSpPr>
            <p:spPr>
              <a:xfrm>
                <a:off x="798957" y="2868930"/>
                <a:ext cx="125378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2. Mục 2:</a:t>
                </a:r>
              </a:p>
            </p:txBody>
          </p:sp>
          <mc:AlternateContent xmlns:mc="http://schemas.openxmlformats.org/markup-compatibility/2006">
            <mc:Choice xmlns:a14="http://schemas.microsoft.com/office/drawing/2010/main" Requires="a14">
              <p:sp>
                <p:nvSpPr>
                  <p:cNvPr id="15" name="TextBox 15"/>
                  <p:cNvSpPr txBox="1"/>
                  <p:nvPr/>
                </p:nvSpPr>
                <p:spPr>
                  <a:xfrm>
                    <a:off x="2418207" y="2808389"/>
                    <a:ext cx="2228984" cy="471259"/>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sSup>
                          <m:e>
                            <m:r>
                              <m:rPr>
                                <m:scr m:val="double-struck"/>
                                <m:sty m:val="p"/>
                              </m:rPr>
                              <a:rPr lang="vi-VN" sz="2100" dirty="0">
                                <a:solidFill>
                                  <a:srgbClr val="1E40AF"/>
                                </a:solidFill>
                                <a:latin typeface="Cambria Math"/>
                                <a:ea typeface="Cambria Math"/>
                                <a:cs typeface="Cambria Math"/>
                              </a:rPr>
                              <m:t>N</m:t>
                            </m:r>
                          </m:e>
                          <m:sup>
                            <m:r>
                              <m:rPr>
                                <m:sty m:val="p"/>
                              </m:rPr>
                              <a:rPr lang="vi-VN" sz="2100" dirty="0">
                                <a:solidFill>
                                  <a:srgbClr val="1E40AF"/>
                                </a:solidFill>
                                <a:latin typeface="Cambria Math"/>
                                <a:ea typeface="Cambria Math"/>
                                <a:cs typeface="Cambria Math"/>
                              </a:rPr>
                              <m:t>*</m:t>
                            </m:r>
                          </m:sup>
                        </m:sSup>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N</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Z</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Q</m:t>
                        </m:r>
                        <m:r>
                          <m:rPr>
                            <m:sty m:val="p"/>
                          </m:rPr>
                          <a:rPr lang="vi-VN" sz="2100" dirty="0">
                            <a:solidFill>
                              <a:srgbClr val="1E40AF"/>
                            </a:solidFill>
                            <a:latin typeface="Cambria Math"/>
                            <a:ea typeface="Cambria Math"/>
                            <a:cs typeface="Cambria Math"/>
                          </a:rPr>
                          <m:t>⊂</m:t>
                        </m:r>
                        <m:r>
                          <m:rPr>
                            <m:scr m:val="double-struck"/>
                            <m:sty m:val="p"/>
                          </m:rPr>
                          <a:rPr lang="vi-VN" sz="2100" dirty="0">
                            <a:solidFill>
                              <a:srgbClr val="1E40AF"/>
                            </a:solidFill>
                            <a:latin typeface="Cambria Math"/>
                            <a:ea typeface="Cambria Math"/>
                            <a:cs typeface="Cambria Math"/>
                          </a:rPr>
                          <m:t>R</m:t>
                        </m:r>
                      </m:oMath>
                    </a14:m>
                  </a:p>
                </p:txBody>
              </p:sp>
            </mc:Choice>
          </mc:AlternateContent>
          <p:sp>
            <p:nvSpPr>
              <p:cNvPr id="16" name="Line 16"/>
              <p:cNvSpPr/>
              <p:nvPr/>
            </p:nvSpPr>
            <p:spPr>
              <a:xfrm>
                <a:off x="809625" y="3429000"/>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17" name="TextBox 17"/>
              <p:cNvSpPr txBox="1"/>
              <p:nvPr/>
            </p:nvSpPr>
            <p:spPr>
              <a:xfrm>
                <a:off x="798957" y="3678555"/>
                <a:ext cx="1253784"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3. Mục 3:</a:t>
                </a:r>
              </a:p>
            </p:txBody>
          </p:sp>
          <mc:AlternateContent xmlns:mc="http://schemas.openxmlformats.org/markup-compatibility/2006">
            <mc:Choice xmlns:a14="http://schemas.microsoft.com/office/drawing/2010/main" Requires="a14">
              <p:sp>
                <p:nvSpPr>
                  <p:cNvPr id="18" name="TextBox 18"/>
                  <p:cNvSpPr txBox="1"/>
                  <p:nvPr/>
                </p:nvSpPr>
                <p:spPr>
                  <a:xfrm>
                    <a:off x="2418207" y="3678555"/>
                    <a:ext cx="5046600" cy="455257"/>
                  </a:xfrm>
                  <a:prstGeom prst="rect">
                    <a:avLst/>
                  </a:prstGeom>
                  <a:noFill/>
                  <a:ln>
                    <a:noFill/>
                  </a:ln>
                </p:spPr>
                <p:txBody>
                  <a:bodyPr wrap="none" lIns="0" tIns="0" rIns="0" bIns="0" anchor="t" anchorCtr="0">
                    <a:spAutoFit/>
                  </a:bodyPr>
                  <a:lstStyle/>
                  <a:p>
                    <a:pPr algn="l"/>
                    <a:r>
                      <a:rPr lang="vi-VN" sz="2100" b="1" dirty="0">
                        <a:solidFill>
                          <a:srgbClr val="047857"/>
                        </a:solidFill>
                        <a:latin typeface="+mn-lt"/>
                        <a:ea typeface="+mn-ea"/>
                        <a:cs typeface="+mn-cs"/>
                      </a:rPr>
                      <a:t xml:space="preserve">Giao </a:t>
                    </a:r>
                    <a14:m>
                      <m:oMath xmlns:a="http://schemas.openxmlformats.org/drawingml/2006/main" xmlns:m="http://schemas.openxmlformats.org/officeDocument/2006/math">
                        <m:r>
                          <m:rPr>
                            <m:sty m:val="p"/>
                          </m:rPr>
                          <a:rPr lang="vi-VN" sz="2100" dirty="0">
                            <a:solidFill>
                              <a:srgbClr val="047857"/>
                            </a:solidFill>
                            <a:latin typeface="Cambria Math"/>
                            <a:ea typeface="Cambria Math"/>
                            <a:cs typeface="Cambria Math"/>
                          </a:rPr>
                          <m:t>∩</m:t>
                        </m:r>
                      </m:oMath>
                    </a14:m>
                    <a:r>
                      <a:rPr lang="vi-VN" sz="2100" b="1" dirty="0">
                        <a:solidFill>
                          <a:srgbClr val="047857"/>
                        </a:solidFill>
                        <a:latin typeface="+mn-lt"/>
                        <a:ea typeface="+mn-ea"/>
                        <a:cs typeface="+mn-cs"/>
                      </a:rPr>
                      <a:t xml:space="preserve">, Hợp </a:t>
                    </a:r>
                    <a14:m>
                      <m:oMath xmlns:a="http://schemas.openxmlformats.org/drawingml/2006/main" xmlns:m="http://schemas.openxmlformats.org/officeDocument/2006/math">
                        <m:r>
                          <m:rPr>
                            <m:sty m:val="p"/>
                          </m:rPr>
                          <a:rPr lang="vi-VN" sz="2100" dirty="0">
                            <a:solidFill>
                              <a:srgbClr val="047857"/>
                            </a:solidFill>
                            <a:latin typeface="Cambria Math"/>
                            <a:ea typeface="Cambria Math"/>
                            <a:cs typeface="Cambria Math"/>
                          </a:rPr>
                          <m:t>∪</m:t>
                        </m:r>
                      </m:oMath>
                    </a14:m>
                    <a:r>
                      <a:rPr lang="vi-VN" sz="2100" b="1" dirty="0">
                        <a:solidFill>
                          <a:srgbClr val="047857"/>
                        </a:solidFill>
                        <a:latin typeface="+mn-lt"/>
                        <a:ea typeface="+mn-ea"/>
                        <a:cs typeface="+mn-cs"/>
                      </a:rPr>
                      <a:t xml:space="preserve">, Hiệu </a:t>
                    </a:r>
                    <a14:m>
                      <m:oMath xmlns:a="http://schemas.openxmlformats.org/drawingml/2006/main" xmlns:m="http://schemas.openxmlformats.org/officeDocument/2006/math">
                        <m:r>
                          <m:rPr>
                            <m:sty m:val="p"/>
                          </m:rPr>
                          <a:rPr lang="vi-VN" sz="2100" dirty="0">
                            <a:solidFill>
                              <a:srgbClr val="047857"/>
                            </a:solidFill>
                            <a:latin typeface="Cambria Math"/>
                            <a:ea typeface="Cambria Math"/>
                            <a:cs typeface="Cambria Math"/>
                          </a:rPr>
                          <m:t>∖</m:t>
                        </m:r>
                      </m:oMath>
                    </a14:m>
                    <a:r>
                      <a:rPr lang="vi-VN" sz="2100" b="1" dirty="0">
                        <a:solidFill>
                          <a:srgbClr val="047857"/>
                        </a:solidFill>
                        <a:latin typeface="+mn-lt"/>
                        <a:ea typeface="+mn-ea"/>
                        <a:cs typeface="+mn-cs"/>
                      </a:rPr>
                      <a:t xml:space="preserve">, Phần bù </a:t>
                    </a:r>
                    <a14:m>
                      <m:oMath xmlns:a="http://schemas.openxmlformats.org/drawingml/2006/main" xmlns:m="http://schemas.openxmlformats.org/officeDocument/2006/math">
                        <m:sSub>
                          <m:e>
                            <m:r>
                              <a:rPr lang="vi-VN" sz="2100" dirty="0">
                                <a:solidFill>
                                  <a:srgbClr val="047857"/>
                                </a:solidFill>
                                <a:latin typeface="Cambria Math"/>
                                <a:ea typeface="Cambria Math"/>
                                <a:cs typeface="Cambria Math"/>
                              </a:rPr>
                              <m:t>C</m:t>
                            </m:r>
                          </m:e>
                          <m:sub>
                            <m:r>
                              <a:rPr lang="vi-VN" sz="2100" dirty="0">
                                <a:solidFill>
                                  <a:srgbClr val="047857"/>
                                </a:solidFill>
                                <a:latin typeface="Cambria Math"/>
                                <a:ea typeface="Cambria Math"/>
                                <a:cs typeface="Cambria Math"/>
                              </a:rPr>
                              <m:t>E</m:t>
                            </m:r>
                          </m:sub>
                        </m:sSub>
                        <m:r>
                          <a:rPr lang="vi-VN" sz="2100" dirty="0">
                            <a:solidFill>
                              <a:srgbClr val="047857"/>
                            </a:solidFill>
                            <a:latin typeface="Cambria Math"/>
                            <a:ea typeface="Cambria Math"/>
                            <a:cs typeface="Cambria Math"/>
                          </a:rPr>
                          <m:t>A</m:t>
                        </m:r>
                      </m:oMath>
                    </a14:m>
                  </a:p>
                </p:txBody>
              </p:sp>
            </mc:Choice>
          </mc:AlternateContent>
          <p:sp>
            <p:nvSpPr>
              <p:cNvPr id="19" name="Line 19"/>
              <p:cNvSpPr/>
              <p:nvPr/>
            </p:nvSpPr>
            <p:spPr>
              <a:xfrm>
                <a:off x="809625" y="4238625"/>
                <a:ext cx="5715000" cy="9525"/>
              </a:xfrm>
              <a:custGeom>
                <a:avLst/>
                <a:gdLst/>
                <a:ahLst/>
                <a:cxnLst/>
                <a:rect l="l" t="t" r="r" b="b"/>
                <a:pathLst>
                  <a:path w="5715000" h="9525">
                    <a:moveTo>
                      <a:pt x="0" y="0"/>
                    </a:moveTo>
                    <a:lnTo>
                      <a:pt x="5715000" y="0"/>
                    </a:lnTo>
                  </a:path>
                </a:pathLst>
              </a:custGeom>
              <a:noFill/>
              <a:ln w="19050">
                <a:solidFill>
                  <a:srgbClr val="F1F5F9"/>
                </a:solidFill>
              </a:ln>
            </p:spPr>
          </p:sp>
          <p:sp>
            <p:nvSpPr>
              <p:cNvPr id="20" name="TextBox 20"/>
              <p:cNvSpPr txBox="1"/>
              <p:nvPr/>
            </p:nvSpPr>
            <p:spPr>
              <a:xfrm>
                <a:off x="798957" y="4488180"/>
                <a:ext cx="1464333" cy="410718"/>
              </a:xfrm>
              <a:prstGeom prst="rect">
                <a:avLst/>
              </a:prstGeom>
              <a:noFill/>
              <a:ln>
                <a:noFill/>
              </a:ln>
            </p:spPr>
            <p:txBody>
              <a:bodyPr wrap="none" lIns="0" tIns="0" rIns="0" bIns="0" anchor="t" anchorCtr="0">
                <a:spAutoFit/>
              </a:bodyPr>
              <a:lstStyle/>
              <a:p>
                <a:pPr algn="l"/>
                <a:r>
                  <a:rPr lang="vi-VN" sz="2100" b="1" dirty="0">
                    <a:solidFill>
                      <a:srgbClr val="0F172A"/>
                    </a:solidFill>
                    <a:latin typeface="+mn-lt"/>
                    <a:ea typeface="+mn-ea"/>
                    <a:cs typeface="+mn-cs"/>
                  </a:rPr>
                  <a:t>4. Trục số:</a:t>
                </a:r>
              </a:p>
            </p:txBody>
          </p:sp>
          <p:sp>
            <p:nvSpPr>
              <p:cNvPr id="21" name="TextBox 21"/>
              <p:cNvSpPr txBox="1"/>
              <p:nvPr/>
            </p:nvSpPr>
            <p:spPr>
              <a:xfrm>
                <a:off x="2418207" y="4488180"/>
                <a:ext cx="4117468" cy="410718"/>
              </a:xfrm>
              <a:prstGeom prst="rect">
                <a:avLst/>
              </a:prstGeom>
              <a:noFill/>
              <a:ln>
                <a:noFill/>
              </a:ln>
            </p:spPr>
            <p:txBody>
              <a:bodyPr wrap="none" lIns="0" tIns="0" rIns="0" bIns="0" anchor="t" anchorCtr="0">
                <a:spAutoFit/>
              </a:bodyPr>
              <a:lstStyle/>
              <a:p>
                <a:pPr algn="l"/>
                <a:r>
                  <a:rPr lang="vi-VN" sz="2100" b="1" dirty="0">
                    <a:solidFill>
                      <a:srgbClr val="D97706"/>
                    </a:solidFill>
                    <a:latin typeface="+mn-lt"/>
                    <a:ea typeface="+mn-ea"/>
                    <a:cs typeface="+mn-cs"/>
                  </a:rPr>
                  <a:t>Lấy [ ], bỏ ( ), gạch phần ngoài</a:t>
                </a:r>
              </a:p>
            </p:txBody>
          </p:sp>
        </p:grpSp>
        <p:sp>
          <p:nvSpPr>
            <p:cNvPr id="23" name="Rectangle 23"/>
            <p:cNvSpPr/>
            <p:nvPr/>
          </p:nvSpPr>
          <p:spPr>
            <a:xfrm>
              <a:off x="7143750" y="1190625"/>
              <a:ext cx="4572000" cy="5191125"/>
            </a:xfrm>
            <a:prstGeom prst="roundRect">
              <a:avLst>
                <a:gd name="adj" fmla="val 3750"/>
              </a:avLst>
            </a:prstGeom>
            <a:solidFill>
              <a:srgbClr val="FFFFFF"/>
            </a:solidFill>
            <a:ln w="19050">
              <a:solidFill>
                <a:srgbClr val="CBD5E1"/>
              </a:solidFill>
            </a:ln>
          </p:spPr>
        </p:sp>
        <p:sp>
          <p:nvSpPr>
            <p:cNvPr id="24" name="TextBox 24"/>
            <p:cNvSpPr txBox="1"/>
            <p:nvPr/>
          </p:nvSpPr>
          <p:spPr>
            <a:xfrm>
              <a:off x="7465695" y="1423988"/>
              <a:ext cx="2885746" cy="440055"/>
            </a:xfrm>
            <a:prstGeom prst="rect">
              <a:avLst/>
            </a:prstGeom>
            <a:noFill/>
            <a:ln>
              <a:noFill/>
            </a:ln>
          </p:spPr>
          <p:txBody>
            <a:bodyPr wrap="none" lIns="0" tIns="0" rIns="0" bIns="0" anchor="t" anchorCtr="0">
              <a:spAutoFit/>
            </a:bodyPr>
            <a:lstStyle/>
            <a:p>
              <a:pPr algn="l"/>
              <a:r>
                <a:rPr lang="vi-VN" sz="2250" b="1" dirty="0">
                  <a:solidFill>
                    <a:srgbClr val="9333EA"/>
                  </a:solidFill>
                  <a:latin typeface="+mn-lt"/>
                  <a:ea typeface="+mn-ea"/>
                  <a:cs typeface="+mn-cs"/>
                </a:rPr>
                <a:t>NHIỆM VỤ VỀ NHÀ</a:t>
              </a:r>
            </a:p>
          </p:txBody>
        </p:sp>
        <p:sp>
          <p:nvSpPr>
            <p:cNvPr id="25" name="Rectangle 25"/>
            <p:cNvSpPr/>
            <p:nvPr/>
          </p:nvSpPr>
          <p:spPr>
            <a:xfrm>
              <a:off x="7381875" y="2000250"/>
              <a:ext cx="4095750" cy="1857375"/>
            </a:xfrm>
            <a:prstGeom prst="roundRect">
              <a:avLst>
                <a:gd name="adj" fmla="val 7179"/>
              </a:avLst>
            </a:prstGeom>
            <a:solidFill>
              <a:srgbClr val="F8FAFC"/>
            </a:solidFill>
            <a:ln w="14288">
              <a:solidFill>
                <a:srgbClr val="CBD5E1"/>
              </a:solidFill>
            </a:ln>
          </p:spPr>
        </p:sp>
        <p:sp>
          <p:nvSpPr>
            <p:cNvPr id="26" name="TextBox 26"/>
            <p:cNvSpPr txBox="1"/>
            <p:nvPr/>
          </p:nvSpPr>
          <p:spPr>
            <a:xfrm>
              <a:off x="7609332" y="2249805"/>
              <a:ext cx="2955820" cy="410718"/>
            </a:xfrm>
            <a:prstGeom prst="rect">
              <a:avLst/>
            </a:prstGeom>
            <a:noFill/>
            <a:ln>
              <a:noFill/>
            </a:ln>
          </p:spPr>
          <p:txBody>
            <a:bodyPr wrap="none" lIns="0" tIns="0" rIns="0" bIns="0" anchor="t" anchorCtr="0">
              <a:spAutoFit/>
            </a:bodyPr>
            <a:lstStyle/>
            <a:p>
              <a:pPr algn="l" marL="167461" indent="-167461">
                <a:buClr>
                  <a:srgbClr val="0F172A"/>
                </a:buClr>
                <a:buSzTx/>
                <a:buFontTx/>
                <a:buChar char="•"/>
              </a:pPr>
              <a:r>
                <a:rPr lang="vi-VN" sz="2100" b="1" dirty="0">
                  <a:solidFill>
                    <a:srgbClr val="0F172A"/>
                  </a:solidFill>
                  <a:latin typeface="+mn-lt"/>
                  <a:ea typeface="+mn-ea"/>
                  <a:cs typeface="+mn-cs"/>
                </a:rPr>
                <a:t>Làm bài 1.8 đến 1.16</a:t>
              </a:r>
            </a:p>
          </p:txBody>
        </p:sp>
        <p:sp>
          <p:nvSpPr>
            <p:cNvPr id="27" name="TextBox 27"/>
            <p:cNvSpPr txBox="1"/>
            <p:nvPr/>
          </p:nvSpPr>
          <p:spPr>
            <a:xfrm>
              <a:off x="7609332" y="2678430"/>
              <a:ext cx="3175445" cy="410718"/>
            </a:xfrm>
            <a:prstGeom prst="rect">
              <a:avLst/>
            </a:prstGeom>
            <a:noFill/>
            <a:ln>
              <a:noFill/>
            </a:ln>
          </p:spPr>
          <p:txBody>
            <a:bodyPr wrap="none" lIns="0" tIns="0" rIns="0" bIns="0" anchor="t" anchorCtr="0">
              <a:spAutoFit/>
            </a:bodyPr>
            <a:lstStyle/>
            <a:p>
              <a:pPr algn="l"/>
              <a:r>
                <a:rPr lang="vi-VN" sz="2100" dirty="0">
                  <a:solidFill>
                    <a:srgbClr val="64748B"/>
                  </a:solidFill>
                  <a:latin typeface="+mn-lt"/>
                  <a:ea typeface="+mn-ea"/>
                  <a:cs typeface="+mn-cs"/>
                </a:rPr>
                <a:t>(SGK Toán 10, trang 19)</a:t>
              </a:r>
            </a:p>
          </p:txBody>
        </p:sp>
        <p:sp>
          <p:nvSpPr>
            <p:cNvPr id="28" name="TextBox 28"/>
            <p:cNvSpPr txBox="1"/>
            <p:nvPr/>
          </p:nvSpPr>
          <p:spPr>
            <a:xfrm>
              <a:off x="7609332" y="3202305"/>
              <a:ext cx="3896826" cy="410718"/>
            </a:xfrm>
            <a:prstGeom prst="rect">
              <a:avLst/>
            </a:prstGeom>
            <a:noFill/>
            <a:ln>
              <a:noFill/>
            </a:ln>
          </p:spPr>
          <p:txBody>
            <a:bodyPr wrap="none" lIns="0" tIns="0" rIns="0" bIns="0" anchor="t" anchorCtr="0">
              <a:spAutoFit/>
            </a:bodyPr>
            <a:lstStyle/>
            <a:p>
              <a:pPr algn="l" marL="167461" indent="-167461">
                <a:buClr>
                  <a:srgbClr val="1E40AF"/>
                </a:buClr>
                <a:buSzTx/>
                <a:buFontTx/>
                <a:buChar char="•"/>
              </a:pPr>
              <a:r>
                <a:rPr lang="vi-VN" sz="2100" b="1" dirty="0">
                  <a:solidFill>
                    <a:srgbClr val="1E40AF"/>
                  </a:solidFill>
                  <a:latin typeface="+mn-lt"/>
                  <a:ea typeface="+mn-ea"/>
                  <a:cs typeface="+mn-cs"/>
                </a:rPr>
                <a:t>Chuẩn bị: Bài tập cuối Ch.1</a:t>
              </a:r>
            </a:p>
          </p:txBody>
        </p:sp>
        <p:sp>
          <p:nvSpPr>
            <p:cNvPr id="29" name="Rectangle 29"/>
            <p:cNvSpPr/>
            <p:nvPr/>
          </p:nvSpPr>
          <p:spPr>
            <a:xfrm>
              <a:off x="7381875" y="4143375"/>
              <a:ext cx="4095750" cy="2000250"/>
            </a:xfrm>
            <a:prstGeom prst="roundRect">
              <a:avLst>
                <a:gd name="adj" fmla="val 7619"/>
              </a:avLst>
            </a:prstGeom>
            <a:solidFill>
              <a:srgbClr val="0F172A"/>
            </a:solidFill>
            <a:ln>
              <a:noFill/>
            </a:ln>
          </p:spPr>
        </p:sp>
        <p:sp>
          <p:nvSpPr>
            <p:cNvPr id="30" name="TextBox 30"/>
            <p:cNvSpPr txBox="1"/>
            <p:nvPr/>
          </p:nvSpPr>
          <p:spPr>
            <a:xfrm>
              <a:off x="8203796" y="4455795"/>
              <a:ext cx="2451909" cy="469392"/>
            </a:xfrm>
            <a:prstGeom prst="rect">
              <a:avLst/>
            </a:prstGeom>
            <a:noFill/>
            <a:ln>
              <a:noFill/>
            </a:ln>
          </p:spPr>
          <p:txBody>
            <a:bodyPr wrap="none" lIns="0" tIns="0" rIns="0" bIns="0" anchor="t" anchorCtr="0">
              <a:spAutoFit/>
            </a:bodyPr>
            <a:lstStyle/>
            <a:p>
              <a:pPr algn="ctr"/>
              <a:r>
                <a:rPr lang="vi-VN" sz="2400" b="1" dirty="0">
                  <a:solidFill>
                    <a:srgbClr val="FFFFFF"/>
                  </a:solidFill>
                  <a:latin typeface="+mn-lt"/>
                  <a:ea typeface="+mn-ea"/>
                  <a:cs typeface="+mn-cs"/>
                </a:rPr>
                <a:t>CHÚC CÁC EM</a:t>
              </a:r>
            </a:p>
          </p:txBody>
        </p:sp>
        <p:sp>
          <p:nvSpPr>
            <p:cNvPr id="31" name="TextBox 31"/>
            <p:cNvSpPr txBox="1"/>
            <p:nvPr/>
          </p:nvSpPr>
          <p:spPr>
            <a:xfrm>
              <a:off x="7616117" y="4884420"/>
              <a:ext cx="3627266" cy="469392"/>
            </a:xfrm>
            <a:prstGeom prst="rect">
              <a:avLst/>
            </a:prstGeom>
            <a:noFill/>
            <a:ln>
              <a:noFill/>
            </a:ln>
          </p:spPr>
          <p:txBody>
            <a:bodyPr wrap="none" lIns="0" tIns="0" rIns="0" bIns="0" anchor="t" anchorCtr="0">
              <a:spAutoFit/>
            </a:bodyPr>
            <a:lstStyle/>
            <a:p>
              <a:pPr algn="ctr"/>
              <a:r>
                <a:rPr lang="vi-VN" sz="2400" b="1" dirty="0">
                  <a:solidFill>
                    <a:srgbClr val="38BDF8"/>
                  </a:solidFill>
                  <a:latin typeface="+mn-lt"/>
                  <a:ea typeface="+mn-ea"/>
                  <a:cs typeface="+mn-cs"/>
                </a:rPr>
                <a:t>HỌC TỐT MÔN TOÁN!</a:t>
              </a:r>
            </a:p>
          </p:txBody>
        </p:sp>
        <p:sp>
          <p:nvSpPr>
            <p:cNvPr id="32" name="TextBox 32"/>
            <p:cNvSpPr txBox="1"/>
            <p:nvPr/>
          </p:nvSpPr>
          <p:spPr>
            <a:xfrm>
              <a:off x="7827298" y="5535930"/>
              <a:ext cx="3204903" cy="410718"/>
            </a:xfrm>
            <a:prstGeom prst="rect">
              <a:avLst/>
            </a:prstGeom>
            <a:noFill/>
            <a:ln>
              <a:noFill/>
            </a:ln>
          </p:spPr>
          <p:txBody>
            <a:bodyPr wrap="none" lIns="0" tIns="0" rIns="0" bIns="0" anchor="t" anchorCtr="0">
              <a:spAutoFit/>
            </a:bodyPr>
            <a:lstStyle/>
            <a:p>
              <a:pPr algn="ctr"/>
              <a:r>
                <a:rPr lang="vi-VN" sz="2100" b="1" dirty="0">
                  <a:solidFill>
                    <a:srgbClr val="94A3B8"/>
                  </a:solidFill>
                  <a:latin typeface="+mn-lt"/>
                  <a:ea typeface="+mn-ea"/>
                  <a:cs typeface="+mn-cs"/>
                </a:rPr>
                <a:t>Thầy Nguyễn Văn Sang</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ai2_tap_hop">
  <a:themeElements>
    <a:clrScheme name="bai2_tap_hop">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2_tap_hop">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2_tap_h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ai2_tap_hop">
  <a:themeElements>
    <a:clrScheme name="bai2_tap_hop">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ai2_tap_hop">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i2_tap_ho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vi-VN</dc:language>
  <cp:lastModifiedBy/>
  <cp:revision>1</cp:revision>
  <dcterms:created xsi:type="dcterms:W3CDTF">2026-09-21T10:30:51Z</dcterms:created>
  <dcterms:modified xsi:type="dcterms:W3CDTF">2026-09-21T10:30:51Z</dcterms:modified>
  <cp:category/>
  <cp:contentStatus/>
</cp:coreProperties>
</file>