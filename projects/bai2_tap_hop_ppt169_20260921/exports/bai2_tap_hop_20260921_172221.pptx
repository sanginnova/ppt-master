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vi-V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Chào các em học sinh! Hôm nay chúng ta cùng bước vào Bài 2: Tập hợp và các phép toán trên tập hợp thuộc Chương 1 môn Toán lớp 10.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học hôm nay nhằm trang bị 3 trụ cột: Khái niệm tập hợp, biểu diễn tập số trên trục số, và 4 phép toán cơ bản giao, hợp, hiệu, phần bù.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lưu ý hai cách mô tả tập hợp: liệt kê phần tử khi hữu hạn, và nêu tính chất đặc trưng khi tập hợp có vô số phần tử.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tập con: mọi phần tử của A đều phải thuộc B. Biểu đồ Ven giúp ta nhìn trực quan hình phẳng A nằm trọn trong 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Chuỗi bao hàm số tự nhiên N nằm trong số nguyên Z, nằm trong số hữu tỉ Q và nằm trong số thực R. R gồm hữu tỉ và vô tỉ.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Trục số là kỹ năng cực kỳ quan trọng: mút lấy thì dùng ngoặc vuông, mút không lấy thì dùng ngoặc tròn, phần ngoài phải gạch chéo.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Phép giao lấy phần chung, phép hợp gộp tất cả. Biểu đồ Ven thể hiện rất rõ vùng giao nhau và vùng hợp.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Hiệu A bỏ B là lấy các phần tử thuộc A nhưng không thuộc B. Khi A là con của E, hiệu E bỏ A chính là phần bù.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Thầy dành cho cả lớp 5 phút để tự vẽ trục số và giải 4 câu a, b, c, d vào vở trước khi thầy chữa chi tiết.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cùng đối chiếu kết quả: giao là (1; 3), hợp là [-2; 5], hiệu A bỏ B là [-2; 1], và phần bù là hai khoảng vô cực.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toán thể thao 24 bạn: dùng công thức n(A hợp B) = n(A) + n(B) - n(A giao B), ta tính được ngay có 3 bạn thi cả hai môn.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nhà các em hoàn thành bài tập 1.8 đến 1.16 trong SGK trang 19 và chuẩn bị bài mới. Chúc các em học tập tốt!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i2_tap_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i2_tap_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vi-V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715bbc00a5f75c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d0d6bc18b91b3d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34bd189c50afc4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b4e2dffbe286f47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b0b787540e3e79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617828f6cb4333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442374dacceea46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334500" y="-857250"/>
            <a:ext cx="3810000" cy="3810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144000" y="4381500"/>
            <a:ext cx="3048000" cy="3048000"/>
          </a:xfrm>
          <a:prstGeom prst="ellipse">
            <a:avLst/>
          </a:prstGeom>
          <a:solidFill>
            <a:srgbClr val="F0FDFA">
              <a:alpha val="60000"/>
            </a:srgbClr>
          </a:solidFill>
          <a:ln>
            <a:noFill/>
          </a:ln>
        </p:spPr>
      </p:sp>
      <p:grpSp>
        <p:nvGrpSpPr>
          <p:cNvPr id="21" name="cover-card"/>
          <p:cNvGrpSpPr/>
          <p:nvPr/>
        </p:nvGrpSpPr>
        <p:grpSpPr>
          <a:xfrm>
            <a:off x="571500" y="428625"/>
            <a:ext cx="11049000" cy="6000750"/>
            <a:chOff x="571500" y="428625"/>
            <a:chExt cx="11049000" cy="6000750"/>
          </a:xfrm>
        </p:grpSpPr>
        <p:sp>
          <p:nvSpPr>
            <p:cNvPr id="5" name="Rectangle 5"/>
            <p:cNvSpPr/>
            <p:nvPr/>
          </p:nvSpPr>
          <p:spPr>
            <a:xfrm>
              <a:off x="571500" y="428625"/>
              <a:ext cx="11049000" cy="60007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28625"/>
              <a:ext cx="11049000" cy="13335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7082" y="821055"/>
              <a:ext cx="68636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TRƯỜNG CĐ NGHỀ SỐ 1 - BQP • KHOA CƠ BẢN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047750" y="12382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1476375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197" y="15640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CHƯƠNG 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0986" y="2120265"/>
              <a:ext cx="83792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2. TẬP HỢP VÀ CÁC PHÉP TOÁN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986" y="2691765"/>
              <a:ext cx="35280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TRÊN TẬP HỢP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7082" y="3392805"/>
              <a:ext cx="55251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Toán 10 — Kết nối tri thức với cuộc sống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4048125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9379" y="4202430"/>
              <a:ext cx="40982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&amp; Các tập hợp số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4048125"/>
              <a:ext cx="4953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5881" y="4202430"/>
              <a:ext cx="39312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Phép toán Giao, Hợp, Hiệu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953000"/>
              <a:ext cx="9620250" cy="1047750"/>
            </a:xfrm>
            <a:prstGeom prst="roundRect">
              <a:avLst>
                <a:gd name="adj" fmla="val 14545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17320" y="5138738"/>
              <a:ext cx="51402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Giảng viên: ThS. Nguyễn Văn Sang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82" y="5535930"/>
              <a:ext cx="4698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Khoa Cơ bản — Tiết PPCT: 03 - 04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48413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BÀI HỌC CẦN ĐẠT</a:t>
              </a:r>
            </a:p>
          </p:txBody>
        </p:sp>
      </p:grpSp>
      <p:grpSp>
        <p:nvGrpSpPr>
          <p:cNvPr id="24" name="body-grid"/>
          <p:cNvGrpSpPr/>
          <p:nvPr/>
        </p:nvGrpSpPr>
        <p:grpSpPr>
          <a:xfrm>
            <a:off x="476250" y="1190625"/>
            <a:ext cx="11280636" cy="5191125"/>
            <a:chOff x="476250" y="1190625"/>
            <a:chExt cx="11280636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6250" y="1190625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820" y="1423988"/>
              <a:ext cx="41477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KIẾN THỨC TRỌNG TÂM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846582" y="1868805"/>
                  <a:ext cx="854149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Khái niệm tập hợp, tập con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hai tập bằng nhau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846582" y="2268855"/>
                  <a:ext cx="835230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Các tập hợp số: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các tập con khoảng, đoạn của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.</a:t>
                  </a:r>
                </a:p>
              </p:txBody>
            </p:sp>
          </mc:Choice>
        </mc:AlternateContent>
        <p:sp>
          <p:nvSpPr>
            <p:cNvPr id="14" name="Rectangle 14"/>
            <p:cNvSpPr/>
            <p:nvPr/>
          </p:nvSpPr>
          <p:spPr>
            <a:xfrm>
              <a:off x="476250" y="2952750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" y="2952750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820" y="3186112"/>
              <a:ext cx="33834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KỸ NĂNG CẦN ĐẠT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846582" y="3630930"/>
                  <a:ext cx="10910304" cy="455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Thực hiện thành thạo: Giao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Hợp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Hiệu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Phần bù (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846582" y="4030980"/>
                  <a:ext cx="8279223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Biểu diễn chính xác các tập hợp con của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trên trục số thực.</a:t>
                  </a:r>
                </a:p>
              </p:txBody>
            </p:sp>
          </mc:Choice>
        </mc:AlternateContent>
        <p:sp>
          <p:nvSpPr>
            <p:cNvPr id="19" name="Rectangle 19"/>
            <p:cNvSpPr/>
            <p:nvPr/>
          </p:nvSpPr>
          <p:spPr>
            <a:xfrm>
              <a:off x="476250" y="4714875"/>
              <a:ext cx="112395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" y="4714875"/>
              <a:ext cx="114300" cy="16668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820" y="4948238"/>
              <a:ext cx="4948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3. PHẨM CHẤT &amp; NĂNG LỰC SỐ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582" y="5393055"/>
              <a:ext cx="104880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Tư duy logic, chính xác trong việc xử lý các điều kiện mút của khoảng, đoạn.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582" y="5793105"/>
              <a:ext cx="82659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giải quyết bài toán đếm thực tế bằng biểu đồ Ven.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9799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TẬP HỢP VÀ PHẦN TỬ</a:t>
              </a:r>
            </a:p>
          </p:txBody>
        </p:sp>
      </p:grpSp>
      <p:grpSp>
        <p:nvGrpSpPr>
          <p:cNvPr id="25" name="content"/>
          <p:cNvGrpSpPr/>
          <p:nvPr/>
        </p:nvGrpSpPr>
        <p:grpSpPr>
          <a:xfrm>
            <a:off x="476250" y="1190625"/>
            <a:ext cx="11408857" cy="5191125"/>
            <a:chOff x="476250" y="1190625"/>
            <a:chExt cx="11408857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4543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KHÁI NIỆM CƠ BẢN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868805"/>
              <a:ext cx="72513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Tập hợp là một khái niệm nguyên thủy của toán học.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230755"/>
                  <a:ext cx="850824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: phần tử a thuộc tập A |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∉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: phần tử b không thuộc A.</a:t>
                  </a:r>
                </a:p>
              </p:txBody>
            </p:sp>
          </mc:Choice>
        </mc:AlternateContent>
        <p:sp>
          <p:nvSpPr>
            <p:cNvPr id="13" name="Rectangle 13"/>
            <p:cNvSpPr/>
            <p:nvPr/>
          </p:nvSpPr>
          <p:spPr>
            <a:xfrm>
              <a:off x="476250" y="2857500"/>
              <a:ext cx="11239500" cy="809625"/>
            </a:xfrm>
            <a:prstGeom prst="roundRect">
              <a:avLst>
                <a:gd name="adj" fmla="val 16471"/>
              </a:avLst>
            </a:prstGeom>
            <a:solidFill>
              <a:srgbClr val="FEF3C7"/>
            </a:solidFill>
            <a:ln w="19050">
              <a:solidFill>
                <a:srgbClr val="FDE68A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4"/>
                <p:cNvSpPr txBox="1"/>
                <p:nvPr/>
              </p:nvSpPr>
              <p:spPr>
                <a:xfrm>
                  <a:off x="798957" y="3126105"/>
                  <a:ext cx="10245241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92400E"/>
                      </a:solidFill>
                      <a:latin typeface="+mn-lt"/>
                      <a:ea typeface="+mn-ea"/>
                      <a:cs typeface="+mn-cs"/>
                    </a:rPr>
                    <a:t xml:space="preserve">TẬP RỖNG: Ký hiệu là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92400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∅</m:t>
                      </m:r>
                    </m:oMath>
                  </a14:m>
                  <a:r>
                    <a:rPr lang="vi-VN" sz="2100" b="1" dirty="0">
                      <a:solidFill>
                        <a:srgbClr val="92400E"/>
                      </a:solidFill>
                      <a:latin typeface="+mn-lt"/>
                      <a:ea typeface="+mn-ea"/>
                      <a:cs typeface="+mn-cs"/>
                    </a:rPr>
                    <a:t>, là tập hợp không chứa bất kì phần tử nào.</a:t>
                  </a:r>
                </a:p>
              </p:txBody>
            </p:sp>
          </mc:Choice>
        </mc:AlternateContent>
        <p:sp>
          <p:nvSpPr>
            <p:cNvPr id="15" name="Rectangle 15"/>
            <p:cNvSpPr/>
            <p:nvPr/>
          </p:nvSpPr>
          <p:spPr>
            <a:xfrm>
              <a:off x="476250" y="3905250"/>
              <a:ext cx="1123950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8195" y="4090988"/>
              <a:ext cx="51436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B. HAI CÁCH XÁC ĐỊNH TẬP HỢP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4524375"/>
              <a:ext cx="5048250" cy="1666875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7082" y="4726305"/>
              <a:ext cx="38713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CÁCH 1: LIỆT KÊ PHẦN TỬ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9"/>
                <p:cNvSpPr txBox="1"/>
                <p:nvPr/>
              </p:nvSpPr>
              <p:spPr>
                <a:xfrm>
                  <a:off x="1037082" y="5141595"/>
                  <a:ext cx="5276658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Viết trong dấu </a:t>
                  </a:r>
                  <a14:m>
                    <m:oMath xmlns:a="http://schemas.openxmlformats.org/drawingml/2006/main" xmlns:m="http://schemas.openxmlformats.org/officeDocument/2006/math"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…</m:t>
                          </m:r>
                        </m:e>
                      </m:d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, cách nhau bởi dấu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20"/>
                <p:cNvSpPr txBox="1"/>
                <p:nvPr/>
              </p:nvSpPr>
              <p:spPr>
                <a:xfrm>
                  <a:off x="1037082" y="5570220"/>
                  <a:ext cx="2602796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2563EB"/>
                      </a:solidFill>
                      <a:latin typeface="+mn-lt"/>
                      <a:ea typeface="+mn-ea"/>
                      <a:cs typeface="+mn-cs"/>
                    </a:rPr>
                    <a:t xml:space="preserve">VD: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2563E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2563E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1" name="Rectangle 21"/>
            <p:cNvSpPr/>
            <p:nvPr/>
          </p:nvSpPr>
          <p:spPr>
            <a:xfrm>
              <a:off x="6143625" y="4524375"/>
              <a:ext cx="5286375" cy="1666875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1082" y="4726305"/>
              <a:ext cx="55140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CÁCH 2: NÊU TÍNH CHẤT ĐẶC TRƯNG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6371082" y="5128260"/>
                  <a:ext cx="3170112" cy="464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Dạng: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vi-VN" sz="2100" dirty="0">
                                  <a:solidFill>
                                    <a:srgbClr val="0F172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vi-VN" sz="2100" dirty="0">
                                  <a:solidFill>
                                    <a:srgbClr val="0F172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371082" y="5509679"/>
                  <a:ext cx="3433489" cy="4979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 xml:space="preserve">VD: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sSup>
                            <m:e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657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CON VÀ BIỂU ĐỒ VEN</a:t>
              </a:r>
            </a:p>
          </p:txBody>
        </p:sp>
      </p:grpSp>
      <p:grpSp>
        <p:nvGrpSpPr>
          <p:cNvPr id="26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42368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ĐỊNH NGHĨA TẬP HỢP CON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923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Nếu mọi phần tử của A đều thuộc B: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7433" y="2407920"/>
                  <a:ext cx="4696539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400" b="1" dirty="0">
                      <a:solidFill>
                        <a:srgbClr val="1E40AF"/>
                      </a:solidFill>
                      <a:latin typeface="+mn-lt"/>
                      <a:ea typeface="+mn-ea"/>
                      <a:cs typeface="+mn-cs"/>
                    </a:rPr>
                    <a:t xml:space="preserve">Ta viết: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400" b="1" dirty="0">
                      <a:solidFill>
                        <a:srgbClr val="1E40AF"/>
                      </a:solidFill>
                      <a:latin typeface="+mn-lt"/>
                      <a:ea typeface="+mn-ea"/>
                      <a:cs typeface="+mn-cs"/>
                    </a:rPr>
                    <a:t xml:space="preserve"> (A là con của B)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798957" y="2855595"/>
                  <a:ext cx="4210492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 xml:space="preserve">Logic: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⇔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∀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4" name="Line 14"/>
            <p:cNvSpPr/>
            <p:nvPr/>
          </p:nvSpPr>
          <p:spPr>
            <a:xfrm>
              <a:off x="809625" y="3381375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0" y="0"/>
                  </a:moveTo>
                  <a:lnTo>
                    <a:pt x="56673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614738"/>
              <a:ext cx="48409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TÍNH CHẤT &amp; TẬP BẰNG NHAU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6"/>
                <p:cNvSpPr txBox="1"/>
                <p:nvPr/>
              </p:nvSpPr>
              <p:spPr>
                <a:xfrm>
                  <a:off x="798957" y="4107180"/>
                  <a:ext cx="510353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Quy ước: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∅⊂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(với mọi A).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798957" y="4583430"/>
                  <a:ext cx="456195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Bắc cầu: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98957" y="5154930"/>
              <a:ext cx="27433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Hai tập bằng nhau: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9"/>
                <p:cNvSpPr txBox="1"/>
                <p:nvPr/>
              </p:nvSpPr>
              <p:spPr>
                <a:xfrm>
                  <a:off x="798195" y="5600700"/>
                  <a:ext cx="3561228" cy="468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⇔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⊂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⊂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0" name="Rectangle 20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4643" y="1423988"/>
              <a:ext cx="38102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BIỂU ĐỒ VEN MINH HỌA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4250" y="1882917"/>
              <a:ext cx="4191000" cy="2949292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7381875" y="5095875"/>
              <a:ext cx="4095750" cy="1047750"/>
            </a:xfrm>
            <a:prstGeom prst="roundRect">
              <a:avLst>
                <a:gd name="adj" fmla="val 12727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38044" y="5250180"/>
              <a:ext cx="31834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nằm trọn vẹn trong 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5"/>
                <p:cNvSpPr txBox="1"/>
                <p:nvPr/>
              </p:nvSpPr>
              <p:spPr>
                <a:xfrm>
                  <a:off x="8469413" y="5678805"/>
                  <a:ext cx="1920673" cy="455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</m:t>
                      </m:r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334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CÁC TẬP HỢP SỐ VÀ CHUỖI BAO HÀM</a:t>
              </a:r>
            </a:p>
          </p:txBody>
        </p:sp>
      </p:grpSp>
      <p:grpSp>
        <p:nvGrpSpPr>
          <p:cNvPr id="28" name="content"/>
          <p:cNvGrpSpPr/>
          <p:nvPr/>
        </p:nvGrpSpPr>
        <p:grpSpPr>
          <a:xfrm>
            <a:off x="476250" y="1143000"/>
            <a:ext cx="11239500" cy="5340858"/>
            <a:chOff x="476250" y="1143000"/>
            <a:chExt cx="11239500" cy="5340858"/>
          </a:xfrm>
        </p:grpSpPr>
        <p:sp>
          <p:nvSpPr>
            <p:cNvPr id="9" name="Rectangle 9"/>
            <p:cNvSpPr/>
            <p:nvPr/>
          </p:nvSpPr>
          <p:spPr>
            <a:xfrm>
              <a:off x="476250" y="1143000"/>
              <a:ext cx="11239500" cy="666750"/>
            </a:xfrm>
            <a:prstGeom prst="roundRect">
              <a:avLst>
                <a:gd name="adj" fmla="val 20000"/>
              </a:avLst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4742688" y="1241889"/>
                  <a:ext cx="2706624" cy="5722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vi-VN" sz="2550" dirty="0">
                              <a:solidFill>
                                <a:srgbClr val="1D4ED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vi-VN" sz="2550" dirty="0">
                              <a:solidFill>
                                <a:srgbClr val="1D4ED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5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</a:p>
              </p:txBody>
            </p:sp>
          </mc:Choice>
        </mc:AlternateContent>
        <p:sp>
          <p:nvSpPr>
            <p:cNvPr id="11" name="Rectangle 11"/>
            <p:cNvSpPr/>
            <p:nvPr/>
          </p:nvSpPr>
          <p:spPr>
            <a:xfrm>
              <a:off x="476250" y="1952625"/>
              <a:ext cx="5715000" cy="4429125"/>
            </a:xfrm>
            <a:prstGeom prst="roundRect">
              <a:avLst>
                <a:gd name="adj" fmla="val 387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51332" y="2297430"/>
              <a:ext cx="5154168" cy="3934968"/>
              <a:chOff x="751332" y="2297430"/>
              <a:chExt cx="5154168" cy="393496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751332" y="2297430"/>
                    <a:ext cx="2222645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1. Số tự nhiên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a14:m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751332" y="2617889"/>
                    <a:ext cx="3899272" cy="4845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| </a:t>
                    </a:r>
                    <a14:m>
                      <m:oMath xmlns:a="http://schemas.openxmlformats.org/drawingml/2006/main" xmlns:m="http://schemas.openxmlformats.org/officeDocument/2006/math"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4" name="Line 14"/>
              <p:cNvSpPr/>
              <p:nvPr/>
            </p:nvSpPr>
            <p:spPr>
              <a:xfrm>
                <a:off x="762000" y="3190875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751332" y="3345180"/>
                    <a:ext cx="2129529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2. Số nguyên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</m:oMath>
                    </a14:m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751332" y="3712845"/>
                    <a:ext cx="3208547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…;−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;−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7" name="Line 17"/>
              <p:cNvSpPr/>
              <p:nvPr/>
            </p:nvSpPr>
            <p:spPr>
              <a:xfrm>
                <a:off x="762000" y="4238625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751332" y="4392930"/>
                    <a:ext cx="1893535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3. Số hữu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</m:oMath>
                    </a14:m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751332" y="4694987"/>
                    <a:ext cx="3062672" cy="643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20" name="Line 20"/>
              <p:cNvSpPr/>
              <p:nvPr/>
            </p:nvSpPr>
            <p:spPr>
              <a:xfrm>
                <a:off x="762000" y="5286375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751332" y="5440680"/>
                    <a:ext cx="1721562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4. Số thực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751332" y="5821680"/>
                    <a:ext cx="4060780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 gồm số hữu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 và số vô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</m:oMath>
                    </a14:m>
                  </a:p>
                </p:txBody>
              </p:sp>
            </mc:Choice>
          </mc:AlternateContent>
        </p:grpSp>
        <p:sp>
          <p:nvSpPr>
            <p:cNvPr id="24" name="Rectangle 24"/>
            <p:cNvSpPr/>
            <p:nvPr/>
          </p:nvSpPr>
          <p:spPr>
            <a:xfrm>
              <a:off x="6381750" y="1952625"/>
              <a:ext cx="5334000" cy="4429125"/>
            </a:xfrm>
            <a:prstGeom prst="roundRect">
              <a:avLst>
                <a:gd name="adj" fmla="val 387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99126" y="2090738"/>
              <a:ext cx="38992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SƠ ĐỒ CÁC TẬP HỢP SỐ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4625" y="2497820"/>
              <a:ext cx="5048250" cy="36244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7"/>
                <p:cNvSpPr txBox="1"/>
                <p:nvPr/>
              </p:nvSpPr>
              <p:spPr>
                <a:xfrm>
                  <a:off x="7465687" y="6006465"/>
                  <a:ext cx="3166125" cy="4773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a14:m>
                  <a:r>
                    <a:rPr lang="vi-VN" sz="2100" b="1" dirty="0">
                      <a:solidFill>
                        <a:srgbClr val="64748B"/>
                      </a:solidFill>
                      <a:latin typeface="+mn-lt"/>
                      <a:ea typeface="+mn-ea"/>
                      <a:cs typeface="+mn-cs"/>
                    </a:rPr>
                    <a:t xml:space="preserve"> (Vô tỉ: </a:t>
                  </a:r>
                  <a14:m>
                    <m:oMath xmlns:a="http://schemas.openxmlformats.org/drawingml/2006/main" xmlns:m="http://schemas.openxmlformats.org/officeDocument/2006/math">
                      <m:rad>
                        <m:radPr>
                          <m:degHide m:val="on"/>
                          <m:ctrlPr>
                            <a:rPr lang="vi-VN" sz="2100" dirty="0">
                              <a:solidFill>
                                <a:srgbClr val="64748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vi-VN" sz="2100" dirty="0">
                              <a:solidFill>
                                <a:srgbClr val="64748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ra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vi-VN" sz="2100" dirty="0">
                          <a:solidFill>
                            <a:srgbClr val="64748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</m:oMath>
                  </a14:m>
                  <a:r>
                    <a:rPr lang="vi-VN" sz="2100" b="1" dirty="0">
                      <a:solidFill>
                        <a:srgbClr val="64748B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575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CÁC TẬP CON THƯỜNG DÙNG CỦA ℝ</a:t>
              </a:r>
            </a:p>
          </p:txBody>
        </p:sp>
      </p:grpSp>
      <p:grpSp>
        <p:nvGrpSpPr>
          <p:cNvPr id="28" name="content"/>
          <p:cNvGrpSpPr/>
          <p:nvPr/>
        </p:nvGrpSpPr>
        <p:grpSpPr>
          <a:xfrm>
            <a:off x="476250" y="1190625"/>
            <a:ext cx="11239500" cy="5279898"/>
            <a:chOff x="476250" y="1190625"/>
            <a:chExt cx="11239500" cy="5279898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33400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50570" y="1504950"/>
              <a:ext cx="4773930" cy="4489323"/>
              <a:chOff x="750570" y="1504950"/>
              <a:chExt cx="4773930" cy="448932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10"/>
                  <p:cNvSpPr txBox="1"/>
                  <p:nvPr/>
                </p:nvSpPr>
                <p:spPr>
                  <a:xfrm>
                    <a:off x="750570" y="1504950"/>
                    <a:ext cx="2250992" cy="468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 xml:space="preserve">1. ĐOẠN </a:t>
                    </a:r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250" dirty="0">
                                <a:solidFill>
                                  <a:srgbClr val="1D4ED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250" dirty="0">
                                <a:solidFill>
                                  <a:srgbClr val="1D4ED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1D4ED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250" dirty="0">
                                <a:solidFill>
                                  <a:srgbClr val="1D4ED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a14:m>
                    <a:r>
                      <a:rPr lang="vi-VN" sz="225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751332" y="1903095"/>
                    <a:ext cx="3243008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2" name="TextBox 12"/>
              <p:cNvSpPr txBox="1"/>
              <p:nvPr/>
            </p:nvSpPr>
            <p:spPr>
              <a:xfrm>
                <a:off x="751332" y="2249805"/>
                <a:ext cx="38194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→ Lấy cả hai đầu mút a và b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762000" y="2714625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750570" y="2838450"/>
                    <a:ext cx="2731052" cy="468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2. KHOẢNG </a:t>
                    </a:r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250" dirty="0">
                                <a:solidFill>
                                  <a:srgbClr val="04785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250" dirty="0">
                                <a:solidFill>
                                  <a:srgbClr val="04785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04785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250" dirty="0">
                                <a:solidFill>
                                  <a:srgbClr val="04785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a14:m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751332" y="3236595"/>
                    <a:ext cx="3262910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6" name="TextBox 16"/>
              <p:cNvSpPr txBox="1"/>
              <p:nvPr/>
            </p:nvSpPr>
            <p:spPr>
              <a:xfrm>
                <a:off x="751332" y="3583305"/>
                <a:ext cx="370949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→ Bỏ cả hai đầu mút a và b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62000" y="4048125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50570" y="4186238"/>
                <a:ext cx="434359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3. NỬA KHOẢNG &amp; VÔ CỰC: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751332" y="4570095"/>
                    <a:ext cx="3420420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 marL="167461" indent="-167461">
                      <a:buClr>
                        <a:srgbClr val="0F172A"/>
                      </a:buClr>
                      <a:buSzTx/>
                      <a:buFontTx/>
                      <a:buChar char="•"/>
                    </a:pP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[</m:t>
                        </m:r>
                        <m: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b)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751332" y="4951095"/>
                    <a:ext cx="3129491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 marL="167461" indent="-167461">
                      <a:buClr>
                        <a:srgbClr val="0F172A"/>
                      </a:buClr>
                      <a:buSzTx/>
                      <a:buFontTx/>
                      <a:buChar char="•"/>
                    </a:pPr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;+∞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21" name="Line 21"/>
              <p:cNvSpPr/>
              <p:nvPr/>
            </p:nvSpPr>
            <p:spPr>
              <a:xfrm>
                <a:off x="762000" y="542925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51332" y="5583555"/>
                <a:ext cx="428357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📌 QUY TẮC: Lấy mút [ ], Bỏ ( )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6000750" y="1190625"/>
              <a:ext cx="571500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35363" y="1376362"/>
              <a:ext cx="46457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HÌNH VẼ TRỤC SỐ TOÁN HỌC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1854547"/>
              <a:ext cx="5334000" cy="424428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6306080" y="6059805"/>
              <a:ext cx="5104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Gạch chéo phần không thuộc tập hợp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4922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PHÉP TOÁN TẬP HỢP: GIAO VÀ HỢP</a:t>
              </a:r>
            </a:p>
          </p:txBody>
        </p:sp>
      </p:grpSp>
      <p:grpSp>
        <p:nvGrpSpPr>
          <p:cNvPr id="22" name="content"/>
          <p:cNvGrpSpPr/>
          <p:nvPr/>
        </p:nvGrpSpPr>
        <p:grpSpPr>
          <a:xfrm>
            <a:off x="476250" y="1143000"/>
            <a:ext cx="11239500" cy="5238750"/>
            <a:chOff x="476250" y="1143000"/>
            <a:chExt cx="11239500" cy="5238750"/>
          </a:xfrm>
        </p:grpSpPr>
        <p:sp>
          <p:nvSpPr>
            <p:cNvPr id="9" name="Rectangle 9"/>
            <p:cNvSpPr/>
            <p:nvPr/>
          </p:nvSpPr>
          <p:spPr>
            <a:xfrm>
              <a:off x="476250" y="1143000"/>
              <a:ext cx="5429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798195" y="1328738"/>
                  <a:ext cx="3331389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A. PHÉP GIAO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98957" y="1773555"/>
              <a:ext cx="49863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Lấy các phần tử CHUNG của hai tập: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188845"/>
                  <a:ext cx="3733904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98957" y="2583180"/>
              <a:ext cx="42364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VD: {1; 2; 3} ∩ {2; 3; 4} = {2; 3}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429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5"/>
                <p:cNvSpPr txBox="1"/>
                <p:nvPr/>
              </p:nvSpPr>
              <p:spPr>
                <a:xfrm>
                  <a:off x="6608445" y="1328738"/>
                  <a:ext cx="3207021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047857"/>
                      </a:solidFill>
                      <a:latin typeface="+mn-lt"/>
                      <a:ea typeface="+mn-ea"/>
                      <a:cs typeface="+mn-cs"/>
                    </a:rPr>
                    <a:t>B. PHÉP HỢP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047857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6609207" y="1773555"/>
              <a:ext cx="46015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GỘP TẤT CẢ phần tử của hai tập: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6609207" y="2188845"/>
                  <a:ext cx="4203934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∨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6609207" y="2583180"/>
              <a:ext cx="45850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VD: {1; 2} ∪ {2; 3; 4} = {1; 2; 3; 4}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" y="3095625"/>
              <a:ext cx="11239500" cy="3286125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9522" y="3233738"/>
              <a:ext cx="60329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BIỂU ĐỒ VEN MINH HỌA GIAO VÀ HỢP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7688" y="3619500"/>
              <a:ext cx="5716624" cy="26193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72509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PHÉP TOÁN TẬP HỢP: HIỆU VÀ PHẦN BÙ</a:t>
              </a:r>
            </a:p>
          </p:txBody>
        </p:sp>
      </p:grpSp>
      <p:grpSp>
        <p:nvGrpSpPr>
          <p:cNvPr id="22" name="content"/>
          <p:cNvGrpSpPr/>
          <p:nvPr/>
        </p:nvGrpSpPr>
        <p:grpSpPr>
          <a:xfrm>
            <a:off x="476250" y="1143000"/>
            <a:ext cx="11239500" cy="5238750"/>
            <a:chOff x="476250" y="1143000"/>
            <a:chExt cx="11239500" cy="5238750"/>
          </a:xfrm>
        </p:grpSpPr>
        <p:sp>
          <p:nvSpPr>
            <p:cNvPr id="9" name="Rectangle 9"/>
            <p:cNvSpPr/>
            <p:nvPr/>
          </p:nvSpPr>
          <p:spPr>
            <a:xfrm>
              <a:off x="476250" y="1143000"/>
              <a:ext cx="5429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798195" y="1328738"/>
                  <a:ext cx="3182218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A. PHÉP HIỆU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98957" y="1773555"/>
              <a:ext cx="45406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Thuộc A nhưng KHÔNG thuộc B: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188845"/>
                  <a:ext cx="3521825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∉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98957" y="2583180"/>
              <a:ext cx="37983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VD: {1; 2; 3} \ {2; 4} = {1; 3}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429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5"/>
                <p:cNvSpPr txBox="1"/>
                <p:nvPr/>
              </p:nvSpPr>
              <p:spPr>
                <a:xfrm>
                  <a:off x="6608445" y="1328738"/>
                  <a:ext cx="3128836" cy="487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>B. PHẦN BÙ (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25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6"/>
                <p:cNvSpPr txBox="1"/>
                <p:nvPr/>
              </p:nvSpPr>
              <p:spPr>
                <a:xfrm>
                  <a:off x="6609207" y="1773555"/>
                  <a:ext cx="4137933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Khi A là tập con của E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):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6609207" y="2202180"/>
                  <a:ext cx="4648860" cy="455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 xml:space="preserve"> (Bù phần còn thiếu)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6609207" y="2569845"/>
                  <a:ext cx="3391344" cy="4685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 xml:space="preserve">VD: 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;+∞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−∞;</m:t>
                          </m:r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9" name="Rectangle 19"/>
            <p:cNvSpPr/>
            <p:nvPr/>
          </p:nvSpPr>
          <p:spPr>
            <a:xfrm>
              <a:off x="476250" y="3095625"/>
              <a:ext cx="11239500" cy="3286125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23894" y="3233738"/>
              <a:ext cx="67442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BIỂU ĐỒ VEN MINH HỌA HIỆU VÀ PHẦN BÙ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5583" y="3619500"/>
              <a:ext cx="5820833" cy="26193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00254" y="238125"/>
            <a:ext cx="11315496" cy="714375"/>
            <a:chOff x="400254" y="238125"/>
            <a:chExt cx="11315496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00254" y="459105"/>
              <a:ext cx="1714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LUYỆN TẬP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960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TẬP VẬN DỤNG TRÊN TRỤC SỐ</a:t>
              </a:r>
            </a:p>
          </p:txBody>
        </p:sp>
      </p:grpSp>
      <p:grpSp>
        <p:nvGrpSpPr>
          <p:cNvPr id="24" name="exercise-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476375"/>
              <a:ext cx="10668000" cy="1381125"/>
            </a:xfrm>
            <a:prstGeom prst="roundRect">
              <a:avLst>
                <a:gd name="adj" fmla="val 9655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1"/>
                <p:cNvSpPr txBox="1"/>
                <p:nvPr/>
              </p:nvSpPr>
              <p:spPr>
                <a:xfrm>
                  <a:off x="1035558" y="1693545"/>
                  <a:ext cx="6765185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4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 xml:space="preserve">ĐỀ BÀI: Cho hai tập hợp con của số thực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4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4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: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1034796" y="2201228"/>
                  <a:ext cx="3803061" cy="49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=[−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3)</m:t>
                      </m:r>
                    </m:oMath>
                  </a14:m>
                  <a:r>
                    <a:rPr lang="vi-VN" sz="255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5]</m:t>
                      </m:r>
                    </m:oMath>
                  </a14:m>
                </a:p>
              </p:txBody>
            </p:sp>
          </mc:Choice>
        </mc:AlternateContent>
        <p:grpSp>
          <p:nvGrpSpPr>
            <p:cNvPr id="21" name="Group 21"/>
            <p:cNvGrpSpPr/>
            <p:nvPr/>
          </p:nvGrpSpPr>
          <p:grpSpPr>
            <a:xfrm>
              <a:off x="762000" y="3095625"/>
              <a:ext cx="10668000" cy="2047875"/>
              <a:chOff x="762000" y="3095625"/>
              <a:chExt cx="10668000" cy="20478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1035558" y="3388995"/>
                    <a:ext cx="3271302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a)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5" name="Rectangle 15"/>
              <p:cNvSpPr/>
              <p:nvPr/>
            </p:nvSpPr>
            <p:spPr>
              <a:xfrm>
                <a:off x="6238875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6512433" y="3388995"/>
                    <a:ext cx="3289228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b)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7" name="Rectangle 17"/>
              <p:cNvSpPr/>
              <p:nvPr/>
            </p:nvSpPr>
            <p:spPr>
              <a:xfrm>
                <a:off x="762000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035558" y="4531995"/>
                    <a:ext cx="3168991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c)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9" name="Rectangle 19"/>
              <p:cNvSpPr/>
              <p:nvPr/>
            </p:nvSpPr>
            <p:spPr>
              <a:xfrm>
                <a:off x="6238875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6512433" y="4531995"/>
                    <a:ext cx="3384267" cy="5202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d) Tìm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vi-VN" sz="24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4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vi-VN" sz="240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</p:grpSp>
        <p:sp>
          <p:nvSpPr>
            <p:cNvPr id="22" name="Rectangle 22"/>
            <p:cNvSpPr/>
            <p:nvPr/>
          </p:nvSpPr>
          <p:spPr>
            <a:xfrm>
              <a:off x="762000" y="5429250"/>
              <a:ext cx="10668000" cy="714375"/>
            </a:xfrm>
            <a:prstGeom prst="roundRect">
              <a:avLst>
                <a:gd name="adj" fmla="val 18667"/>
              </a:avLst>
            </a:prstGeom>
            <a:solidFill>
              <a:srgbClr val="FEF2F2"/>
            </a:solidFill>
            <a:ln w="19050">
              <a:solidFill>
                <a:srgbClr val="FECAC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69263" y="5643562"/>
              <a:ext cx="86534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⏱ CẢ LỚP LÀM VÀO VỞ TRONG 5 PHÚT — VẼ TRỤC SỐ!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9254" y="459105"/>
              <a:ext cx="1216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LỜI GIẢI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302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HƯỚNG DẪN GIẢI BÀI TẬP VẬN DỤNG</a:t>
              </a:r>
            </a:p>
          </p:txBody>
        </p:sp>
      </p:grpSp>
      <p:grpSp>
        <p:nvGrpSpPr>
          <p:cNvPr id="28" name="solution-content"/>
          <p:cNvGrpSpPr/>
          <p:nvPr/>
        </p:nvGrpSpPr>
        <p:grpSpPr>
          <a:xfrm>
            <a:off x="476250" y="1190625"/>
            <a:ext cx="11558593" cy="5279898"/>
            <a:chOff x="476250" y="1190625"/>
            <a:chExt cx="11558593" cy="5279898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3340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10B98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14375" y="1381125"/>
              <a:ext cx="4857750" cy="4613148"/>
              <a:chOff x="714375" y="1381125"/>
              <a:chExt cx="4857750" cy="4613148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14375" y="1381125"/>
                <a:ext cx="4857750" cy="904875"/>
              </a:xfrm>
              <a:prstGeom prst="roundRect">
                <a:avLst>
                  <a:gd name="adj" fmla="val 12632"/>
                </a:avLst>
              </a:prstGeom>
              <a:solidFill>
                <a:srgbClr val="EFF6FF"/>
              </a:solidFill>
              <a:ln w="14288">
                <a:solidFill>
                  <a:srgbClr val="BFDBFE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894207" y="1535430"/>
                    <a:ext cx="2714574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 xml:space="preserve">a) Phép Giao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1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10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893445" y="1866900"/>
                    <a:ext cx="2236186" cy="468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250" dirty="0">
                                <a:solidFill>
                                  <a:srgbClr val="1E40A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250" dirty="0">
                                <a:solidFill>
                                  <a:srgbClr val="1E40A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1E40A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250" dirty="0">
                                <a:solidFill>
                                  <a:srgbClr val="1E40A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3" name="Rectangle 13"/>
              <p:cNvSpPr/>
              <p:nvPr/>
            </p:nvSpPr>
            <p:spPr>
              <a:xfrm>
                <a:off x="714375" y="2428875"/>
                <a:ext cx="4857750" cy="904875"/>
              </a:xfrm>
              <a:prstGeom prst="roundRect">
                <a:avLst>
                  <a:gd name="adj" fmla="val 12632"/>
                </a:avLst>
              </a:prstGeom>
              <a:solidFill>
                <a:srgbClr val="F0FDF4"/>
              </a:solidFill>
              <a:ln w="14288">
                <a:solidFill>
                  <a:srgbClr val="BBF7D0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894207" y="2583180"/>
                    <a:ext cx="2653136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b) Phép Hợp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93445" y="2914650"/>
                    <a:ext cx="2342760" cy="468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66534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25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25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vi-VN" sz="225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25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6" name="Rectangle 16"/>
              <p:cNvSpPr/>
              <p:nvPr/>
            </p:nvSpPr>
            <p:spPr>
              <a:xfrm>
                <a:off x="714375" y="3476625"/>
                <a:ext cx="4857750" cy="904875"/>
              </a:xfrm>
              <a:prstGeom prst="roundRect">
                <a:avLst>
                  <a:gd name="adj" fmla="val 12632"/>
                </a:avLst>
              </a:prstGeom>
              <a:solidFill>
                <a:srgbClr val="FFFBEB"/>
              </a:solidFill>
              <a:ln w="14288">
                <a:solidFill>
                  <a:srgbClr val="FDE68A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94207" y="3630930"/>
                    <a:ext cx="2609136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 xml:space="preserve">c) Phép Hiệu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1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10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893445" y="3962400"/>
                    <a:ext cx="2246844" cy="468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B45309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25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25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vi-VN" sz="225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25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9" name="Rectangle 19"/>
              <p:cNvSpPr/>
              <p:nvPr/>
            </p:nvSpPr>
            <p:spPr>
              <a:xfrm>
                <a:off x="714375" y="4524375"/>
                <a:ext cx="4857750" cy="904875"/>
              </a:xfrm>
              <a:prstGeom prst="roundRect">
                <a:avLst>
                  <a:gd name="adj" fmla="val 12632"/>
                </a:avLst>
              </a:prstGeom>
              <a:solidFill>
                <a:srgbClr val="FAF5FF"/>
              </a:solidFill>
              <a:ln w="14288">
                <a:solidFill>
                  <a:srgbClr val="E9D5FF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894207" y="4678680"/>
                    <a:ext cx="2519905" cy="4552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 xml:space="preserve">d) Phần bù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vi-VN" sz="21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vi-VN" sz="210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a14:m>
                    <a:r>
                      <a:rPr lang="vi-VN" sz="210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894207" y="5027295"/>
                    <a:ext cx="2376300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6B21A8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10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−∞;−</m:t>
                            </m:r>
                            <m:r>
                              <a:rPr lang="vi-VN" sz="210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∪[</m:t>
                        </m:r>
                        <m:r>
                          <a:rPr lang="vi-VN" sz="210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;+∞</m:t>
                        </m:r>
                        <m:r>
                          <a:rPr lang="vi-VN" sz="210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22" name="TextBox 22"/>
              <p:cNvSpPr txBox="1"/>
              <p:nvPr/>
            </p:nvSpPr>
            <p:spPr>
              <a:xfrm>
                <a:off x="894207" y="5583555"/>
                <a:ext cx="40332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DC2626"/>
                    </a:solidFill>
                    <a:latin typeface="+mn-lt"/>
                    <a:ea typeface="+mn-ea"/>
                    <a:cs typeface="+mn-cs"/>
                  </a:rPr>
                  <a:t>⚠️ LƯU Ý: 1 ∉ B nên 1 ∈ A \ B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6000750" y="1190625"/>
              <a:ext cx="57150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81656" y="1376362"/>
              <a:ext cx="635318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BIỂU DIỄN 4 PHÉP TOÁN TRÊN TRỤC SỐ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1939528"/>
              <a:ext cx="5334000" cy="4083844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5740729" y="6059805"/>
              <a:ext cx="623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Đổi ngoặc tròn thành vuông khi lấy hiệu và bù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137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THỰC TẾ &amp; CÔNG THỨC ĐẾM</a:t>
              </a:r>
            </a:p>
          </p:txBody>
        </p:sp>
      </p:grpSp>
      <p:grpSp>
        <p:nvGrpSpPr>
          <p:cNvPr id="25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52450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52502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TOÁN THỂ THAO (SGK TR.18)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16430"/>
              <a:ext cx="48206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Lớp 10A có 24 bạn thi đấu thể thao: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957" y="2345055"/>
              <a:ext cx="50084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Bóng đá: 16 bạn | Cầu lông: 11 bạn.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195" y="2757488"/>
              <a:ext cx="5297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Hỏi: Có bao nhiêu bạn thi cả 2 môn?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9625" y="3286125"/>
              <a:ext cx="4810125" cy="9525"/>
            </a:xfrm>
            <a:custGeom>
              <a:avLst/>
              <a:gdLst/>
              <a:ahLst/>
              <a:cxnLst/>
              <a:rect l="l" t="t" r="r" b="b"/>
              <a:pathLst>
                <a:path w="4810125" h="9525">
                  <a:moveTo>
                    <a:pt x="0" y="0"/>
                  </a:moveTo>
                  <a:lnTo>
                    <a:pt x="481012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471862"/>
              <a:ext cx="41299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CÔNG THỨC SỐ PHẦN TỬ: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3952875"/>
              <a:ext cx="4857750" cy="762000"/>
            </a:xfrm>
            <a:prstGeom prst="roundRect">
              <a:avLst>
                <a:gd name="adj" fmla="val 17500"/>
              </a:avLst>
            </a:prstGeom>
            <a:solidFill>
              <a:srgbClr val="FEF3C7"/>
            </a:solidFill>
            <a:ln w="19050">
              <a:solidFill>
                <a:srgbClr val="FDE68A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1053915" y="4189095"/>
                  <a:ext cx="4369171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∩</m:t>
                          </m:r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798957" y="4903470"/>
                  <a:ext cx="4606631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Suy ra: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∩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24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96671" y="5487352"/>
              <a:ext cx="5482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5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⇒ Kết quả: Có 3 bạn thi cả 2 môn!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91250" y="1190625"/>
              <a:ext cx="552450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92587" y="1423988"/>
              <a:ext cx="53218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BIỂU ĐỒ VEN PHÂN BỔ HỌC SINH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1750" y="1995971"/>
              <a:ext cx="5143500" cy="3104183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429375" y="5381625"/>
              <a:ext cx="5048250" cy="809625"/>
            </a:xfrm>
            <a:prstGeom prst="roundRect">
              <a:avLst>
                <a:gd name="adj" fmla="val 16471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75052" y="5659755"/>
              <a:ext cx="45568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kiểm tra: 13 + 3 + 8 = 24 bạn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5020" y="238125"/>
            <a:ext cx="11240730" cy="714375"/>
            <a:chOff x="475020" y="238125"/>
            <a:chExt cx="1124073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75020" y="459105"/>
              <a:ext cx="1564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TỔNG KẾT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3346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KẾT BÀI HỌC VÀ DẶN DÒ</a:t>
              </a:r>
            </a:p>
          </p:txBody>
        </p:sp>
      </p:grpSp>
      <p:grpSp>
        <p:nvGrpSpPr>
          <p:cNvPr id="33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6854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 GHI NHỚ TRỌNG TÂM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8957" y="2059305"/>
              <a:ext cx="5736718" cy="2839593"/>
              <a:chOff x="798957" y="2059305"/>
              <a:chExt cx="5736718" cy="283959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98957" y="2059305"/>
                <a:ext cx="152757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Tập con: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2418207" y="2059305"/>
                    <a:ext cx="1799266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 |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3" name="Line 13"/>
              <p:cNvSpPr/>
              <p:nvPr/>
            </p:nvSpPr>
            <p:spPr>
              <a:xfrm>
                <a:off x="809625" y="261937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8957" y="2868930"/>
                <a:ext cx="165203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Chuỗi số: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2418207" y="2868930"/>
                    <a:ext cx="1635367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6" name="Line 16"/>
              <p:cNvSpPr/>
              <p:nvPr/>
            </p:nvSpPr>
            <p:spPr>
              <a:xfrm>
                <a:off x="809625" y="34290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98957" y="3678555"/>
                <a:ext cx="18087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3. Phép toán: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2418207" y="3678555"/>
                    <a:ext cx="4087522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Giao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, Hợp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, Hiệu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, Phần bù</a:t>
                    </a:r>
                  </a:p>
                </p:txBody>
              </p:sp>
            </mc:Choice>
          </mc:AlternateContent>
          <p:sp>
            <p:nvSpPr>
              <p:cNvPr id="19" name="Line 19"/>
              <p:cNvSpPr/>
              <p:nvPr/>
            </p:nvSpPr>
            <p:spPr>
              <a:xfrm>
                <a:off x="809625" y="423862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8957" y="4488180"/>
                <a:ext cx="146433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4. Trục số: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18207" y="4488180"/>
                <a:ext cx="411746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Lấy [ ], bỏ ( ), gạch phần ngoài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5695" y="1423988"/>
              <a:ext cx="28857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NHIỆM VỤ VỀ NHÀ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81875" y="2000250"/>
              <a:ext cx="4095750" cy="1857375"/>
            </a:xfrm>
            <a:prstGeom prst="roundRect">
              <a:avLst>
                <a:gd name="adj" fmla="val 7179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09332" y="2249805"/>
              <a:ext cx="29558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Làm bài 1.8 đến 1.16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9332" y="2678430"/>
              <a:ext cx="31754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(SGK Toán 10, trang 19)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9332" y="3202305"/>
              <a:ext cx="3896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Chuẩn bị: Bài tập cuối Ch.1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81875" y="4143375"/>
              <a:ext cx="4095750" cy="2000250"/>
            </a:xfrm>
            <a:prstGeom prst="roundRect">
              <a:avLst>
                <a:gd name="adj" fmla="val 761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3796" y="4455795"/>
              <a:ext cx="2451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CHÚC CÁC 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6117" y="4884420"/>
              <a:ext cx="36272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HỌC TỐT MÔN TOÁN!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7298" y="5535930"/>
              <a:ext cx="32049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Thầy Nguyễn Văn Sang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2026-09-21T10:22:24Z</dcterms:created>
  <dcterms:modified xsi:type="dcterms:W3CDTF">2026-09-21T10:22:24Z</dcterms:modified>
  <cp:category/>
  <cp:contentStatus/>
</cp:coreProperties>
</file>