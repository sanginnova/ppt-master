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16x9"/>
  <p:notesSz cx="6858000" cy="9144000"/>
  <p:defaultText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  <Relationship Id="rId1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VN"/>
          </a:p>
        </p:txBody>
      </p:sp>
    </p:spTree>
  </p:cSld>
  <p:clrMap bg1="lt1" tx1="dk1" bg2="lt2" tx2="dk2" accent1="accent1" accent2="accent2" accent3="accent3" accent4="accent4" accent5="accent5" accent6="accent6" hlink="hlink" folHlink="folHlink"/>
  <p:hf/>
  <p:notesStyle>
    <a:lvl1pPr marL="0" algn="l">
      <a:defRPr sz="1200" lang="vi-V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Chào mừng các em học sinh đến với chương trình Toán 12. Bài mở đầu Chương I: Tính đơn điệu và cực trị của hàm số.</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Tiết học này giúp các em làm chủ mối liên hệ giữa dấu đạo hàm và tính đơn điệu, nắm vững khái niệm cực trị và lập thành thạo bảng biến thiên.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I.a: Nhắc lại tính đồng biến khi x tăng thì y tăng (đồ thị đi lên), nghịch biến khi x tăng thì y giảm (đồ thị đi xuống).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Định lý then chốt của Giải tích 12: Đạo hàm mang dấu dương thì hàm số đồng biến; đạo hàm mang dấu âm thì hàm số nghịch biến.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Quy trình 4 bước lập bảng biến thiên chuẩn SGK: Tìm TXĐ, tính đạo hàm tìm nghiệm, lập bảng biến thiên và kết luận các khoảng.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II.a: Điểm cực đại là đỉnh đồi cao nhất trong lân cận; điểm cực tiểu là đáy thung lũng thấp nhất trong lân cận.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Phân biệt 3 khái niệm: Điểm cực trị hàm số x0, Giá trị cực trị y0, và Điểm cực trị của đồ thị hàm số M(x0; y0).</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II.b: Dấu hiệu tìm cực trị qua sự đổi dấu đạo hàm: từ dương sang âm là cực đại, từ âm sang dương là cực tiểu.</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Luyện tập: Cho hàm bậc ba y = x^3 - 3x^2 + 2. Các em áp dụng quy trình 4 bước làm vào vở trong 5 phút.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Hướng dẫn giải chi tiết: Hàm số có 2 điểm cực trị x = 0 và x = 2. Giá trị cực đại y = 2, giá trị cực tiểu y = -2.</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Vận dụng thực tế: Ứng dụng đạo hàm tìm thời điểm vận tốc cực đại trong chuyển động tên lửa/vật rơi tại t = 3 giây.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Tổng kết 4 ghi nhớ then chốt của Bài 1 và dặn dò các em hoàn thành bài tập 1.1 đến 1.8 SGK trang 11-12.</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ai1_toan12_don_dieu_cuc_tri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vi-VN" smtClean="0"/>
              <a:t>1/27/13</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C1FF6DA9-008F-8B48-92A6-B652298478BF}" type="slidenum">
              <a:rPr lang="vi-VN" smtClean="0"/>
              <a:t>‹#›</a:t>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ai1_toan12_don_dieu_cuc_tri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vi-VN">
                <a:solidFill>
                  <a:schemeClr val="tx1">
                    <a:tint val="75000"/>
                  </a:schemeClr>
                </a:solidFill>
              </a:defRPr>
            </a:lvl1pPr>
          </a:lstStyle>
          <a:p>
            <a:fld id="{5BCAD085-E8A6-8845-BD4E-CB4CCA059FC4}" type="datetimeFigureOut">
              <a:rPr lang="vi-VN" smtClean="0"/>
              <a:t>1/27/13</a:t>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vi-VN">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vi-VN">
                <a:solidFill>
                  <a:schemeClr val="tx1">
                    <a:tint val="75000"/>
                  </a:schemeClr>
                </a:solidFill>
              </a:defRPr>
            </a:lvl1pPr>
          </a:lstStyle>
          <a:p>
            <a:fld id="{C1FF6DA9-008F-8B48-92A6-B652298478BF}" type="slidenum">
              <a:rPr lang="vi-VN" smtClean="0"/>
              <a:t>‹#›</a:t>
            </a:fld>
            <a:endParaRPr lang="vi-V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vi-V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vi-V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vi-V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vi-V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9pPr>
    </p:bodyStyle>
    <p:other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f7df4fdf5464d30.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25f2c587d67240.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f747fc9a0ae29a4.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f3e8a02b270f8fc.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06f7fef87cf945d.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ccef8c44aba81ca.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sp>
        <p:nvSpPr>
          <p:cNvPr id="3" name="Ellipse 3"/>
          <p:cNvSpPr/>
          <p:nvPr/>
        </p:nvSpPr>
        <p:spPr>
          <a:xfrm>
            <a:off x="9334500" y="-857250"/>
            <a:ext cx="3810000" cy="3810000"/>
          </a:xfrm>
          <a:prstGeom prst="ellipse">
            <a:avLst/>
          </a:prstGeom>
          <a:solidFill>
            <a:srgbClr val="EFF6FF">
              <a:alpha val="60000"/>
            </a:srgbClr>
          </a:solidFill>
          <a:ln>
            <a:noFill/>
          </a:ln>
        </p:spPr>
      </p:sp>
      <p:sp>
        <p:nvSpPr>
          <p:cNvPr id="4" name="Ellipse 4"/>
          <p:cNvSpPr/>
          <p:nvPr/>
        </p:nvSpPr>
        <p:spPr>
          <a:xfrm>
            <a:off x="9144000" y="4381500"/>
            <a:ext cx="3048000" cy="3048000"/>
          </a:xfrm>
          <a:prstGeom prst="ellipse">
            <a:avLst/>
          </a:prstGeom>
          <a:solidFill>
            <a:srgbClr val="F0FDFA">
              <a:alpha val="60000"/>
            </a:srgbClr>
          </a:solidFill>
          <a:ln>
            <a:noFill/>
          </a:ln>
        </p:spPr>
      </p:sp>
      <p:grpSp>
        <p:nvGrpSpPr>
          <p:cNvPr id="21" name="cover-card"/>
          <p:cNvGrpSpPr/>
          <p:nvPr/>
        </p:nvGrpSpPr>
        <p:grpSpPr>
          <a:xfrm>
            <a:off x="508422" y="428625"/>
            <a:ext cx="11112078" cy="6000750"/>
            <a:chOff x="508422" y="428625"/>
            <a:chExt cx="11112078" cy="6000750"/>
          </a:xfrm>
        </p:grpSpPr>
        <p:sp>
          <p:nvSpPr>
            <p:cNvPr id="5" name="Rectangle 5"/>
            <p:cNvSpPr/>
            <p:nvPr/>
          </p:nvSpPr>
          <p:spPr>
            <a:xfrm>
              <a:off x="571500" y="428625"/>
              <a:ext cx="11049000" cy="6000750"/>
            </a:xfrm>
            <a:prstGeom prst="roundRect">
              <a:avLst>
                <a:gd name="adj" fmla="val 3810"/>
              </a:avLst>
            </a:prstGeom>
            <a:solidFill>
              <a:srgbClr val="FFFFFF"/>
            </a:solidFill>
            <a:ln w="19050">
              <a:solidFill>
                <a:srgbClr val="CBD5E1"/>
              </a:solidFill>
            </a:ln>
          </p:spPr>
        </p:sp>
        <p:sp>
          <p:nvSpPr>
            <p:cNvPr id="6" name="Rectangle 6"/>
            <p:cNvSpPr/>
            <p:nvPr/>
          </p:nvSpPr>
          <p:spPr>
            <a:xfrm>
              <a:off x="571500" y="428625"/>
              <a:ext cx="11049000" cy="133350"/>
            </a:xfrm>
            <a:prstGeom prst="roundRect">
              <a:avLst>
                <a:gd name="adj" fmla="val 50000"/>
              </a:avLst>
            </a:prstGeom>
            <a:solidFill>
              <a:srgbClr val="1E3A8A"/>
            </a:solidFill>
            <a:ln>
              <a:noFill/>
            </a:ln>
          </p:spPr>
        </p:sp>
        <p:sp>
          <p:nvSpPr>
            <p:cNvPr id="7" name="TextBox 7"/>
            <p:cNvSpPr txBox="1"/>
            <p:nvPr/>
          </p:nvSpPr>
          <p:spPr>
            <a:xfrm>
              <a:off x="1037082" y="821055"/>
              <a:ext cx="6863659"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TRƯỜNG CĐ NGHỀ SỐ 1 - BQP • KHOA CƠ BẢN</a:t>
              </a:r>
            </a:p>
          </p:txBody>
        </p:sp>
        <p:sp>
          <p:nvSpPr>
            <p:cNvPr id="8" name="Line 8"/>
            <p:cNvSpPr/>
            <p:nvPr/>
          </p:nvSpPr>
          <p:spPr>
            <a:xfrm>
              <a:off x="1047750" y="1238250"/>
              <a:ext cx="6572250" cy="9525"/>
            </a:xfrm>
            <a:custGeom>
              <a:avLst/>
              <a:gdLst/>
              <a:ahLst/>
              <a:cxnLst/>
              <a:rect l="l" t="t" r="r" b="b"/>
              <a:pathLst>
                <a:path w="6572250" h="9525">
                  <a:moveTo>
                    <a:pt x="0" y="0"/>
                  </a:moveTo>
                  <a:lnTo>
                    <a:pt x="6572250" y="0"/>
                  </a:lnTo>
                </a:path>
              </a:pathLst>
            </a:custGeom>
            <a:noFill/>
            <a:ln w="19050">
              <a:solidFill>
                <a:srgbClr val="E2E8F0"/>
              </a:solidFill>
            </a:ln>
          </p:spPr>
        </p:sp>
        <p:sp>
          <p:nvSpPr>
            <p:cNvPr id="9" name="Rectangle 9"/>
            <p:cNvSpPr/>
            <p:nvPr/>
          </p:nvSpPr>
          <p:spPr>
            <a:xfrm>
              <a:off x="1047750" y="1476375"/>
              <a:ext cx="2095500" cy="438150"/>
            </a:xfrm>
            <a:prstGeom prst="roundRect">
              <a:avLst>
                <a:gd name="adj" fmla="val 21739"/>
              </a:avLst>
            </a:prstGeom>
            <a:solidFill>
              <a:srgbClr val="DBEAFE"/>
            </a:solidFill>
            <a:ln>
              <a:noFill/>
            </a:ln>
          </p:spPr>
        </p:sp>
        <p:sp>
          <p:nvSpPr>
            <p:cNvPr id="10" name="TextBox 10"/>
            <p:cNvSpPr txBox="1"/>
            <p:nvPr/>
          </p:nvSpPr>
          <p:spPr>
            <a:xfrm>
              <a:off x="508422" y="1564005"/>
              <a:ext cx="3174157" cy="410718"/>
            </a:xfrm>
            <a:prstGeom prst="rect">
              <a:avLst/>
            </a:prstGeom>
            <a:noFill/>
            <a:ln>
              <a:noFill/>
            </a:ln>
          </p:spPr>
          <p:txBody>
            <a:bodyPr wrap="none" lIns="0" tIns="0" rIns="0" bIns="0" anchor="t" anchorCtr="0">
              <a:spAutoFit/>
            </a:bodyPr>
            <a:lstStyle/>
            <a:p>
              <a:pPr algn="ctr"/>
              <a:r>
                <a:rPr lang="vi-VN" sz="2100" b="1" dirty="0">
                  <a:solidFill>
                    <a:srgbClr val="1E40AF"/>
                  </a:solidFill>
                  <a:latin typeface="+mn-lt"/>
                  <a:ea typeface="+mn-ea"/>
                  <a:cs typeface="+mn-cs"/>
                </a:rPr>
                <a:t>CHƯƠNG I - GIẢI TÍCH</a:t>
              </a:r>
            </a:p>
          </p:txBody>
        </p:sp>
        <p:sp>
          <p:nvSpPr>
            <p:cNvPr id="11" name="TextBox 11"/>
            <p:cNvSpPr txBox="1"/>
            <p:nvPr/>
          </p:nvSpPr>
          <p:spPr>
            <a:xfrm>
              <a:off x="1030986" y="2120265"/>
              <a:ext cx="7830974" cy="645414"/>
            </a:xfrm>
            <a:prstGeom prst="rect">
              <a:avLst/>
            </a:prstGeom>
            <a:noFill/>
            <a:ln>
              <a:noFill/>
            </a:ln>
          </p:spPr>
          <p:txBody>
            <a:bodyPr wrap="none" lIns="0" tIns="0" rIns="0" bIns="0" anchor="t" anchorCtr="0">
              <a:spAutoFit/>
            </a:bodyPr>
            <a:lstStyle/>
            <a:p>
              <a:pPr algn="l"/>
              <a:r>
                <a:rPr lang="vi-VN" sz="3300" b="1" dirty="0">
                  <a:solidFill>
                    <a:srgbClr val="0F172A"/>
                  </a:solidFill>
                  <a:latin typeface="+mn-lt"/>
                  <a:ea typeface="+mn-ea"/>
                  <a:cs typeface="+mn-cs"/>
                </a:rPr>
                <a:t>BÀI 1. TÍNH ĐƠN ĐIỆU VÀ CỰC TRỊ</a:t>
              </a:r>
            </a:p>
          </p:txBody>
        </p:sp>
        <p:sp>
          <p:nvSpPr>
            <p:cNvPr id="12" name="TextBox 12"/>
            <p:cNvSpPr txBox="1"/>
            <p:nvPr/>
          </p:nvSpPr>
          <p:spPr>
            <a:xfrm>
              <a:off x="1030986" y="2691765"/>
              <a:ext cx="3058478" cy="645414"/>
            </a:xfrm>
            <a:prstGeom prst="rect">
              <a:avLst/>
            </a:prstGeom>
            <a:noFill/>
            <a:ln>
              <a:noFill/>
            </a:ln>
          </p:spPr>
          <p:txBody>
            <a:bodyPr wrap="none" lIns="0" tIns="0" rIns="0" bIns="0" anchor="t" anchorCtr="0">
              <a:spAutoFit/>
            </a:bodyPr>
            <a:lstStyle/>
            <a:p>
              <a:pPr algn="l"/>
              <a:r>
                <a:rPr lang="vi-VN" sz="3300" b="1" dirty="0">
                  <a:solidFill>
                    <a:srgbClr val="2563EB"/>
                  </a:solidFill>
                  <a:latin typeface="+mn-lt"/>
                  <a:ea typeface="+mn-ea"/>
                  <a:cs typeface="+mn-cs"/>
                </a:rPr>
                <a:t>CỦA HÀM SỐ</a:t>
              </a:r>
            </a:p>
          </p:txBody>
        </p:sp>
        <p:sp>
          <p:nvSpPr>
            <p:cNvPr id="13" name="TextBox 13"/>
            <p:cNvSpPr txBox="1"/>
            <p:nvPr/>
          </p:nvSpPr>
          <p:spPr>
            <a:xfrm>
              <a:off x="1037082" y="3392805"/>
              <a:ext cx="6290325" cy="410718"/>
            </a:xfrm>
            <a:prstGeom prst="rect">
              <a:avLst/>
            </a:prstGeom>
            <a:noFill/>
            <a:ln>
              <a:noFill/>
            </a:ln>
          </p:spPr>
          <p:txBody>
            <a:bodyPr wrap="none" lIns="0" tIns="0" rIns="0" bIns="0" anchor="t" anchorCtr="0">
              <a:spAutoFit/>
            </a:bodyPr>
            <a:lstStyle/>
            <a:p>
              <a:pPr algn="l"/>
              <a:r>
                <a:rPr lang="vi-VN" sz="2100" b="1" dirty="0">
                  <a:solidFill>
                    <a:srgbClr val="475569"/>
                  </a:solidFill>
                  <a:latin typeface="+mn-lt"/>
                  <a:ea typeface="+mn-ea"/>
                  <a:cs typeface="+mn-cs"/>
                </a:rPr>
                <a:t>Toán 12 — Sách Kết nối tri thức với cuộc sống</a:t>
              </a:r>
            </a:p>
          </p:txBody>
        </p:sp>
        <p:sp>
          <p:nvSpPr>
            <p:cNvPr id="14" name="Rectangle 14"/>
            <p:cNvSpPr/>
            <p:nvPr/>
          </p:nvSpPr>
          <p:spPr>
            <a:xfrm>
              <a:off x="1047750" y="4048125"/>
              <a:ext cx="4381500" cy="571500"/>
            </a:xfrm>
            <a:prstGeom prst="roundRect">
              <a:avLst>
                <a:gd name="adj" fmla="val 20000"/>
              </a:avLst>
            </a:prstGeom>
            <a:solidFill>
              <a:srgbClr val="F8FAFC"/>
            </a:solidFill>
            <a:ln w="14288">
              <a:solidFill>
                <a:srgbClr val="CBD5E1"/>
              </a:solidFill>
            </a:ln>
          </p:spPr>
        </p:sp>
        <p:sp>
          <p:nvSpPr>
            <p:cNvPr id="15" name="TextBox 15"/>
            <p:cNvSpPr txBox="1"/>
            <p:nvPr/>
          </p:nvSpPr>
          <p:spPr>
            <a:xfrm>
              <a:off x="1356128" y="4202430"/>
              <a:ext cx="3764743" cy="410718"/>
            </a:xfrm>
            <a:prstGeom prst="rect">
              <a:avLst/>
            </a:prstGeom>
            <a:noFill/>
            <a:ln>
              <a:noFill/>
            </a:ln>
          </p:spPr>
          <p:txBody>
            <a:bodyPr wrap="none" lIns="0" tIns="0" rIns="0" bIns="0" anchor="t" anchorCtr="0">
              <a:spAutoFit/>
            </a:bodyPr>
            <a:lstStyle/>
            <a:p>
              <a:pPr algn="ctr"/>
              <a:r>
                <a:rPr lang="vi-VN" sz="2100" b="1" dirty="0">
                  <a:solidFill>
                    <a:srgbClr val="0F172A"/>
                  </a:solidFill>
                  <a:latin typeface="+mn-lt"/>
                  <a:ea typeface="+mn-ea"/>
                  <a:cs typeface="+mn-cs"/>
                </a:rPr>
                <a:t>I. Tính đơn điệu của hàm số</a:t>
              </a:r>
            </a:p>
          </p:txBody>
        </p:sp>
        <p:sp>
          <p:nvSpPr>
            <p:cNvPr id="16" name="Rectangle 16"/>
            <p:cNvSpPr/>
            <p:nvPr/>
          </p:nvSpPr>
          <p:spPr>
            <a:xfrm>
              <a:off x="5715000" y="4048125"/>
              <a:ext cx="4953000" cy="571500"/>
            </a:xfrm>
            <a:prstGeom prst="roundRect">
              <a:avLst>
                <a:gd name="adj" fmla="val 20000"/>
              </a:avLst>
            </a:prstGeom>
            <a:solidFill>
              <a:srgbClr val="F8FAFC"/>
            </a:solidFill>
            <a:ln w="14288">
              <a:solidFill>
                <a:srgbClr val="CBD5E1"/>
              </a:solidFill>
            </a:ln>
          </p:spPr>
        </p:sp>
        <p:sp>
          <p:nvSpPr>
            <p:cNvPr id="17" name="TextBox 17"/>
            <p:cNvSpPr txBox="1"/>
            <p:nvPr/>
          </p:nvSpPr>
          <p:spPr>
            <a:xfrm>
              <a:off x="6744035" y="4202430"/>
              <a:ext cx="2894930" cy="410718"/>
            </a:xfrm>
            <a:prstGeom prst="rect">
              <a:avLst/>
            </a:prstGeom>
            <a:noFill/>
            <a:ln>
              <a:noFill/>
            </a:ln>
          </p:spPr>
          <p:txBody>
            <a:bodyPr wrap="none" lIns="0" tIns="0" rIns="0" bIns="0" anchor="t" anchorCtr="0">
              <a:spAutoFit/>
            </a:bodyPr>
            <a:lstStyle/>
            <a:p>
              <a:pPr algn="ctr"/>
              <a:r>
                <a:rPr lang="vi-VN" sz="2100" b="1" dirty="0">
                  <a:solidFill>
                    <a:srgbClr val="0F172A"/>
                  </a:solidFill>
                  <a:latin typeface="+mn-lt"/>
                  <a:ea typeface="+mn-ea"/>
                  <a:cs typeface="+mn-cs"/>
                </a:rPr>
                <a:t>II. Cực trị của hàm số</a:t>
              </a:r>
            </a:p>
          </p:txBody>
        </p:sp>
        <p:sp>
          <p:nvSpPr>
            <p:cNvPr id="18" name="Rectangle 18"/>
            <p:cNvSpPr/>
            <p:nvPr/>
          </p:nvSpPr>
          <p:spPr>
            <a:xfrm>
              <a:off x="1047750" y="4953000"/>
              <a:ext cx="9620250" cy="1047750"/>
            </a:xfrm>
            <a:prstGeom prst="roundRect">
              <a:avLst>
                <a:gd name="adj" fmla="val 14545"/>
              </a:avLst>
            </a:prstGeom>
            <a:solidFill>
              <a:srgbClr val="EFF6FF"/>
            </a:solidFill>
            <a:ln w="14288">
              <a:solidFill>
                <a:srgbClr val="BFDBFE"/>
              </a:solidFill>
            </a:ln>
          </p:spPr>
        </p:sp>
        <p:sp>
          <p:nvSpPr>
            <p:cNvPr id="19" name="TextBox 19"/>
            <p:cNvSpPr txBox="1"/>
            <p:nvPr/>
          </p:nvSpPr>
          <p:spPr>
            <a:xfrm>
              <a:off x="1417320" y="5138738"/>
              <a:ext cx="5140284" cy="440055"/>
            </a:xfrm>
            <a:prstGeom prst="rect">
              <a:avLst/>
            </a:prstGeom>
            <a:noFill/>
            <a:ln>
              <a:noFill/>
            </a:ln>
          </p:spPr>
          <p:txBody>
            <a:bodyPr wrap="none" lIns="0" tIns="0" rIns="0" bIns="0" anchor="t" anchorCtr="0">
              <a:spAutoFit/>
            </a:bodyPr>
            <a:lstStyle/>
            <a:p>
              <a:pPr algn="l"/>
              <a:r>
                <a:rPr lang="vi-VN" sz="2250" b="1" dirty="0">
                  <a:solidFill>
                    <a:srgbClr val="1E3A8A"/>
                  </a:solidFill>
                  <a:latin typeface="+mn-lt"/>
                  <a:ea typeface="+mn-ea"/>
                  <a:cs typeface="+mn-cs"/>
                </a:rPr>
                <a:t>Giảng viên: ThS. Nguyễn Văn Sang</a:t>
              </a:r>
            </a:p>
          </p:txBody>
        </p:sp>
        <p:sp>
          <p:nvSpPr>
            <p:cNvPr id="20" name="TextBox 20"/>
            <p:cNvSpPr txBox="1"/>
            <p:nvPr/>
          </p:nvSpPr>
          <p:spPr>
            <a:xfrm>
              <a:off x="1418082" y="5535930"/>
              <a:ext cx="4698825" cy="410718"/>
            </a:xfrm>
            <a:prstGeom prst="rect">
              <a:avLst/>
            </a:prstGeom>
            <a:noFill/>
            <a:ln>
              <a:noFill/>
            </a:ln>
          </p:spPr>
          <p:txBody>
            <a:bodyPr wrap="none" lIns="0" tIns="0" rIns="0" bIns="0" anchor="t" anchorCtr="0">
              <a:spAutoFit/>
            </a:bodyPr>
            <a:lstStyle/>
            <a:p>
              <a:pPr algn="l"/>
              <a:r>
                <a:rPr lang="vi-VN" sz="2100" b="1" dirty="0">
                  <a:solidFill>
                    <a:srgbClr val="475569"/>
                  </a:solidFill>
                  <a:latin typeface="+mn-lt"/>
                  <a:ea typeface="+mn-ea"/>
                  <a:cs typeface="+mn-cs"/>
                </a:rPr>
                <a:t>Khoa Cơ bản — Tiết PPCT: 01 - 02</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620064" y="459105"/>
              <a:ext cx="1464972"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TIÊU</a:t>
              </a:r>
            </a:p>
          </p:txBody>
        </p:sp>
        <p:sp>
          <p:nvSpPr>
            <p:cNvPr id="7" name="TextBox 7"/>
            <p:cNvSpPr txBox="1"/>
            <p:nvPr/>
          </p:nvSpPr>
          <p:spPr>
            <a:xfrm>
              <a:off x="2179320" y="452438"/>
              <a:ext cx="4538752"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MỤC TIÊU BÀI HỌC CẦN ĐẠT</a:t>
              </a:r>
            </a:p>
          </p:txBody>
        </p:sp>
      </p:grpSp>
      <p:grpSp>
        <p:nvGrpSpPr>
          <p:cNvPr id="24" name="body-grid"/>
          <p:cNvGrpSpPr/>
          <p:nvPr/>
        </p:nvGrpSpPr>
        <p:grpSpPr>
          <a:xfrm>
            <a:off x="476250" y="1190625"/>
            <a:ext cx="11239500" cy="5191125"/>
            <a:chOff x="476250" y="1190625"/>
            <a:chExt cx="11239500" cy="5191125"/>
          </a:xfrm>
        </p:grpSpPr>
        <p:sp>
          <p:nvSpPr>
            <p:cNvPr id="9" name="Rectangle 9"/>
            <p:cNvSpPr/>
            <p:nvPr/>
          </p:nvSpPr>
          <p:spPr>
            <a:xfrm>
              <a:off x="476250" y="1190625"/>
              <a:ext cx="11239500" cy="1524000"/>
            </a:xfrm>
            <a:prstGeom prst="roundRect">
              <a:avLst>
                <a:gd name="adj" fmla="val 11250"/>
              </a:avLst>
            </a:prstGeom>
            <a:solidFill>
              <a:srgbClr val="FFFFFF"/>
            </a:solidFill>
            <a:ln w="19050">
              <a:solidFill>
                <a:srgbClr val="CBD5E1"/>
              </a:solidFill>
            </a:ln>
          </p:spPr>
        </p:sp>
        <p:sp>
          <p:nvSpPr>
            <p:cNvPr id="10" name="Rectangle 10"/>
            <p:cNvSpPr/>
            <p:nvPr/>
          </p:nvSpPr>
          <p:spPr>
            <a:xfrm>
              <a:off x="476250" y="1190625"/>
              <a:ext cx="114300" cy="1524000"/>
            </a:xfrm>
            <a:prstGeom prst="roundRect">
              <a:avLst>
                <a:gd name="adj" fmla="val 50000"/>
              </a:avLst>
            </a:prstGeom>
            <a:solidFill>
              <a:srgbClr val="2563EB"/>
            </a:solidFill>
            <a:ln>
              <a:noFill/>
            </a:ln>
          </p:spPr>
        </p:sp>
        <p:sp>
          <p:nvSpPr>
            <p:cNvPr id="11" name="TextBox 11"/>
            <p:cNvSpPr txBox="1"/>
            <p:nvPr/>
          </p:nvSpPr>
          <p:spPr>
            <a:xfrm>
              <a:off x="845820" y="1423988"/>
              <a:ext cx="4147728"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1. KIẾN THỨC TRỌNG TÂM</a:t>
              </a:r>
            </a:p>
          </p:txBody>
        </p:sp>
        <mc:AlternateContent xmlns:mc="http://schemas.openxmlformats.org/markup-compatibility/2006">
          <mc:Choice xmlns:a14="http://schemas.microsoft.com/office/drawing/2010/main" Requires="a14">
            <p:sp>
              <p:nvSpPr>
                <p:cNvPr id="12" name="TextBox 12"/>
                <p:cNvSpPr txBox="1"/>
                <p:nvPr/>
              </p:nvSpPr>
              <p:spPr>
                <a:xfrm>
                  <a:off x="846582" y="1855470"/>
                  <a:ext cx="9250961"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Mối liên hệ giữa dấu của đạo hàm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oMath>
                  </a14:m>
                  <a:r>
                    <a:rPr lang="vi-VN" sz="2100" b="1" dirty="0">
                      <a:solidFill>
                        <a:srgbClr val="0F172A"/>
                      </a:solidFill>
                      <a:latin typeface="+mn-lt"/>
                      <a:ea typeface="+mn-ea"/>
                      <a:cs typeface="+mn-cs"/>
                    </a:rPr>
                    <a:t xml:space="preserve"> và tính đơn điệu của hàm số.</a:t>
                  </a:r>
                </a:p>
              </p:txBody>
            </p:sp>
          </mc:Choice>
        </mc:AlternateContent>
        <p:sp>
          <p:nvSpPr>
            <p:cNvPr id="13" name="TextBox 13"/>
            <p:cNvSpPr txBox="1"/>
            <p:nvPr/>
          </p:nvSpPr>
          <p:spPr>
            <a:xfrm>
              <a:off x="846582" y="2268855"/>
              <a:ext cx="7613458"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Khái niệm cực đại, cực tiểu và định lý đổi dấu đạo hàm.</a:t>
              </a:r>
            </a:p>
          </p:txBody>
        </p:sp>
        <p:sp>
          <p:nvSpPr>
            <p:cNvPr id="14" name="Rectangle 14"/>
            <p:cNvSpPr/>
            <p:nvPr/>
          </p:nvSpPr>
          <p:spPr>
            <a:xfrm>
              <a:off x="476250" y="2952750"/>
              <a:ext cx="11239500" cy="1524000"/>
            </a:xfrm>
            <a:prstGeom prst="roundRect">
              <a:avLst>
                <a:gd name="adj" fmla="val 11250"/>
              </a:avLst>
            </a:prstGeom>
            <a:solidFill>
              <a:srgbClr val="FFFFFF"/>
            </a:solidFill>
            <a:ln w="19050">
              <a:solidFill>
                <a:srgbClr val="CBD5E1"/>
              </a:solidFill>
            </a:ln>
          </p:spPr>
        </p:sp>
        <p:sp>
          <p:nvSpPr>
            <p:cNvPr id="15" name="Rectangle 15"/>
            <p:cNvSpPr/>
            <p:nvPr/>
          </p:nvSpPr>
          <p:spPr>
            <a:xfrm>
              <a:off x="476250" y="2952750"/>
              <a:ext cx="114300" cy="1524000"/>
            </a:xfrm>
            <a:prstGeom prst="roundRect">
              <a:avLst>
                <a:gd name="adj" fmla="val 50000"/>
              </a:avLst>
            </a:prstGeom>
            <a:solidFill>
              <a:srgbClr val="059669"/>
            </a:solidFill>
            <a:ln>
              <a:noFill/>
            </a:ln>
          </p:spPr>
        </p:sp>
        <p:sp>
          <p:nvSpPr>
            <p:cNvPr id="16" name="TextBox 16"/>
            <p:cNvSpPr txBox="1"/>
            <p:nvPr/>
          </p:nvSpPr>
          <p:spPr>
            <a:xfrm>
              <a:off x="845820" y="3186112"/>
              <a:ext cx="3383472"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2. KỸ NĂNG CẦN ĐẠT</a:t>
              </a:r>
            </a:p>
          </p:txBody>
        </p:sp>
        <p:sp>
          <p:nvSpPr>
            <p:cNvPr id="17" name="TextBox 17"/>
            <p:cNvSpPr txBox="1"/>
            <p:nvPr/>
          </p:nvSpPr>
          <p:spPr>
            <a:xfrm>
              <a:off x="846582" y="3630930"/>
              <a:ext cx="10815918"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Thành thạo lập bảng biến thiên để kết luận các khoảng đồng biến, nghịch biến.</a:t>
              </a:r>
            </a:p>
          </p:txBody>
        </p:sp>
        <p:sp>
          <p:nvSpPr>
            <p:cNvPr id="18" name="TextBox 18"/>
            <p:cNvSpPr txBox="1"/>
            <p:nvPr/>
          </p:nvSpPr>
          <p:spPr>
            <a:xfrm>
              <a:off x="846582" y="4030980"/>
              <a:ext cx="8855498"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Xác định chính xác các điểm cực trị và giá trị cực trị của hàm số.</a:t>
              </a:r>
            </a:p>
          </p:txBody>
        </p:sp>
        <p:sp>
          <p:nvSpPr>
            <p:cNvPr id="19" name="Rectangle 19"/>
            <p:cNvSpPr/>
            <p:nvPr/>
          </p:nvSpPr>
          <p:spPr>
            <a:xfrm>
              <a:off x="476250" y="4714875"/>
              <a:ext cx="11239500" cy="1666875"/>
            </a:xfrm>
            <a:prstGeom prst="roundRect">
              <a:avLst>
                <a:gd name="adj" fmla="val 10286"/>
              </a:avLst>
            </a:prstGeom>
            <a:solidFill>
              <a:srgbClr val="FFFFFF"/>
            </a:solidFill>
            <a:ln w="19050">
              <a:solidFill>
                <a:srgbClr val="CBD5E1"/>
              </a:solidFill>
            </a:ln>
          </p:spPr>
        </p:sp>
        <p:sp>
          <p:nvSpPr>
            <p:cNvPr id="20" name="Rectangle 20"/>
            <p:cNvSpPr/>
            <p:nvPr/>
          </p:nvSpPr>
          <p:spPr>
            <a:xfrm>
              <a:off x="476250" y="4714875"/>
              <a:ext cx="114300" cy="1666875"/>
            </a:xfrm>
            <a:prstGeom prst="roundRect">
              <a:avLst>
                <a:gd name="adj" fmla="val 50000"/>
              </a:avLst>
            </a:prstGeom>
            <a:solidFill>
              <a:srgbClr val="D97706"/>
            </a:solidFill>
            <a:ln>
              <a:noFill/>
            </a:ln>
          </p:spPr>
        </p:sp>
        <p:sp>
          <p:nvSpPr>
            <p:cNvPr id="21" name="TextBox 21"/>
            <p:cNvSpPr txBox="1"/>
            <p:nvPr/>
          </p:nvSpPr>
          <p:spPr>
            <a:xfrm>
              <a:off x="845820" y="4948238"/>
              <a:ext cx="4734873" cy="440055"/>
            </a:xfrm>
            <a:prstGeom prst="rect">
              <a:avLst/>
            </a:prstGeom>
            <a:noFill/>
            <a:ln>
              <a:noFill/>
            </a:ln>
          </p:spPr>
          <p:txBody>
            <a:bodyPr wrap="none" lIns="0" tIns="0" rIns="0" bIns="0" anchor="t" anchorCtr="0">
              <a:spAutoFit/>
            </a:bodyPr>
            <a:lstStyle/>
            <a:p>
              <a:pPr algn="l"/>
              <a:r>
                <a:rPr lang="vi-VN" sz="2250" b="1" dirty="0">
                  <a:solidFill>
                    <a:srgbClr val="B45309"/>
                  </a:solidFill>
                  <a:latin typeface="+mn-lt"/>
                  <a:ea typeface="+mn-ea"/>
                  <a:cs typeface="+mn-cs"/>
                </a:rPr>
                <a:t>3. VẬN DỤNG &amp; NĂNG LỰC SỐ</a:t>
              </a:r>
            </a:p>
          </p:txBody>
        </p:sp>
        <p:sp>
          <p:nvSpPr>
            <p:cNvPr id="22" name="TextBox 22"/>
            <p:cNvSpPr txBox="1"/>
            <p:nvPr/>
          </p:nvSpPr>
          <p:spPr>
            <a:xfrm>
              <a:off x="846582" y="5393055"/>
              <a:ext cx="10218158"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Ứng dụng đạo hàm giải quyết bài toán chuyển động, tối ưu trong thực tiễn.</a:t>
              </a:r>
            </a:p>
          </p:txBody>
        </p:sp>
        <p:sp>
          <p:nvSpPr>
            <p:cNvPr id="23" name="TextBox 23"/>
            <p:cNvSpPr txBox="1"/>
            <p:nvPr/>
          </p:nvSpPr>
          <p:spPr>
            <a:xfrm>
              <a:off x="846582" y="5793105"/>
              <a:ext cx="8649446"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Rèn luyện tư duy biện luận logic và kỹ năng đọc đồ thị hàm số.</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800076" y="459105"/>
              <a:ext cx="1104948"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I.a</a:t>
              </a:r>
            </a:p>
          </p:txBody>
        </p:sp>
        <p:sp>
          <p:nvSpPr>
            <p:cNvPr id="7" name="TextBox 7"/>
            <p:cNvSpPr txBox="1"/>
            <p:nvPr/>
          </p:nvSpPr>
          <p:spPr>
            <a:xfrm>
              <a:off x="2179320" y="452438"/>
              <a:ext cx="6650335"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I. TÍNH ĐƠN ĐIỆU: a. Khái niệm tính đơn điệu</a:t>
              </a:r>
            </a:p>
          </p:txBody>
        </p:sp>
      </p:grpSp>
      <p:grpSp>
        <p:nvGrpSpPr>
          <p:cNvPr id="25" name="content"/>
          <p:cNvGrpSpPr/>
          <p:nvPr/>
        </p:nvGrpSpPr>
        <p:grpSpPr>
          <a:xfrm>
            <a:off x="476250" y="1190625"/>
            <a:ext cx="11239500" cy="5191125"/>
            <a:chOff x="476250" y="1190625"/>
            <a:chExt cx="11239500" cy="5191125"/>
          </a:xfrm>
        </p:grpSpPr>
        <p:sp>
          <p:nvSpPr>
            <p:cNvPr id="9" name="Rectangle 9"/>
            <p:cNvSpPr/>
            <p:nvPr/>
          </p:nvSpPr>
          <p:spPr>
            <a:xfrm>
              <a:off x="476250" y="1190625"/>
              <a:ext cx="5334000" cy="5191125"/>
            </a:xfrm>
            <a:prstGeom prst="roundRect">
              <a:avLst>
                <a:gd name="adj" fmla="val 3303"/>
              </a:avLst>
            </a:prstGeom>
            <a:solidFill>
              <a:srgbClr val="FFFFFF"/>
            </a:solidFill>
            <a:ln w="19050">
              <a:solidFill>
                <a:srgbClr val="CBD5E1"/>
              </a:solidFill>
            </a:ln>
          </p:spPr>
        </p:sp>
        <p:grpSp>
          <p:nvGrpSpPr>
            <p:cNvPr id="20" name="Group 20"/>
            <p:cNvGrpSpPr/>
            <p:nvPr/>
          </p:nvGrpSpPr>
          <p:grpSpPr>
            <a:xfrm>
              <a:off x="762000" y="1476375"/>
              <a:ext cx="6158700" cy="4238625"/>
              <a:chOff x="762000" y="1476375"/>
              <a:chExt cx="6158700" cy="4238625"/>
            </a:xfrm>
          </p:grpSpPr>
          <p:sp>
            <p:nvSpPr>
              <p:cNvPr id="10" name="Rectangle 10"/>
              <p:cNvSpPr/>
              <p:nvPr/>
            </p:nvSpPr>
            <p:spPr>
              <a:xfrm>
                <a:off x="762000" y="1476375"/>
                <a:ext cx="4762500" cy="2000250"/>
              </a:xfrm>
              <a:prstGeom prst="roundRect">
                <a:avLst>
                  <a:gd name="adj" fmla="val 6667"/>
                </a:avLst>
              </a:prstGeom>
              <a:solidFill>
                <a:srgbClr val="EFF6FF"/>
              </a:solidFill>
              <a:ln w="14288">
                <a:solidFill>
                  <a:srgbClr val="BFDBFE"/>
                </a:solidFill>
              </a:ln>
            </p:spPr>
          </p:sp>
          <p:sp>
            <p:nvSpPr>
              <p:cNvPr id="11" name="TextBox 11"/>
              <p:cNvSpPr txBox="1"/>
              <p:nvPr/>
            </p:nvSpPr>
            <p:spPr>
              <a:xfrm>
                <a:off x="941070" y="1662112"/>
                <a:ext cx="4876715"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1. HÀM SỐ ĐỒNG BIẾN (TĂNG):</a:t>
                </a:r>
              </a:p>
            </p:txBody>
          </p:sp>
          <mc:AlternateContent xmlns:mc="http://schemas.openxmlformats.org/markup-compatibility/2006">
            <mc:Choice xmlns:a14="http://schemas.microsoft.com/office/drawing/2010/main" Requires="a14">
              <p:sp>
                <p:nvSpPr>
                  <p:cNvPr id="12" name="TextBox 12"/>
                  <p:cNvSpPr txBox="1"/>
                  <p:nvPr/>
                </p:nvSpPr>
                <p:spPr>
                  <a:xfrm>
                    <a:off x="941832" y="2093595"/>
                    <a:ext cx="4519448" cy="48192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ty m:val="p"/>
                          </m:rPr>
                          <a:rPr lang="vi-VN" sz="2100" dirty="0">
                            <a:solidFill>
                              <a:srgbClr val="0F172A"/>
                            </a:solidFill>
                            <a:latin typeface="Cambria Math"/>
                            <a:ea typeface="Cambria Math"/>
                            <a:cs typeface="Cambria Math"/>
                          </a:rPr>
                          <m: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1</m:t>
                            </m:r>
                          </m:sub>
                        </m:sSub>
                        <m:r>
                          <m:rPr>
                            <m:sty m:val="p"/>
                          </m:rPr>
                          <a:rPr lang="vi-VN" sz="2100" dirty="0">
                            <a:solidFill>
                              <a:srgbClr val="0F172A"/>
                            </a:solidFill>
                            <a:latin typeface="Cambria Math"/>
                            <a:ea typeface="Cambria Math"/>
                            <a:cs typeface="Cambria Math"/>
                          </a:rPr>
                          <m: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2</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K</m:t>
                        </m:r>
                        <m:r>
                          <m:rPr>
                            <m:sty m:val="p"/>
                          </m:rPr>
                          <a:rPr lang="vi-VN" sz="2100" dirty="0">
                            <a:solidFill>
                              <a:srgbClr val="0F172A"/>
                            </a:solidFill>
                            <a:latin typeface="Cambria Math"/>
                            <a:ea typeface="Cambria Math"/>
                            <a:cs typeface="Cambria Math"/>
                          </a:rPr>
                          <m: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1</m:t>
                            </m:r>
                          </m:sub>
                        </m:sSub>
                        <m:r>
                          <m:rPr>
                            <m:sty m:val="p"/>
                          </m:rPr>
                          <a:rPr lang="vi-VN" sz="2100" dirty="0">
                            <a:solidFill>
                              <a:srgbClr val="0F172A"/>
                            </a:solidFill>
                            <a:latin typeface="Cambria Math"/>
                            <a:ea typeface="Cambria Math"/>
                            <a:cs typeface="Cambria Math"/>
                          </a:rPr>
                          <m:t>&lt;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2</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1</m:t>
                                </m:r>
                              </m:sub>
                            </m:sSub>
                          </m:e>
                        </m:d>
                        <m:r>
                          <m:rPr>
                            <m:sty m:val="p"/>
                          </m:rPr>
                          <a:rPr lang="vi-VN" sz="2100" dirty="0">
                            <a:solidFill>
                              <a:srgbClr val="0F172A"/>
                            </a:solidFill>
                            <a:latin typeface="Cambria Math"/>
                            <a:ea typeface="Cambria Math"/>
                            <a:cs typeface="Cambria Math"/>
                          </a:rPr>
                          <m:t>&lt;</m:t>
                        </m:r>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2</m:t>
                                </m:r>
                              </m:sub>
                            </m:sSub>
                          </m:e>
                        </m:d>
                      </m:oMath>
                    </a14:m>
                  </a:p>
                </p:txBody>
              </p:sp>
            </mc:Choice>
          </mc:AlternateContent>
          <p:sp>
            <p:nvSpPr>
              <p:cNvPr id="13" name="TextBox 13"/>
              <p:cNvSpPr txBox="1"/>
              <p:nvPr/>
            </p:nvSpPr>
            <p:spPr>
              <a:xfrm>
                <a:off x="941832" y="2535555"/>
                <a:ext cx="3548783"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Đặc trưng hình học đồ thị:</a:t>
                </a:r>
              </a:p>
            </p:txBody>
          </p:sp>
          <p:sp>
            <p:nvSpPr>
              <p:cNvPr id="14" name="TextBox 14"/>
              <p:cNvSpPr txBox="1"/>
              <p:nvPr/>
            </p:nvSpPr>
            <p:spPr>
              <a:xfrm>
                <a:off x="941832" y="2916555"/>
                <a:ext cx="5480928"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ĐỒ THỊ ĐI LÊN TỪ TRÁI SANG PHẢI</a:t>
                </a:r>
              </a:p>
            </p:txBody>
          </p:sp>
          <p:sp>
            <p:nvSpPr>
              <p:cNvPr id="15" name="Rectangle 15"/>
              <p:cNvSpPr/>
              <p:nvPr/>
            </p:nvSpPr>
            <p:spPr>
              <a:xfrm>
                <a:off x="762000" y="3714750"/>
                <a:ext cx="4762500" cy="2000250"/>
              </a:xfrm>
              <a:prstGeom prst="roundRect">
                <a:avLst>
                  <a:gd name="adj" fmla="val 6667"/>
                </a:avLst>
              </a:prstGeom>
              <a:solidFill>
                <a:srgbClr val="FEF2F2"/>
              </a:solidFill>
              <a:ln w="14288">
                <a:solidFill>
                  <a:srgbClr val="FECACA"/>
                </a:solidFill>
              </a:ln>
            </p:spPr>
          </p:sp>
          <p:sp>
            <p:nvSpPr>
              <p:cNvPr id="16" name="TextBox 16"/>
              <p:cNvSpPr txBox="1"/>
              <p:nvPr/>
            </p:nvSpPr>
            <p:spPr>
              <a:xfrm>
                <a:off x="941070" y="3900488"/>
                <a:ext cx="5107848" cy="440055"/>
              </a:xfrm>
              <a:prstGeom prst="rect">
                <a:avLst/>
              </a:prstGeom>
              <a:noFill/>
              <a:ln>
                <a:noFill/>
              </a:ln>
            </p:spPr>
            <p:txBody>
              <a:bodyPr wrap="none" lIns="0" tIns="0" rIns="0" bIns="0" anchor="t" anchorCtr="0">
                <a:spAutoFit/>
              </a:bodyPr>
              <a:lstStyle/>
              <a:p>
                <a:pPr algn="l"/>
                <a:r>
                  <a:rPr lang="vi-VN" sz="2250" b="1" dirty="0">
                    <a:solidFill>
                      <a:srgbClr val="DC2626"/>
                    </a:solidFill>
                    <a:latin typeface="+mn-lt"/>
                    <a:ea typeface="+mn-ea"/>
                    <a:cs typeface="+mn-cs"/>
                  </a:rPr>
                  <a:t>2. HÀM SỐ NGHỊCH BIẾN (GIẢM):</a:t>
                </a:r>
              </a:p>
            </p:txBody>
          </p:sp>
          <mc:AlternateContent xmlns:mc="http://schemas.openxmlformats.org/markup-compatibility/2006">
            <mc:Choice xmlns:a14="http://schemas.microsoft.com/office/drawing/2010/main" Requires="a14">
              <p:sp>
                <p:nvSpPr>
                  <p:cNvPr id="17" name="TextBox 17"/>
                  <p:cNvSpPr txBox="1"/>
                  <p:nvPr/>
                </p:nvSpPr>
                <p:spPr>
                  <a:xfrm>
                    <a:off x="941832" y="4331970"/>
                    <a:ext cx="4519448" cy="48192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ty m:val="p"/>
                          </m:rPr>
                          <a:rPr lang="vi-VN" sz="2100" dirty="0">
                            <a:solidFill>
                              <a:srgbClr val="0F172A"/>
                            </a:solidFill>
                            <a:latin typeface="Cambria Math"/>
                            <a:ea typeface="Cambria Math"/>
                            <a:cs typeface="Cambria Math"/>
                          </a:rPr>
                          <m: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1</m:t>
                            </m:r>
                          </m:sub>
                        </m:sSub>
                        <m:r>
                          <m:rPr>
                            <m:sty m:val="p"/>
                          </m:rPr>
                          <a:rPr lang="vi-VN" sz="2100" dirty="0">
                            <a:solidFill>
                              <a:srgbClr val="0F172A"/>
                            </a:solidFill>
                            <a:latin typeface="Cambria Math"/>
                            <a:ea typeface="Cambria Math"/>
                            <a:cs typeface="Cambria Math"/>
                          </a:rPr>
                          <m: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2</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K</m:t>
                        </m:r>
                        <m:r>
                          <m:rPr>
                            <m:sty m:val="p"/>
                          </m:rPr>
                          <a:rPr lang="vi-VN" sz="2100" dirty="0">
                            <a:solidFill>
                              <a:srgbClr val="0F172A"/>
                            </a:solidFill>
                            <a:latin typeface="Cambria Math"/>
                            <a:ea typeface="Cambria Math"/>
                            <a:cs typeface="Cambria Math"/>
                          </a:rPr>
                          <m: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1</m:t>
                            </m:r>
                          </m:sub>
                        </m:sSub>
                        <m:r>
                          <m:rPr>
                            <m:sty m:val="p"/>
                          </m:rPr>
                          <a:rPr lang="vi-VN" sz="2100" dirty="0">
                            <a:solidFill>
                              <a:srgbClr val="0F172A"/>
                            </a:solidFill>
                            <a:latin typeface="Cambria Math"/>
                            <a:ea typeface="Cambria Math"/>
                            <a:cs typeface="Cambria Math"/>
                          </a:rPr>
                          <m:t>&lt;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2</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1</m:t>
                                </m:r>
                              </m:sub>
                            </m:sSub>
                          </m:e>
                        </m:d>
                        <m:r>
                          <m:rPr>
                            <m:sty m:val="p"/>
                          </m:rPr>
                          <a:rPr lang="vi-VN" sz="2100" dirty="0">
                            <a:solidFill>
                              <a:srgbClr val="0F172A"/>
                            </a:solidFill>
                            <a:latin typeface="Cambria Math"/>
                            <a:ea typeface="Cambria Math"/>
                            <a:cs typeface="Cambria Math"/>
                          </a:rPr>
                          <m:t>&gt;</m:t>
                        </m:r>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2</m:t>
                                </m:r>
                              </m:sub>
                            </m:sSub>
                          </m:e>
                        </m:d>
                      </m:oMath>
                    </a14:m>
                  </a:p>
                </p:txBody>
              </p:sp>
            </mc:Choice>
          </mc:AlternateContent>
          <p:sp>
            <p:nvSpPr>
              <p:cNvPr id="18" name="TextBox 18"/>
              <p:cNvSpPr txBox="1"/>
              <p:nvPr/>
            </p:nvSpPr>
            <p:spPr>
              <a:xfrm>
                <a:off x="941832" y="4773930"/>
                <a:ext cx="3548783" cy="410718"/>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Đặc trưng hình học đồ thị:</a:t>
                </a:r>
              </a:p>
            </p:txBody>
          </p:sp>
          <p:sp>
            <p:nvSpPr>
              <p:cNvPr id="19" name="TextBox 19"/>
              <p:cNvSpPr txBox="1"/>
              <p:nvPr/>
            </p:nvSpPr>
            <p:spPr>
              <a:xfrm>
                <a:off x="941832" y="5154930"/>
                <a:ext cx="5978868" cy="410718"/>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 ĐỒ THỊ ĐI XUỐNG TỪ TRÁI SANG PHẢI</a:t>
                </a:r>
              </a:p>
            </p:txBody>
          </p:sp>
        </p:grpSp>
        <p:sp>
          <p:nvSpPr>
            <p:cNvPr id="21" name="Rectangle 21"/>
            <p:cNvSpPr/>
            <p:nvPr/>
          </p:nvSpPr>
          <p:spPr>
            <a:xfrm>
              <a:off x="6000750" y="1190625"/>
              <a:ext cx="5715000" cy="5191125"/>
            </a:xfrm>
            <a:prstGeom prst="roundRect">
              <a:avLst>
                <a:gd name="adj" fmla="val 3303"/>
              </a:avLst>
            </a:prstGeom>
            <a:solidFill>
              <a:srgbClr val="FFFFFF"/>
            </a:solidFill>
            <a:ln w="19050">
              <a:solidFill>
                <a:srgbClr val="CBD5E1"/>
              </a:solidFill>
            </a:ln>
          </p:spPr>
        </p:sp>
        <p:sp>
          <p:nvSpPr>
            <p:cNvPr id="22" name="TextBox 22"/>
            <p:cNvSpPr txBox="1"/>
            <p:nvPr/>
          </p:nvSpPr>
          <p:spPr>
            <a:xfrm>
              <a:off x="6153043" y="1376362"/>
              <a:ext cx="5410413"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HÌNH DÁNG ĐỒ THỊ (HÌNH 1.2 SGK)</a:t>
              </a:r>
            </a:p>
          </p:txBody>
        </p:sp>
        <p:pic>
          <p:nvPicPr>
            <p:cNvPr id="23" name="Image 23"/>
            <p:cNvPicPr>
              <a:picLocks noChangeAspect="1"/>
            </p:cNvPicPr>
            <p:nvPr/>
          </p:nvPicPr>
          <p:blipFill>
            <a:blip r:embed="rId2"/>
            <a:stretch>
              <a:fillRect/>
            </a:stretch>
          </p:blipFill>
          <p:spPr>
            <a:xfrm>
              <a:off x="6191250" y="2514005"/>
              <a:ext cx="5334000" cy="2591991"/>
            </a:xfrm>
            <a:prstGeom prst="rect">
              <a:avLst/>
            </a:prstGeom>
          </p:spPr>
        </p:pic>
        <p:sp>
          <p:nvSpPr>
            <p:cNvPr id="24" name="TextBox 24"/>
            <p:cNvSpPr txBox="1"/>
            <p:nvPr/>
          </p:nvSpPr>
          <p:spPr>
            <a:xfrm>
              <a:off x="6125060" y="5916930"/>
              <a:ext cx="5466380"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K là một khoảng, đoạn hoặc nửa khoảng</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744474" y="459105"/>
              <a:ext cx="1216152"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ĐỊNH LÝ</a:t>
              </a:r>
            </a:p>
          </p:txBody>
        </p:sp>
        <p:sp>
          <p:nvSpPr>
            <p:cNvPr id="7" name="TextBox 7"/>
            <p:cNvSpPr txBox="1"/>
            <p:nvPr/>
          </p:nvSpPr>
          <p:spPr>
            <a:xfrm>
              <a:off x="2179320" y="452438"/>
              <a:ext cx="7611437"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I. TÍNH ĐƠN ĐIỆU: Định lý đạo hàm &amp; Tính đơn điệu</a:t>
              </a:r>
            </a:p>
          </p:txBody>
        </p:sp>
      </p:grpSp>
      <p:grpSp>
        <p:nvGrpSpPr>
          <p:cNvPr id="27" name="content"/>
          <p:cNvGrpSpPr/>
          <p:nvPr/>
        </p:nvGrpSpPr>
        <p:grpSpPr>
          <a:xfrm>
            <a:off x="476250" y="1190625"/>
            <a:ext cx="11239500" cy="5191125"/>
            <a:chOff x="476250" y="1190625"/>
            <a:chExt cx="11239500"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76375"/>
              <a:ext cx="10572750" cy="904875"/>
            </a:xfrm>
            <a:prstGeom prst="roundRect">
              <a:avLst>
                <a:gd name="adj" fmla="val 14737"/>
              </a:avLst>
            </a:prstGeom>
            <a:solidFill>
              <a:srgbClr val="EFF6FF"/>
            </a:solidFill>
            <a:ln w="19050">
              <a:solidFill>
                <a:srgbClr val="2563EB"/>
              </a:solidFill>
            </a:ln>
          </p:spPr>
        </p:sp>
        <p:sp>
          <p:nvSpPr>
            <p:cNvPr id="11" name="TextBox 11"/>
            <p:cNvSpPr txBox="1"/>
            <p:nvPr/>
          </p:nvSpPr>
          <p:spPr>
            <a:xfrm>
              <a:off x="1036320" y="1662112"/>
              <a:ext cx="6921450" cy="440055"/>
            </a:xfrm>
            <a:prstGeom prst="rect">
              <a:avLst/>
            </a:prstGeom>
            <a:noFill/>
            <a:ln>
              <a:noFill/>
            </a:ln>
          </p:spPr>
          <p:txBody>
            <a:bodyPr wrap="none" lIns="0" tIns="0" rIns="0" bIns="0" anchor="t" anchorCtr="0">
              <a:spAutoFit/>
            </a:bodyPr>
            <a:lstStyle/>
            <a:p>
              <a:pPr algn="l"/>
              <a:r>
                <a:rPr lang="vi-VN" sz="2250" b="1" dirty="0">
                  <a:solidFill>
                    <a:srgbClr val="1E40AF"/>
                  </a:solidFill>
                  <a:latin typeface="+mn-lt"/>
                  <a:ea typeface="+mn-ea"/>
                  <a:cs typeface="+mn-cs"/>
                </a:rPr>
                <a:t>ĐỊNH LÝ CỐT LÕI (SGK TOÁN 12 - TRANG 6):</a:t>
              </a:r>
            </a:p>
          </p:txBody>
        </p:sp>
        <mc:AlternateContent xmlns:mc="http://schemas.openxmlformats.org/markup-compatibility/2006">
          <mc:Choice xmlns:a14="http://schemas.microsoft.com/office/drawing/2010/main" Requires="a14">
            <p:sp>
              <p:nvSpPr>
                <p:cNvPr id="12" name="TextBox 12"/>
                <p:cNvSpPr txBox="1"/>
                <p:nvPr/>
              </p:nvSpPr>
              <p:spPr>
                <a:xfrm>
                  <a:off x="1037082" y="1998345"/>
                  <a:ext cx="6382848"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Cho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oMath>
                  </a14:m>
                  <a:r>
                    <a:rPr lang="vi-VN" sz="2100" b="1" dirty="0">
                      <a:solidFill>
                        <a:srgbClr val="0F172A"/>
                      </a:solidFill>
                      <a:latin typeface="+mn-lt"/>
                      <a:ea typeface="+mn-ea"/>
                      <a:cs typeface="+mn-cs"/>
                    </a:rPr>
                    <a:t xml:space="preserve"> có đạo hàm trên khoảng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a:t>
                  </a:r>
                </a:p>
              </p:txBody>
            </p:sp>
          </mc:Choice>
        </mc:AlternateContent>
        <p:grpSp>
          <p:nvGrpSpPr>
            <p:cNvPr id="21" name="Group 21"/>
            <p:cNvGrpSpPr/>
            <p:nvPr/>
          </p:nvGrpSpPr>
          <p:grpSpPr>
            <a:xfrm>
              <a:off x="809625" y="2619375"/>
              <a:ext cx="10776191" cy="1449705"/>
              <a:chOff x="809625" y="2619375"/>
              <a:chExt cx="10776191" cy="1449705"/>
            </a:xfrm>
          </p:grpSpPr>
          <p:sp>
            <p:nvSpPr>
              <p:cNvPr id="13" name="Rectangle 13"/>
              <p:cNvSpPr/>
              <p:nvPr/>
            </p:nvSpPr>
            <p:spPr>
              <a:xfrm>
                <a:off x="809625" y="2619375"/>
                <a:ext cx="5143500" cy="1428750"/>
              </a:xfrm>
              <a:prstGeom prst="roundRect">
                <a:avLst>
                  <a:gd name="adj" fmla="val 9333"/>
                </a:avLst>
              </a:prstGeom>
              <a:solidFill>
                <a:srgbClr val="F0FDF4"/>
              </a:solidFill>
              <a:ln w="19050">
                <a:solidFill>
                  <a:srgbClr val="BBF7D0"/>
                </a:solidFill>
              </a:ln>
            </p:spPr>
          </p:sp>
          <p:sp>
            <p:nvSpPr>
              <p:cNvPr id="14" name="TextBox 14"/>
              <p:cNvSpPr txBox="1"/>
              <p:nvPr/>
            </p:nvSpPr>
            <p:spPr>
              <a:xfrm>
                <a:off x="1036320" y="2805112"/>
                <a:ext cx="5143372"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1. ĐẠO HÀM MANG DẤU DƯƠNG:</a:t>
                </a:r>
              </a:p>
            </p:txBody>
          </p:sp>
          <mc:AlternateContent xmlns:mc="http://schemas.openxmlformats.org/markup-compatibility/2006">
            <mc:Choice xmlns:a14="http://schemas.microsoft.com/office/drawing/2010/main" Requires="a14">
              <p:sp>
                <p:nvSpPr>
                  <p:cNvPr id="15" name="TextBox 15"/>
                  <p:cNvSpPr txBox="1"/>
                  <p:nvPr/>
                </p:nvSpPr>
                <p:spPr>
                  <a:xfrm>
                    <a:off x="1037082" y="3236595"/>
                    <a:ext cx="3180027"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Nếu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r>
                          <m:rPr>
                            <m:sty m:val="p"/>
                          </m:rPr>
                          <a:rPr lang="vi-VN" sz="2100" dirty="0">
                            <a:solidFill>
                              <a:srgbClr val="0F172A"/>
                            </a:solidFill>
                            <a:latin typeface="Cambria Math"/>
                            <a:ea typeface="Cambria Math"/>
                            <a:cs typeface="Cambria Math"/>
                          </a:rPr>
                          <m:t>&gt;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 xml:space="preserve"> thì:</a:t>
                    </a:r>
                  </a:p>
                </p:txBody>
              </p:sp>
            </mc:Choice>
          </mc:AlternateContent>
          <mc:AlternateContent xmlns:mc="http://schemas.openxmlformats.org/markup-compatibility/2006">
            <mc:Choice xmlns:a14="http://schemas.microsoft.com/office/drawing/2010/main" Requires="a14">
              <p:sp>
                <p:nvSpPr>
                  <p:cNvPr id="16" name="TextBox 16"/>
                  <p:cNvSpPr txBox="1"/>
                  <p:nvPr/>
                </p:nvSpPr>
                <p:spPr>
                  <a:xfrm>
                    <a:off x="1036320" y="3600450"/>
                    <a:ext cx="4815777" cy="468630"/>
                  </a:xfrm>
                  <a:prstGeom prst="rect">
                    <a:avLst/>
                  </a:prstGeom>
                  <a:noFill/>
                  <a:ln>
                    <a:noFill/>
                  </a:ln>
                </p:spPr>
                <p:txBody>
                  <a:bodyPr wrap="none" lIns="0" tIns="0" rIns="0" bIns="0" anchor="t" anchorCtr="0">
                    <a:spAutoFit/>
                  </a:bodyPr>
                  <a:lstStyle/>
                  <a:p>
                    <a:pPr algn="l"/>
                    <a:r>
                      <a:rPr lang="vi-VN" sz="2250" b="1" dirty="0">
                        <a:solidFill>
                          <a:srgbClr val="166534"/>
                        </a:solidFill>
                        <a:latin typeface="+mn-lt"/>
                        <a:ea typeface="+mn-ea"/>
                        <a:cs typeface="+mn-cs"/>
                      </a:rPr>
                      <a:t xml:space="preserve">⇒ Hàm số </a:t>
                    </a:r>
                    <a14:m>
                      <m:oMath xmlns:a="http://schemas.openxmlformats.org/drawingml/2006/main" xmlns:m="http://schemas.openxmlformats.org/officeDocument/2006/math">
                        <m:r>
                          <a:rPr lang="vi-VN" sz="2250" dirty="0">
                            <a:solidFill>
                              <a:srgbClr val="166534"/>
                            </a:solidFill>
                            <a:latin typeface="Cambria Math"/>
                            <a:ea typeface="Cambria Math"/>
                            <a:cs typeface="Cambria Math"/>
                          </a:rPr>
                          <m:t>f</m:t>
                        </m:r>
                        <m:d>
                          <m:dPr>
                            <m:begChr m:val="("/>
                            <m:sepChr m:val=""/>
                            <m:endChr m:val=")"/>
                            <m:grow m:val="on"/>
                            <m:ctrlPr>
                              <a:rPr lang="vi-VN" sz="2250" dirty="0">
                                <a:solidFill>
                                  <a:srgbClr val="166534"/>
                                </a:solidFill>
                                <a:latin typeface="Cambria Math"/>
                                <a:ea typeface="Cambria Math"/>
                                <a:cs typeface="Cambria Math"/>
                              </a:rPr>
                            </m:ctrlPr>
                          </m:dPr>
                          <m:e>
                            <m:r>
                              <a:rPr lang="vi-VN" sz="2250" dirty="0">
                                <a:solidFill>
                                  <a:srgbClr val="166534"/>
                                </a:solidFill>
                                <a:latin typeface="Cambria Math"/>
                                <a:ea typeface="Cambria Math"/>
                                <a:cs typeface="Cambria Math"/>
                              </a:rPr>
                              <m:t>x</m:t>
                            </m:r>
                          </m:e>
                        </m:d>
                      </m:oMath>
                    </a14:m>
                    <a:r>
                      <a:rPr lang="vi-VN" sz="2250" b="1" dirty="0">
                        <a:solidFill>
                          <a:srgbClr val="166534"/>
                        </a:solidFill>
                        <a:latin typeface="+mn-lt"/>
                        <a:ea typeface="+mn-ea"/>
                        <a:cs typeface="+mn-cs"/>
                      </a:rPr>
                      <a:t xml:space="preserve"> ĐỒNG BIẾN trên </a:t>
                    </a:r>
                    <a14:m>
                      <m:oMath xmlns:a="http://schemas.openxmlformats.org/drawingml/2006/main" xmlns:m="http://schemas.openxmlformats.org/officeDocument/2006/math">
                        <m:r>
                          <a:rPr lang="vi-VN" sz="2250" dirty="0">
                            <a:solidFill>
                              <a:srgbClr val="166534"/>
                            </a:solidFill>
                            <a:latin typeface="Cambria Math"/>
                            <a:ea typeface="Cambria Math"/>
                            <a:cs typeface="Cambria Math"/>
                          </a:rPr>
                          <m:t>K</m:t>
                        </m:r>
                      </m:oMath>
                    </a14:m>
                  </a:p>
                </p:txBody>
              </p:sp>
            </mc:Choice>
          </mc:AlternateContent>
          <p:sp>
            <p:nvSpPr>
              <p:cNvPr id="17" name="Rectangle 17"/>
              <p:cNvSpPr/>
              <p:nvPr/>
            </p:nvSpPr>
            <p:spPr>
              <a:xfrm>
                <a:off x="6238875" y="2619375"/>
                <a:ext cx="5143500" cy="1428750"/>
              </a:xfrm>
              <a:prstGeom prst="roundRect">
                <a:avLst>
                  <a:gd name="adj" fmla="val 9333"/>
                </a:avLst>
              </a:prstGeom>
              <a:solidFill>
                <a:srgbClr val="FEF2F2"/>
              </a:solidFill>
              <a:ln w="19050">
                <a:solidFill>
                  <a:srgbClr val="FECACA"/>
                </a:solidFill>
              </a:ln>
            </p:spPr>
          </p:sp>
          <p:sp>
            <p:nvSpPr>
              <p:cNvPr id="18" name="TextBox 18"/>
              <p:cNvSpPr txBox="1"/>
              <p:nvPr/>
            </p:nvSpPr>
            <p:spPr>
              <a:xfrm>
                <a:off x="6465570" y="2805112"/>
                <a:ext cx="4449845" cy="440055"/>
              </a:xfrm>
              <a:prstGeom prst="rect">
                <a:avLst/>
              </a:prstGeom>
              <a:noFill/>
              <a:ln>
                <a:noFill/>
              </a:ln>
            </p:spPr>
            <p:txBody>
              <a:bodyPr wrap="none" lIns="0" tIns="0" rIns="0" bIns="0" anchor="t" anchorCtr="0">
                <a:spAutoFit/>
              </a:bodyPr>
              <a:lstStyle/>
              <a:p>
                <a:pPr algn="l"/>
                <a:r>
                  <a:rPr lang="vi-VN" sz="2250" b="1" dirty="0">
                    <a:solidFill>
                      <a:srgbClr val="DC2626"/>
                    </a:solidFill>
                    <a:latin typeface="+mn-lt"/>
                    <a:ea typeface="+mn-ea"/>
                    <a:cs typeface="+mn-cs"/>
                  </a:rPr>
                  <a:t>2. ĐẠO HÀM MANG DẤU ÂM:</a:t>
                </a:r>
              </a:p>
            </p:txBody>
          </p:sp>
          <mc:AlternateContent xmlns:mc="http://schemas.openxmlformats.org/markup-compatibility/2006">
            <mc:Choice xmlns:a14="http://schemas.microsoft.com/office/drawing/2010/main" Requires="a14">
              <p:sp>
                <p:nvSpPr>
                  <p:cNvPr id="19" name="TextBox 19"/>
                  <p:cNvSpPr txBox="1"/>
                  <p:nvPr/>
                </p:nvSpPr>
                <p:spPr>
                  <a:xfrm>
                    <a:off x="6466332" y="3236595"/>
                    <a:ext cx="3180027"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Nếu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r>
                          <m:rPr>
                            <m:sty m:val="p"/>
                          </m:rPr>
                          <a:rPr lang="vi-VN" sz="2100" dirty="0">
                            <a:solidFill>
                              <a:srgbClr val="0F172A"/>
                            </a:solidFill>
                            <a:latin typeface="Cambria Math"/>
                            <a:ea typeface="Cambria Math"/>
                            <a:cs typeface="Cambria Math"/>
                          </a:rPr>
                          <m:t>&lt;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 xml:space="preserve"> thì:</a:t>
                    </a:r>
                  </a:p>
                </p:txBody>
              </p:sp>
            </mc:Choice>
          </mc:AlternateContent>
          <mc:AlternateContent xmlns:mc="http://schemas.openxmlformats.org/markup-compatibility/2006">
            <mc:Choice xmlns:a14="http://schemas.microsoft.com/office/drawing/2010/main" Requires="a14">
              <p:sp>
                <p:nvSpPr>
                  <p:cNvPr id="20" name="TextBox 20"/>
                  <p:cNvSpPr txBox="1"/>
                  <p:nvPr/>
                </p:nvSpPr>
                <p:spPr>
                  <a:xfrm>
                    <a:off x="6465570" y="3600450"/>
                    <a:ext cx="5120246" cy="468630"/>
                  </a:xfrm>
                  <a:prstGeom prst="rect">
                    <a:avLst/>
                  </a:prstGeom>
                  <a:noFill/>
                  <a:ln>
                    <a:noFill/>
                  </a:ln>
                </p:spPr>
                <p:txBody>
                  <a:bodyPr wrap="none" lIns="0" tIns="0" rIns="0" bIns="0" anchor="t" anchorCtr="0">
                    <a:spAutoFit/>
                  </a:bodyPr>
                  <a:lstStyle/>
                  <a:p>
                    <a:pPr algn="l"/>
                    <a:r>
                      <a:rPr lang="vi-VN" sz="2250" b="1" dirty="0">
                        <a:solidFill>
                          <a:srgbClr val="B91C1C"/>
                        </a:solidFill>
                        <a:latin typeface="+mn-lt"/>
                        <a:ea typeface="+mn-ea"/>
                        <a:cs typeface="+mn-cs"/>
                      </a:rPr>
                      <a:t xml:space="preserve">⇒ Hàm số </a:t>
                    </a:r>
                    <a14:m>
                      <m:oMath xmlns:a="http://schemas.openxmlformats.org/drawingml/2006/main" xmlns:m="http://schemas.openxmlformats.org/officeDocument/2006/math">
                        <m:r>
                          <a:rPr lang="vi-VN" sz="2250" dirty="0">
                            <a:solidFill>
                              <a:srgbClr val="B91C1C"/>
                            </a:solidFill>
                            <a:latin typeface="Cambria Math"/>
                            <a:ea typeface="Cambria Math"/>
                            <a:cs typeface="Cambria Math"/>
                          </a:rPr>
                          <m:t>f</m:t>
                        </m:r>
                        <m:d>
                          <m:dPr>
                            <m:begChr m:val="("/>
                            <m:sepChr m:val=""/>
                            <m:endChr m:val=")"/>
                            <m:grow m:val="on"/>
                            <m:ctrlPr>
                              <a:rPr lang="vi-VN" sz="2250" dirty="0">
                                <a:solidFill>
                                  <a:srgbClr val="B91C1C"/>
                                </a:solidFill>
                                <a:latin typeface="Cambria Math"/>
                                <a:ea typeface="Cambria Math"/>
                                <a:cs typeface="Cambria Math"/>
                              </a:rPr>
                            </m:ctrlPr>
                          </m:dPr>
                          <m:e>
                            <m:r>
                              <a:rPr lang="vi-VN" sz="2250" dirty="0">
                                <a:solidFill>
                                  <a:srgbClr val="B91C1C"/>
                                </a:solidFill>
                                <a:latin typeface="Cambria Math"/>
                                <a:ea typeface="Cambria Math"/>
                                <a:cs typeface="Cambria Math"/>
                              </a:rPr>
                              <m:t>x</m:t>
                            </m:r>
                          </m:e>
                        </m:d>
                      </m:oMath>
                    </a14:m>
                    <a:r>
                      <a:rPr lang="vi-VN" sz="2250" b="1" dirty="0">
                        <a:solidFill>
                          <a:srgbClr val="B91C1C"/>
                        </a:solidFill>
                        <a:latin typeface="+mn-lt"/>
                        <a:ea typeface="+mn-ea"/>
                        <a:cs typeface="+mn-cs"/>
                      </a:rPr>
                      <a:t xml:space="preserve"> NGHỊCH BIẾN trên </a:t>
                    </a:r>
                    <a14:m>
                      <m:oMath xmlns:a="http://schemas.openxmlformats.org/drawingml/2006/main" xmlns:m="http://schemas.openxmlformats.org/officeDocument/2006/math">
                        <m:r>
                          <a:rPr lang="vi-VN" sz="2250" dirty="0">
                            <a:solidFill>
                              <a:srgbClr val="B91C1C"/>
                            </a:solidFill>
                            <a:latin typeface="Cambria Math"/>
                            <a:ea typeface="Cambria Math"/>
                            <a:cs typeface="Cambria Math"/>
                          </a:rPr>
                          <m:t>K</m:t>
                        </m:r>
                      </m:oMath>
                    </a14:m>
                  </a:p>
                </p:txBody>
              </p:sp>
            </mc:Choice>
          </mc:AlternateContent>
        </p:grpSp>
        <p:sp>
          <p:nvSpPr>
            <p:cNvPr id="22" name="Rectangle 22"/>
            <p:cNvSpPr/>
            <p:nvPr/>
          </p:nvSpPr>
          <p:spPr>
            <a:xfrm>
              <a:off x="809625" y="4333875"/>
              <a:ext cx="10572750" cy="1857375"/>
            </a:xfrm>
            <a:prstGeom prst="roundRect">
              <a:avLst>
                <a:gd name="adj" fmla="val 7179"/>
              </a:avLst>
            </a:prstGeom>
            <a:solidFill>
              <a:srgbClr val="FFFBEB"/>
            </a:solidFill>
            <a:ln w="19050">
              <a:solidFill>
                <a:srgbClr val="FDE68A"/>
              </a:solidFill>
            </a:ln>
          </p:spPr>
        </p:sp>
        <p:sp>
          <p:nvSpPr>
            <p:cNvPr id="23" name="TextBox 23"/>
            <p:cNvSpPr txBox="1"/>
            <p:nvPr/>
          </p:nvSpPr>
          <p:spPr>
            <a:xfrm>
              <a:off x="1083945" y="4519612"/>
              <a:ext cx="7079742" cy="440055"/>
            </a:xfrm>
            <a:prstGeom prst="rect">
              <a:avLst/>
            </a:prstGeom>
            <a:noFill/>
            <a:ln>
              <a:noFill/>
            </a:ln>
          </p:spPr>
          <p:txBody>
            <a:bodyPr wrap="none" lIns="0" tIns="0" rIns="0" bIns="0" anchor="t" anchorCtr="0">
              <a:spAutoFit/>
            </a:bodyPr>
            <a:lstStyle/>
            <a:p>
              <a:pPr algn="l"/>
              <a:r>
                <a:rPr lang="vi-VN" sz="2250" b="1" dirty="0">
                  <a:solidFill>
                    <a:srgbClr val="B45309"/>
                  </a:solidFill>
                  <a:latin typeface="+mn-lt"/>
                  <a:ea typeface="+mn-ea"/>
                  <a:cs typeface="+mn-cs"/>
                </a:rPr>
                <a:t>📌 CHÚ Ý MỞ RỘNG VÀ QUY TẮC DẤU BẰNG:</a:t>
              </a:r>
            </a:p>
          </p:txBody>
        </p:sp>
        <mc:AlternateContent xmlns:mc="http://schemas.openxmlformats.org/markup-compatibility/2006">
          <mc:Choice xmlns:a14="http://schemas.microsoft.com/office/drawing/2010/main" Requires="a14">
            <p:sp>
              <p:nvSpPr>
                <p:cNvPr id="24" name="TextBox 24"/>
                <p:cNvSpPr txBox="1"/>
                <p:nvPr/>
              </p:nvSpPr>
              <p:spPr>
                <a:xfrm>
                  <a:off x="1084707" y="4951095"/>
                  <a:ext cx="9426722"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Định lý vẫn đúng khi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oMath>
                  </a14:m>
                  <a:r>
                    <a:rPr lang="vi-VN" sz="2100" b="1" dirty="0">
                      <a:solidFill>
                        <a:srgbClr val="0F172A"/>
                      </a:solidFill>
                      <a:latin typeface="+mn-lt"/>
                      <a:ea typeface="+mn-ea"/>
                      <a:cs typeface="+mn-cs"/>
                    </a:rPr>
                    <a:t xml:space="preserve"> tại một số hữu hạn điểm trên khoảng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25" name="TextBox 25"/>
                <p:cNvSpPr txBox="1"/>
                <p:nvPr/>
              </p:nvSpPr>
              <p:spPr>
                <a:xfrm>
                  <a:off x="1084707" y="5360670"/>
                  <a:ext cx="9169879"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Nếu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 xml:space="preserve"> thì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oMath>
                  </a14:m>
                  <a:r>
                    <a:rPr lang="vi-VN" sz="2100" b="1" dirty="0">
                      <a:solidFill>
                        <a:srgbClr val="0F172A"/>
                      </a:solidFill>
                      <a:latin typeface="+mn-lt"/>
                      <a:ea typeface="+mn-ea"/>
                      <a:cs typeface="+mn-cs"/>
                    </a:rPr>
                    <a:t xml:space="preserve"> là hàm hằng (không đổi trên K).</a:t>
                  </a:r>
                </a:p>
              </p:txBody>
            </p:sp>
          </mc:Choice>
        </mc:AlternateContent>
        <p:sp>
          <p:nvSpPr>
            <p:cNvPr id="26" name="TextBox 26"/>
            <p:cNvSpPr txBox="1"/>
            <p:nvPr/>
          </p:nvSpPr>
          <p:spPr>
            <a:xfrm>
              <a:off x="1084707" y="5774055"/>
              <a:ext cx="9046652"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Dấu của đạo hàm quyết định hoàn toàn chiều biến thiên của đồ thị!</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792009" y="459105"/>
              <a:ext cx="1121082"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I.b</a:t>
              </a:r>
            </a:p>
          </p:txBody>
        </p:sp>
        <p:sp>
          <p:nvSpPr>
            <p:cNvPr id="7" name="TextBox 7"/>
            <p:cNvSpPr txBox="1"/>
            <p:nvPr/>
          </p:nvSpPr>
          <p:spPr>
            <a:xfrm>
              <a:off x="2179320" y="452438"/>
              <a:ext cx="8088499"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I. TÍNH ĐƠN ĐIỆU: b. Quy trình xét qua Bảng biến thiên</a:t>
              </a:r>
            </a:p>
          </p:txBody>
        </p:sp>
      </p:grpSp>
      <p:grpSp>
        <p:nvGrpSpPr>
          <p:cNvPr id="31" name="content"/>
          <p:cNvGrpSpPr/>
          <p:nvPr/>
        </p:nvGrpSpPr>
        <p:grpSpPr>
          <a:xfrm>
            <a:off x="476250" y="1190625"/>
            <a:ext cx="11325936" cy="5191125"/>
            <a:chOff x="476250" y="1190625"/>
            <a:chExt cx="11325936" cy="5191125"/>
          </a:xfrm>
        </p:grpSpPr>
        <p:sp>
          <p:nvSpPr>
            <p:cNvPr id="9" name="Rectangle 9"/>
            <p:cNvSpPr/>
            <p:nvPr/>
          </p:nvSpPr>
          <p:spPr>
            <a:xfrm>
              <a:off x="476250" y="1190625"/>
              <a:ext cx="53340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5624072"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4 BƯỚC XÉT ĐƠN ĐIỆU CHUẨN SGK</a:t>
              </a:r>
            </a:p>
          </p:txBody>
        </p:sp>
        <p:grpSp>
          <p:nvGrpSpPr>
            <p:cNvPr id="23" name="Group 23"/>
            <p:cNvGrpSpPr/>
            <p:nvPr/>
          </p:nvGrpSpPr>
          <p:grpSpPr>
            <a:xfrm>
              <a:off x="809625" y="1952625"/>
              <a:ext cx="6712936" cy="4260723"/>
              <a:chOff x="809625" y="1952625"/>
              <a:chExt cx="6712936" cy="4260723"/>
            </a:xfrm>
          </p:grpSpPr>
          <p:sp>
            <p:nvSpPr>
              <p:cNvPr id="11" name="Rectangle 11"/>
              <p:cNvSpPr/>
              <p:nvPr/>
            </p:nvSpPr>
            <p:spPr>
              <a:xfrm>
                <a:off x="809625" y="1952625"/>
                <a:ext cx="4667250" cy="904875"/>
              </a:xfrm>
              <a:prstGeom prst="roundRect">
                <a:avLst>
                  <a:gd name="adj" fmla="val 12632"/>
                </a:avLst>
              </a:prstGeom>
              <a:solidFill>
                <a:srgbClr val="F8FAFC"/>
              </a:solidFill>
              <a:ln w="14288">
                <a:solidFill>
                  <a:srgbClr val="E2E8F0"/>
                </a:solidFill>
              </a:ln>
            </p:spPr>
          </p:sp>
          <p:sp>
            <p:nvSpPr>
              <p:cNvPr id="12" name="TextBox 12"/>
              <p:cNvSpPr txBox="1"/>
              <p:nvPr/>
            </p:nvSpPr>
            <p:spPr>
              <a:xfrm>
                <a:off x="989457" y="2106930"/>
                <a:ext cx="4422348"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BƯỚC 1: Tìm tập xác định (TXĐ)</a:t>
                </a:r>
              </a:p>
            </p:txBody>
          </p:sp>
          <p:sp>
            <p:nvSpPr>
              <p:cNvPr id="13" name="TextBox 13"/>
              <p:cNvSpPr txBox="1"/>
              <p:nvPr/>
            </p:nvSpPr>
            <p:spPr>
              <a:xfrm>
                <a:off x="989457" y="2468880"/>
                <a:ext cx="426879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Tìm tập xác định D của hàm số.</a:t>
                </a:r>
              </a:p>
            </p:txBody>
          </p:sp>
          <p:sp>
            <p:nvSpPr>
              <p:cNvPr id="14" name="Rectangle 14"/>
              <p:cNvSpPr/>
              <p:nvPr/>
            </p:nvSpPr>
            <p:spPr>
              <a:xfrm>
                <a:off x="809625" y="3000375"/>
                <a:ext cx="4667250" cy="1000125"/>
              </a:xfrm>
              <a:prstGeom prst="roundRect">
                <a:avLst>
                  <a:gd name="adj" fmla="val 11429"/>
                </a:avLst>
              </a:prstGeom>
              <a:solidFill>
                <a:srgbClr val="F8FAFC"/>
              </a:solidFill>
              <a:ln w="14288">
                <a:solidFill>
                  <a:srgbClr val="E2E8F0"/>
                </a:solidFill>
              </a:ln>
            </p:spPr>
          </p:sp>
          <mc:AlternateContent xmlns:mc="http://schemas.openxmlformats.org/markup-compatibility/2006">
            <mc:Choice xmlns:a14="http://schemas.microsoft.com/office/drawing/2010/main" Requires="a14">
              <p:sp>
                <p:nvSpPr>
                  <p:cNvPr id="15" name="TextBox 15"/>
                  <p:cNvSpPr txBox="1"/>
                  <p:nvPr/>
                </p:nvSpPr>
                <p:spPr>
                  <a:xfrm>
                    <a:off x="989457" y="3141345"/>
                    <a:ext cx="4295548" cy="43738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BƯỚC 2: Tính đạo hàm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f'</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x</m:t>
                            </m:r>
                          </m:e>
                        </m:d>
                      </m:oMath>
                    </a14:m>
                  </a:p>
                </p:txBody>
              </p:sp>
            </mc:Choice>
          </mc:AlternateContent>
          <mc:AlternateContent xmlns:mc="http://schemas.openxmlformats.org/markup-compatibility/2006">
            <mc:Choice xmlns:a14="http://schemas.microsoft.com/office/drawing/2010/main" Requires="a14">
              <p:sp>
                <p:nvSpPr>
                  <p:cNvPr id="16" name="TextBox 16"/>
                  <p:cNvSpPr txBox="1"/>
                  <p:nvPr/>
                </p:nvSpPr>
                <p:spPr>
                  <a:xfrm>
                    <a:off x="989457" y="3541395"/>
                    <a:ext cx="6533104" cy="481927"/>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Tìm các điểm </a:t>
                    </a:r>
                    <a14:m>
                      <m:oMath xmlns:a="http://schemas.openxmlformats.org/drawingml/2006/main" xmlns:m="http://schemas.openxmlformats.org/officeDocument/2006/math">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i</m:t>
                            </m:r>
                          </m:sub>
                        </m:sSub>
                      </m:oMath>
                    </a14:m>
                    <a:r>
                      <a:rPr lang="vi-VN" sz="2100" b="1" dirty="0">
                        <a:solidFill>
                          <a:srgbClr val="0F172A"/>
                        </a:solidFill>
                        <a:latin typeface="+mn-lt"/>
                        <a:ea typeface="+mn-ea"/>
                        <a:cs typeface="+mn-cs"/>
                      </a:rPr>
                      <a:t xml:space="preserve"> mà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i</m:t>
                                </m:r>
                              </m:sub>
                            </m:sSub>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oMath>
                    </a14:m>
                    <a:r>
                      <a:rPr lang="vi-VN" sz="2100" b="1" dirty="0">
                        <a:solidFill>
                          <a:srgbClr val="0F172A"/>
                        </a:solidFill>
                        <a:latin typeface="+mn-lt"/>
                        <a:ea typeface="+mn-ea"/>
                        <a:cs typeface="+mn-cs"/>
                      </a:rPr>
                      <a:t xml:space="preserve"> hoặc ko xác định.</a:t>
                    </a:r>
                  </a:p>
                </p:txBody>
              </p:sp>
            </mc:Choice>
          </mc:AlternateContent>
          <p:sp>
            <p:nvSpPr>
              <p:cNvPr id="17" name="Rectangle 17"/>
              <p:cNvSpPr/>
              <p:nvPr/>
            </p:nvSpPr>
            <p:spPr>
              <a:xfrm>
                <a:off x="809625" y="4143375"/>
                <a:ext cx="4667250" cy="1000125"/>
              </a:xfrm>
              <a:prstGeom prst="roundRect">
                <a:avLst>
                  <a:gd name="adj" fmla="val 11429"/>
                </a:avLst>
              </a:prstGeom>
              <a:solidFill>
                <a:srgbClr val="F8FAFC"/>
              </a:solidFill>
              <a:ln w="14288">
                <a:solidFill>
                  <a:srgbClr val="E2E8F0"/>
                </a:solidFill>
              </a:ln>
            </p:spPr>
          </p:sp>
          <p:sp>
            <p:nvSpPr>
              <p:cNvPr id="18" name="TextBox 18"/>
              <p:cNvSpPr txBox="1"/>
              <p:nvPr/>
            </p:nvSpPr>
            <p:spPr>
              <a:xfrm>
                <a:off x="989457" y="4297680"/>
                <a:ext cx="491742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BƯỚC 3: Lập Bảng biến thiên (BBT)</a:t>
                </a:r>
              </a:p>
            </p:txBody>
          </p:sp>
          <mc:AlternateContent xmlns:mc="http://schemas.openxmlformats.org/markup-compatibility/2006">
            <mc:Choice xmlns:a14="http://schemas.microsoft.com/office/drawing/2010/main" Requires="a14">
              <p:sp>
                <p:nvSpPr>
                  <p:cNvPr id="19" name="TextBox 19"/>
                  <p:cNvSpPr txBox="1"/>
                  <p:nvPr/>
                </p:nvSpPr>
                <p:spPr>
                  <a:xfrm>
                    <a:off x="989457" y="4684395"/>
                    <a:ext cx="4655161" cy="468592"/>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Sắp xếp </a:t>
                    </a:r>
                    <a14:m>
                      <m:oMath xmlns:a="http://schemas.openxmlformats.org/drawingml/2006/main" xmlns:m="http://schemas.openxmlformats.org/officeDocument/2006/math">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i</m:t>
                            </m:r>
                          </m:sub>
                        </m:sSub>
                      </m:oMath>
                    </a14:m>
                    <a:r>
                      <a:rPr lang="vi-VN" sz="2100" b="1" dirty="0">
                        <a:solidFill>
                          <a:srgbClr val="0F172A"/>
                        </a:solidFill>
                        <a:latin typeface="+mn-lt"/>
                        <a:ea typeface="+mn-ea"/>
                        <a:cs typeface="+mn-cs"/>
                      </a:rPr>
                      <a:t xml:space="preserve"> tăng dần, xét dấu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oMath>
                    </a14:m>
                    <a:r>
                      <a:rPr lang="vi-VN" sz="2100" b="1" dirty="0">
                        <a:solidFill>
                          <a:srgbClr val="0F172A"/>
                        </a:solidFill>
                        <a:latin typeface="+mn-lt"/>
                        <a:ea typeface="+mn-ea"/>
                        <a:cs typeface="+mn-cs"/>
                      </a:rPr>
                      <a:t>.</a:t>
                    </a:r>
                  </a:p>
                </p:txBody>
              </p:sp>
            </mc:Choice>
          </mc:AlternateContent>
          <p:sp>
            <p:nvSpPr>
              <p:cNvPr id="20" name="Rectangle 20"/>
              <p:cNvSpPr/>
              <p:nvPr/>
            </p:nvSpPr>
            <p:spPr>
              <a:xfrm>
                <a:off x="809625" y="5286375"/>
                <a:ext cx="4667250" cy="904875"/>
              </a:xfrm>
              <a:prstGeom prst="roundRect">
                <a:avLst>
                  <a:gd name="adj" fmla="val 12632"/>
                </a:avLst>
              </a:prstGeom>
              <a:solidFill>
                <a:srgbClr val="F0FDF4"/>
              </a:solidFill>
              <a:ln w="14288">
                <a:solidFill>
                  <a:srgbClr val="BBF7D0"/>
                </a:solidFill>
              </a:ln>
            </p:spPr>
          </p:sp>
          <p:sp>
            <p:nvSpPr>
              <p:cNvPr id="21" name="TextBox 21"/>
              <p:cNvSpPr txBox="1"/>
              <p:nvPr/>
            </p:nvSpPr>
            <p:spPr>
              <a:xfrm>
                <a:off x="989457" y="5440680"/>
                <a:ext cx="4067798"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BƯỚC 4: Kết luận các khoảng</a:t>
                </a:r>
              </a:p>
            </p:txBody>
          </p:sp>
          <p:sp>
            <p:nvSpPr>
              <p:cNvPr id="22" name="TextBox 22"/>
              <p:cNvSpPr txBox="1"/>
              <p:nvPr/>
            </p:nvSpPr>
            <p:spPr>
              <a:xfrm>
                <a:off x="989457" y="5802630"/>
                <a:ext cx="5166868" cy="410718"/>
              </a:xfrm>
              <a:prstGeom prst="rect">
                <a:avLst/>
              </a:prstGeom>
              <a:noFill/>
              <a:ln>
                <a:noFill/>
              </a:ln>
            </p:spPr>
            <p:txBody>
              <a:bodyPr wrap="none" lIns="0" tIns="0" rIns="0" bIns="0" anchor="t" anchorCtr="0">
                <a:spAutoFit/>
              </a:bodyPr>
              <a:lstStyle/>
              <a:p>
                <a:pPr algn="l"/>
                <a:r>
                  <a:rPr lang="vi-VN" sz="2100" b="1" dirty="0">
                    <a:solidFill>
                      <a:srgbClr val="166534"/>
                    </a:solidFill>
                    <a:latin typeface="+mn-lt"/>
                    <a:ea typeface="+mn-ea"/>
                    <a:cs typeface="+mn-cs"/>
                  </a:rPr>
                  <a:t>Chỉ ra khoảng đồng biến, nghịch biến.</a:t>
                </a:r>
              </a:p>
            </p:txBody>
          </p:sp>
        </p:grpSp>
        <p:sp>
          <p:nvSpPr>
            <p:cNvPr id="24" name="Rectangle 24"/>
            <p:cNvSpPr/>
            <p:nvPr/>
          </p:nvSpPr>
          <p:spPr>
            <a:xfrm>
              <a:off x="6000750" y="1190625"/>
              <a:ext cx="5715000" cy="5191125"/>
            </a:xfrm>
            <a:prstGeom prst="roundRect">
              <a:avLst>
                <a:gd name="adj" fmla="val 3303"/>
              </a:avLst>
            </a:prstGeom>
            <a:solidFill>
              <a:srgbClr val="FFFFFF"/>
            </a:solidFill>
            <a:ln w="19050">
              <a:solidFill>
                <a:srgbClr val="CBD5E1"/>
              </a:solidFill>
            </a:ln>
          </p:spPr>
        </p:sp>
        <p:sp>
          <p:nvSpPr>
            <p:cNvPr id="25" name="TextBox 25"/>
            <p:cNvSpPr txBox="1"/>
            <p:nvPr/>
          </p:nvSpPr>
          <p:spPr>
            <a:xfrm>
              <a:off x="6393201" y="1376362"/>
              <a:ext cx="4930097" cy="440055"/>
            </a:xfrm>
            <a:prstGeom prst="rect">
              <a:avLst/>
            </a:prstGeom>
            <a:noFill/>
            <a:ln>
              <a:noFill/>
            </a:ln>
          </p:spPr>
          <p:txBody>
            <a:bodyPr wrap="none" lIns="0" tIns="0" rIns="0" bIns="0" anchor="t" anchorCtr="0">
              <a:spAutoFit/>
            </a:bodyPr>
            <a:lstStyle/>
            <a:p>
              <a:pPr algn="ctr"/>
              <a:r>
                <a:rPr lang="vi-VN" sz="2250" b="1" dirty="0">
                  <a:solidFill>
                    <a:srgbClr val="047857"/>
                  </a:solidFill>
                  <a:latin typeface="+mn-lt"/>
                  <a:ea typeface="+mn-ea"/>
                  <a:cs typeface="+mn-cs"/>
                </a:rPr>
                <a:t>MẪU BẢNG BIẾN THIÊN CHUẨN</a:t>
              </a:r>
            </a:p>
          </p:txBody>
        </p:sp>
        <p:pic>
          <p:nvPicPr>
            <p:cNvPr id="26" name="Image 26"/>
            <p:cNvPicPr>
              <a:picLocks noChangeAspect="1"/>
            </p:cNvPicPr>
            <p:nvPr/>
          </p:nvPicPr>
          <p:blipFill>
            <a:blip r:embed="rId2"/>
            <a:stretch>
              <a:fillRect/>
            </a:stretch>
          </p:blipFill>
          <p:spPr>
            <a:xfrm>
              <a:off x="6191250" y="2310259"/>
              <a:ext cx="5334000" cy="1856482"/>
            </a:xfrm>
            <a:prstGeom prst="rect">
              <a:avLst/>
            </a:prstGeom>
          </p:spPr>
        </p:pic>
        <p:sp>
          <p:nvSpPr>
            <p:cNvPr id="27" name="Rectangle 27"/>
            <p:cNvSpPr/>
            <p:nvPr/>
          </p:nvSpPr>
          <p:spPr>
            <a:xfrm>
              <a:off x="6191250" y="4762500"/>
              <a:ext cx="5334000" cy="1381125"/>
            </a:xfrm>
            <a:prstGeom prst="roundRect">
              <a:avLst>
                <a:gd name="adj" fmla="val 9655"/>
              </a:avLst>
            </a:prstGeom>
            <a:solidFill>
              <a:srgbClr val="EFF6FF"/>
            </a:solidFill>
            <a:ln w="14288">
              <a:solidFill>
                <a:srgbClr val="BFDBFE"/>
              </a:solidFill>
            </a:ln>
          </p:spPr>
        </p:sp>
        <p:sp>
          <p:nvSpPr>
            <p:cNvPr id="28" name="TextBox 28"/>
            <p:cNvSpPr txBox="1"/>
            <p:nvPr/>
          </p:nvSpPr>
          <p:spPr>
            <a:xfrm>
              <a:off x="6371082" y="4964430"/>
              <a:ext cx="5431104"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ĐỌC KẾT QUẢ TỪ BẢNG BIẾN THIÊN:</a:t>
              </a:r>
            </a:p>
          </p:txBody>
        </p:sp>
        <mc:AlternateContent xmlns:mc="http://schemas.openxmlformats.org/markup-compatibility/2006">
          <mc:Choice xmlns:a14="http://schemas.microsoft.com/office/drawing/2010/main" Requires="a14">
            <p:sp>
              <p:nvSpPr>
                <p:cNvPr id="29" name="TextBox 29"/>
                <p:cNvSpPr txBox="1"/>
                <p:nvPr/>
              </p:nvSpPr>
              <p:spPr>
                <a:xfrm>
                  <a:off x="6371082" y="5332095"/>
                  <a:ext cx="4630543"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Đồng biến trên: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e>
                      </m:d>
                    </m:oMath>
                  </a14:m>
                  <a:r>
                    <a:rPr lang="vi-VN" sz="2100" b="1" dirty="0">
                      <a:solidFill>
                        <a:srgbClr val="0F172A"/>
                      </a:solidFill>
                      <a:latin typeface="+mn-lt"/>
                      <a:ea typeface="+mn-ea"/>
                      <a:cs typeface="+mn-cs"/>
                    </a:rPr>
                    <a:t xml:space="preserve"> và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2</m:t>
                          </m:r>
                          <m:r>
                            <m:rPr>
                              <m:sty m:val="p"/>
                            </m:rPr>
                            <a:rPr lang="vi-VN" sz="2100" dirty="0">
                              <a:solidFill>
                                <a:srgbClr val="0F172A"/>
                              </a:solidFill>
                              <a:latin typeface="Cambria Math"/>
                              <a:ea typeface="Cambria Math"/>
                              <a:cs typeface="Cambria Math"/>
                            </a:rPr>
                            <m:t>;+∞</m:t>
                          </m:r>
                        </m:e>
                      </m:d>
                    </m:oMath>
                  </a14:m>
                </a:p>
              </p:txBody>
            </p:sp>
          </mc:Choice>
        </mc:AlternateContent>
        <mc:AlternateContent xmlns:mc="http://schemas.openxmlformats.org/markup-compatibility/2006">
          <mc:Choice xmlns:a14="http://schemas.microsoft.com/office/drawing/2010/main" Requires="a14">
            <p:sp>
              <p:nvSpPr>
                <p:cNvPr id="30" name="TextBox 30"/>
                <p:cNvSpPr txBox="1"/>
                <p:nvPr/>
              </p:nvSpPr>
              <p:spPr>
                <a:xfrm>
                  <a:off x="6371082" y="5713095"/>
                  <a:ext cx="4454856" cy="437388"/>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Nghịch biến trên khoảng: </a:t>
                  </a:r>
                  <a14:m>
                    <m:oMath xmlns:a="http://schemas.openxmlformats.org/drawingml/2006/main" xmlns:m="http://schemas.openxmlformats.org/officeDocument/2006/math">
                      <m:d>
                        <m:dPr>
                          <m:begChr m:val="("/>
                          <m:sepChr m:val=""/>
                          <m:endChr m:val=")"/>
                          <m:grow m:val="on"/>
                          <m:ctrlPr>
                            <a:rPr lang="vi-VN" sz="2100" dirty="0">
                              <a:solidFill>
                                <a:srgbClr val="DC2626"/>
                              </a:solidFill>
                              <a:latin typeface="Cambria Math"/>
                              <a:ea typeface="Cambria Math"/>
                              <a:cs typeface="Cambria Math"/>
                            </a:rPr>
                          </m:ctrlPr>
                        </m:dPr>
                        <m:e>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2</m:t>
                          </m:r>
                        </m:e>
                      </m:d>
                    </m:oMath>
                  </a14:m>
                </a:p>
              </p:txBody>
            </p:sp>
          </mc:Choice>
        </mc:AlternateContent>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757979" y="459105"/>
              <a:ext cx="1189143"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II.a</a:t>
              </a:r>
            </a:p>
          </p:txBody>
        </p:sp>
        <p:sp>
          <p:nvSpPr>
            <p:cNvPr id="7" name="TextBox 7"/>
            <p:cNvSpPr txBox="1"/>
            <p:nvPr/>
          </p:nvSpPr>
          <p:spPr>
            <a:xfrm>
              <a:off x="2179320" y="452438"/>
              <a:ext cx="6321631"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II. CỰC TRỊ: a. Khái niệm cực đại &amp; cực tiểu</a:t>
              </a:r>
            </a:p>
          </p:txBody>
        </p:sp>
      </p:grpSp>
      <p:grpSp>
        <p:nvGrpSpPr>
          <p:cNvPr id="26" name="content"/>
          <p:cNvGrpSpPr/>
          <p:nvPr/>
        </p:nvGrpSpPr>
        <p:grpSpPr>
          <a:xfrm>
            <a:off x="476250" y="1190625"/>
            <a:ext cx="11628142" cy="5191125"/>
            <a:chOff x="476250" y="1190625"/>
            <a:chExt cx="11628142" cy="5191125"/>
          </a:xfrm>
        </p:grpSpPr>
        <p:sp>
          <p:nvSpPr>
            <p:cNvPr id="9" name="Rectangle 9"/>
            <p:cNvSpPr/>
            <p:nvPr/>
          </p:nvSpPr>
          <p:spPr>
            <a:xfrm>
              <a:off x="476250" y="1190625"/>
              <a:ext cx="59055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5801246"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ĐỊNH NGHĨA CỰC TRỊ (SGK TRANG 9)</a:t>
              </a:r>
            </a:p>
          </p:txBody>
        </p:sp>
        <p:grpSp>
          <p:nvGrpSpPr>
            <p:cNvPr id="21" name="Group 21"/>
            <p:cNvGrpSpPr/>
            <p:nvPr/>
          </p:nvGrpSpPr>
          <p:grpSpPr>
            <a:xfrm>
              <a:off x="762000" y="1952625"/>
              <a:ext cx="6938078" cy="4095750"/>
              <a:chOff x="762000" y="1952625"/>
              <a:chExt cx="6938078" cy="4095750"/>
            </a:xfrm>
          </p:grpSpPr>
          <p:sp>
            <p:nvSpPr>
              <p:cNvPr id="11" name="Rectangle 11"/>
              <p:cNvSpPr/>
              <p:nvPr/>
            </p:nvSpPr>
            <p:spPr>
              <a:xfrm>
                <a:off x="762000" y="1952625"/>
                <a:ext cx="5334000" cy="1952625"/>
              </a:xfrm>
              <a:prstGeom prst="roundRect">
                <a:avLst>
                  <a:gd name="adj" fmla="val 6829"/>
                </a:avLst>
              </a:prstGeom>
              <a:solidFill>
                <a:srgbClr val="EFF6FF"/>
              </a:solidFill>
              <a:ln w="14288">
                <a:solidFill>
                  <a:srgbClr val="BFDBFE"/>
                </a:solidFill>
              </a:ln>
            </p:spPr>
          </p:sp>
          <mc:AlternateContent xmlns:mc="http://schemas.openxmlformats.org/markup-compatibility/2006">
            <mc:Choice xmlns:a14="http://schemas.microsoft.com/office/drawing/2010/main" Requires="a14">
              <p:sp>
                <p:nvSpPr>
                  <p:cNvPr id="12" name="TextBox 12"/>
                  <p:cNvSpPr txBox="1"/>
                  <p:nvPr/>
                </p:nvSpPr>
                <p:spPr>
                  <a:xfrm>
                    <a:off x="941070" y="2138362"/>
                    <a:ext cx="3341767" cy="48777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1. ĐIỂM CỰC ĐẠI (</a:t>
                    </a:r>
                    <a14:m>
                      <m:oMath xmlns:a="http://schemas.openxmlformats.org/drawingml/2006/main" xmlns:m="http://schemas.openxmlformats.org/officeDocument/2006/math">
                        <m:sSub>
                          <m:e>
                            <m:r>
                              <a:rPr lang="vi-VN" sz="2250" dirty="0">
                                <a:solidFill>
                                  <a:srgbClr val="1D4ED8"/>
                                </a:solidFill>
                                <a:latin typeface="Cambria Math"/>
                                <a:ea typeface="Cambria Math"/>
                                <a:cs typeface="Cambria Math"/>
                              </a:rPr>
                              <m:t>x</m:t>
                            </m:r>
                          </m:e>
                          <m:sub>
                            <m:r>
                              <a:rPr lang="vi-VN" sz="2250" dirty="0">
                                <a:solidFill>
                                  <a:srgbClr val="1D4ED8"/>
                                </a:solidFill>
                                <a:latin typeface="Cambria Math"/>
                                <a:ea typeface="Cambria Math"/>
                                <a:cs typeface="Cambria Math"/>
                              </a:rPr>
                              <m:t>0</m:t>
                            </m:r>
                          </m:sub>
                        </m:sSub>
                      </m:oMath>
                    </a14:m>
                    <a:r>
                      <a:rPr lang="vi-VN" sz="2250" b="1" dirty="0">
                        <a:solidFill>
                          <a:srgbClr val="1D4ED8"/>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941832" y="2569845"/>
                    <a:ext cx="4967392" cy="481927"/>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Tồn tại khoảng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h</m:t>
                            </m:r>
                            <m:r>
                              <m:rPr>
                                <m:sty m:val="p"/>
                              </m:rPr>
                              <a:rPr lang="vi-VN" sz="2100" dirty="0">
                                <a:solidFill>
                                  <a:srgbClr val="0F172A"/>
                                </a:solidFill>
                                <a:latin typeface="Cambria Math"/>
                                <a:ea typeface="Cambria Math"/>
                                <a:cs typeface="Cambria Math"/>
                              </a:rPr>
                              <m: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h</m:t>
                            </m:r>
                          </m:e>
                        </m:d>
                      </m:oMath>
                    </a14:m>
                    <a:r>
                      <a:rPr lang="vi-VN" sz="2100" b="1" dirty="0">
                        <a:solidFill>
                          <a:srgbClr val="0F172A"/>
                        </a:solidFill>
                        <a:latin typeface="+mn-lt"/>
                        <a:ea typeface="+mn-ea"/>
                        <a:cs typeface="+mn-cs"/>
                      </a:rPr>
                      <a:t xml:space="preserve"> sao cho:</a:t>
                    </a:r>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941832" y="2998470"/>
                    <a:ext cx="2496364" cy="48192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1E40AF"/>
                            </a:solidFill>
                            <a:latin typeface="Cambria Math"/>
                            <a:ea typeface="Cambria Math"/>
                            <a:cs typeface="Cambria Math"/>
                          </a:rPr>
                          <m:t>f</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x</m:t>
                            </m:r>
                          </m:e>
                        </m:d>
                        <m:r>
                          <m:rPr>
                            <m:sty m:val="p"/>
                          </m:rPr>
                          <a:rPr lang="vi-VN" sz="2100" dirty="0">
                            <a:solidFill>
                              <a:srgbClr val="1E40AF"/>
                            </a:solidFill>
                            <a:latin typeface="Cambria Math"/>
                            <a:ea typeface="Cambria Math"/>
                            <a:cs typeface="Cambria Math"/>
                          </a:rPr>
                          <m:t>&lt;</m:t>
                        </m:r>
                        <m:r>
                          <a:rPr lang="vi-VN" sz="2100" dirty="0">
                            <a:solidFill>
                              <a:srgbClr val="1E40AF"/>
                            </a:solidFill>
                            <a:latin typeface="Cambria Math"/>
                            <a:ea typeface="Cambria Math"/>
                            <a:cs typeface="Cambria Math"/>
                          </a:rPr>
                          <m:t>f</m:t>
                        </m:r>
                        <m:d>
                          <m:dPr>
                            <m:begChr m:val="("/>
                            <m:sepChr m:val=""/>
                            <m:endChr m:val=")"/>
                            <m:grow m:val="on"/>
                            <m:ctrlPr>
                              <a:rPr lang="vi-VN" sz="2100" dirty="0">
                                <a:solidFill>
                                  <a:srgbClr val="1E40AF"/>
                                </a:solidFill>
                                <a:latin typeface="Cambria Math"/>
                                <a:ea typeface="Cambria Math"/>
                                <a:cs typeface="Cambria Math"/>
                              </a:rPr>
                            </m:ctrlPr>
                          </m:dPr>
                          <m:e>
                            <m:sSub>
                              <m:e>
                                <m:r>
                                  <a:rPr lang="vi-VN" sz="2100" dirty="0">
                                    <a:solidFill>
                                      <a:srgbClr val="1E40AF"/>
                                    </a:solidFill>
                                    <a:latin typeface="Cambria Math"/>
                                    <a:ea typeface="Cambria Math"/>
                                    <a:cs typeface="Cambria Math"/>
                                  </a:rPr>
                                  <m:t>x</m:t>
                                </m:r>
                              </m:e>
                              <m:sub>
                                <m:r>
                                  <a:rPr lang="vi-VN" sz="2100" dirty="0">
                                    <a:solidFill>
                                      <a:srgbClr val="1E40AF"/>
                                    </a:solidFill>
                                    <a:latin typeface="Cambria Math"/>
                                    <a:ea typeface="Cambria Math"/>
                                    <a:cs typeface="Cambria Math"/>
                                  </a:rPr>
                                  <m:t>0</m:t>
                                </m:r>
                              </m:sub>
                            </m:sSub>
                          </m:e>
                        </m:d>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sSub>
                          <m:e>
                            <m:r>
                              <a:rPr lang="vi-VN" sz="2100" dirty="0">
                                <a:solidFill>
                                  <a:srgbClr val="1E40AF"/>
                                </a:solidFill>
                                <a:latin typeface="Cambria Math"/>
                                <a:ea typeface="Cambria Math"/>
                                <a:cs typeface="Cambria Math"/>
                              </a:rPr>
                              <m:t>x</m:t>
                            </m:r>
                          </m:e>
                          <m:sub>
                            <m:r>
                              <a:rPr lang="vi-VN" sz="2100" dirty="0">
                                <a:solidFill>
                                  <a:srgbClr val="1E40AF"/>
                                </a:solidFill>
                                <a:latin typeface="Cambria Math"/>
                                <a:ea typeface="Cambria Math"/>
                                <a:cs typeface="Cambria Math"/>
                              </a:rPr>
                              <m:t>0</m:t>
                            </m:r>
                          </m:sub>
                        </m:sSub>
                      </m:oMath>
                    </a14:m>
                  </a:p>
                </p:txBody>
              </p:sp>
            </mc:Choice>
          </mc:AlternateContent>
          <p:sp>
            <p:nvSpPr>
              <p:cNvPr id="15" name="TextBox 15"/>
              <p:cNvSpPr txBox="1"/>
              <p:nvPr/>
            </p:nvSpPr>
            <p:spPr>
              <a:xfrm>
                <a:off x="941832" y="3421380"/>
                <a:ext cx="6675266"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HÌNH ẢNH: ĐỈNH ĐỒI (CAO NHẤT LÂN CẬN)</a:t>
                </a:r>
              </a:p>
            </p:txBody>
          </p:sp>
          <p:sp>
            <p:nvSpPr>
              <p:cNvPr id="16" name="Rectangle 16"/>
              <p:cNvSpPr/>
              <p:nvPr/>
            </p:nvSpPr>
            <p:spPr>
              <a:xfrm>
                <a:off x="762000" y="4095750"/>
                <a:ext cx="5334000" cy="1952625"/>
              </a:xfrm>
              <a:prstGeom prst="roundRect">
                <a:avLst>
                  <a:gd name="adj" fmla="val 6829"/>
                </a:avLst>
              </a:prstGeom>
              <a:solidFill>
                <a:srgbClr val="FEF2F2"/>
              </a:solidFill>
              <a:ln w="14288">
                <a:solidFill>
                  <a:srgbClr val="FECACA"/>
                </a:solidFill>
              </a:ln>
            </p:spPr>
          </p:sp>
          <mc:AlternateContent xmlns:mc="http://schemas.openxmlformats.org/markup-compatibility/2006">
            <mc:Choice xmlns:a14="http://schemas.microsoft.com/office/drawing/2010/main" Requires="a14">
              <p:sp>
                <p:nvSpPr>
                  <p:cNvPr id="17" name="TextBox 17"/>
                  <p:cNvSpPr txBox="1"/>
                  <p:nvPr/>
                </p:nvSpPr>
                <p:spPr>
                  <a:xfrm>
                    <a:off x="941070" y="4281488"/>
                    <a:ext cx="3519581" cy="487775"/>
                  </a:xfrm>
                  <a:prstGeom prst="rect">
                    <a:avLst/>
                  </a:prstGeom>
                  <a:noFill/>
                  <a:ln>
                    <a:noFill/>
                  </a:ln>
                </p:spPr>
                <p:txBody>
                  <a:bodyPr wrap="none" lIns="0" tIns="0" rIns="0" bIns="0" anchor="t" anchorCtr="0">
                    <a:spAutoFit/>
                  </a:bodyPr>
                  <a:lstStyle/>
                  <a:p>
                    <a:pPr algn="l"/>
                    <a:r>
                      <a:rPr lang="vi-VN" sz="2250" b="1" dirty="0">
                        <a:solidFill>
                          <a:srgbClr val="DC2626"/>
                        </a:solidFill>
                        <a:latin typeface="+mn-lt"/>
                        <a:ea typeface="+mn-ea"/>
                        <a:cs typeface="+mn-cs"/>
                      </a:rPr>
                      <a:t>2. ĐIỂM CỰC TIỂU (</a:t>
                    </a:r>
                    <a14:m>
                      <m:oMath xmlns:a="http://schemas.openxmlformats.org/drawingml/2006/main" xmlns:m="http://schemas.openxmlformats.org/officeDocument/2006/math">
                        <m:sSub>
                          <m:e>
                            <m:r>
                              <a:rPr lang="vi-VN" sz="2250" dirty="0">
                                <a:solidFill>
                                  <a:srgbClr val="DC2626"/>
                                </a:solidFill>
                                <a:latin typeface="Cambria Math"/>
                                <a:ea typeface="Cambria Math"/>
                                <a:cs typeface="Cambria Math"/>
                              </a:rPr>
                              <m:t>x</m:t>
                            </m:r>
                          </m:e>
                          <m:sub>
                            <m:r>
                              <a:rPr lang="vi-VN" sz="2250" dirty="0">
                                <a:solidFill>
                                  <a:srgbClr val="DC2626"/>
                                </a:solidFill>
                                <a:latin typeface="Cambria Math"/>
                                <a:ea typeface="Cambria Math"/>
                                <a:cs typeface="Cambria Math"/>
                              </a:rPr>
                              <m:t>0</m:t>
                            </m:r>
                          </m:sub>
                        </m:sSub>
                      </m:oMath>
                    </a14:m>
                    <a:r>
                      <a:rPr lang="vi-VN" sz="2250" b="1" dirty="0">
                        <a:solidFill>
                          <a:srgbClr val="DC2626"/>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941832" y="4712970"/>
                    <a:ext cx="4967392" cy="481927"/>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Tồn tại khoảng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h</m:t>
                            </m:r>
                            <m:r>
                              <m:rPr>
                                <m:sty m:val="p"/>
                              </m:rPr>
                              <a:rPr lang="vi-VN" sz="2100" dirty="0">
                                <a:solidFill>
                                  <a:srgbClr val="0F172A"/>
                                </a:solidFill>
                                <a:latin typeface="Cambria Math"/>
                                <a:ea typeface="Cambria Math"/>
                                <a:cs typeface="Cambria Math"/>
                              </a:rPr>
                              <m: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h</m:t>
                            </m:r>
                          </m:e>
                        </m:d>
                      </m:oMath>
                    </a14:m>
                    <a:r>
                      <a:rPr lang="vi-VN" sz="2100" b="1" dirty="0">
                        <a:solidFill>
                          <a:srgbClr val="0F172A"/>
                        </a:solidFill>
                        <a:latin typeface="+mn-lt"/>
                        <a:ea typeface="+mn-ea"/>
                        <a:cs typeface="+mn-cs"/>
                      </a:rPr>
                      <a:t xml:space="preserve"> sao cho:</a:t>
                    </a:r>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941832" y="5141595"/>
                    <a:ext cx="2496364" cy="48192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B91C1C"/>
                            </a:solidFill>
                            <a:latin typeface="Cambria Math"/>
                            <a:ea typeface="Cambria Math"/>
                            <a:cs typeface="Cambria Math"/>
                          </a:rPr>
                          <m:t>f</m:t>
                        </m:r>
                        <m:d>
                          <m:dPr>
                            <m:begChr m:val="("/>
                            <m:sepChr m:val=""/>
                            <m:endChr m:val=")"/>
                            <m:grow m:val="on"/>
                            <m:ctrlPr>
                              <a:rPr lang="vi-VN" sz="2100" dirty="0">
                                <a:solidFill>
                                  <a:srgbClr val="B91C1C"/>
                                </a:solidFill>
                                <a:latin typeface="Cambria Math"/>
                                <a:ea typeface="Cambria Math"/>
                                <a:cs typeface="Cambria Math"/>
                              </a:rPr>
                            </m:ctrlPr>
                          </m:dPr>
                          <m:e>
                            <m:r>
                              <a:rPr lang="vi-VN" sz="2100" dirty="0">
                                <a:solidFill>
                                  <a:srgbClr val="B91C1C"/>
                                </a:solidFill>
                                <a:latin typeface="Cambria Math"/>
                                <a:ea typeface="Cambria Math"/>
                                <a:cs typeface="Cambria Math"/>
                              </a:rPr>
                              <m:t>x</m:t>
                            </m:r>
                          </m:e>
                        </m:d>
                        <m:r>
                          <m:rPr>
                            <m:sty m:val="p"/>
                          </m:rPr>
                          <a:rPr lang="vi-VN" sz="2100" dirty="0">
                            <a:solidFill>
                              <a:srgbClr val="B91C1C"/>
                            </a:solidFill>
                            <a:latin typeface="Cambria Math"/>
                            <a:ea typeface="Cambria Math"/>
                            <a:cs typeface="Cambria Math"/>
                          </a:rPr>
                          <m:t>&gt;</m:t>
                        </m:r>
                        <m:r>
                          <a:rPr lang="vi-VN" sz="2100" dirty="0">
                            <a:solidFill>
                              <a:srgbClr val="B91C1C"/>
                            </a:solidFill>
                            <a:latin typeface="Cambria Math"/>
                            <a:ea typeface="Cambria Math"/>
                            <a:cs typeface="Cambria Math"/>
                          </a:rPr>
                          <m:t>f</m:t>
                        </m:r>
                        <m:d>
                          <m:dPr>
                            <m:begChr m:val="("/>
                            <m:sepChr m:val=""/>
                            <m:endChr m:val=")"/>
                            <m:grow m:val="on"/>
                            <m:ctrlPr>
                              <a:rPr lang="vi-VN" sz="2100" dirty="0">
                                <a:solidFill>
                                  <a:srgbClr val="B91C1C"/>
                                </a:solidFill>
                                <a:latin typeface="Cambria Math"/>
                                <a:ea typeface="Cambria Math"/>
                                <a:cs typeface="Cambria Math"/>
                              </a:rPr>
                            </m:ctrlPr>
                          </m:dPr>
                          <m:e>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0</m:t>
                                </m:r>
                              </m:sub>
                            </m:sSub>
                          </m:e>
                        </m:d>
                        <m:r>
                          <m:rPr>
                            <m:sty m:val="p"/>
                          </m:rPr>
                          <a:rPr lang="vi-VN" sz="2100" dirty="0">
                            <a:solidFill>
                              <a:srgbClr val="B91C1C"/>
                            </a:solidFill>
                            <a:latin typeface="Cambria Math"/>
                            <a:ea typeface="Cambria Math"/>
                            <a:cs typeface="Cambria Math"/>
                          </a:rPr>
                          <m:t>,∀</m:t>
                        </m:r>
                        <m:r>
                          <a:rPr lang="vi-VN" sz="2100" dirty="0">
                            <a:solidFill>
                              <a:srgbClr val="B91C1C"/>
                            </a:solidFill>
                            <a:latin typeface="Cambria Math"/>
                            <a:ea typeface="Cambria Math"/>
                            <a:cs typeface="Cambria Math"/>
                          </a:rPr>
                          <m:t>x</m:t>
                        </m:r>
                        <m:r>
                          <m:rPr>
                            <m:sty m:val="p"/>
                          </m:rPr>
                          <a:rPr lang="vi-VN" sz="2100" dirty="0">
                            <a:solidFill>
                              <a:srgbClr val="B91C1C"/>
                            </a:solidFill>
                            <a:latin typeface="Cambria Math"/>
                            <a:ea typeface="Cambria Math"/>
                            <a:cs typeface="Cambria Math"/>
                          </a:rPr>
                          <m:t>≠</m:t>
                        </m:r>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0</m:t>
                            </m:r>
                          </m:sub>
                        </m:sSub>
                      </m:oMath>
                    </a14:m>
                  </a:p>
                </p:txBody>
              </p:sp>
            </mc:Choice>
          </mc:AlternateContent>
          <p:sp>
            <p:nvSpPr>
              <p:cNvPr id="20" name="TextBox 20"/>
              <p:cNvSpPr txBox="1"/>
              <p:nvPr/>
            </p:nvSpPr>
            <p:spPr>
              <a:xfrm>
                <a:off x="941832" y="5564505"/>
                <a:ext cx="6758246" cy="410718"/>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 HÌNH ẢNH: ĐÁY THUNG LŨNG (THẤP NHẤT)</a:t>
                </a:r>
              </a:p>
            </p:txBody>
          </p:sp>
        </p:grpSp>
        <p:sp>
          <p:nvSpPr>
            <p:cNvPr id="22" name="Rectangle 22"/>
            <p:cNvSpPr/>
            <p:nvPr/>
          </p:nvSpPr>
          <p:spPr>
            <a:xfrm>
              <a:off x="6572250" y="1190625"/>
              <a:ext cx="5143500" cy="5191125"/>
            </a:xfrm>
            <a:prstGeom prst="roundRect">
              <a:avLst>
                <a:gd name="adj" fmla="val 3333"/>
              </a:avLst>
            </a:prstGeom>
            <a:solidFill>
              <a:srgbClr val="FFFFFF"/>
            </a:solidFill>
            <a:ln w="19050">
              <a:solidFill>
                <a:srgbClr val="CBD5E1"/>
              </a:solidFill>
            </a:ln>
          </p:spPr>
        </p:sp>
        <p:sp>
          <p:nvSpPr>
            <p:cNvPr id="23" name="TextBox 23"/>
            <p:cNvSpPr txBox="1"/>
            <p:nvPr/>
          </p:nvSpPr>
          <p:spPr>
            <a:xfrm>
              <a:off x="6732430" y="1376362"/>
              <a:ext cx="4823140"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MINH HỌA TRỰC QUAN ĐỒ THỊ</a:t>
              </a:r>
            </a:p>
          </p:txBody>
        </p:sp>
        <p:pic>
          <p:nvPicPr>
            <p:cNvPr id="24" name="Image 24"/>
            <p:cNvPicPr>
              <a:picLocks noChangeAspect="1"/>
            </p:cNvPicPr>
            <p:nvPr/>
          </p:nvPicPr>
          <p:blipFill>
            <a:blip r:embed="rId2"/>
            <a:stretch>
              <a:fillRect/>
            </a:stretch>
          </p:blipFill>
          <p:spPr>
            <a:xfrm>
              <a:off x="7107134" y="1809750"/>
              <a:ext cx="4073733" cy="4048125"/>
            </a:xfrm>
            <a:prstGeom prst="rect">
              <a:avLst/>
            </a:prstGeom>
          </p:spPr>
        </p:pic>
        <p:sp>
          <p:nvSpPr>
            <p:cNvPr id="25" name="TextBox 25"/>
            <p:cNvSpPr txBox="1"/>
            <p:nvPr/>
          </p:nvSpPr>
          <p:spPr>
            <a:xfrm>
              <a:off x="6183607" y="5916930"/>
              <a:ext cx="5920785"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Cực trị chỉ có tính chất địa phương (lân cận)</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669798" y="459105"/>
              <a:ext cx="1365504"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QUY TẮC</a:t>
              </a:r>
            </a:p>
          </p:txBody>
        </p:sp>
        <p:sp>
          <p:nvSpPr>
            <p:cNvPr id="7" name="TextBox 7"/>
            <p:cNvSpPr txBox="1"/>
            <p:nvPr/>
          </p:nvSpPr>
          <p:spPr>
            <a:xfrm>
              <a:off x="2179320" y="452438"/>
              <a:ext cx="5944654"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II. CỰC TRỊ: Phân biệt 3 khái niệm cốt lõi</a:t>
              </a:r>
            </a:p>
          </p:txBody>
        </p:sp>
      </p:grpSp>
      <p:grpSp>
        <p:nvGrpSpPr>
          <p:cNvPr id="31" name="content"/>
          <p:cNvGrpSpPr/>
          <p:nvPr/>
        </p:nvGrpSpPr>
        <p:grpSpPr>
          <a:xfrm>
            <a:off x="476250" y="1190625"/>
            <a:ext cx="11267017" cy="5191125"/>
            <a:chOff x="476250" y="1190625"/>
            <a:chExt cx="11267017"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76375"/>
              <a:ext cx="10572750" cy="762000"/>
            </a:xfrm>
            <a:prstGeom prst="roundRect">
              <a:avLst>
                <a:gd name="adj" fmla="val 15000"/>
              </a:avLst>
            </a:prstGeom>
            <a:solidFill>
              <a:srgbClr val="FEF3C7"/>
            </a:solidFill>
            <a:ln w="19050">
              <a:solidFill>
                <a:srgbClr val="FDE68A"/>
              </a:solidFill>
            </a:ln>
          </p:spPr>
        </p:sp>
        <p:sp>
          <p:nvSpPr>
            <p:cNvPr id="11" name="TextBox 11"/>
            <p:cNvSpPr txBox="1"/>
            <p:nvPr/>
          </p:nvSpPr>
          <p:spPr>
            <a:xfrm>
              <a:off x="1036320" y="1709738"/>
              <a:ext cx="10706947" cy="440055"/>
            </a:xfrm>
            <a:prstGeom prst="rect">
              <a:avLst/>
            </a:prstGeom>
            <a:noFill/>
            <a:ln>
              <a:noFill/>
            </a:ln>
          </p:spPr>
          <p:txBody>
            <a:bodyPr wrap="none" lIns="0" tIns="0" rIns="0" bIns="0" anchor="t" anchorCtr="0">
              <a:spAutoFit/>
            </a:bodyPr>
            <a:lstStyle/>
            <a:p>
              <a:pPr algn="l"/>
              <a:r>
                <a:rPr lang="vi-VN" sz="2250" b="1" dirty="0">
                  <a:solidFill>
                    <a:srgbClr val="92400E"/>
                  </a:solidFill>
                  <a:latin typeface="+mn-lt"/>
                  <a:ea typeface="+mn-ea"/>
                  <a:cs typeface="+mn-cs"/>
                </a:rPr>
                <a:t>⚠️ LƯU Ý SƯ PHẠM: HỌC SINH RẤT DỄ NHẦM LẪN 3 KHÁI NIỆM NÀY!</a:t>
              </a:r>
            </a:p>
          </p:txBody>
        </p:sp>
        <p:grpSp>
          <p:nvGrpSpPr>
            <p:cNvPr id="27" name="Group 27"/>
            <p:cNvGrpSpPr/>
            <p:nvPr/>
          </p:nvGrpSpPr>
          <p:grpSpPr>
            <a:xfrm>
              <a:off x="809625" y="2476500"/>
              <a:ext cx="10781364" cy="2190750"/>
              <a:chOff x="809625" y="2476500"/>
              <a:chExt cx="10781364" cy="2190750"/>
            </a:xfrm>
          </p:grpSpPr>
          <p:sp>
            <p:nvSpPr>
              <p:cNvPr id="12" name="Rectangle 12"/>
              <p:cNvSpPr/>
              <p:nvPr/>
            </p:nvSpPr>
            <p:spPr>
              <a:xfrm>
                <a:off x="809625" y="2476500"/>
                <a:ext cx="3333750" cy="2190750"/>
              </a:xfrm>
              <a:prstGeom prst="roundRect">
                <a:avLst>
                  <a:gd name="adj" fmla="val 6087"/>
                </a:avLst>
              </a:prstGeom>
              <a:solidFill>
                <a:srgbClr val="EFF6FF"/>
              </a:solidFill>
              <a:ln w="19050">
                <a:solidFill>
                  <a:srgbClr val="BFDBFE"/>
                </a:solidFill>
              </a:ln>
            </p:spPr>
          </p:sp>
          <p:sp>
            <p:nvSpPr>
              <p:cNvPr id="13" name="TextBox 13"/>
              <p:cNvSpPr txBox="1"/>
              <p:nvPr/>
            </p:nvSpPr>
            <p:spPr>
              <a:xfrm>
                <a:off x="1036320" y="2662238"/>
                <a:ext cx="2565514"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1. ĐIỂM CỰC TRỊ</a:t>
                </a:r>
              </a:p>
            </p:txBody>
          </p:sp>
          <p:sp>
            <p:nvSpPr>
              <p:cNvPr id="14" name="TextBox 14"/>
              <p:cNvSpPr txBox="1"/>
              <p:nvPr/>
            </p:nvSpPr>
            <p:spPr>
              <a:xfrm>
                <a:off x="1037082" y="3059430"/>
                <a:ext cx="2045772"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CỦA HÀM SỐ:</a:t>
                </a:r>
              </a:p>
            </p:txBody>
          </p:sp>
          <p:sp>
            <p:nvSpPr>
              <p:cNvPr id="15" name="TextBox 15"/>
              <p:cNvSpPr txBox="1"/>
              <p:nvPr/>
            </p:nvSpPr>
            <p:spPr>
              <a:xfrm>
                <a:off x="1036320" y="3519488"/>
                <a:ext cx="2776298"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Chính là hoành độ:</a:t>
                </a:r>
              </a:p>
            </p:txBody>
          </p:sp>
          <mc:AlternateContent xmlns:mc="http://schemas.openxmlformats.org/markup-compatibility/2006">
            <mc:Choice xmlns:a14="http://schemas.microsoft.com/office/drawing/2010/main" Requires="a14">
              <p:sp>
                <p:nvSpPr>
                  <p:cNvPr id="16" name="TextBox 16"/>
                  <p:cNvSpPr txBox="1"/>
                  <p:nvPr/>
                </p:nvSpPr>
                <p:spPr>
                  <a:xfrm>
                    <a:off x="1034034" y="3899535"/>
                    <a:ext cx="3458485" cy="58533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b>
                          <m:e>
                            <m:r>
                              <a:rPr lang="vi-VN" sz="2700" dirty="0">
                                <a:solidFill>
                                  <a:srgbClr val="1D4ED8"/>
                                </a:solidFill>
                                <a:latin typeface="Cambria Math"/>
                                <a:ea typeface="Cambria Math"/>
                                <a:cs typeface="Cambria Math"/>
                              </a:rPr>
                              <m:t>x</m:t>
                            </m:r>
                          </m:e>
                          <m:sub>
                            <m:r>
                              <a:rPr lang="vi-VN" sz="2700" dirty="0">
                                <a:solidFill>
                                  <a:srgbClr val="1D4ED8"/>
                                </a:solidFill>
                                <a:latin typeface="Cambria Math"/>
                                <a:ea typeface="Cambria Math"/>
                                <a:cs typeface="Cambria Math"/>
                              </a:rPr>
                              <m:t>0</m:t>
                            </m:r>
                          </m:sub>
                        </m:sSub>
                      </m:oMath>
                    </a14:m>
                    <a:r>
                      <a:rPr lang="vi-VN" sz="2700" b="1" dirty="0">
                        <a:solidFill>
                          <a:srgbClr val="1D4ED8"/>
                        </a:solidFill>
                        <a:latin typeface="+mn-lt"/>
                        <a:ea typeface="+mn-ea"/>
                        <a:cs typeface="+mn-cs"/>
                      </a:rPr>
                      <a:t xml:space="preserve"> (</a:t>
                    </a:r>
                    <a14:m>
                      <m:oMath xmlns:a="http://schemas.openxmlformats.org/drawingml/2006/main" xmlns:m="http://schemas.openxmlformats.org/officeDocument/2006/math">
                        <m:sSub>
                          <m:e>
                            <m:r>
                              <a:rPr lang="vi-VN" sz="2700" dirty="0">
                                <a:solidFill>
                                  <a:srgbClr val="1D4ED8"/>
                                </a:solidFill>
                                <a:latin typeface="Cambria Math"/>
                                <a:ea typeface="Cambria Math"/>
                                <a:cs typeface="Cambria Math"/>
                              </a:rPr>
                              <m:t>x</m:t>
                            </m:r>
                          </m:e>
                          <m:sub>
                            <m:r>
                              <a:rPr lang="vi-VN" sz="2700" dirty="0">
                                <a:solidFill>
                                  <a:srgbClr val="1D4ED8"/>
                                </a:solidFill>
                                <a:latin typeface="Cambria Math"/>
                                <a:ea typeface="Cambria Math"/>
                                <a:cs typeface="Cambria Math"/>
                              </a:rPr>
                              <m:t>CĐ</m:t>
                            </m:r>
                          </m:sub>
                        </m:sSub>
                      </m:oMath>
                    </a14:m>
                    <a:r>
                      <a:rPr lang="vi-VN" sz="2700" b="1" dirty="0">
                        <a:solidFill>
                          <a:srgbClr val="1D4ED8"/>
                        </a:solidFill>
                        <a:latin typeface="+mn-lt"/>
                        <a:ea typeface="+mn-ea"/>
                        <a:cs typeface="+mn-cs"/>
                      </a:rPr>
                      <a:t xml:space="preserve">, </a:t>
                    </a:r>
                    <a14:m>
                      <m:oMath xmlns:a="http://schemas.openxmlformats.org/drawingml/2006/main" xmlns:m="http://schemas.openxmlformats.org/officeDocument/2006/math">
                        <m:sSub>
                          <m:e>
                            <m:r>
                              <a:rPr lang="vi-VN" sz="2700" dirty="0">
                                <a:solidFill>
                                  <a:srgbClr val="1D4ED8"/>
                                </a:solidFill>
                                <a:latin typeface="Cambria Math"/>
                                <a:ea typeface="Cambria Math"/>
                                <a:cs typeface="Cambria Math"/>
                              </a:rPr>
                              <m:t>x</m:t>
                            </m:r>
                          </m:e>
                          <m:sub>
                            <m:r>
                              <a:rPr lang="vi-VN" sz="2700" dirty="0">
                                <a:solidFill>
                                  <a:srgbClr val="1D4ED8"/>
                                </a:solidFill>
                                <a:latin typeface="Cambria Math"/>
                                <a:ea typeface="Cambria Math"/>
                                <a:cs typeface="Cambria Math"/>
                              </a:rPr>
                              <m:t>CT</m:t>
                            </m:r>
                          </m:sub>
                        </m:sSub>
                      </m:oMath>
                    </a14:m>
                    <a:r>
                      <a:rPr lang="vi-VN" sz="2700" b="1" dirty="0">
                        <a:solidFill>
                          <a:srgbClr val="1D4ED8"/>
                        </a:solidFill>
                        <a:latin typeface="+mn-lt"/>
                        <a:ea typeface="+mn-ea"/>
                        <a:cs typeface="+mn-cs"/>
                      </a:rPr>
                      <a:t>)</a:t>
                    </a:r>
                  </a:p>
                </p:txBody>
              </p:sp>
            </mc:Choice>
          </mc:AlternateContent>
          <p:sp>
            <p:nvSpPr>
              <p:cNvPr id="17" name="Rectangle 17"/>
              <p:cNvSpPr/>
              <p:nvPr/>
            </p:nvSpPr>
            <p:spPr>
              <a:xfrm>
                <a:off x="4429125" y="2476500"/>
                <a:ext cx="3333750" cy="2190750"/>
              </a:xfrm>
              <a:prstGeom prst="roundRect">
                <a:avLst>
                  <a:gd name="adj" fmla="val 6087"/>
                </a:avLst>
              </a:prstGeom>
              <a:solidFill>
                <a:srgbClr val="F0FDF4"/>
              </a:solidFill>
              <a:ln w="19050">
                <a:solidFill>
                  <a:srgbClr val="BBF7D0"/>
                </a:solidFill>
              </a:ln>
            </p:spPr>
          </p:sp>
          <p:sp>
            <p:nvSpPr>
              <p:cNvPr id="18" name="TextBox 18"/>
              <p:cNvSpPr txBox="1"/>
              <p:nvPr/>
            </p:nvSpPr>
            <p:spPr>
              <a:xfrm>
                <a:off x="4655820" y="2662238"/>
                <a:ext cx="2938808"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2. GIÁ TRỊ CỰC TRỊ</a:t>
                </a:r>
              </a:p>
            </p:txBody>
          </p:sp>
          <p:sp>
            <p:nvSpPr>
              <p:cNvPr id="19" name="TextBox 19"/>
              <p:cNvSpPr txBox="1"/>
              <p:nvPr/>
            </p:nvSpPr>
            <p:spPr>
              <a:xfrm>
                <a:off x="4656582" y="3059430"/>
                <a:ext cx="2808842" cy="410718"/>
              </a:xfrm>
              <a:prstGeom prst="rect">
                <a:avLst/>
              </a:prstGeom>
              <a:noFill/>
              <a:ln>
                <a:noFill/>
              </a:ln>
            </p:spPr>
            <p:txBody>
              <a:bodyPr wrap="none" lIns="0" tIns="0" rIns="0" bIns="0" anchor="t" anchorCtr="0">
                <a:spAutoFit/>
              </a:bodyPr>
              <a:lstStyle/>
              <a:p>
                <a:pPr algn="l"/>
                <a:r>
                  <a:rPr lang="vi-VN" sz="2100" b="1" dirty="0">
                    <a:solidFill>
                      <a:srgbClr val="065F46"/>
                    </a:solidFill>
                    <a:latin typeface="+mn-lt"/>
                    <a:ea typeface="+mn-ea"/>
                    <a:cs typeface="+mn-cs"/>
                  </a:rPr>
                  <a:t>(CỰC TRỊ HÀM SỐ):</a:t>
                </a:r>
              </a:p>
            </p:txBody>
          </p:sp>
          <p:sp>
            <p:nvSpPr>
              <p:cNvPr id="20" name="TextBox 20"/>
              <p:cNvSpPr txBox="1"/>
              <p:nvPr/>
            </p:nvSpPr>
            <p:spPr>
              <a:xfrm>
                <a:off x="4655820" y="3519488"/>
                <a:ext cx="2523437"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Chính là tung độ:</a:t>
                </a:r>
              </a:p>
            </p:txBody>
          </p:sp>
          <mc:AlternateContent xmlns:mc="http://schemas.openxmlformats.org/markup-compatibility/2006">
            <mc:Choice xmlns:a14="http://schemas.microsoft.com/office/drawing/2010/main" Requires="a14">
              <p:sp>
                <p:nvSpPr>
                  <p:cNvPr id="21" name="TextBox 21"/>
                  <p:cNvSpPr txBox="1"/>
                  <p:nvPr/>
                </p:nvSpPr>
                <p:spPr>
                  <a:xfrm>
                    <a:off x="4653534" y="3882390"/>
                    <a:ext cx="1628898" cy="61962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b>
                          <m:e>
                            <m:r>
                              <a:rPr lang="vi-VN" sz="2700" dirty="0">
                                <a:solidFill>
                                  <a:srgbClr val="047857"/>
                                </a:solidFill>
                                <a:latin typeface="Cambria Math"/>
                                <a:ea typeface="Cambria Math"/>
                                <a:cs typeface="Cambria Math"/>
                              </a:rPr>
                              <m:t>y</m:t>
                            </m:r>
                          </m:e>
                          <m:sub>
                            <m:r>
                              <a:rPr lang="vi-VN" sz="2700" dirty="0">
                                <a:solidFill>
                                  <a:srgbClr val="047857"/>
                                </a:solidFill>
                                <a:latin typeface="Cambria Math"/>
                                <a:ea typeface="Cambria Math"/>
                                <a:cs typeface="Cambria Math"/>
                              </a:rPr>
                              <m:t>0</m:t>
                            </m:r>
                          </m:sub>
                        </m:sSub>
                        <m:r>
                          <m:rPr>
                            <m:sty m:val="p"/>
                          </m:rPr>
                          <a:rPr lang="vi-VN" sz="2700" dirty="0">
                            <a:solidFill>
                              <a:srgbClr val="047857"/>
                            </a:solidFill>
                            <a:latin typeface="Cambria Math"/>
                            <a:ea typeface="Cambria Math"/>
                            <a:cs typeface="Cambria Math"/>
                          </a:rPr>
                          <m:t>=</m:t>
                        </m:r>
                        <m:r>
                          <a:rPr lang="vi-VN" sz="2700" dirty="0">
                            <a:solidFill>
                              <a:srgbClr val="047857"/>
                            </a:solidFill>
                            <a:latin typeface="Cambria Math"/>
                            <a:ea typeface="Cambria Math"/>
                            <a:cs typeface="Cambria Math"/>
                          </a:rPr>
                          <m:t>f</m:t>
                        </m:r>
                        <m:d>
                          <m:dPr>
                            <m:begChr m:val="("/>
                            <m:sepChr m:val=""/>
                            <m:endChr m:val=")"/>
                            <m:grow m:val="on"/>
                            <m:ctrlPr>
                              <a:rPr lang="vi-VN" sz="2700" dirty="0">
                                <a:solidFill>
                                  <a:srgbClr val="047857"/>
                                </a:solidFill>
                                <a:latin typeface="Cambria Math"/>
                                <a:ea typeface="Cambria Math"/>
                                <a:cs typeface="Cambria Math"/>
                              </a:rPr>
                            </m:ctrlPr>
                          </m:dPr>
                          <m:e>
                            <m:sSub>
                              <m:e>
                                <m:r>
                                  <a:rPr lang="vi-VN" sz="2700" dirty="0">
                                    <a:solidFill>
                                      <a:srgbClr val="047857"/>
                                    </a:solidFill>
                                    <a:latin typeface="Cambria Math"/>
                                    <a:ea typeface="Cambria Math"/>
                                    <a:cs typeface="Cambria Math"/>
                                  </a:rPr>
                                  <m:t>x</m:t>
                                </m:r>
                              </m:e>
                              <m:sub>
                                <m:r>
                                  <a:rPr lang="vi-VN" sz="2700" dirty="0">
                                    <a:solidFill>
                                      <a:srgbClr val="047857"/>
                                    </a:solidFill>
                                    <a:latin typeface="Cambria Math"/>
                                    <a:ea typeface="Cambria Math"/>
                                    <a:cs typeface="Cambria Math"/>
                                  </a:rPr>
                                  <m:t>0</m:t>
                                </m:r>
                              </m:sub>
                            </m:sSub>
                          </m:e>
                        </m:d>
                      </m:oMath>
                    </a14:m>
                  </a:p>
                </p:txBody>
              </p:sp>
            </mc:Choice>
          </mc:AlternateContent>
          <p:sp>
            <p:nvSpPr>
              <p:cNvPr id="22" name="Rectangle 22"/>
              <p:cNvSpPr/>
              <p:nvPr/>
            </p:nvSpPr>
            <p:spPr>
              <a:xfrm>
                <a:off x="8048625" y="2476500"/>
                <a:ext cx="3333750" cy="2190750"/>
              </a:xfrm>
              <a:prstGeom prst="roundRect">
                <a:avLst>
                  <a:gd name="adj" fmla="val 6087"/>
                </a:avLst>
              </a:prstGeom>
              <a:solidFill>
                <a:srgbClr val="FAF5FF"/>
              </a:solidFill>
              <a:ln w="19050">
                <a:solidFill>
                  <a:srgbClr val="E9D5FF"/>
                </a:solidFill>
              </a:ln>
            </p:spPr>
          </p:sp>
          <p:sp>
            <p:nvSpPr>
              <p:cNvPr id="23" name="TextBox 23"/>
              <p:cNvSpPr txBox="1"/>
              <p:nvPr/>
            </p:nvSpPr>
            <p:spPr>
              <a:xfrm>
                <a:off x="8275320" y="2662238"/>
                <a:ext cx="2565514" cy="440055"/>
              </a:xfrm>
              <a:prstGeom prst="rect">
                <a:avLst/>
              </a:prstGeom>
              <a:noFill/>
              <a:ln>
                <a:noFill/>
              </a:ln>
            </p:spPr>
            <p:txBody>
              <a:bodyPr wrap="none" lIns="0" tIns="0" rIns="0" bIns="0" anchor="t" anchorCtr="0">
                <a:spAutoFit/>
              </a:bodyPr>
              <a:lstStyle/>
              <a:p>
                <a:pPr algn="l"/>
                <a:r>
                  <a:rPr lang="vi-VN" sz="2250" b="1" dirty="0">
                    <a:solidFill>
                      <a:srgbClr val="7C3AED"/>
                    </a:solidFill>
                    <a:latin typeface="+mn-lt"/>
                    <a:ea typeface="+mn-ea"/>
                    <a:cs typeface="+mn-cs"/>
                  </a:rPr>
                  <a:t>3. ĐIỂM CỰC TRỊ</a:t>
                </a:r>
              </a:p>
            </p:txBody>
          </p:sp>
          <p:sp>
            <p:nvSpPr>
              <p:cNvPr id="24" name="TextBox 24"/>
              <p:cNvSpPr txBox="1"/>
              <p:nvPr/>
            </p:nvSpPr>
            <p:spPr>
              <a:xfrm>
                <a:off x="8276082" y="3059430"/>
                <a:ext cx="1863145" cy="410718"/>
              </a:xfrm>
              <a:prstGeom prst="rect">
                <a:avLst/>
              </a:prstGeom>
              <a:noFill/>
              <a:ln>
                <a:noFill/>
              </a:ln>
            </p:spPr>
            <p:txBody>
              <a:bodyPr wrap="none" lIns="0" tIns="0" rIns="0" bIns="0" anchor="t" anchorCtr="0">
                <a:spAutoFit/>
              </a:bodyPr>
              <a:lstStyle/>
              <a:p>
                <a:pPr algn="l"/>
                <a:r>
                  <a:rPr lang="vi-VN" sz="2100" b="1" dirty="0">
                    <a:solidFill>
                      <a:srgbClr val="6B21A8"/>
                    </a:solidFill>
                    <a:latin typeface="+mn-lt"/>
                    <a:ea typeface="+mn-ea"/>
                    <a:cs typeface="+mn-cs"/>
                  </a:rPr>
                  <a:t>CỦA ĐỒ THỊ:</a:t>
                </a:r>
              </a:p>
            </p:txBody>
          </p:sp>
          <p:sp>
            <p:nvSpPr>
              <p:cNvPr id="25" name="TextBox 25"/>
              <p:cNvSpPr txBox="1"/>
              <p:nvPr/>
            </p:nvSpPr>
            <p:spPr>
              <a:xfrm>
                <a:off x="8275320" y="3519488"/>
                <a:ext cx="3315669"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Cặp tọa độ mặt phẳng:</a:t>
                </a:r>
              </a:p>
            </p:txBody>
          </p:sp>
          <mc:AlternateContent xmlns:mc="http://schemas.openxmlformats.org/markup-compatibility/2006">
            <mc:Choice xmlns:a14="http://schemas.microsoft.com/office/drawing/2010/main" Requires="a14">
              <p:sp>
                <p:nvSpPr>
                  <p:cNvPr id="26" name="TextBox 26"/>
                  <p:cNvSpPr txBox="1"/>
                  <p:nvPr/>
                </p:nvSpPr>
                <p:spPr>
                  <a:xfrm>
                    <a:off x="8273796" y="3899535"/>
                    <a:ext cx="1556869" cy="58519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550" dirty="0">
                            <a:solidFill>
                              <a:srgbClr val="7C3AED"/>
                            </a:solidFill>
                            <a:latin typeface="Cambria Math"/>
                            <a:ea typeface="Cambria Math"/>
                            <a:cs typeface="Cambria Math"/>
                          </a:rPr>
                          <m:t>M</m:t>
                        </m:r>
                        <m:d>
                          <m:dPr>
                            <m:begChr m:val="("/>
                            <m:sepChr m:val=""/>
                            <m:endChr m:val=")"/>
                            <m:grow m:val="on"/>
                            <m:ctrlPr>
                              <a:rPr lang="vi-VN" sz="2550" dirty="0">
                                <a:solidFill>
                                  <a:srgbClr val="7C3AED"/>
                                </a:solidFill>
                                <a:latin typeface="Cambria Math"/>
                                <a:ea typeface="Cambria Math"/>
                                <a:cs typeface="Cambria Math"/>
                              </a:rPr>
                            </m:ctrlPr>
                          </m:dPr>
                          <m:e>
                            <m:sSub>
                              <m:e>
                                <m:r>
                                  <a:rPr lang="vi-VN" sz="2550" dirty="0">
                                    <a:solidFill>
                                      <a:srgbClr val="7C3AED"/>
                                    </a:solidFill>
                                    <a:latin typeface="Cambria Math"/>
                                    <a:ea typeface="Cambria Math"/>
                                    <a:cs typeface="Cambria Math"/>
                                  </a:rPr>
                                  <m:t>x</m:t>
                                </m:r>
                              </m:e>
                              <m:sub>
                                <m:r>
                                  <a:rPr lang="vi-VN" sz="2550" dirty="0">
                                    <a:solidFill>
                                      <a:srgbClr val="7C3AED"/>
                                    </a:solidFill>
                                    <a:latin typeface="Cambria Math"/>
                                    <a:ea typeface="Cambria Math"/>
                                    <a:cs typeface="Cambria Math"/>
                                  </a:rPr>
                                  <m:t>0</m:t>
                                </m:r>
                              </m:sub>
                            </m:sSub>
                            <m:r>
                              <m:rPr>
                                <m:sty m:val="p"/>
                              </m:rPr>
                              <a:rPr lang="vi-VN" sz="2550" dirty="0">
                                <a:solidFill>
                                  <a:srgbClr val="7C3AED"/>
                                </a:solidFill>
                                <a:latin typeface="Cambria Math"/>
                                <a:ea typeface="Cambria Math"/>
                                <a:cs typeface="Cambria Math"/>
                              </a:rPr>
                              <m:t>;</m:t>
                            </m:r>
                            <m:sSub>
                              <m:e>
                                <m:r>
                                  <a:rPr lang="vi-VN" sz="2550" dirty="0">
                                    <a:solidFill>
                                      <a:srgbClr val="7C3AED"/>
                                    </a:solidFill>
                                    <a:latin typeface="Cambria Math"/>
                                    <a:ea typeface="Cambria Math"/>
                                    <a:cs typeface="Cambria Math"/>
                                  </a:rPr>
                                  <m:t>y</m:t>
                                </m:r>
                              </m:e>
                              <m:sub>
                                <m:r>
                                  <a:rPr lang="vi-VN" sz="2550" dirty="0">
                                    <a:solidFill>
                                      <a:srgbClr val="7C3AED"/>
                                    </a:solidFill>
                                    <a:latin typeface="Cambria Math"/>
                                    <a:ea typeface="Cambria Math"/>
                                    <a:cs typeface="Cambria Math"/>
                                  </a:rPr>
                                  <m:t>0</m:t>
                                </m:r>
                              </m:sub>
                            </m:sSub>
                          </m:e>
                        </m:d>
                      </m:oMath>
                    </a14:m>
                  </a:p>
                </p:txBody>
              </p:sp>
            </mc:Choice>
          </mc:AlternateContent>
        </p:grpSp>
        <p:sp>
          <p:nvSpPr>
            <p:cNvPr id="28" name="Rectangle 28"/>
            <p:cNvSpPr/>
            <p:nvPr/>
          </p:nvSpPr>
          <p:spPr>
            <a:xfrm>
              <a:off x="809625" y="4953000"/>
              <a:ext cx="10572750" cy="1190625"/>
            </a:xfrm>
            <a:prstGeom prst="roundRect">
              <a:avLst>
                <a:gd name="adj" fmla="val 11200"/>
              </a:avLst>
            </a:prstGeom>
            <a:solidFill>
              <a:srgbClr val="F8FAFC"/>
            </a:solidFill>
            <a:ln w="14288">
              <a:solidFill>
                <a:srgbClr val="CBD5E1"/>
              </a:solidFill>
            </a:ln>
          </p:spPr>
        </p:sp>
        <mc:AlternateContent xmlns:mc="http://schemas.openxmlformats.org/markup-compatibility/2006">
          <mc:Choice xmlns:a14="http://schemas.microsoft.com/office/drawing/2010/main" Requires="a14">
            <p:sp>
              <p:nvSpPr>
                <p:cNvPr id="29" name="TextBox 29"/>
                <p:cNvSpPr txBox="1"/>
                <p:nvPr/>
              </p:nvSpPr>
              <p:spPr>
                <a:xfrm>
                  <a:off x="1084707" y="5141595"/>
                  <a:ext cx="7039100"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Ví dụ hàm số có điểm cực đại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oMath>
                  </a14:m>
                  <a:r>
                    <a:rPr lang="vi-VN" sz="2100" b="1" dirty="0">
                      <a:solidFill>
                        <a:srgbClr val="0F172A"/>
                      </a:solidFill>
                      <a:latin typeface="+mn-lt"/>
                      <a:ea typeface="+mn-ea"/>
                      <a:cs typeface="+mn-cs"/>
                    </a:rPr>
                    <a:t xml:space="preserve"> và giá trị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1</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4</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30" name="TextBox 30"/>
                <p:cNvSpPr txBox="1"/>
                <p:nvPr/>
              </p:nvSpPr>
              <p:spPr>
                <a:xfrm>
                  <a:off x="1083945" y="5600700"/>
                  <a:ext cx="9484867" cy="468630"/>
                </a:xfrm>
                <a:prstGeom prst="rect">
                  <a:avLst/>
                </a:prstGeom>
                <a:noFill/>
                <a:ln>
                  <a:noFill/>
                </a:ln>
              </p:spPr>
              <p:txBody>
                <a:bodyPr wrap="none" lIns="0" tIns="0" rIns="0" bIns="0" anchor="t" anchorCtr="0">
                  <a:spAutoFit/>
                </a:bodyPr>
                <a:lstStyle/>
                <a:p>
                  <a:pPr algn="l"/>
                  <a:r>
                    <a:rPr lang="vi-VN" sz="2250" b="1" dirty="0">
                      <a:solidFill>
                        <a:srgbClr val="1E40AF"/>
                      </a:solidFill>
                      <a:latin typeface="+mn-lt"/>
                      <a:ea typeface="+mn-ea"/>
                      <a:cs typeface="+mn-cs"/>
                    </a:rPr>
                    <a:t xml:space="preserve">→ Điểm CĐ là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x</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1</m:t>
                      </m:r>
                    </m:oMath>
                  </a14:m>
                  <a:r>
                    <a:rPr lang="vi-VN" sz="2250" b="1" dirty="0">
                      <a:solidFill>
                        <a:srgbClr val="1E40AF"/>
                      </a:solidFill>
                      <a:latin typeface="+mn-lt"/>
                      <a:ea typeface="+mn-ea"/>
                      <a:cs typeface="+mn-cs"/>
                    </a:rPr>
                    <a:t xml:space="preserve"> | Giá trị CĐ là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y</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4</m:t>
                      </m:r>
                    </m:oMath>
                  </a14:m>
                  <a:r>
                    <a:rPr lang="vi-VN" sz="2250" b="1" dirty="0">
                      <a:solidFill>
                        <a:srgbClr val="1E40AF"/>
                      </a:solidFill>
                      <a:latin typeface="+mn-lt"/>
                      <a:ea typeface="+mn-ea"/>
                      <a:cs typeface="+mn-cs"/>
                    </a:rPr>
                    <a:t xml:space="preserve"> | Điểm CĐ đồ thị là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A</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1</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4</m:t>
                          </m:r>
                        </m:e>
                      </m:d>
                    </m:oMath>
                  </a14:m>
                </a:p>
              </p:txBody>
            </p:sp>
          </mc:Choice>
        </mc:AlternateContent>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749897" y="459105"/>
              <a:ext cx="1205306"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II.b</a:t>
              </a:r>
            </a:p>
          </p:txBody>
        </p:sp>
        <p:sp>
          <p:nvSpPr>
            <p:cNvPr id="7" name="TextBox 7"/>
            <p:cNvSpPr txBox="1"/>
            <p:nvPr/>
          </p:nvSpPr>
          <p:spPr>
            <a:xfrm>
              <a:off x="2179320" y="452438"/>
              <a:ext cx="5731960"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II. CỰC TRỊ: b. Định lý đổi dấu đạo hàm</a:t>
              </a:r>
            </a:p>
          </p:txBody>
        </p:sp>
      </p:grpSp>
      <p:grpSp>
        <p:nvGrpSpPr>
          <p:cNvPr id="21" name="content"/>
          <p:cNvGrpSpPr/>
          <p:nvPr/>
        </p:nvGrpSpPr>
        <p:grpSpPr>
          <a:xfrm>
            <a:off x="476250" y="1190625"/>
            <a:ext cx="11605422" cy="5191125"/>
            <a:chOff x="476250" y="1190625"/>
            <a:chExt cx="11605422"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6992819"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ĐỊNH LÝ DẤU HIỆU CỰC TRỊ (SGK TRANG 10)</a:t>
              </a:r>
            </a:p>
          </p:txBody>
        </p:sp>
        <p:pic>
          <p:nvPicPr>
            <p:cNvPr id="11" name="Image 11"/>
            <p:cNvPicPr>
              <a:picLocks noChangeAspect="1"/>
            </p:cNvPicPr>
            <p:nvPr/>
          </p:nvPicPr>
          <p:blipFill>
            <a:blip r:embed="rId2"/>
            <a:stretch>
              <a:fillRect/>
            </a:stretch>
          </p:blipFill>
          <p:spPr>
            <a:xfrm>
              <a:off x="3003395" y="1905000"/>
              <a:ext cx="6185210" cy="2476500"/>
            </a:xfrm>
            <a:prstGeom prst="rect">
              <a:avLst/>
            </a:prstGeom>
          </p:spPr>
        </p:pic>
        <p:grpSp>
          <p:nvGrpSpPr>
            <p:cNvPr id="20" name="Group 20"/>
            <p:cNvGrpSpPr/>
            <p:nvPr/>
          </p:nvGrpSpPr>
          <p:grpSpPr>
            <a:xfrm>
              <a:off x="809625" y="4572000"/>
              <a:ext cx="11272047" cy="1524000"/>
              <a:chOff x="809625" y="4572000"/>
              <a:chExt cx="11272047" cy="1524000"/>
            </a:xfrm>
          </p:grpSpPr>
          <p:sp>
            <p:nvSpPr>
              <p:cNvPr id="12" name="Rectangle 12"/>
              <p:cNvSpPr/>
              <p:nvPr/>
            </p:nvSpPr>
            <p:spPr>
              <a:xfrm>
                <a:off x="809625" y="4572000"/>
                <a:ext cx="5143500" cy="1524000"/>
              </a:xfrm>
              <a:prstGeom prst="roundRect">
                <a:avLst>
                  <a:gd name="adj" fmla="val 8750"/>
                </a:avLst>
              </a:prstGeom>
              <a:solidFill>
                <a:srgbClr val="EFF6FF"/>
              </a:solidFill>
              <a:ln w="14288">
                <a:solidFill>
                  <a:srgbClr val="BFDBFE"/>
                </a:solidFill>
              </a:ln>
            </p:spPr>
          </p:sp>
          <p:sp>
            <p:nvSpPr>
              <p:cNvPr id="13" name="TextBox 13"/>
              <p:cNvSpPr txBox="1"/>
              <p:nvPr/>
            </p:nvSpPr>
            <p:spPr>
              <a:xfrm>
                <a:off x="1036320" y="4757738"/>
                <a:ext cx="2991999"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QUY TẮC CỰC ĐẠI:</a:t>
                </a:r>
              </a:p>
            </p:txBody>
          </p:sp>
          <mc:AlternateContent xmlns:mc="http://schemas.openxmlformats.org/markup-compatibility/2006">
            <mc:Choice xmlns:a14="http://schemas.microsoft.com/office/drawing/2010/main" Requires="a14">
              <p:sp>
                <p:nvSpPr>
                  <p:cNvPr id="14" name="TextBox 14"/>
                  <p:cNvSpPr txBox="1"/>
                  <p:nvPr/>
                </p:nvSpPr>
                <p:spPr>
                  <a:xfrm>
                    <a:off x="1037082" y="5189220"/>
                    <a:ext cx="5615340"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Đạo hàm đổi dấu từ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oMath>
                    </a14:m>
                    <a:r>
                      <a:rPr lang="vi-VN" sz="2100" b="1" dirty="0">
                        <a:solidFill>
                          <a:srgbClr val="0F172A"/>
                        </a:solidFill>
                        <a:latin typeface="+mn-lt"/>
                        <a:ea typeface="+mn-ea"/>
                        <a:cs typeface="+mn-cs"/>
                      </a:rPr>
                      <a:t xml:space="preserve"> sang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oMath>
                    </a14:m>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1037082" y="5631180"/>
                    <a:ext cx="4054886" cy="455257"/>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 Hàm số đạt CỰC ĐẠI tại </a:t>
                    </a:r>
                    <a14:m>
                      <m:oMath xmlns:a="http://schemas.openxmlformats.org/drawingml/2006/main" xmlns:m="http://schemas.openxmlformats.org/officeDocument/2006/math">
                        <m:sSub>
                          <m:e>
                            <m:r>
                              <a:rPr lang="vi-VN" sz="2100" dirty="0">
                                <a:solidFill>
                                  <a:srgbClr val="1E40AF"/>
                                </a:solidFill>
                                <a:latin typeface="Cambria Math"/>
                                <a:ea typeface="Cambria Math"/>
                                <a:cs typeface="Cambria Math"/>
                              </a:rPr>
                              <m:t>x</m:t>
                            </m:r>
                          </m:e>
                          <m:sub>
                            <m:r>
                              <a:rPr lang="vi-VN" sz="2100" dirty="0">
                                <a:solidFill>
                                  <a:srgbClr val="1E40AF"/>
                                </a:solidFill>
                                <a:latin typeface="Cambria Math"/>
                                <a:ea typeface="Cambria Math"/>
                                <a:cs typeface="Cambria Math"/>
                              </a:rPr>
                              <m:t>0</m:t>
                            </m:r>
                          </m:sub>
                        </m:sSub>
                      </m:oMath>
                    </a14:m>
                  </a:p>
                </p:txBody>
              </p:sp>
            </mc:Choice>
          </mc:AlternateContent>
          <p:sp>
            <p:nvSpPr>
              <p:cNvPr id="16" name="Rectangle 16"/>
              <p:cNvSpPr/>
              <p:nvPr/>
            </p:nvSpPr>
            <p:spPr>
              <a:xfrm>
                <a:off x="6238875" y="4572000"/>
                <a:ext cx="5143500" cy="1524000"/>
              </a:xfrm>
              <a:prstGeom prst="roundRect">
                <a:avLst>
                  <a:gd name="adj" fmla="val 8750"/>
                </a:avLst>
              </a:prstGeom>
              <a:solidFill>
                <a:srgbClr val="FEF2F2"/>
              </a:solidFill>
              <a:ln w="14288">
                <a:solidFill>
                  <a:srgbClr val="FECACA"/>
                </a:solidFill>
              </a:ln>
            </p:spPr>
          </p:sp>
          <p:sp>
            <p:nvSpPr>
              <p:cNvPr id="17" name="TextBox 17"/>
              <p:cNvSpPr txBox="1"/>
              <p:nvPr/>
            </p:nvSpPr>
            <p:spPr>
              <a:xfrm>
                <a:off x="6465570" y="4757738"/>
                <a:ext cx="3169813" cy="440055"/>
              </a:xfrm>
              <a:prstGeom prst="rect">
                <a:avLst/>
              </a:prstGeom>
              <a:noFill/>
              <a:ln>
                <a:noFill/>
              </a:ln>
            </p:spPr>
            <p:txBody>
              <a:bodyPr wrap="none" lIns="0" tIns="0" rIns="0" bIns="0" anchor="t" anchorCtr="0">
                <a:spAutoFit/>
              </a:bodyPr>
              <a:lstStyle/>
              <a:p>
                <a:pPr algn="l"/>
                <a:r>
                  <a:rPr lang="vi-VN" sz="2250" b="1" dirty="0">
                    <a:solidFill>
                      <a:srgbClr val="DC2626"/>
                    </a:solidFill>
                    <a:latin typeface="+mn-lt"/>
                    <a:ea typeface="+mn-ea"/>
                    <a:cs typeface="+mn-cs"/>
                  </a:rPr>
                  <a:t>QUY TẮC CỰC TIỂU:</a:t>
                </a:r>
              </a:p>
            </p:txBody>
          </p:sp>
          <mc:AlternateContent xmlns:mc="http://schemas.openxmlformats.org/markup-compatibility/2006">
            <mc:Choice xmlns:a14="http://schemas.microsoft.com/office/drawing/2010/main" Requires="a14">
              <p:sp>
                <p:nvSpPr>
                  <p:cNvPr id="18" name="TextBox 18"/>
                  <p:cNvSpPr txBox="1"/>
                  <p:nvPr/>
                </p:nvSpPr>
                <p:spPr>
                  <a:xfrm>
                    <a:off x="6466332" y="5189220"/>
                    <a:ext cx="5615340"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Đạo hàm đổi dấu từ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oMath>
                    </a14:m>
                    <a:r>
                      <a:rPr lang="vi-VN" sz="2100" b="1" dirty="0">
                        <a:solidFill>
                          <a:srgbClr val="0F172A"/>
                        </a:solidFill>
                        <a:latin typeface="+mn-lt"/>
                        <a:ea typeface="+mn-ea"/>
                        <a:cs typeface="+mn-cs"/>
                      </a:rPr>
                      <a:t xml:space="preserve"> sang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oMath>
                    </a14:m>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6466332" y="5631180"/>
                    <a:ext cx="4222619" cy="455257"/>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 xml:space="preserve">→ Hàm số đạt CỰC TIỂU tại </a:t>
                    </a:r>
                    <a14:m>
                      <m:oMath xmlns:a="http://schemas.openxmlformats.org/drawingml/2006/main" xmlns:m="http://schemas.openxmlformats.org/officeDocument/2006/math">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0</m:t>
                            </m:r>
                          </m:sub>
                        </m:sSub>
                      </m:oMath>
                    </a14:m>
                  </a:p>
                </p:txBody>
              </p:sp>
            </mc:Choice>
          </mc:AlternateContent>
        </p:gr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495504" y="459105"/>
              <a:ext cx="1714092"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LUYỆN TẬP</a:t>
              </a:r>
            </a:p>
          </p:txBody>
        </p:sp>
        <p:sp>
          <p:nvSpPr>
            <p:cNvPr id="7" name="TextBox 7"/>
            <p:cNvSpPr txBox="1"/>
            <p:nvPr/>
          </p:nvSpPr>
          <p:spPr>
            <a:xfrm>
              <a:off x="2179320" y="452438"/>
              <a:ext cx="5837219"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BÀI TẬP VẬN DỤNG KIẾN THỨC BÀI 1</a:t>
              </a:r>
            </a:p>
          </p:txBody>
        </p:sp>
      </p:grpSp>
      <p:grpSp>
        <p:nvGrpSpPr>
          <p:cNvPr id="24" name="exercise-content"/>
          <p:cNvGrpSpPr/>
          <p:nvPr/>
        </p:nvGrpSpPr>
        <p:grpSpPr>
          <a:xfrm>
            <a:off x="476250" y="1190625"/>
            <a:ext cx="11411106" cy="5191125"/>
            <a:chOff x="476250" y="1190625"/>
            <a:chExt cx="11411106" cy="5191125"/>
          </a:xfrm>
        </p:grpSpPr>
        <p:sp>
          <p:nvSpPr>
            <p:cNvPr id="9" name="Rectangle 9"/>
            <p:cNvSpPr/>
            <p:nvPr/>
          </p:nvSpPr>
          <p:spPr>
            <a:xfrm>
              <a:off x="476250" y="1190625"/>
              <a:ext cx="11239500" cy="5191125"/>
            </a:xfrm>
            <a:prstGeom prst="roundRect">
              <a:avLst>
                <a:gd name="adj" fmla="val 3670"/>
              </a:avLst>
            </a:prstGeom>
            <a:solidFill>
              <a:srgbClr val="FFFFFF"/>
            </a:solidFill>
            <a:ln w="28575">
              <a:solidFill>
                <a:srgbClr val="3B82F6"/>
              </a:solidFill>
            </a:ln>
          </p:spPr>
        </p:sp>
        <p:sp>
          <p:nvSpPr>
            <p:cNvPr id="10" name="Rectangle 10"/>
            <p:cNvSpPr/>
            <p:nvPr/>
          </p:nvSpPr>
          <p:spPr>
            <a:xfrm>
              <a:off x="762000" y="1476375"/>
              <a:ext cx="10668000" cy="1428750"/>
            </a:xfrm>
            <a:prstGeom prst="roundRect">
              <a:avLst>
                <a:gd name="adj" fmla="val 9333"/>
              </a:avLst>
            </a:prstGeom>
            <a:solidFill>
              <a:srgbClr val="EFF6FF"/>
            </a:solidFill>
            <a:ln w="19050">
              <a:solidFill>
                <a:srgbClr val="BFDBFE"/>
              </a:solidFill>
            </a:ln>
          </p:spPr>
        </p:sp>
        <p:sp>
          <p:nvSpPr>
            <p:cNvPr id="11" name="TextBox 11"/>
            <p:cNvSpPr txBox="1"/>
            <p:nvPr/>
          </p:nvSpPr>
          <p:spPr>
            <a:xfrm>
              <a:off x="1035558" y="1693545"/>
              <a:ext cx="6548557" cy="469392"/>
            </a:xfrm>
            <a:prstGeom prst="rect">
              <a:avLst/>
            </a:prstGeom>
            <a:noFill/>
            <a:ln>
              <a:noFill/>
            </a:ln>
          </p:spPr>
          <p:txBody>
            <a:bodyPr wrap="none" lIns="0" tIns="0" rIns="0" bIns="0" anchor="t" anchorCtr="0">
              <a:spAutoFit/>
            </a:bodyPr>
            <a:lstStyle/>
            <a:p>
              <a:pPr algn="l"/>
              <a:r>
                <a:rPr lang="vi-VN" sz="2400" b="1" dirty="0">
                  <a:solidFill>
                    <a:srgbClr val="1D4ED8"/>
                  </a:solidFill>
                  <a:latin typeface="+mn-lt"/>
                  <a:ea typeface="+mn-ea"/>
                  <a:cs typeface="+mn-cs"/>
                </a:rPr>
                <a:t>ĐỀ BÀI (ÁP DỤNG QUY TRÌNH 4 BƯỚC):</a:t>
              </a:r>
            </a:p>
          </p:txBody>
        </p:sp>
        <mc:AlternateContent xmlns:mc="http://schemas.openxmlformats.org/markup-compatibility/2006">
          <mc:Choice xmlns:a14="http://schemas.microsoft.com/office/drawing/2010/main" Requires="a14">
            <p:sp>
              <p:nvSpPr>
                <p:cNvPr id="12" name="TextBox 12"/>
                <p:cNvSpPr txBox="1"/>
                <p:nvPr/>
              </p:nvSpPr>
              <p:spPr>
                <a:xfrm>
                  <a:off x="1034796" y="2127714"/>
                  <a:ext cx="4486162" cy="572243"/>
                </a:xfrm>
                <a:prstGeom prst="rect">
                  <a:avLst/>
                </a:prstGeom>
                <a:noFill/>
                <a:ln>
                  <a:noFill/>
                </a:ln>
              </p:spPr>
              <p:txBody>
                <a:bodyPr wrap="none" lIns="0" tIns="0" rIns="0" bIns="0" anchor="t" anchorCtr="0">
                  <a:spAutoFit/>
                </a:bodyPr>
                <a:lstStyle/>
                <a:p>
                  <a:pPr algn="l"/>
                  <a:r>
                    <a:rPr lang="vi-VN" sz="2550" b="1" dirty="0">
                      <a:solidFill>
                        <a:srgbClr val="0F172A"/>
                      </a:solidFill>
                      <a:latin typeface="+mn-lt"/>
                      <a:ea typeface="+mn-ea"/>
                      <a:cs typeface="+mn-cs"/>
                    </a:rPr>
                    <a:t xml:space="preserve">Cho hàm số: </a:t>
                  </a:r>
                  <a14:m>
                    <m:oMath xmlns:a="http://schemas.openxmlformats.org/drawingml/2006/main" xmlns:m="http://schemas.openxmlformats.org/officeDocument/2006/math">
                      <m:r>
                        <a:rPr lang="vi-VN" sz="2550" dirty="0">
                          <a:solidFill>
                            <a:srgbClr val="0F172A"/>
                          </a:solidFill>
                          <a:latin typeface="Cambria Math"/>
                          <a:ea typeface="Cambria Math"/>
                          <a:cs typeface="Cambria Math"/>
                        </a:rPr>
                        <m:t>y</m:t>
                      </m:r>
                      <m:r>
                        <m:rPr>
                          <m:sty m:val="p"/>
                        </m:rPr>
                        <a:rPr lang="vi-VN" sz="2550" dirty="0">
                          <a:solidFill>
                            <a:srgbClr val="0F172A"/>
                          </a:solidFill>
                          <a:latin typeface="Cambria Math"/>
                          <a:ea typeface="Cambria Math"/>
                          <a:cs typeface="Cambria Math"/>
                        </a:rPr>
                        <m:t>=</m:t>
                      </m:r>
                      <m:sSup>
                        <m:e>
                          <m:r>
                            <a:rPr lang="vi-VN" sz="2550" dirty="0">
                              <a:solidFill>
                                <a:srgbClr val="0F172A"/>
                              </a:solidFill>
                              <a:latin typeface="Cambria Math"/>
                              <a:ea typeface="Cambria Math"/>
                              <a:cs typeface="Cambria Math"/>
                            </a:rPr>
                            <m:t>x</m:t>
                          </m:r>
                        </m:e>
                        <m:sup>
                          <m:r>
                            <a:rPr lang="vi-VN" sz="2550" dirty="0">
                              <a:solidFill>
                                <a:srgbClr val="0F172A"/>
                              </a:solidFill>
                              <a:latin typeface="Cambria Math"/>
                              <a:ea typeface="Cambria Math"/>
                              <a:cs typeface="Cambria Math"/>
                            </a:rPr>
                            <m:t>3</m:t>
                          </m:r>
                        </m:sup>
                      </m:sSup>
                      <m:r>
                        <m:rPr>
                          <m:sty m:val="p"/>
                        </m:rPr>
                        <a:rPr lang="vi-VN" sz="2550" dirty="0">
                          <a:solidFill>
                            <a:srgbClr val="0F172A"/>
                          </a:solidFill>
                          <a:latin typeface="Cambria Math"/>
                          <a:ea typeface="Cambria Math"/>
                          <a:cs typeface="Cambria Math"/>
                        </a:rPr>
                        <m:t>−</m:t>
                      </m:r>
                      <m:r>
                        <a:rPr lang="vi-VN" sz="2550" dirty="0">
                          <a:solidFill>
                            <a:srgbClr val="0F172A"/>
                          </a:solidFill>
                          <a:latin typeface="Cambria Math"/>
                          <a:ea typeface="Cambria Math"/>
                          <a:cs typeface="Cambria Math"/>
                        </a:rPr>
                        <m:t>3</m:t>
                      </m:r>
                      <m:sSup>
                        <m:e>
                          <m:r>
                            <a:rPr lang="vi-VN" sz="2550" dirty="0">
                              <a:solidFill>
                                <a:srgbClr val="0F172A"/>
                              </a:solidFill>
                              <a:latin typeface="Cambria Math"/>
                              <a:ea typeface="Cambria Math"/>
                              <a:cs typeface="Cambria Math"/>
                            </a:rPr>
                            <m:t>x</m:t>
                          </m:r>
                        </m:e>
                        <m:sup>
                          <m:r>
                            <a:rPr lang="vi-VN" sz="2550" dirty="0">
                              <a:solidFill>
                                <a:srgbClr val="0F172A"/>
                              </a:solidFill>
                              <a:latin typeface="Cambria Math"/>
                              <a:ea typeface="Cambria Math"/>
                              <a:cs typeface="Cambria Math"/>
                            </a:rPr>
                            <m:t>2</m:t>
                          </m:r>
                        </m:sup>
                      </m:sSup>
                      <m:r>
                        <m:rPr>
                          <m:sty m:val="p"/>
                        </m:rPr>
                        <a:rPr lang="vi-VN" sz="2550" dirty="0">
                          <a:solidFill>
                            <a:srgbClr val="0F172A"/>
                          </a:solidFill>
                          <a:latin typeface="Cambria Math"/>
                          <a:ea typeface="Cambria Math"/>
                          <a:cs typeface="Cambria Math"/>
                        </a:rPr>
                        <m:t>+</m:t>
                      </m:r>
                      <m:r>
                        <a:rPr lang="vi-VN" sz="2550" dirty="0">
                          <a:solidFill>
                            <a:srgbClr val="0F172A"/>
                          </a:solidFill>
                          <a:latin typeface="Cambria Math"/>
                          <a:ea typeface="Cambria Math"/>
                          <a:cs typeface="Cambria Math"/>
                        </a:rPr>
                        <m:t>2</m:t>
                      </m:r>
                    </m:oMath>
                  </a14:m>
                </a:p>
              </p:txBody>
            </p:sp>
          </mc:Choice>
        </mc:AlternateContent>
        <p:grpSp>
          <p:nvGrpSpPr>
            <p:cNvPr id="21" name="Group 21"/>
            <p:cNvGrpSpPr/>
            <p:nvPr/>
          </p:nvGrpSpPr>
          <p:grpSpPr>
            <a:xfrm>
              <a:off x="762000" y="3190875"/>
              <a:ext cx="11125356" cy="1952625"/>
              <a:chOff x="762000" y="3190875"/>
              <a:chExt cx="11125356" cy="1952625"/>
            </a:xfrm>
          </p:grpSpPr>
          <p:sp>
            <p:nvSpPr>
              <p:cNvPr id="13" name="Rectangle 13"/>
              <p:cNvSpPr/>
              <p:nvPr/>
            </p:nvSpPr>
            <p:spPr>
              <a:xfrm>
                <a:off x="762000" y="3190875"/>
                <a:ext cx="5191125" cy="1000125"/>
              </a:xfrm>
              <a:prstGeom prst="roundRect">
                <a:avLst>
                  <a:gd name="adj" fmla="val 13333"/>
                </a:avLst>
              </a:prstGeom>
              <a:solidFill>
                <a:srgbClr val="F8FAFC"/>
              </a:solidFill>
              <a:ln w="14288">
                <a:solidFill>
                  <a:srgbClr val="CBD5E1"/>
                </a:solidFill>
              </a:ln>
            </p:spPr>
          </p:sp>
          <mc:AlternateContent xmlns:mc="http://schemas.openxmlformats.org/markup-compatibility/2006">
            <mc:Choice xmlns:a14="http://schemas.microsoft.com/office/drawing/2010/main" Requires="a14">
              <p:sp>
                <p:nvSpPr>
                  <p:cNvPr id="14" name="TextBox 14"/>
                  <p:cNvSpPr txBox="1"/>
                  <p:nvPr/>
                </p:nvSpPr>
                <p:spPr>
                  <a:xfrm>
                    <a:off x="1036320" y="3405188"/>
                    <a:ext cx="5216166"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 xml:space="preserve">Câu a) Tính đạo hàm </a:t>
                    </a:r>
                    <a14:m>
                      <m:oMath xmlns:a="http://schemas.openxmlformats.org/drawingml/2006/main" xmlns:m="http://schemas.openxmlformats.org/officeDocument/2006/math">
                        <m:r>
                          <a:rPr lang="vi-VN" sz="2250" dirty="0">
                            <a:solidFill>
                              <a:srgbClr val="1D4ED8"/>
                            </a:solidFill>
                            <a:latin typeface="Cambria Math"/>
                            <a:ea typeface="Cambria Math"/>
                            <a:cs typeface="Cambria Math"/>
                          </a:rPr>
                          <m:t>y'</m:t>
                        </m:r>
                      </m:oMath>
                    </a14:m>
                    <a:r>
                      <a:rPr lang="vi-VN" sz="2250" b="1" dirty="0">
                        <a:solidFill>
                          <a:srgbClr val="1D4ED8"/>
                        </a:solidFill>
                        <a:latin typeface="+mn-lt"/>
                        <a:ea typeface="+mn-ea"/>
                        <a:cs typeface="+mn-cs"/>
                      </a:rPr>
                      <a:t xml:space="preserve"> và giải </a:t>
                    </a:r>
                    <a14:m>
                      <m:oMath xmlns:a="http://schemas.openxmlformats.org/drawingml/2006/main" xmlns:m="http://schemas.openxmlformats.org/officeDocument/2006/math">
                        <m:r>
                          <a:rPr lang="vi-VN" sz="2250" dirty="0">
                            <a:solidFill>
                              <a:srgbClr val="1D4ED8"/>
                            </a:solidFill>
                            <a:latin typeface="Cambria Math"/>
                            <a:ea typeface="Cambria Math"/>
                            <a:cs typeface="Cambria Math"/>
                          </a:rPr>
                          <m:t>y'</m:t>
                        </m:r>
                        <m:r>
                          <m:rPr>
                            <m:sty m:val="p"/>
                          </m:rPr>
                          <a:rPr lang="vi-VN" sz="2250" dirty="0">
                            <a:solidFill>
                              <a:srgbClr val="1D4ED8"/>
                            </a:solidFill>
                            <a:latin typeface="Cambria Math"/>
                            <a:ea typeface="Cambria Math"/>
                            <a:cs typeface="Cambria Math"/>
                          </a:rPr>
                          <m:t>=</m:t>
                        </m:r>
                        <m:r>
                          <a:rPr lang="vi-VN" sz="2250" dirty="0">
                            <a:solidFill>
                              <a:srgbClr val="1D4ED8"/>
                            </a:solidFill>
                            <a:latin typeface="Cambria Math"/>
                            <a:ea typeface="Cambria Math"/>
                            <a:cs typeface="Cambria Math"/>
                          </a:rPr>
                          <m:t>0</m:t>
                        </m:r>
                      </m:oMath>
                    </a14:m>
                  </a:p>
                </p:txBody>
              </p:sp>
            </mc:Choice>
          </mc:AlternateContent>
          <p:sp>
            <p:nvSpPr>
              <p:cNvPr id="15" name="TextBox 15"/>
              <p:cNvSpPr txBox="1"/>
              <p:nvPr/>
            </p:nvSpPr>
            <p:spPr>
              <a:xfrm>
                <a:off x="1037082" y="3802380"/>
                <a:ext cx="6112610" cy="410718"/>
              </a:xfrm>
              <a:prstGeom prst="rect">
                <a:avLst/>
              </a:prstGeom>
              <a:noFill/>
              <a:ln>
                <a:noFill/>
              </a:ln>
            </p:spPr>
            <p:txBody>
              <a:bodyPr wrap="none" lIns="0" tIns="0" rIns="0" bIns="0" anchor="t" anchorCtr="0">
                <a:spAutoFit/>
              </a:bodyPr>
              <a:lstStyle/>
              <a:p>
                <a:pPr algn="l"/>
                <a:r>
                  <a:rPr lang="vi-VN" sz="2100" dirty="0">
                    <a:solidFill>
                      <a:srgbClr val="475569"/>
                    </a:solidFill>
                    <a:latin typeface="+mn-lt"/>
                    <a:ea typeface="+mn-ea"/>
                    <a:cs typeface="+mn-cs"/>
                  </a:rPr>
                  <a:t>Tìm các nghiệm thực của phương trình đạo hàm.</a:t>
                </a:r>
              </a:p>
            </p:txBody>
          </p:sp>
          <p:sp>
            <p:nvSpPr>
              <p:cNvPr id="16" name="Rectangle 16"/>
              <p:cNvSpPr/>
              <p:nvPr/>
            </p:nvSpPr>
            <p:spPr>
              <a:xfrm>
                <a:off x="6238875" y="3190875"/>
                <a:ext cx="5191125" cy="1000125"/>
              </a:xfrm>
              <a:prstGeom prst="roundRect">
                <a:avLst>
                  <a:gd name="adj" fmla="val 13333"/>
                </a:avLst>
              </a:prstGeom>
              <a:solidFill>
                <a:srgbClr val="F8FAFC"/>
              </a:solidFill>
              <a:ln w="14288">
                <a:solidFill>
                  <a:srgbClr val="CBD5E1"/>
                </a:solidFill>
              </a:ln>
            </p:spPr>
          </p:sp>
          <p:sp>
            <p:nvSpPr>
              <p:cNvPr id="17" name="TextBox 17"/>
              <p:cNvSpPr txBox="1"/>
              <p:nvPr/>
            </p:nvSpPr>
            <p:spPr>
              <a:xfrm>
                <a:off x="6513195" y="3405188"/>
                <a:ext cx="3931792"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Câu b) Lập bảng biến thiên</a:t>
                </a:r>
              </a:p>
            </p:txBody>
          </p:sp>
          <p:sp>
            <p:nvSpPr>
              <p:cNvPr id="18" name="TextBox 18"/>
              <p:cNvSpPr txBox="1"/>
              <p:nvPr/>
            </p:nvSpPr>
            <p:spPr>
              <a:xfrm>
                <a:off x="6513957" y="3802380"/>
                <a:ext cx="5373399" cy="410718"/>
              </a:xfrm>
              <a:prstGeom prst="rect">
                <a:avLst/>
              </a:prstGeom>
              <a:noFill/>
              <a:ln>
                <a:noFill/>
              </a:ln>
            </p:spPr>
            <p:txBody>
              <a:bodyPr wrap="none" lIns="0" tIns="0" rIns="0" bIns="0" anchor="t" anchorCtr="0">
                <a:spAutoFit/>
              </a:bodyPr>
              <a:lstStyle/>
              <a:p>
                <a:pPr algn="l"/>
                <a:r>
                  <a:rPr lang="vi-VN" sz="2100" dirty="0">
                    <a:solidFill>
                      <a:srgbClr val="475569"/>
                    </a:solidFill>
                    <a:latin typeface="+mn-lt"/>
                    <a:ea typeface="+mn-ea"/>
                    <a:cs typeface="+mn-cs"/>
                  </a:rPr>
                  <a:t>Xét dấu đạo hàm và điền các giá trị cực trị.</a:t>
                </a:r>
              </a:p>
            </p:txBody>
          </p:sp>
          <p:sp>
            <p:nvSpPr>
              <p:cNvPr id="19" name="Rectangle 19"/>
              <p:cNvSpPr/>
              <p:nvPr/>
            </p:nvSpPr>
            <p:spPr>
              <a:xfrm>
                <a:off x="762000" y="4429125"/>
                <a:ext cx="10668000" cy="714375"/>
              </a:xfrm>
              <a:prstGeom prst="roundRect">
                <a:avLst>
                  <a:gd name="adj" fmla="val 18667"/>
                </a:avLst>
              </a:prstGeom>
              <a:solidFill>
                <a:srgbClr val="F8FAFC"/>
              </a:solidFill>
              <a:ln w="14288">
                <a:solidFill>
                  <a:srgbClr val="CBD5E1"/>
                </a:solidFill>
              </a:ln>
            </p:spPr>
          </p:sp>
          <p:sp>
            <p:nvSpPr>
              <p:cNvPr id="20" name="TextBox 20"/>
              <p:cNvSpPr txBox="1"/>
              <p:nvPr/>
            </p:nvSpPr>
            <p:spPr>
              <a:xfrm>
                <a:off x="1036320" y="4643438"/>
                <a:ext cx="9892029" cy="440055"/>
              </a:xfrm>
              <a:prstGeom prst="rect">
                <a:avLst/>
              </a:prstGeom>
              <a:noFill/>
              <a:ln>
                <a:noFill/>
              </a:ln>
            </p:spPr>
            <p:txBody>
              <a:bodyPr wrap="none" lIns="0" tIns="0" rIns="0" bIns="0" anchor="t" anchorCtr="0">
                <a:spAutoFit/>
              </a:bodyPr>
              <a:lstStyle/>
              <a:p>
                <a:pPr algn="l"/>
                <a:r>
                  <a:rPr lang="vi-VN" sz="2250" b="1" dirty="0">
                    <a:solidFill>
                      <a:srgbClr val="B45309"/>
                    </a:solidFill>
                    <a:latin typeface="+mn-lt"/>
                    <a:ea typeface="+mn-ea"/>
                    <a:cs typeface="+mn-cs"/>
                  </a:rPr>
                  <a:t>Câu c) Kết luận các khoảng đơn điệu và các điểm cực trị của hàm số</a:t>
                </a:r>
              </a:p>
            </p:txBody>
          </p:sp>
        </p:grpSp>
        <p:sp>
          <p:nvSpPr>
            <p:cNvPr id="22" name="Rectangle 22"/>
            <p:cNvSpPr/>
            <p:nvPr/>
          </p:nvSpPr>
          <p:spPr>
            <a:xfrm>
              <a:off x="762000" y="5429250"/>
              <a:ext cx="10668000" cy="714375"/>
            </a:xfrm>
            <a:prstGeom prst="roundRect">
              <a:avLst>
                <a:gd name="adj" fmla="val 18667"/>
              </a:avLst>
            </a:prstGeom>
            <a:solidFill>
              <a:srgbClr val="FEF2F2"/>
            </a:solidFill>
            <a:ln w="19050">
              <a:solidFill>
                <a:srgbClr val="FECACA"/>
              </a:solidFill>
            </a:ln>
          </p:spPr>
        </p:sp>
        <p:sp>
          <p:nvSpPr>
            <p:cNvPr id="23" name="TextBox 23"/>
            <p:cNvSpPr txBox="1"/>
            <p:nvPr/>
          </p:nvSpPr>
          <p:spPr>
            <a:xfrm>
              <a:off x="951400" y="5643562"/>
              <a:ext cx="10289199" cy="440055"/>
            </a:xfrm>
            <a:prstGeom prst="rect">
              <a:avLst/>
            </a:prstGeom>
            <a:noFill/>
            <a:ln>
              <a:noFill/>
            </a:ln>
          </p:spPr>
          <p:txBody>
            <a:bodyPr wrap="none" lIns="0" tIns="0" rIns="0" bIns="0" anchor="t" anchorCtr="0">
              <a:spAutoFit/>
            </a:bodyPr>
            <a:lstStyle/>
            <a:p>
              <a:pPr algn="ctr"/>
              <a:r>
                <a:rPr lang="vi-VN" sz="2250" b="1" dirty="0">
                  <a:solidFill>
                    <a:srgbClr val="991B1B"/>
                  </a:solidFill>
                  <a:latin typeface="+mn-lt"/>
                  <a:ea typeface="+mn-ea"/>
                  <a:cs typeface="+mn-cs"/>
                </a:rPr>
                <a:t>⏱ CẢ LỚP LÀM VÀO VỞ TRONG 5 PHÚT — THỰC HIỆN ĐỦ 4 BƯỚC!</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744504" y="459105"/>
              <a:ext cx="1216092"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LỜI GIẢI</a:t>
              </a:r>
            </a:p>
          </p:txBody>
        </p:sp>
        <p:sp>
          <p:nvSpPr>
            <p:cNvPr id="7" name="TextBox 7"/>
            <p:cNvSpPr txBox="1"/>
            <p:nvPr/>
          </p:nvSpPr>
          <p:spPr>
            <a:xfrm>
              <a:off x="2179320" y="452438"/>
              <a:ext cx="7330461"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HƯỚNG DẪN GIẢI CHI TIẾT BÀI TẬP VẬN DỤNG</a:t>
              </a:r>
            </a:p>
          </p:txBody>
        </p:sp>
      </p:grpSp>
      <p:grpSp>
        <p:nvGrpSpPr>
          <p:cNvPr id="31" name="solution-content"/>
          <p:cNvGrpSpPr/>
          <p:nvPr/>
        </p:nvGrpSpPr>
        <p:grpSpPr>
          <a:xfrm>
            <a:off x="476250" y="1190625"/>
            <a:ext cx="11239500" cy="5191125"/>
            <a:chOff x="476250" y="1190625"/>
            <a:chExt cx="11239500" cy="5191125"/>
          </a:xfrm>
        </p:grpSpPr>
        <p:sp>
          <p:nvSpPr>
            <p:cNvPr id="9" name="Rectangle 9"/>
            <p:cNvSpPr/>
            <p:nvPr/>
          </p:nvSpPr>
          <p:spPr>
            <a:xfrm>
              <a:off x="476250" y="1190625"/>
              <a:ext cx="5334000" cy="5191125"/>
            </a:xfrm>
            <a:prstGeom prst="roundRect">
              <a:avLst>
                <a:gd name="adj" fmla="val 3670"/>
              </a:avLst>
            </a:prstGeom>
            <a:solidFill>
              <a:srgbClr val="FFFFFF"/>
            </a:solidFill>
            <a:ln w="28575">
              <a:solidFill>
                <a:srgbClr val="10B981"/>
              </a:solidFill>
            </a:ln>
          </p:spPr>
        </p:sp>
        <p:grpSp>
          <p:nvGrpSpPr>
            <p:cNvPr id="24" name="Group 24"/>
            <p:cNvGrpSpPr/>
            <p:nvPr/>
          </p:nvGrpSpPr>
          <p:grpSpPr>
            <a:xfrm>
              <a:off x="714375" y="1381125"/>
              <a:ext cx="4857750" cy="4629112"/>
              <a:chOff x="714375" y="1381125"/>
              <a:chExt cx="4857750" cy="4629112"/>
            </a:xfrm>
          </p:grpSpPr>
          <p:sp>
            <p:nvSpPr>
              <p:cNvPr id="10" name="Rectangle 10"/>
              <p:cNvSpPr/>
              <p:nvPr/>
            </p:nvSpPr>
            <p:spPr>
              <a:xfrm>
                <a:off x="714375" y="1381125"/>
                <a:ext cx="4857750" cy="1000125"/>
              </a:xfrm>
              <a:prstGeom prst="roundRect">
                <a:avLst>
                  <a:gd name="adj" fmla="val 11429"/>
                </a:avLst>
              </a:prstGeom>
              <a:solidFill>
                <a:srgbClr val="EFF6FF"/>
              </a:solidFill>
              <a:ln w="14288">
                <a:solidFill>
                  <a:srgbClr val="BFDBFE"/>
                </a:solidFill>
              </a:ln>
            </p:spPr>
          </p:sp>
          <p:sp>
            <p:nvSpPr>
              <p:cNvPr id="11" name="TextBox 11"/>
              <p:cNvSpPr txBox="1"/>
              <p:nvPr/>
            </p:nvSpPr>
            <p:spPr>
              <a:xfrm>
                <a:off x="894207" y="1554480"/>
                <a:ext cx="2613954"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1. TXĐ &amp; Đạo hàm:</a:t>
                </a:r>
              </a:p>
            </p:txBody>
          </p:sp>
          <mc:AlternateContent xmlns:mc="http://schemas.openxmlformats.org/markup-compatibility/2006">
            <mc:Choice xmlns:a14="http://schemas.microsoft.com/office/drawing/2010/main" Requires="a14">
              <p:sp>
                <p:nvSpPr>
                  <p:cNvPr id="12" name="TextBox 12"/>
                  <p:cNvSpPr txBox="1"/>
                  <p:nvPr/>
                </p:nvSpPr>
                <p:spPr>
                  <a:xfrm>
                    <a:off x="894207" y="1903514"/>
                    <a:ext cx="3897682" cy="48459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0F172A"/>
                            </a:solidFill>
                            <a:latin typeface="Cambria Math"/>
                            <a:ea typeface="Cambria Math"/>
                            <a:cs typeface="Cambria Math"/>
                          </a:rPr>
                          <m:t>D</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oMath>
                    </a14:m>
                    <a:r>
                      <a:rPr lang="vi-VN" sz="2100" b="1" dirty="0">
                        <a:solidFill>
                          <a:srgbClr val="0F172A"/>
                        </a:solidFill>
                        <a:latin typeface="+mn-lt"/>
                        <a:ea typeface="+mn-ea"/>
                        <a:cs typeface="+mn-cs"/>
                      </a:rPr>
                      <a:t xml:space="preserve"> |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6x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3x</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e>
                        </m:d>
                      </m:oMath>
                    </a14:m>
                  </a:p>
                </p:txBody>
              </p:sp>
            </mc:Choice>
          </mc:AlternateContent>
          <p:sp>
            <p:nvSpPr>
              <p:cNvPr id="13" name="Rectangle 13"/>
              <p:cNvSpPr/>
              <p:nvPr/>
            </p:nvSpPr>
            <p:spPr>
              <a:xfrm>
                <a:off x="714375" y="2524125"/>
                <a:ext cx="4857750" cy="904875"/>
              </a:xfrm>
              <a:prstGeom prst="roundRect">
                <a:avLst>
                  <a:gd name="adj" fmla="val 12632"/>
                </a:avLst>
              </a:prstGeom>
              <a:solidFill>
                <a:srgbClr val="EFF6FF"/>
              </a:solidFill>
              <a:ln w="14288">
                <a:solidFill>
                  <a:srgbClr val="BFDBFE"/>
                </a:solidFill>
              </a:ln>
            </p:spPr>
          </p:sp>
          <p:sp>
            <p:nvSpPr>
              <p:cNvPr id="14" name="TextBox 14"/>
              <p:cNvSpPr txBox="1"/>
              <p:nvPr/>
            </p:nvSpPr>
            <p:spPr>
              <a:xfrm>
                <a:off x="894207" y="2678430"/>
                <a:ext cx="272007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2. Nghiệm đạo hàm:</a:t>
                </a:r>
              </a:p>
            </p:txBody>
          </p:sp>
          <mc:AlternateContent xmlns:mc="http://schemas.openxmlformats.org/markup-compatibility/2006">
            <mc:Choice xmlns:a14="http://schemas.microsoft.com/office/drawing/2010/main" Requires="a14">
              <p:sp>
                <p:nvSpPr>
                  <p:cNvPr id="15" name="TextBox 15"/>
                  <p:cNvSpPr txBox="1"/>
                  <p:nvPr/>
                </p:nvSpPr>
                <p:spPr>
                  <a:xfrm>
                    <a:off x="893445" y="3024188"/>
                    <a:ext cx="3359703" cy="440055"/>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250" dirty="0">
                            <a:solidFill>
                              <a:srgbClr val="1D4ED8"/>
                            </a:solidFill>
                            <a:latin typeface="Cambria Math"/>
                            <a:ea typeface="Cambria Math"/>
                            <a:cs typeface="Cambria Math"/>
                          </a:rPr>
                          <m:t>y'</m:t>
                        </m:r>
                        <m:r>
                          <m:rPr>
                            <m:sty m:val="p"/>
                          </m:rPr>
                          <a:rPr lang="vi-VN" sz="2250" dirty="0">
                            <a:solidFill>
                              <a:srgbClr val="1D4ED8"/>
                            </a:solidFill>
                            <a:latin typeface="Cambria Math"/>
                            <a:ea typeface="Cambria Math"/>
                            <a:cs typeface="Cambria Math"/>
                          </a:rPr>
                          <m:t>=</m:t>
                        </m:r>
                        <m:r>
                          <a:rPr lang="vi-VN" sz="2250" dirty="0">
                            <a:solidFill>
                              <a:srgbClr val="1D4ED8"/>
                            </a:solidFill>
                            <a:latin typeface="Cambria Math"/>
                            <a:ea typeface="Cambria Math"/>
                            <a:cs typeface="Cambria Math"/>
                          </a:rPr>
                          <m:t>0</m:t>
                        </m:r>
                        <m:r>
                          <m:rPr>
                            <m:sty m:val="p"/>
                          </m:rPr>
                          <a:rPr lang="vi-VN" sz="2250" dirty="0">
                            <a:solidFill>
                              <a:srgbClr val="1D4ED8"/>
                            </a:solidFill>
                            <a:latin typeface="Cambria Math"/>
                            <a:ea typeface="Cambria Math"/>
                            <a:cs typeface="Cambria Math"/>
                          </a:rPr>
                          <m:t>⇔</m:t>
                        </m:r>
                        <m:r>
                          <a:rPr lang="vi-VN" sz="2250" dirty="0">
                            <a:solidFill>
                              <a:srgbClr val="1D4ED8"/>
                            </a:solidFill>
                            <a:latin typeface="Cambria Math"/>
                            <a:ea typeface="Cambria Math"/>
                            <a:cs typeface="Cambria Math"/>
                          </a:rPr>
                          <m:t>x</m:t>
                        </m:r>
                        <m:r>
                          <m:rPr>
                            <m:sty m:val="p"/>
                          </m:rPr>
                          <a:rPr lang="vi-VN" sz="2250" dirty="0">
                            <a:solidFill>
                              <a:srgbClr val="1D4ED8"/>
                            </a:solidFill>
                            <a:latin typeface="Cambria Math"/>
                            <a:ea typeface="Cambria Math"/>
                            <a:cs typeface="Cambria Math"/>
                          </a:rPr>
                          <m:t>=</m:t>
                        </m:r>
                        <m:r>
                          <a:rPr lang="vi-VN" sz="2250" dirty="0">
                            <a:solidFill>
                              <a:srgbClr val="1D4ED8"/>
                            </a:solidFill>
                            <a:latin typeface="Cambria Math"/>
                            <a:ea typeface="Cambria Math"/>
                            <a:cs typeface="Cambria Math"/>
                          </a:rPr>
                          <m:t>0</m:t>
                        </m:r>
                      </m:oMath>
                    </a14:m>
                    <a:r>
                      <a:rPr lang="vi-VN" sz="2250" b="1" dirty="0">
                        <a:solidFill>
                          <a:srgbClr val="1D4ED8"/>
                        </a:solidFill>
                        <a:latin typeface="+mn-lt"/>
                        <a:ea typeface="+mn-ea"/>
                        <a:cs typeface="+mn-cs"/>
                      </a:rPr>
                      <a:t xml:space="preserve"> hoặc </a:t>
                    </a:r>
                    <a14:m>
                      <m:oMath xmlns:a="http://schemas.openxmlformats.org/drawingml/2006/main" xmlns:m="http://schemas.openxmlformats.org/officeDocument/2006/math">
                        <m:r>
                          <a:rPr lang="vi-VN" sz="2250" dirty="0">
                            <a:solidFill>
                              <a:srgbClr val="1D4ED8"/>
                            </a:solidFill>
                            <a:latin typeface="Cambria Math"/>
                            <a:ea typeface="Cambria Math"/>
                            <a:cs typeface="Cambria Math"/>
                          </a:rPr>
                          <m:t>x</m:t>
                        </m:r>
                        <m:r>
                          <m:rPr>
                            <m:sty m:val="p"/>
                          </m:rPr>
                          <a:rPr lang="vi-VN" sz="2250" dirty="0">
                            <a:solidFill>
                              <a:srgbClr val="1D4ED8"/>
                            </a:solidFill>
                            <a:latin typeface="Cambria Math"/>
                            <a:ea typeface="Cambria Math"/>
                            <a:cs typeface="Cambria Math"/>
                          </a:rPr>
                          <m:t>=</m:t>
                        </m:r>
                        <m:r>
                          <a:rPr lang="vi-VN" sz="2250" dirty="0">
                            <a:solidFill>
                              <a:srgbClr val="1D4ED8"/>
                            </a:solidFill>
                            <a:latin typeface="Cambria Math"/>
                            <a:ea typeface="Cambria Math"/>
                            <a:cs typeface="Cambria Math"/>
                          </a:rPr>
                          <m:t>2</m:t>
                        </m:r>
                      </m:oMath>
                    </a14:m>
                  </a:p>
                </p:txBody>
              </p:sp>
            </mc:Choice>
          </mc:AlternateContent>
          <p:sp>
            <p:nvSpPr>
              <p:cNvPr id="16" name="Rectangle 16"/>
              <p:cNvSpPr/>
              <p:nvPr/>
            </p:nvSpPr>
            <p:spPr>
              <a:xfrm>
                <a:off x="714375" y="3571875"/>
                <a:ext cx="4857750" cy="1047750"/>
              </a:xfrm>
              <a:prstGeom prst="roundRect">
                <a:avLst>
                  <a:gd name="adj" fmla="val 10909"/>
                </a:avLst>
              </a:prstGeom>
              <a:solidFill>
                <a:srgbClr val="F0FDF4"/>
              </a:solidFill>
              <a:ln w="14288">
                <a:solidFill>
                  <a:srgbClr val="BBF7D0"/>
                </a:solidFill>
              </a:ln>
            </p:spPr>
          </p:sp>
          <p:sp>
            <p:nvSpPr>
              <p:cNvPr id="17" name="TextBox 17"/>
              <p:cNvSpPr txBox="1"/>
              <p:nvPr/>
            </p:nvSpPr>
            <p:spPr>
              <a:xfrm>
                <a:off x="894207" y="3726180"/>
                <a:ext cx="2749931"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3. Khoảng đơn điệu:</a:t>
                </a:r>
              </a:p>
            </p:txBody>
          </p:sp>
          <mc:AlternateContent xmlns:mc="http://schemas.openxmlformats.org/markup-compatibility/2006">
            <mc:Choice xmlns:a14="http://schemas.microsoft.com/office/drawing/2010/main" Requires="a14">
              <p:sp>
                <p:nvSpPr>
                  <p:cNvPr id="18" name="TextBox 18"/>
                  <p:cNvSpPr txBox="1"/>
                  <p:nvPr/>
                </p:nvSpPr>
                <p:spPr>
                  <a:xfrm>
                    <a:off x="894207" y="4074795"/>
                    <a:ext cx="3924564" cy="437388"/>
                  </a:xfrm>
                  <a:prstGeom prst="rect">
                    <a:avLst/>
                  </a:prstGeom>
                  <a:noFill/>
                  <a:ln>
                    <a:noFill/>
                  </a:ln>
                </p:spPr>
                <p:txBody>
                  <a:bodyPr wrap="none" lIns="0" tIns="0" rIns="0" bIns="0" anchor="t" anchorCtr="0">
                    <a:spAutoFit/>
                  </a:bodyPr>
                  <a:lstStyle/>
                  <a:p>
                    <a:pPr algn="l" marL="167461" indent="-167461">
                      <a:buClr>
                        <a:srgbClr val="166534"/>
                      </a:buClr>
                      <a:buSzTx/>
                      <a:buFontTx/>
                      <a:buChar char="•"/>
                    </a:pPr>
                    <a:r>
                      <a:rPr lang="vi-VN" sz="2100" b="1" dirty="0">
                        <a:solidFill>
                          <a:srgbClr val="166534"/>
                        </a:solidFill>
                        <a:latin typeface="+mn-lt"/>
                        <a:ea typeface="+mn-ea"/>
                        <a:cs typeface="+mn-cs"/>
                      </a:rPr>
                      <a:t xml:space="preserve">Đồng biến: </a:t>
                    </a:r>
                    <a14:m>
                      <m:oMath xmlns:a="http://schemas.openxmlformats.org/drawingml/2006/main" xmlns:m="http://schemas.openxmlformats.org/officeDocument/2006/math">
                        <m:d>
                          <m:dPr>
                            <m:begChr m:val="("/>
                            <m:sepChr m:val=""/>
                            <m:endChr m:val=")"/>
                            <m:grow m:val="on"/>
                            <m:ctrlPr>
                              <a:rPr lang="vi-VN" sz="2100" dirty="0">
                                <a:solidFill>
                                  <a:srgbClr val="166534"/>
                                </a:solidFill>
                                <a:latin typeface="Cambria Math"/>
                                <a:ea typeface="Cambria Math"/>
                                <a:cs typeface="Cambria Math"/>
                              </a:rPr>
                            </m:ctrlPr>
                          </m:dPr>
                          <m:e>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0</m:t>
                            </m:r>
                          </m:e>
                        </m:d>
                      </m:oMath>
                    </a14:m>
                    <a:r>
                      <a:rPr lang="vi-VN" sz="2100" b="1" dirty="0">
                        <a:solidFill>
                          <a:srgbClr val="166534"/>
                        </a:solidFill>
                        <a:latin typeface="+mn-lt"/>
                        <a:ea typeface="+mn-ea"/>
                        <a:cs typeface="+mn-cs"/>
                      </a:rPr>
                      <a:t xml:space="preserve"> và </a:t>
                    </a:r>
                    <a14:m>
                      <m:oMath xmlns:a="http://schemas.openxmlformats.org/drawingml/2006/main" xmlns:m="http://schemas.openxmlformats.org/officeDocument/2006/math">
                        <m:d>
                          <m:dPr>
                            <m:begChr m:val="("/>
                            <m:sepChr m:val=""/>
                            <m:endChr m:val=")"/>
                            <m:grow m:val="on"/>
                            <m:ctrlPr>
                              <a:rPr lang="vi-VN" sz="2100" dirty="0">
                                <a:solidFill>
                                  <a:srgbClr val="166534"/>
                                </a:solidFill>
                                <a:latin typeface="Cambria Math"/>
                                <a:ea typeface="Cambria Math"/>
                                <a:cs typeface="Cambria Math"/>
                              </a:rPr>
                            </m:ctrlPr>
                          </m:dPr>
                          <m:e>
                            <m:r>
                              <a:rPr lang="vi-VN" sz="2100" dirty="0">
                                <a:solidFill>
                                  <a:srgbClr val="166534"/>
                                </a:solidFill>
                                <a:latin typeface="Cambria Math"/>
                                <a:ea typeface="Cambria Math"/>
                                <a:cs typeface="Cambria Math"/>
                              </a:rPr>
                              <m:t>2</m:t>
                            </m:r>
                            <m:r>
                              <m:rPr>
                                <m:sty m:val="p"/>
                              </m:rPr>
                              <a:rPr lang="vi-VN" sz="2100" dirty="0">
                                <a:solidFill>
                                  <a:srgbClr val="166534"/>
                                </a:solidFill>
                                <a:latin typeface="Cambria Math"/>
                                <a:ea typeface="Cambria Math"/>
                                <a:cs typeface="Cambria Math"/>
                              </a:rPr>
                              <m:t>;+∞</m:t>
                            </m:r>
                          </m:e>
                        </m:d>
                      </m:oMath>
                    </a14:m>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894207" y="4379595"/>
                    <a:ext cx="4360717" cy="437388"/>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Nghịch biến trên khoảng: </a:t>
                    </a:r>
                    <a14:m>
                      <m:oMath xmlns:a="http://schemas.openxmlformats.org/drawingml/2006/main" xmlns:m="http://schemas.openxmlformats.org/officeDocument/2006/math">
                        <m:d>
                          <m:dPr>
                            <m:begChr m:val="("/>
                            <m:sepChr m:val=""/>
                            <m:endChr m:val=")"/>
                            <m:grow m:val="on"/>
                            <m:ctrlPr>
                              <a:rPr lang="vi-VN" sz="2100" dirty="0">
                                <a:solidFill>
                                  <a:srgbClr val="DC2626"/>
                                </a:solidFill>
                                <a:latin typeface="Cambria Math"/>
                                <a:ea typeface="Cambria Math"/>
                                <a:cs typeface="Cambria Math"/>
                              </a:rPr>
                            </m:ctrlPr>
                          </m:dPr>
                          <m:e>
                            <m:r>
                              <a:rPr lang="vi-VN" sz="2100" dirty="0">
                                <a:solidFill>
                                  <a:srgbClr val="DC2626"/>
                                </a:solidFill>
                                <a:latin typeface="Cambria Math"/>
                                <a:ea typeface="Cambria Math"/>
                                <a:cs typeface="Cambria Math"/>
                              </a:rPr>
                              <m:t>0</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2</m:t>
                            </m:r>
                          </m:e>
                        </m:d>
                      </m:oMath>
                    </a14:m>
                  </a:p>
                </p:txBody>
              </p:sp>
            </mc:Choice>
          </mc:AlternateContent>
          <p:sp>
            <p:nvSpPr>
              <p:cNvPr id="20" name="Rectangle 20"/>
              <p:cNvSpPr/>
              <p:nvPr/>
            </p:nvSpPr>
            <p:spPr>
              <a:xfrm>
                <a:off x="714375" y="4762500"/>
                <a:ext cx="4857750" cy="1095375"/>
              </a:xfrm>
              <a:prstGeom prst="roundRect">
                <a:avLst>
                  <a:gd name="adj" fmla="val 10435"/>
                </a:avLst>
              </a:prstGeom>
              <a:solidFill>
                <a:srgbClr val="FAF5FF"/>
              </a:solidFill>
              <a:ln w="14288">
                <a:solidFill>
                  <a:srgbClr val="E9D5FF"/>
                </a:solidFill>
              </a:ln>
            </p:spPr>
          </p:sp>
          <p:sp>
            <p:nvSpPr>
              <p:cNvPr id="21" name="TextBox 21"/>
              <p:cNvSpPr txBox="1"/>
              <p:nvPr/>
            </p:nvSpPr>
            <p:spPr>
              <a:xfrm>
                <a:off x="894207" y="4916805"/>
                <a:ext cx="2405581" cy="410718"/>
              </a:xfrm>
              <a:prstGeom prst="rect">
                <a:avLst/>
              </a:prstGeom>
              <a:noFill/>
              <a:ln>
                <a:noFill/>
              </a:ln>
            </p:spPr>
            <p:txBody>
              <a:bodyPr wrap="none" lIns="0" tIns="0" rIns="0" bIns="0" anchor="t" anchorCtr="0">
                <a:spAutoFit/>
              </a:bodyPr>
              <a:lstStyle/>
              <a:p>
                <a:pPr algn="l"/>
                <a:r>
                  <a:rPr lang="vi-VN" sz="2100" b="1" dirty="0">
                    <a:solidFill>
                      <a:srgbClr val="7C3AED"/>
                    </a:solidFill>
                    <a:latin typeface="+mn-lt"/>
                    <a:ea typeface="+mn-ea"/>
                    <a:cs typeface="+mn-cs"/>
                  </a:rPr>
                  <a:t>4. Cực trị hàm số:</a:t>
                </a:r>
              </a:p>
            </p:txBody>
          </p:sp>
          <mc:AlternateContent xmlns:mc="http://schemas.openxmlformats.org/markup-compatibility/2006">
            <mc:Choice xmlns:a14="http://schemas.microsoft.com/office/drawing/2010/main" Requires="a14">
              <p:sp>
                <p:nvSpPr>
                  <p:cNvPr id="22" name="TextBox 22"/>
                  <p:cNvSpPr txBox="1"/>
                  <p:nvPr/>
                </p:nvSpPr>
                <p:spPr>
                  <a:xfrm>
                    <a:off x="894207" y="5269230"/>
                    <a:ext cx="4024478" cy="455257"/>
                  </a:xfrm>
                  <a:prstGeom prst="rect">
                    <a:avLst/>
                  </a:prstGeom>
                  <a:noFill/>
                  <a:ln>
                    <a:noFill/>
                  </a:ln>
                </p:spPr>
                <p:txBody>
                  <a:bodyPr wrap="none" lIns="0" tIns="0" rIns="0" bIns="0" anchor="t" anchorCtr="0">
                    <a:spAutoFit/>
                  </a:bodyPr>
                  <a:lstStyle/>
                  <a:p>
                    <a:pPr algn="l" marL="167461" indent="-167461">
                      <a:buClr>
                        <a:srgbClr val="6B21A8"/>
                      </a:buClr>
                      <a:buSzTx/>
                      <a:buFontTx/>
                      <a:buChar char="•"/>
                    </a:pPr>
                    <a:r>
                      <a:rPr lang="vi-VN" sz="2100" b="1" dirty="0">
                        <a:solidFill>
                          <a:srgbClr val="6B21A8"/>
                        </a:solidFill>
                        <a:latin typeface="+mn-lt"/>
                        <a:ea typeface="+mn-ea"/>
                        <a:cs typeface="+mn-cs"/>
                      </a:rPr>
                      <a:t xml:space="preserve">Điểm CĐ: </a:t>
                    </a:r>
                    <a14:m>
                      <m:oMath xmlns:a="http://schemas.openxmlformats.org/drawingml/2006/main" xmlns:m="http://schemas.openxmlformats.org/officeDocument/2006/math">
                        <m:r>
                          <a:rPr lang="vi-VN" sz="2100" dirty="0">
                            <a:solidFill>
                              <a:srgbClr val="6B21A8"/>
                            </a:solidFill>
                            <a:latin typeface="Cambria Math"/>
                            <a:ea typeface="Cambria Math"/>
                            <a:cs typeface="Cambria Math"/>
                          </a:rPr>
                          <m:t>x</m:t>
                        </m:r>
                        <m:r>
                          <m:rPr>
                            <m:sty m:val="p"/>
                          </m:rPr>
                          <a:rPr lang="vi-VN" sz="2100" dirty="0">
                            <a:solidFill>
                              <a:srgbClr val="6B21A8"/>
                            </a:solidFill>
                            <a:latin typeface="Cambria Math"/>
                            <a:ea typeface="Cambria Math"/>
                            <a:cs typeface="Cambria Math"/>
                          </a:rPr>
                          <m:t>=</m:t>
                        </m:r>
                        <m:r>
                          <a:rPr lang="vi-VN" sz="2100" dirty="0">
                            <a:solidFill>
                              <a:srgbClr val="6B21A8"/>
                            </a:solidFill>
                            <a:latin typeface="Cambria Math"/>
                            <a:ea typeface="Cambria Math"/>
                            <a:cs typeface="Cambria Math"/>
                          </a:rPr>
                          <m:t>0</m:t>
                        </m:r>
                        <m:r>
                          <m:rPr>
                            <m:sty m:val="p"/>
                          </m:rPr>
                          <a:rPr lang="vi-VN" sz="2100" dirty="0">
                            <a:solidFill>
                              <a:srgbClr val="6B21A8"/>
                            </a:solidFill>
                            <a:latin typeface="Cambria Math"/>
                            <a:ea typeface="Cambria Math"/>
                            <a:cs typeface="Cambria Math"/>
                          </a:rPr>
                          <m:t>⇒</m:t>
                        </m:r>
                        <m:sSub>
                          <m:e>
                            <m:r>
                              <a:rPr lang="vi-VN" sz="2100" dirty="0">
                                <a:solidFill>
                                  <a:srgbClr val="6B21A8"/>
                                </a:solidFill>
                                <a:latin typeface="Cambria Math"/>
                                <a:ea typeface="Cambria Math"/>
                                <a:cs typeface="Cambria Math"/>
                              </a:rPr>
                              <m:t>y</m:t>
                            </m:r>
                          </m:e>
                          <m:sub>
                            <m:r>
                              <a:rPr lang="vi-VN" sz="2100" dirty="0">
                                <a:solidFill>
                                  <a:srgbClr val="6B21A8"/>
                                </a:solidFill>
                                <a:latin typeface="Cambria Math"/>
                                <a:ea typeface="Cambria Math"/>
                                <a:cs typeface="Cambria Math"/>
                              </a:rPr>
                              <m:t>CĐ</m:t>
                            </m:r>
                          </m:sub>
                        </m:sSub>
                        <m:r>
                          <m:rPr>
                            <m:sty m:val="p"/>
                          </m:rPr>
                          <a:rPr lang="vi-VN" sz="2100" dirty="0">
                            <a:solidFill>
                              <a:srgbClr val="6B21A8"/>
                            </a:solidFill>
                            <a:latin typeface="Cambria Math"/>
                            <a:ea typeface="Cambria Math"/>
                            <a:cs typeface="Cambria Math"/>
                          </a:rPr>
                          <m:t>=</m:t>
                        </m:r>
                        <m:r>
                          <a:rPr lang="vi-VN" sz="2100" dirty="0">
                            <a:solidFill>
                              <a:srgbClr val="6B21A8"/>
                            </a:solidFill>
                            <a:latin typeface="Cambria Math"/>
                            <a:ea typeface="Cambria Math"/>
                            <a:cs typeface="Cambria Math"/>
                          </a:rPr>
                          <m:t>2</m:t>
                        </m:r>
                      </m:oMath>
                    </a14:m>
                  </a:p>
                </p:txBody>
              </p:sp>
            </mc:Choice>
          </mc:AlternateContent>
          <mc:AlternateContent xmlns:mc="http://schemas.openxmlformats.org/markup-compatibility/2006">
            <mc:Choice xmlns:a14="http://schemas.microsoft.com/office/drawing/2010/main" Requires="a14">
              <p:sp>
                <p:nvSpPr>
                  <p:cNvPr id="23" name="TextBox 23"/>
                  <p:cNvSpPr txBox="1"/>
                  <p:nvPr/>
                </p:nvSpPr>
                <p:spPr>
                  <a:xfrm>
                    <a:off x="894207" y="5554980"/>
                    <a:ext cx="4056513" cy="455257"/>
                  </a:xfrm>
                  <a:prstGeom prst="rect">
                    <a:avLst/>
                  </a:prstGeom>
                  <a:noFill/>
                  <a:ln>
                    <a:noFill/>
                  </a:ln>
                </p:spPr>
                <p:txBody>
                  <a:bodyPr wrap="none" lIns="0" tIns="0" rIns="0" bIns="0" anchor="t" anchorCtr="0">
                    <a:spAutoFit/>
                  </a:bodyPr>
                  <a:lstStyle/>
                  <a:p>
                    <a:pPr algn="l" marL="167461" indent="-167461">
                      <a:buClr>
                        <a:srgbClr val="6B21A8"/>
                      </a:buClr>
                      <a:buSzTx/>
                      <a:buFontTx/>
                      <a:buChar char="•"/>
                    </a:pPr>
                    <a:r>
                      <a:rPr lang="vi-VN" sz="2100" b="1" dirty="0">
                        <a:solidFill>
                          <a:srgbClr val="6B21A8"/>
                        </a:solidFill>
                        <a:latin typeface="+mn-lt"/>
                        <a:ea typeface="+mn-ea"/>
                        <a:cs typeface="+mn-cs"/>
                      </a:rPr>
                      <a:t xml:space="preserve">Điểm CT: </a:t>
                    </a:r>
                    <a14:m>
                      <m:oMath xmlns:a="http://schemas.openxmlformats.org/drawingml/2006/main" xmlns:m="http://schemas.openxmlformats.org/officeDocument/2006/math">
                        <m:r>
                          <a:rPr lang="vi-VN" sz="2100" dirty="0">
                            <a:solidFill>
                              <a:srgbClr val="6B21A8"/>
                            </a:solidFill>
                            <a:latin typeface="Cambria Math"/>
                            <a:ea typeface="Cambria Math"/>
                            <a:cs typeface="Cambria Math"/>
                          </a:rPr>
                          <m:t>x</m:t>
                        </m:r>
                        <m:r>
                          <m:rPr>
                            <m:sty m:val="p"/>
                          </m:rPr>
                          <a:rPr lang="vi-VN" sz="2100" dirty="0">
                            <a:solidFill>
                              <a:srgbClr val="6B21A8"/>
                            </a:solidFill>
                            <a:latin typeface="Cambria Math"/>
                            <a:ea typeface="Cambria Math"/>
                            <a:cs typeface="Cambria Math"/>
                          </a:rPr>
                          <m:t>=</m:t>
                        </m:r>
                        <m:r>
                          <a:rPr lang="vi-VN" sz="2100" dirty="0">
                            <a:solidFill>
                              <a:srgbClr val="6B21A8"/>
                            </a:solidFill>
                            <a:latin typeface="Cambria Math"/>
                            <a:ea typeface="Cambria Math"/>
                            <a:cs typeface="Cambria Math"/>
                          </a:rPr>
                          <m:t>2</m:t>
                        </m:r>
                        <m:r>
                          <m:rPr>
                            <m:sty m:val="p"/>
                          </m:rPr>
                          <a:rPr lang="vi-VN" sz="2100" dirty="0">
                            <a:solidFill>
                              <a:srgbClr val="6B21A8"/>
                            </a:solidFill>
                            <a:latin typeface="Cambria Math"/>
                            <a:ea typeface="Cambria Math"/>
                            <a:cs typeface="Cambria Math"/>
                          </a:rPr>
                          <m:t>⇒</m:t>
                        </m:r>
                        <m:sSub>
                          <m:e>
                            <m:r>
                              <a:rPr lang="vi-VN" sz="2100" dirty="0">
                                <a:solidFill>
                                  <a:srgbClr val="6B21A8"/>
                                </a:solidFill>
                                <a:latin typeface="Cambria Math"/>
                                <a:ea typeface="Cambria Math"/>
                                <a:cs typeface="Cambria Math"/>
                              </a:rPr>
                              <m:t>y</m:t>
                            </m:r>
                          </m:e>
                          <m:sub>
                            <m:r>
                              <a:rPr lang="vi-VN" sz="2100" dirty="0">
                                <a:solidFill>
                                  <a:srgbClr val="6B21A8"/>
                                </a:solidFill>
                                <a:latin typeface="Cambria Math"/>
                                <a:ea typeface="Cambria Math"/>
                                <a:cs typeface="Cambria Math"/>
                              </a:rPr>
                              <m:t>CT</m:t>
                            </m:r>
                          </m:sub>
                        </m:sSub>
                        <m:r>
                          <m:rPr>
                            <m:sty m:val="p"/>
                          </m:rPr>
                          <a:rPr lang="vi-VN" sz="2100" dirty="0">
                            <a:solidFill>
                              <a:srgbClr val="6B21A8"/>
                            </a:solidFill>
                            <a:latin typeface="Cambria Math"/>
                            <a:ea typeface="Cambria Math"/>
                            <a:cs typeface="Cambria Math"/>
                          </a:rPr>
                          <m:t>=−</m:t>
                        </m:r>
                        <m:r>
                          <a:rPr lang="vi-VN" sz="2100" dirty="0">
                            <a:solidFill>
                              <a:srgbClr val="6B21A8"/>
                            </a:solidFill>
                            <a:latin typeface="Cambria Math"/>
                            <a:ea typeface="Cambria Math"/>
                            <a:cs typeface="Cambria Math"/>
                          </a:rPr>
                          <m:t>2</m:t>
                        </m:r>
                      </m:oMath>
                    </a14:m>
                  </a:p>
                </p:txBody>
              </p:sp>
            </mc:Choice>
          </mc:AlternateContent>
        </p:grpSp>
        <p:sp>
          <p:nvSpPr>
            <p:cNvPr id="25" name="Rectangle 25"/>
            <p:cNvSpPr/>
            <p:nvPr/>
          </p:nvSpPr>
          <p:spPr>
            <a:xfrm>
              <a:off x="6000750" y="1190625"/>
              <a:ext cx="5715000" cy="5191125"/>
            </a:xfrm>
            <a:prstGeom prst="roundRect">
              <a:avLst>
                <a:gd name="adj" fmla="val 3670"/>
              </a:avLst>
            </a:prstGeom>
            <a:solidFill>
              <a:srgbClr val="FFFFFF"/>
            </a:solidFill>
            <a:ln w="19050">
              <a:solidFill>
                <a:srgbClr val="CBD5E1"/>
              </a:solidFill>
            </a:ln>
          </p:spPr>
        </p:sp>
        <p:sp>
          <p:nvSpPr>
            <p:cNvPr id="26" name="TextBox 26"/>
            <p:cNvSpPr txBox="1"/>
            <p:nvPr/>
          </p:nvSpPr>
          <p:spPr>
            <a:xfrm>
              <a:off x="6357581" y="1376362"/>
              <a:ext cx="5001338" cy="440055"/>
            </a:xfrm>
            <a:prstGeom prst="rect">
              <a:avLst/>
            </a:prstGeom>
            <a:noFill/>
            <a:ln>
              <a:noFill/>
            </a:ln>
          </p:spPr>
          <p:txBody>
            <a:bodyPr wrap="none" lIns="0" tIns="0" rIns="0" bIns="0" anchor="t" anchorCtr="0">
              <a:spAutoFit/>
            </a:bodyPr>
            <a:lstStyle/>
            <a:p>
              <a:pPr algn="ctr"/>
              <a:r>
                <a:rPr lang="vi-VN" sz="2250" b="1" dirty="0">
                  <a:solidFill>
                    <a:srgbClr val="047857"/>
                  </a:solidFill>
                  <a:latin typeface="+mn-lt"/>
                  <a:ea typeface="+mn-ea"/>
                  <a:cs typeface="+mn-cs"/>
                </a:rPr>
                <a:t>BẢNG BIẾN THIÊN HOÀN CHỈNH</a:t>
              </a:r>
            </a:p>
          </p:txBody>
        </p:sp>
        <p:pic>
          <p:nvPicPr>
            <p:cNvPr id="27" name="Image 27"/>
            <p:cNvPicPr>
              <a:picLocks noChangeAspect="1"/>
            </p:cNvPicPr>
            <p:nvPr/>
          </p:nvPicPr>
          <p:blipFill>
            <a:blip r:embed="rId2"/>
            <a:stretch>
              <a:fillRect/>
            </a:stretch>
          </p:blipFill>
          <p:spPr>
            <a:xfrm>
              <a:off x="6191250" y="2320379"/>
              <a:ext cx="5334000" cy="1931491"/>
            </a:xfrm>
            <a:prstGeom prst="rect">
              <a:avLst/>
            </a:prstGeom>
          </p:spPr>
        </p:pic>
        <p:sp>
          <p:nvSpPr>
            <p:cNvPr id="28" name="Rectangle 28"/>
            <p:cNvSpPr/>
            <p:nvPr/>
          </p:nvSpPr>
          <p:spPr>
            <a:xfrm>
              <a:off x="6191250" y="4953000"/>
              <a:ext cx="5334000" cy="1190625"/>
            </a:xfrm>
            <a:prstGeom prst="roundRect">
              <a:avLst>
                <a:gd name="adj" fmla="val 11200"/>
              </a:avLst>
            </a:prstGeom>
            <a:solidFill>
              <a:srgbClr val="F8FAFC"/>
            </a:solidFill>
            <a:ln w="14288">
              <a:solidFill>
                <a:srgbClr val="E2E8F0"/>
              </a:solidFill>
            </a:ln>
          </p:spPr>
        </p:sp>
        <p:sp>
          <p:nvSpPr>
            <p:cNvPr id="29" name="TextBox 29"/>
            <p:cNvSpPr txBox="1"/>
            <p:nvPr/>
          </p:nvSpPr>
          <p:spPr>
            <a:xfrm>
              <a:off x="6371082" y="5154930"/>
              <a:ext cx="5231690"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TỌA ĐỘ ĐIỂM CỰC TRỊ CỦA ĐỒ THỊ:</a:t>
              </a:r>
            </a:p>
          </p:txBody>
        </p:sp>
        <mc:AlternateContent xmlns:mc="http://schemas.openxmlformats.org/markup-compatibility/2006">
          <mc:Choice xmlns:a14="http://schemas.microsoft.com/office/drawing/2010/main" Requires="a14">
            <p:sp>
              <p:nvSpPr>
                <p:cNvPr id="30" name="TextBox 30"/>
                <p:cNvSpPr txBox="1"/>
                <p:nvPr/>
              </p:nvSpPr>
              <p:spPr>
                <a:xfrm>
                  <a:off x="6370320" y="5600700"/>
                  <a:ext cx="5323113" cy="468630"/>
                </a:xfrm>
                <a:prstGeom prst="rect">
                  <a:avLst/>
                </a:prstGeom>
                <a:noFill/>
                <a:ln>
                  <a:noFill/>
                </a:ln>
              </p:spPr>
              <p:txBody>
                <a:bodyPr wrap="none" lIns="0" tIns="0" rIns="0" bIns="0" anchor="t" anchorCtr="0">
                  <a:spAutoFit/>
                </a:bodyPr>
                <a:lstStyle/>
                <a:p>
                  <a:pPr algn="l"/>
                  <a:r>
                    <a:rPr lang="vi-VN" sz="2250" b="1" dirty="0">
                      <a:solidFill>
                        <a:srgbClr val="1E40AF"/>
                      </a:solidFill>
                      <a:latin typeface="+mn-lt"/>
                      <a:ea typeface="+mn-ea"/>
                      <a:cs typeface="+mn-cs"/>
                    </a:rPr>
                    <a:t xml:space="preserve">Điểm CĐ: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A</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0</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2</m:t>
                          </m:r>
                        </m:e>
                      </m:d>
                    </m:oMath>
                  </a14:m>
                  <a:r>
                    <a:rPr lang="vi-VN" sz="2250" b="1" dirty="0">
                      <a:solidFill>
                        <a:srgbClr val="1E40AF"/>
                      </a:solidFill>
                      <a:latin typeface="+mn-lt"/>
                      <a:ea typeface="+mn-ea"/>
                      <a:cs typeface="+mn-cs"/>
                    </a:rPr>
                    <a:t xml:space="preserve"> | Điểm CT: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B</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2</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2</m:t>
                          </m:r>
                        </m:e>
                      </m:d>
                    </m:oMath>
                  </a14:m>
                </a:p>
              </p:txBody>
            </p:sp>
          </mc:Choice>
        </mc:AlternateContent>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45298" y="459105"/>
              <a:ext cx="1614504"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VẬN DỤNG</a:t>
              </a:r>
            </a:p>
          </p:txBody>
        </p:sp>
        <p:sp>
          <p:nvSpPr>
            <p:cNvPr id="7" name="TextBox 7"/>
            <p:cNvSpPr txBox="1"/>
            <p:nvPr/>
          </p:nvSpPr>
          <p:spPr>
            <a:xfrm>
              <a:off x="2179320" y="452438"/>
              <a:ext cx="8877279"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VẬN DỤNG: ỨNG DỤNG THỰC TẾ TRONG CHUYỂN ĐỘNG</a:t>
              </a:r>
            </a:p>
          </p:txBody>
        </p:sp>
      </p:grpSp>
      <p:grpSp>
        <p:nvGrpSpPr>
          <p:cNvPr id="25" name="content"/>
          <p:cNvGrpSpPr/>
          <p:nvPr/>
        </p:nvGrpSpPr>
        <p:grpSpPr>
          <a:xfrm>
            <a:off x="476250" y="1190625"/>
            <a:ext cx="11446289" cy="5191125"/>
            <a:chOff x="476250" y="1190625"/>
            <a:chExt cx="11446289" cy="5191125"/>
          </a:xfrm>
        </p:grpSpPr>
        <p:sp>
          <p:nvSpPr>
            <p:cNvPr id="9" name="Rectangle 9"/>
            <p:cNvSpPr/>
            <p:nvPr/>
          </p:nvSpPr>
          <p:spPr>
            <a:xfrm>
              <a:off x="476250" y="1190625"/>
              <a:ext cx="57150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6476851"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BÀI TOÁN TỐC ĐỘ RƠI / PHÓNG TÊN LỬA</a:t>
              </a:r>
            </a:p>
          </p:txBody>
        </p:sp>
        <mc:AlternateContent xmlns:mc="http://schemas.openxmlformats.org/markup-compatibility/2006">
          <mc:Choice xmlns:a14="http://schemas.microsoft.com/office/drawing/2010/main" Requires="a14">
            <p:sp>
              <p:nvSpPr>
                <p:cNvPr id="11" name="TextBox 11"/>
                <p:cNvSpPr txBox="1"/>
                <p:nvPr/>
              </p:nvSpPr>
              <p:spPr>
                <a:xfrm>
                  <a:off x="798957" y="1916430"/>
                  <a:ext cx="6171986"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Vận tốc một vật chuyển động theo thời gian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t</m:t>
                      </m:r>
                    </m:oMath>
                  </a14:m>
                  <a:r>
                    <a:rPr lang="vi-VN" sz="2100" b="1" dirty="0">
                      <a:solidFill>
                        <a:srgbClr val="0F172A"/>
                      </a:solidFill>
                      <a:latin typeface="+mn-lt"/>
                      <a:ea typeface="+mn-ea"/>
                      <a:cs typeface="+mn-cs"/>
                    </a:rPr>
                    <a:t>:</a:t>
                  </a:r>
                </a:p>
              </p:txBody>
            </p:sp>
          </mc:Choice>
        </mc:AlternateContent>
        <p:sp>
          <p:nvSpPr>
            <p:cNvPr id="12" name="Rectangle 12"/>
            <p:cNvSpPr/>
            <p:nvPr/>
          </p:nvSpPr>
          <p:spPr>
            <a:xfrm>
              <a:off x="809625" y="2381250"/>
              <a:ext cx="5048250" cy="714375"/>
            </a:xfrm>
            <a:prstGeom prst="roundRect">
              <a:avLst>
                <a:gd name="adj" fmla="val 16000"/>
              </a:avLst>
            </a:prstGeom>
            <a:solidFill>
              <a:srgbClr val="FEF3C7"/>
            </a:solidFill>
            <a:ln w="14288">
              <a:solidFill>
                <a:srgbClr val="FDE68A"/>
              </a:solidFill>
            </a:ln>
          </p:spPr>
        </p:sp>
        <mc:AlternateContent xmlns:mc="http://schemas.openxmlformats.org/markup-compatibility/2006">
          <mc:Choice xmlns:a14="http://schemas.microsoft.com/office/drawing/2010/main" Requires="a14">
            <p:sp>
              <p:nvSpPr>
                <p:cNvPr id="13" name="TextBox 13"/>
                <p:cNvSpPr txBox="1"/>
                <p:nvPr/>
              </p:nvSpPr>
              <p:spPr>
                <a:xfrm>
                  <a:off x="1753960" y="2530697"/>
                  <a:ext cx="3159580" cy="519208"/>
                </a:xfrm>
                <a:prstGeom prst="rect">
                  <a:avLst/>
                </a:prstGeom>
                <a:noFill/>
                <a:ln>
                  <a:noFill/>
                </a:ln>
              </p:spPr>
              <p:txBody>
                <a:bodyPr wrap="none" lIns="0" tIns="0" rIns="0" bIns="0" anchor="t" anchorCtr="0">
                  <a:spAutoFit/>
                </a:bodyPr>
                <a:lstStyle/>
                <a:p>
                  <a:pPr algn="ctr"/>
                  <a14:m>
                    <m:oMath xmlns:a="http://schemas.openxmlformats.org/drawingml/2006/main" xmlns:m="http://schemas.openxmlformats.org/officeDocument/2006/math">
                      <m:r>
                        <a:rPr lang="vi-VN" sz="2250" dirty="0">
                          <a:solidFill>
                            <a:srgbClr val="B45309"/>
                          </a:solidFill>
                          <a:latin typeface="Cambria Math"/>
                          <a:ea typeface="Cambria Math"/>
                          <a:cs typeface="Cambria Math"/>
                        </a:rPr>
                        <m:t>v</m:t>
                      </m:r>
                      <m:d>
                        <m:dPr>
                          <m:begChr m:val="("/>
                          <m:sepChr m:val=""/>
                          <m:endChr m:val=")"/>
                          <m:grow m:val="on"/>
                          <m:ctrlPr>
                            <a:rPr lang="vi-VN" sz="2250" dirty="0">
                              <a:solidFill>
                                <a:srgbClr val="B45309"/>
                              </a:solidFill>
                              <a:latin typeface="Cambria Math"/>
                              <a:ea typeface="Cambria Math"/>
                              <a:cs typeface="Cambria Math"/>
                            </a:rPr>
                          </m:ctrlPr>
                        </m:dPr>
                        <m:e>
                          <m:r>
                            <a:rPr lang="vi-VN" sz="2250" dirty="0">
                              <a:solidFill>
                                <a:srgbClr val="B45309"/>
                              </a:solidFill>
                              <a:latin typeface="Cambria Math"/>
                              <a:ea typeface="Cambria Math"/>
                              <a:cs typeface="Cambria Math"/>
                            </a:rPr>
                            <m:t>t</m:t>
                          </m:r>
                        </m:e>
                      </m:d>
                      <m:r>
                        <m:rPr>
                          <m:sty m:val="p"/>
                        </m:rPr>
                        <a:rPr lang="vi-VN" sz="2250" dirty="0">
                          <a:solidFill>
                            <a:srgbClr val="B45309"/>
                          </a:solidFill>
                          <a:latin typeface="Cambria Math"/>
                          <a:ea typeface="Cambria Math"/>
                          <a:cs typeface="Cambria Math"/>
                        </a:rPr>
                        <m:t>=−</m:t>
                      </m:r>
                      <m:sSup>
                        <m:e>
                          <m:r>
                            <a:rPr lang="vi-VN" sz="2250" dirty="0">
                              <a:solidFill>
                                <a:srgbClr val="B45309"/>
                              </a:solidFill>
                              <a:latin typeface="Cambria Math"/>
                              <a:ea typeface="Cambria Math"/>
                              <a:cs typeface="Cambria Math"/>
                            </a:rPr>
                            <m:t>t</m:t>
                          </m:r>
                        </m:e>
                        <m:sup>
                          <m:r>
                            <a:rPr lang="vi-VN" sz="2250" dirty="0">
                              <a:solidFill>
                                <a:srgbClr val="B45309"/>
                              </a:solidFill>
                              <a:latin typeface="Cambria Math"/>
                              <a:ea typeface="Cambria Math"/>
                              <a:cs typeface="Cambria Math"/>
                            </a:rPr>
                            <m:t>2</m:t>
                          </m:r>
                        </m:sup>
                      </m:sSup>
                      <m:r>
                        <m:rPr>
                          <m:sty m:val="p"/>
                        </m:rPr>
                        <a:rPr lang="vi-VN" sz="2250" dirty="0">
                          <a:solidFill>
                            <a:srgbClr val="B45309"/>
                          </a:solidFill>
                          <a:latin typeface="Cambria Math"/>
                          <a:ea typeface="Cambria Math"/>
                          <a:cs typeface="Cambria Math"/>
                        </a:rPr>
                        <m:t>+</m:t>
                      </m:r>
                      <m:r>
                        <a:rPr lang="vi-VN" sz="2250" dirty="0">
                          <a:solidFill>
                            <a:srgbClr val="B45309"/>
                          </a:solidFill>
                          <a:latin typeface="Cambria Math"/>
                          <a:ea typeface="Cambria Math"/>
                          <a:cs typeface="Cambria Math"/>
                        </a:rPr>
                        <m:t>6t</m:t>
                      </m:r>
                      <m:r>
                        <m:rPr>
                          <m:sty m:val="p"/>
                        </m:rPr>
                        <a:rPr lang="vi-VN" sz="2250" dirty="0">
                          <a:solidFill>
                            <a:srgbClr val="B45309"/>
                          </a:solidFill>
                          <a:latin typeface="Cambria Math"/>
                          <a:ea typeface="Cambria Math"/>
                          <a:cs typeface="Cambria Math"/>
                        </a:rPr>
                        <m:t>+</m:t>
                      </m:r>
                      <m:r>
                        <a:rPr lang="vi-VN" sz="2250" dirty="0">
                          <a:solidFill>
                            <a:srgbClr val="B45309"/>
                          </a:solidFill>
                          <a:latin typeface="Cambria Math"/>
                          <a:ea typeface="Cambria Math"/>
                          <a:cs typeface="Cambria Math"/>
                        </a:rPr>
                        <m:t>8</m:t>
                      </m:r>
                    </m:oMath>
                  </a14:m>
                  <a:r>
                    <a:rPr lang="vi-VN" sz="2250" b="1" dirty="0">
                      <a:solidFill>
                        <a:srgbClr val="B45309"/>
                      </a:solidFill>
                      <a:latin typeface="+mn-lt"/>
                      <a:ea typeface="+mn-ea"/>
                      <a:cs typeface="+mn-cs"/>
                    </a:rPr>
                    <a:t xml:space="preserve"> </a:t>
                  </a:r>
                  <a14:m>
                    <m:oMath xmlns:a="http://schemas.openxmlformats.org/drawingml/2006/main" xmlns:m="http://schemas.openxmlformats.org/officeDocument/2006/math">
                      <m:d>
                        <m:dPr>
                          <m:begChr m:val="("/>
                          <m:sepChr m:val=""/>
                          <m:endChr m:val=")"/>
                          <m:grow m:val="on"/>
                          <m:ctrlPr>
                            <a:rPr lang="vi-VN" sz="2250" dirty="0">
                              <a:solidFill>
                                <a:srgbClr val="B45309"/>
                              </a:solidFill>
                              <a:latin typeface="Cambria Math"/>
                              <a:ea typeface="Cambria Math"/>
                              <a:cs typeface="Cambria Math"/>
                            </a:rPr>
                          </m:ctrlPr>
                        </m:dPr>
                        <m:e>
                          <m:r>
                            <a:rPr lang="vi-VN" sz="2250" dirty="0">
                              <a:solidFill>
                                <a:srgbClr val="B45309"/>
                              </a:solidFill>
                              <a:latin typeface="Cambria Math"/>
                              <a:ea typeface="Cambria Math"/>
                              <a:cs typeface="Cambria Math"/>
                            </a:rPr>
                            <m:t>t</m:t>
                          </m:r>
                          <m:r>
                            <m:rPr>
                              <m:sty m:val="p"/>
                            </m:rPr>
                            <a:rPr lang="vi-VN" sz="2250" dirty="0">
                              <a:solidFill>
                                <a:srgbClr val="B45309"/>
                              </a:solidFill>
                              <a:latin typeface="Cambria Math"/>
                              <a:ea typeface="Cambria Math"/>
                              <a:cs typeface="Cambria Math"/>
                            </a:rPr>
                            <m:t>≥</m:t>
                          </m:r>
                          <m:r>
                            <a:rPr lang="vi-VN" sz="2250" dirty="0">
                              <a:solidFill>
                                <a:srgbClr val="B45309"/>
                              </a:solidFill>
                              <a:latin typeface="Cambria Math"/>
                              <a:ea typeface="Cambria Math"/>
                              <a:cs typeface="Cambria Math"/>
                            </a:rPr>
                            <m:t>0</m:t>
                          </m:r>
                        </m:e>
                      </m:d>
                    </m:oMath>
                  </a14:m>
                </a:p>
              </p:txBody>
            </p:sp>
          </mc:Choice>
        </mc:AlternateContent>
        <p:sp>
          <p:nvSpPr>
            <p:cNvPr id="14" name="TextBox 14"/>
            <p:cNvSpPr txBox="1"/>
            <p:nvPr/>
          </p:nvSpPr>
          <p:spPr>
            <a:xfrm>
              <a:off x="798195" y="3186112"/>
              <a:ext cx="6204020" cy="440055"/>
            </a:xfrm>
            <a:prstGeom prst="rect">
              <a:avLst/>
            </a:prstGeom>
            <a:noFill/>
            <a:ln>
              <a:noFill/>
            </a:ln>
          </p:spPr>
          <p:txBody>
            <a:bodyPr wrap="none" lIns="0" tIns="0" rIns="0" bIns="0" anchor="t" anchorCtr="0">
              <a:spAutoFit/>
            </a:bodyPr>
            <a:lstStyle/>
            <a:p>
              <a:pPr algn="l"/>
              <a:r>
                <a:rPr lang="vi-VN" sz="2250" b="1" dirty="0">
                  <a:solidFill>
                    <a:srgbClr val="B91C1C"/>
                  </a:solidFill>
                  <a:latin typeface="+mn-lt"/>
                  <a:ea typeface="+mn-ea"/>
                  <a:cs typeface="+mn-cs"/>
                </a:rPr>
                <a:t>Hỏi: Tại thời điểm nào vận tốc đạt cực đại?</a:t>
              </a:r>
            </a:p>
          </p:txBody>
        </p:sp>
        <p:sp>
          <p:nvSpPr>
            <p:cNvPr id="15" name="Line 15"/>
            <p:cNvSpPr/>
            <p:nvPr/>
          </p:nvSpPr>
          <p:spPr>
            <a:xfrm>
              <a:off x="809625" y="3714750"/>
              <a:ext cx="5000625" cy="9525"/>
            </a:xfrm>
            <a:custGeom>
              <a:avLst/>
              <a:gdLst/>
              <a:ahLst/>
              <a:cxnLst/>
              <a:rect l="l" t="t" r="r" b="b"/>
              <a:pathLst>
                <a:path w="5000625" h="9525">
                  <a:moveTo>
                    <a:pt x="0" y="0"/>
                  </a:moveTo>
                  <a:lnTo>
                    <a:pt x="5000625" y="0"/>
                  </a:lnTo>
                </a:path>
              </a:pathLst>
            </a:custGeom>
            <a:noFill/>
            <a:ln w="19050">
              <a:solidFill>
                <a:srgbClr val="E2E8F0"/>
              </a:solidFill>
            </a:ln>
          </p:spPr>
        </p:sp>
        <p:sp>
          <p:nvSpPr>
            <p:cNvPr id="16" name="TextBox 16"/>
            <p:cNvSpPr txBox="1"/>
            <p:nvPr/>
          </p:nvSpPr>
          <p:spPr>
            <a:xfrm>
              <a:off x="798195" y="3900488"/>
              <a:ext cx="5249753"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ÁP DỤNG ĐẠO HÀM TÌM CỰC TRỊ:</a:t>
              </a:r>
            </a:p>
          </p:txBody>
        </p:sp>
        <mc:AlternateContent xmlns:mc="http://schemas.openxmlformats.org/markup-compatibility/2006">
          <mc:Choice xmlns:a14="http://schemas.microsoft.com/office/drawing/2010/main" Requires="a14">
            <p:sp>
              <p:nvSpPr>
                <p:cNvPr id="17" name="TextBox 17"/>
                <p:cNvSpPr txBox="1"/>
                <p:nvPr/>
              </p:nvSpPr>
              <p:spPr>
                <a:xfrm>
                  <a:off x="798957" y="4331970"/>
                  <a:ext cx="2984363"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Gia tốc: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v'</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t</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2t</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6</m:t>
                      </m:r>
                    </m:oMath>
                  </a14:m>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798957" y="4760595"/>
                  <a:ext cx="5242995"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Giải: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v'</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t</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2t</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6</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t</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oMath>
                  </a14:m>
                  <a:r>
                    <a:rPr lang="vi-VN" sz="2100" b="1" dirty="0">
                      <a:solidFill>
                        <a:srgbClr val="0F172A"/>
                      </a:solidFill>
                      <a:latin typeface="+mn-lt"/>
                      <a:ea typeface="+mn-ea"/>
                      <a:cs typeface="+mn-cs"/>
                    </a:rPr>
                    <a:t xml:space="preserve"> (giây)</a:t>
                  </a:r>
                </a:p>
              </p:txBody>
            </p:sp>
          </mc:Choice>
        </mc:AlternateContent>
        <p:sp>
          <p:nvSpPr>
            <p:cNvPr id="19" name="Rectangle 19"/>
            <p:cNvSpPr/>
            <p:nvPr/>
          </p:nvSpPr>
          <p:spPr>
            <a:xfrm>
              <a:off x="809625" y="5334000"/>
              <a:ext cx="5048250" cy="857250"/>
            </a:xfrm>
            <a:prstGeom prst="roundRect">
              <a:avLst>
                <a:gd name="adj" fmla="val 13333"/>
              </a:avLst>
            </a:prstGeom>
            <a:solidFill>
              <a:srgbClr val="F0FDF4"/>
            </a:solidFill>
            <a:ln w="19050">
              <a:solidFill>
                <a:srgbClr val="BBF7D0"/>
              </a:solidFill>
            </a:ln>
          </p:spPr>
        </p:sp>
        <mc:AlternateContent xmlns:mc="http://schemas.openxmlformats.org/markup-compatibility/2006">
          <mc:Choice xmlns:a14="http://schemas.microsoft.com/office/drawing/2010/main" Requires="a14">
            <p:sp>
              <p:nvSpPr>
                <p:cNvPr id="20" name="TextBox 20"/>
                <p:cNvSpPr txBox="1"/>
                <p:nvPr/>
              </p:nvSpPr>
              <p:spPr>
                <a:xfrm>
                  <a:off x="988695" y="5643562"/>
                  <a:ext cx="7238890" cy="487775"/>
                </a:xfrm>
                <a:prstGeom prst="rect">
                  <a:avLst/>
                </a:prstGeom>
                <a:noFill/>
                <a:ln>
                  <a:noFill/>
                </a:ln>
              </p:spPr>
              <p:txBody>
                <a:bodyPr wrap="none" lIns="0" tIns="0" rIns="0" bIns="0" anchor="t" anchorCtr="0">
                  <a:spAutoFit/>
                </a:bodyPr>
                <a:lstStyle/>
                <a:p>
                  <a:pPr algn="l"/>
                  <a:r>
                    <a:rPr lang="vi-VN" sz="2250" b="1" dirty="0">
                      <a:solidFill>
                        <a:srgbClr val="166534"/>
                      </a:solidFill>
                      <a:latin typeface="+mn-lt"/>
                      <a:ea typeface="+mn-ea"/>
                      <a:cs typeface="+mn-cs"/>
                    </a:rPr>
                    <a:t xml:space="preserve">⇒ Sau 3 giây, vận tốc đạt cực đại </a:t>
                  </a:r>
                  <a14:m>
                    <m:oMath xmlns:a="http://schemas.openxmlformats.org/drawingml/2006/main" xmlns:m="http://schemas.openxmlformats.org/officeDocument/2006/math">
                      <m:sSub>
                        <m:e>
                          <m:r>
                            <a:rPr lang="vi-VN" sz="2250" dirty="0">
                              <a:solidFill>
                                <a:srgbClr val="166534"/>
                              </a:solidFill>
                              <a:latin typeface="Cambria Math"/>
                              <a:ea typeface="Cambria Math"/>
                              <a:cs typeface="Cambria Math"/>
                            </a:rPr>
                            <m:t>v</m:t>
                          </m:r>
                        </m:e>
                        <m:sub>
                          <m:func>
                            <m:funcPr/>
                            <m:fName>
                              <m:r>
                                <m:rPr>
                                  <m:sty m:val="p"/>
                                </m:rPr>
                                <a:rPr lang="vi-VN" sz="2250" dirty="0">
                                  <a:solidFill>
                                    <a:srgbClr val="166534"/>
                                  </a:solidFill>
                                  <a:latin typeface="Cambria Math"/>
                                  <a:ea typeface="Cambria Math"/>
                                  <a:cs typeface="Cambria Math"/>
                                </a:rPr>
                                <m:t>max</m:t>
                              </m:r>
                            </m:fName>
                            <m:e/>
                          </m:func>
                        </m:sub>
                      </m:sSub>
                      <m:r>
                        <m:rPr>
                          <m:sty m:val="p"/>
                        </m:rPr>
                        <a:rPr lang="vi-VN" sz="2250" dirty="0">
                          <a:solidFill>
                            <a:srgbClr val="166534"/>
                          </a:solidFill>
                          <a:latin typeface="Cambria Math"/>
                          <a:ea typeface="Cambria Math"/>
                          <a:cs typeface="Cambria Math"/>
                        </a:rPr>
                        <m:t>=</m:t>
                      </m:r>
                      <m:r>
                        <a:rPr lang="vi-VN" sz="2250" dirty="0">
                          <a:solidFill>
                            <a:srgbClr val="166534"/>
                          </a:solidFill>
                          <a:latin typeface="Cambria Math"/>
                          <a:ea typeface="Cambria Math"/>
                          <a:cs typeface="Cambria Math"/>
                        </a:rPr>
                        <m:t>17</m:t>
                      </m:r>
                      <m:r>
                        <m:rPr>
                          <m:nor m:val="on"/>
                        </m:rPr>
                        <a:rPr lang="vi-VN" sz="2250" dirty="0">
                          <a:solidFill>
                            <a:srgbClr val="166534"/>
                          </a:solidFill>
                          <a:latin typeface="Cambria Math"/>
                          <a:ea typeface="Cambria Math"/>
                          <a:cs typeface="Cambria Math"/>
                        </a:rPr>
                        <m:t xml:space="preserve"> m/s</m:t>
                      </m:r>
                    </m:oMath>
                  </a14:m>
                </a:p>
              </p:txBody>
            </p:sp>
          </mc:Choice>
        </mc:AlternateContent>
        <p:sp>
          <p:nvSpPr>
            <p:cNvPr id="21" name="Rectangle 21"/>
            <p:cNvSpPr/>
            <p:nvPr/>
          </p:nvSpPr>
          <p:spPr>
            <a:xfrm>
              <a:off x="6381750" y="1190625"/>
              <a:ext cx="5334000" cy="5191125"/>
            </a:xfrm>
            <a:prstGeom prst="roundRect">
              <a:avLst>
                <a:gd name="adj" fmla="val 3303"/>
              </a:avLst>
            </a:prstGeom>
            <a:solidFill>
              <a:srgbClr val="FFFFFF"/>
            </a:solidFill>
            <a:ln w="19050">
              <a:solidFill>
                <a:srgbClr val="CBD5E1"/>
              </a:solidFill>
            </a:ln>
          </p:spPr>
        </p:sp>
        <p:sp>
          <p:nvSpPr>
            <p:cNvPr id="22" name="TextBox 22"/>
            <p:cNvSpPr txBox="1"/>
            <p:nvPr/>
          </p:nvSpPr>
          <p:spPr>
            <a:xfrm>
              <a:off x="6370395" y="1423988"/>
              <a:ext cx="5356711" cy="440055"/>
            </a:xfrm>
            <a:prstGeom prst="rect">
              <a:avLst/>
            </a:prstGeom>
            <a:noFill/>
            <a:ln>
              <a:noFill/>
            </a:ln>
          </p:spPr>
          <p:txBody>
            <a:bodyPr wrap="none" lIns="0" tIns="0" rIns="0" bIns="0" anchor="t" anchorCtr="0">
              <a:spAutoFit/>
            </a:bodyPr>
            <a:lstStyle/>
            <a:p>
              <a:pPr algn="ctr"/>
              <a:r>
                <a:rPr lang="vi-VN" sz="2250" b="1" dirty="0">
                  <a:solidFill>
                    <a:srgbClr val="047857"/>
                  </a:solidFill>
                  <a:latin typeface="+mn-lt"/>
                  <a:ea typeface="+mn-ea"/>
                  <a:cs typeface="+mn-cs"/>
                </a:rPr>
                <a:t>ĐỒ THỊ VẬN TỐC THEO THỜI GIAN</a:t>
              </a:r>
            </a:p>
          </p:txBody>
        </p:sp>
        <p:pic>
          <p:nvPicPr>
            <p:cNvPr id="23" name="Image 23"/>
            <p:cNvPicPr>
              <a:picLocks noChangeAspect="1"/>
            </p:cNvPicPr>
            <p:nvPr/>
          </p:nvPicPr>
          <p:blipFill>
            <a:blip r:embed="rId2"/>
            <a:stretch>
              <a:fillRect/>
            </a:stretch>
          </p:blipFill>
          <p:spPr>
            <a:xfrm>
              <a:off x="6572250" y="1984474"/>
              <a:ext cx="4953000" cy="3841552"/>
            </a:xfrm>
            <a:prstGeom prst="rect">
              <a:avLst/>
            </a:prstGeom>
          </p:spPr>
        </p:pic>
        <p:sp>
          <p:nvSpPr>
            <p:cNvPr id="24" name="TextBox 24"/>
            <p:cNvSpPr txBox="1"/>
            <p:nvPr/>
          </p:nvSpPr>
          <p:spPr>
            <a:xfrm>
              <a:off x="6174961" y="5916930"/>
              <a:ext cx="5747578"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Đỉnh parabol biểu thị giá trị cực đại thực tế</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285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70270" y="459105"/>
              <a:ext cx="1564560"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TỔNG KẾT</a:t>
              </a:r>
            </a:p>
          </p:txBody>
        </p:sp>
        <p:sp>
          <p:nvSpPr>
            <p:cNvPr id="7" name="TextBox 7"/>
            <p:cNvSpPr txBox="1"/>
            <p:nvPr/>
          </p:nvSpPr>
          <p:spPr>
            <a:xfrm>
              <a:off x="2179320" y="452438"/>
              <a:ext cx="6601794"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TỔNG KẾT BÀI HỌC VÀ NHIỆM VỤ VỀ NHÀ</a:t>
              </a:r>
            </a:p>
          </p:txBody>
        </p:sp>
      </p:grpSp>
      <p:grpSp>
        <p:nvGrpSpPr>
          <p:cNvPr id="33" name="content"/>
          <p:cNvGrpSpPr/>
          <p:nvPr/>
        </p:nvGrpSpPr>
        <p:grpSpPr>
          <a:xfrm>
            <a:off x="476250" y="1190625"/>
            <a:ext cx="11624169" cy="5191125"/>
            <a:chOff x="476250" y="1190625"/>
            <a:chExt cx="11624169" cy="5191125"/>
          </a:xfrm>
        </p:grpSpPr>
        <p:sp>
          <p:nvSpPr>
            <p:cNvPr id="9" name="Rectangle 9"/>
            <p:cNvSpPr/>
            <p:nvPr/>
          </p:nvSpPr>
          <p:spPr>
            <a:xfrm>
              <a:off x="476250" y="1190625"/>
              <a:ext cx="638175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4592455"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4 GHI NHỚ TRỌNG TÂM BÀI 1</a:t>
              </a:r>
            </a:p>
          </p:txBody>
        </p:sp>
        <p:grpSp>
          <p:nvGrpSpPr>
            <p:cNvPr id="22" name="Group 22"/>
            <p:cNvGrpSpPr/>
            <p:nvPr/>
          </p:nvGrpSpPr>
          <p:grpSpPr>
            <a:xfrm>
              <a:off x="798957" y="2093595"/>
              <a:ext cx="7740247" cy="2852928"/>
              <a:chOff x="798957" y="2093595"/>
              <a:chExt cx="7740247" cy="2852928"/>
            </a:xfrm>
          </p:grpSpPr>
          <p:sp>
            <p:nvSpPr>
              <p:cNvPr id="11" name="TextBox 11"/>
              <p:cNvSpPr txBox="1"/>
              <p:nvPr/>
            </p:nvSpPr>
            <p:spPr>
              <a:xfrm>
                <a:off x="798957" y="2106930"/>
                <a:ext cx="2294192"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1. Tính đơn điệu:</a:t>
                </a:r>
              </a:p>
            </p:txBody>
          </p:sp>
          <mc:AlternateContent xmlns:mc="http://schemas.openxmlformats.org/markup-compatibility/2006">
            <mc:Choice xmlns:a14="http://schemas.microsoft.com/office/drawing/2010/main" Requires="a14">
              <p:sp>
                <p:nvSpPr>
                  <p:cNvPr id="12" name="TextBox 12"/>
                  <p:cNvSpPr txBox="1"/>
                  <p:nvPr/>
                </p:nvSpPr>
                <p:spPr>
                  <a:xfrm>
                    <a:off x="2799207" y="2093595"/>
                    <a:ext cx="5707526" cy="43738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1E40AF"/>
                            </a:solidFill>
                            <a:latin typeface="Cambria Math"/>
                            <a:ea typeface="Cambria Math"/>
                            <a:cs typeface="Cambria Math"/>
                          </a:rPr>
                          <m:t>f'</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x</m:t>
                            </m:r>
                          </m:e>
                        </m:d>
                        <m:r>
                          <m:rPr>
                            <m:sty m:val="p"/>
                          </m:rPr>
                          <a:rPr lang="vi-VN" sz="2100" dirty="0">
                            <a:solidFill>
                              <a:srgbClr val="1E40AF"/>
                            </a:solidFill>
                            <a:latin typeface="Cambria Math"/>
                            <a:ea typeface="Cambria Math"/>
                            <a:cs typeface="Cambria Math"/>
                          </a:rPr>
                          <m:t>&gt;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(Đồng biến),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f'</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x</m:t>
                            </m:r>
                          </m:e>
                        </m:d>
                        <m:r>
                          <m:rPr>
                            <m:sty m:val="p"/>
                          </m:rPr>
                          <a:rPr lang="vi-VN" sz="2100" dirty="0">
                            <a:solidFill>
                              <a:srgbClr val="1E40AF"/>
                            </a:solidFill>
                            <a:latin typeface="Cambria Math"/>
                            <a:ea typeface="Cambria Math"/>
                            <a:cs typeface="Cambria Math"/>
                          </a:rPr>
                          <m:t>&lt;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(Nghịch biến)</a:t>
                    </a:r>
                  </a:p>
                </p:txBody>
              </p:sp>
            </mc:Choice>
          </mc:AlternateContent>
          <p:sp>
            <p:nvSpPr>
              <p:cNvPr id="13" name="Line 13"/>
              <p:cNvSpPr/>
              <p:nvPr/>
            </p:nvSpPr>
            <p:spPr>
              <a:xfrm>
                <a:off x="809625" y="2667000"/>
                <a:ext cx="5715000" cy="9525"/>
              </a:xfrm>
              <a:custGeom>
                <a:avLst/>
                <a:gdLst/>
                <a:ahLst/>
                <a:cxnLst/>
                <a:rect l="l" t="t" r="r" b="b"/>
                <a:pathLst>
                  <a:path w="5715000" h="9525">
                    <a:moveTo>
                      <a:pt x="0" y="0"/>
                    </a:moveTo>
                    <a:lnTo>
                      <a:pt x="5715000" y="0"/>
                    </a:lnTo>
                  </a:path>
                </a:pathLst>
              </a:custGeom>
              <a:noFill/>
              <a:ln w="19050">
                <a:solidFill>
                  <a:srgbClr val="F1F5F9"/>
                </a:solidFill>
              </a:ln>
            </p:spPr>
          </p:sp>
          <p:sp>
            <p:nvSpPr>
              <p:cNvPr id="14" name="TextBox 14"/>
              <p:cNvSpPr txBox="1"/>
              <p:nvPr/>
            </p:nvSpPr>
            <p:spPr>
              <a:xfrm>
                <a:off x="798957" y="2916555"/>
                <a:ext cx="2309810"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2. Định lý cực trị:</a:t>
                </a:r>
              </a:p>
            </p:txBody>
          </p:sp>
          <mc:AlternateContent xmlns:mc="http://schemas.openxmlformats.org/markup-compatibility/2006">
            <mc:Choice xmlns:a14="http://schemas.microsoft.com/office/drawing/2010/main" Requires="a14">
              <p:sp>
                <p:nvSpPr>
                  <p:cNvPr id="15" name="TextBox 15"/>
                  <p:cNvSpPr txBox="1"/>
                  <p:nvPr/>
                </p:nvSpPr>
                <p:spPr>
                  <a:xfrm>
                    <a:off x="2799207" y="2903220"/>
                    <a:ext cx="4790742" cy="43738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d>
                          <m:dPr>
                            <m:begChr m:val="("/>
                            <m:sepChr m:val=""/>
                            <m:endChr m:val=")"/>
                            <m:grow m:val="on"/>
                            <m:ctrlPr>
                              <a:rPr lang="vi-VN" sz="2100" dirty="0">
                                <a:solidFill>
                                  <a:srgbClr val="1E40AF"/>
                                </a:solidFill>
                                <a:latin typeface="Cambria Math"/>
                                <a:ea typeface="Cambria Math"/>
                                <a:cs typeface="Cambria Math"/>
                              </a:rPr>
                            </m:ctrlPr>
                          </m:dPr>
                          <m:e>
                            <m:r>
                              <m:rPr>
                                <m:sty m:val="p"/>
                              </m:rPr>
                              <a:rPr lang="vi-VN" sz="2100" dirty="0">
                                <a:solidFill>
                                  <a:srgbClr val="1E40AF"/>
                                </a:solidFill>
                                <a:latin typeface="Cambria Math"/>
                                <a:ea typeface="Cambria Math"/>
                                <a:cs typeface="Cambria Math"/>
                              </a:rPr>
                              <m:t>+</m:t>
                            </m:r>
                          </m:e>
                        </m:d>
                        <m:r>
                          <m:rPr>
                            <m:sty m:val="p"/>
                          </m:rPr>
                          <a:rPr lang="vi-VN" sz="2100" dirty="0">
                            <a:solidFill>
                              <a:srgbClr val="1E40AF"/>
                            </a:solidFill>
                            <a:latin typeface="Cambria Math"/>
                            <a:ea typeface="Cambria Math"/>
                            <a:cs typeface="Cambria Math"/>
                          </a:rPr>
                          <m:t>→</m:t>
                        </m:r>
                        <m:d>
                          <m:dPr>
                            <m:begChr m:val="("/>
                            <m:sepChr m:val=""/>
                            <m:endChr m:val=")"/>
                            <m:grow m:val="on"/>
                            <m:ctrlPr>
                              <a:rPr lang="vi-VN" sz="2100" dirty="0">
                                <a:solidFill>
                                  <a:srgbClr val="1E40AF"/>
                                </a:solidFill>
                                <a:latin typeface="Cambria Math"/>
                                <a:ea typeface="Cambria Math"/>
                                <a:cs typeface="Cambria Math"/>
                              </a:rPr>
                            </m:ctrlPr>
                          </m:dPr>
                          <m:e>
                            <m:r>
                              <m:rPr>
                                <m:sty m:val="p"/>
                              </m:rPr>
                              <a:rPr lang="vi-VN" sz="2100" dirty="0">
                                <a:solidFill>
                                  <a:srgbClr val="1E40AF"/>
                                </a:solidFill>
                                <a:latin typeface="Cambria Math"/>
                                <a:ea typeface="Cambria Math"/>
                                <a:cs typeface="Cambria Math"/>
                              </a:rPr>
                              <m:t>−</m:t>
                            </m:r>
                          </m:e>
                        </m:d>
                      </m:oMath>
                    </a14:m>
                    <a:r>
                      <a:rPr lang="vi-VN" sz="2100" b="1" dirty="0">
                        <a:solidFill>
                          <a:srgbClr val="1E40AF"/>
                        </a:solidFill>
                        <a:latin typeface="+mn-lt"/>
                        <a:ea typeface="+mn-ea"/>
                        <a:cs typeface="+mn-cs"/>
                      </a:rPr>
                      <a:t xml:space="preserve"> (Cực đại) | </a:t>
                    </a:r>
                    <a14:m>
                      <m:oMath xmlns:a="http://schemas.openxmlformats.org/drawingml/2006/main" xmlns:m="http://schemas.openxmlformats.org/officeDocument/2006/math">
                        <m:d>
                          <m:dPr>
                            <m:begChr m:val="("/>
                            <m:sepChr m:val=""/>
                            <m:endChr m:val=")"/>
                            <m:grow m:val="on"/>
                            <m:ctrlPr>
                              <a:rPr lang="vi-VN" sz="2100" dirty="0">
                                <a:solidFill>
                                  <a:srgbClr val="1E40AF"/>
                                </a:solidFill>
                                <a:latin typeface="Cambria Math"/>
                                <a:ea typeface="Cambria Math"/>
                                <a:cs typeface="Cambria Math"/>
                              </a:rPr>
                            </m:ctrlPr>
                          </m:dPr>
                          <m:e>
                            <m:r>
                              <m:rPr>
                                <m:sty m:val="p"/>
                              </m:rPr>
                              <a:rPr lang="vi-VN" sz="2100" dirty="0">
                                <a:solidFill>
                                  <a:srgbClr val="1E40AF"/>
                                </a:solidFill>
                                <a:latin typeface="Cambria Math"/>
                                <a:ea typeface="Cambria Math"/>
                                <a:cs typeface="Cambria Math"/>
                              </a:rPr>
                              <m:t>−</m:t>
                            </m:r>
                          </m:e>
                        </m:d>
                        <m:r>
                          <m:rPr>
                            <m:sty m:val="p"/>
                          </m:rPr>
                          <a:rPr lang="vi-VN" sz="2100" dirty="0">
                            <a:solidFill>
                              <a:srgbClr val="1E40AF"/>
                            </a:solidFill>
                            <a:latin typeface="Cambria Math"/>
                            <a:ea typeface="Cambria Math"/>
                            <a:cs typeface="Cambria Math"/>
                          </a:rPr>
                          <m:t>→</m:t>
                        </m:r>
                        <m:d>
                          <m:dPr>
                            <m:begChr m:val="("/>
                            <m:sepChr m:val=""/>
                            <m:endChr m:val=")"/>
                            <m:grow m:val="on"/>
                            <m:ctrlPr>
                              <a:rPr lang="vi-VN" sz="2100" dirty="0">
                                <a:solidFill>
                                  <a:srgbClr val="1E40AF"/>
                                </a:solidFill>
                                <a:latin typeface="Cambria Math"/>
                                <a:ea typeface="Cambria Math"/>
                                <a:cs typeface="Cambria Math"/>
                              </a:rPr>
                            </m:ctrlPr>
                          </m:dPr>
                          <m:e>
                            <m:r>
                              <m:rPr>
                                <m:sty m:val="p"/>
                              </m:rPr>
                              <a:rPr lang="vi-VN" sz="2100" dirty="0">
                                <a:solidFill>
                                  <a:srgbClr val="1E40AF"/>
                                </a:solidFill>
                                <a:latin typeface="Cambria Math"/>
                                <a:ea typeface="Cambria Math"/>
                                <a:cs typeface="Cambria Math"/>
                              </a:rPr>
                              <m:t>+</m:t>
                            </m:r>
                          </m:e>
                        </m:d>
                      </m:oMath>
                    </a14:m>
                    <a:r>
                      <a:rPr lang="vi-VN" sz="2100" b="1" dirty="0">
                        <a:solidFill>
                          <a:srgbClr val="1E40AF"/>
                        </a:solidFill>
                        <a:latin typeface="+mn-lt"/>
                        <a:ea typeface="+mn-ea"/>
                        <a:cs typeface="+mn-cs"/>
                      </a:rPr>
                      <a:t xml:space="preserve"> (Cực tiểu)</a:t>
                    </a:r>
                  </a:p>
                </p:txBody>
              </p:sp>
            </mc:Choice>
          </mc:AlternateContent>
          <p:sp>
            <p:nvSpPr>
              <p:cNvPr id="16" name="Line 16"/>
              <p:cNvSpPr/>
              <p:nvPr/>
            </p:nvSpPr>
            <p:spPr>
              <a:xfrm>
                <a:off x="809625" y="3476625"/>
                <a:ext cx="5715000" cy="9525"/>
              </a:xfrm>
              <a:custGeom>
                <a:avLst/>
                <a:gdLst/>
                <a:ahLst/>
                <a:cxnLst/>
                <a:rect l="l" t="t" r="r" b="b"/>
                <a:pathLst>
                  <a:path w="5715000" h="9525">
                    <a:moveTo>
                      <a:pt x="0" y="0"/>
                    </a:moveTo>
                    <a:lnTo>
                      <a:pt x="5715000" y="0"/>
                    </a:lnTo>
                  </a:path>
                </a:pathLst>
              </a:custGeom>
              <a:noFill/>
              <a:ln w="19050">
                <a:solidFill>
                  <a:srgbClr val="F1F5F9"/>
                </a:solidFill>
              </a:ln>
            </p:spPr>
          </p:sp>
          <p:sp>
            <p:nvSpPr>
              <p:cNvPr id="17" name="TextBox 17"/>
              <p:cNvSpPr txBox="1"/>
              <p:nvPr/>
            </p:nvSpPr>
            <p:spPr>
              <a:xfrm>
                <a:off x="798957" y="3726180"/>
                <a:ext cx="2924550"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3. Phân biệt 3 k.niệm:</a:t>
                </a:r>
              </a:p>
            </p:txBody>
          </p:sp>
          <mc:AlternateContent xmlns:mc="http://schemas.openxmlformats.org/markup-compatibility/2006">
            <mc:Choice xmlns:a14="http://schemas.microsoft.com/office/drawing/2010/main" Requires="a14">
              <p:sp>
                <p:nvSpPr>
                  <p:cNvPr id="18" name="TextBox 18"/>
                  <p:cNvSpPr txBox="1"/>
                  <p:nvPr/>
                </p:nvSpPr>
                <p:spPr>
                  <a:xfrm>
                    <a:off x="2799207" y="3712845"/>
                    <a:ext cx="5739997" cy="481927"/>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Điểm cực trị </a:t>
                    </a:r>
                    <a14:m>
                      <m:oMath xmlns:a="http://schemas.openxmlformats.org/drawingml/2006/main" xmlns:m="http://schemas.openxmlformats.org/officeDocument/2006/math">
                        <m:sSub>
                          <m:e>
                            <m:r>
                              <a:rPr lang="vi-VN" sz="2100" dirty="0">
                                <a:solidFill>
                                  <a:srgbClr val="047857"/>
                                </a:solidFill>
                                <a:latin typeface="Cambria Math"/>
                                <a:ea typeface="Cambria Math"/>
                                <a:cs typeface="Cambria Math"/>
                              </a:rPr>
                              <m:t>x</m:t>
                            </m:r>
                          </m:e>
                          <m:sub>
                            <m:r>
                              <a:rPr lang="vi-VN" sz="2100" dirty="0">
                                <a:solidFill>
                                  <a:srgbClr val="047857"/>
                                </a:solidFill>
                                <a:latin typeface="Cambria Math"/>
                                <a:ea typeface="Cambria Math"/>
                                <a:cs typeface="Cambria Math"/>
                              </a:rPr>
                              <m:t>0</m:t>
                            </m:r>
                          </m:sub>
                        </m:sSub>
                      </m:oMath>
                    </a14:m>
                    <a:r>
                      <a:rPr lang="vi-VN" sz="2100" b="1" dirty="0">
                        <a:solidFill>
                          <a:srgbClr val="047857"/>
                        </a:solidFill>
                        <a:latin typeface="+mn-lt"/>
                        <a:ea typeface="+mn-ea"/>
                        <a:cs typeface="+mn-cs"/>
                      </a:rPr>
                      <a:t xml:space="preserve">, Giá trị </a:t>
                    </a:r>
                    <a14:m>
                      <m:oMath xmlns:a="http://schemas.openxmlformats.org/drawingml/2006/main" xmlns:m="http://schemas.openxmlformats.org/officeDocument/2006/math">
                        <m:sSub>
                          <m:e>
                            <m:r>
                              <a:rPr lang="vi-VN" sz="2100" dirty="0">
                                <a:solidFill>
                                  <a:srgbClr val="047857"/>
                                </a:solidFill>
                                <a:latin typeface="Cambria Math"/>
                                <a:ea typeface="Cambria Math"/>
                                <a:cs typeface="Cambria Math"/>
                              </a:rPr>
                              <m:t>y</m:t>
                            </m:r>
                          </m:e>
                          <m:sub>
                            <m:r>
                              <a:rPr lang="vi-VN" sz="2100" dirty="0">
                                <a:solidFill>
                                  <a:srgbClr val="047857"/>
                                </a:solidFill>
                                <a:latin typeface="Cambria Math"/>
                                <a:ea typeface="Cambria Math"/>
                                <a:cs typeface="Cambria Math"/>
                              </a:rPr>
                              <m:t>0</m:t>
                            </m:r>
                          </m:sub>
                        </m:sSub>
                      </m:oMath>
                    </a14:m>
                    <a:r>
                      <a:rPr lang="vi-VN" sz="2100" b="1" dirty="0">
                        <a:solidFill>
                          <a:srgbClr val="047857"/>
                        </a:solidFill>
                        <a:latin typeface="+mn-lt"/>
                        <a:ea typeface="+mn-ea"/>
                        <a:cs typeface="+mn-cs"/>
                      </a:rPr>
                      <a:t xml:space="preserve">, Đồ thị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M</m:t>
                        </m:r>
                        <m:d>
                          <m:dPr>
                            <m:begChr m:val="("/>
                            <m:sepChr m:val=""/>
                            <m:endChr m:val=")"/>
                            <m:grow m:val="on"/>
                            <m:ctrlPr>
                              <a:rPr lang="vi-VN" sz="2100" dirty="0">
                                <a:solidFill>
                                  <a:srgbClr val="047857"/>
                                </a:solidFill>
                                <a:latin typeface="Cambria Math"/>
                                <a:ea typeface="Cambria Math"/>
                                <a:cs typeface="Cambria Math"/>
                              </a:rPr>
                            </m:ctrlPr>
                          </m:dPr>
                          <m:e>
                            <m:sSub>
                              <m:e>
                                <m:r>
                                  <a:rPr lang="vi-VN" sz="2100" dirty="0">
                                    <a:solidFill>
                                      <a:srgbClr val="047857"/>
                                    </a:solidFill>
                                    <a:latin typeface="Cambria Math"/>
                                    <a:ea typeface="Cambria Math"/>
                                    <a:cs typeface="Cambria Math"/>
                                  </a:rPr>
                                  <m:t>x</m:t>
                                </m:r>
                              </m:e>
                              <m:sub>
                                <m:r>
                                  <a:rPr lang="vi-VN" sz="2100" dirty="0">
                                    <a:solidFill>
                                      <a:srgbClr val="047857"/>
                                    </a:solidFill>
                                    <a:latin typeface="Cambria Math"/>
                                    <a:ea typeface="Cambria Math"/>
                                    <a:cs typeface="Cambria Math"/>
                                  </a:rPr>
                                  <m:t>0</m:t>
                                </m:r>
                              </m:sub>
                            </m:sSub>
                            <m:r>
                              <m:rPr>
                                <m:sty m:val="p"/>
                              </m:rPr>
                              <a:rPr lang="vi-VN" sz="2100" dirty="0">
                                <a:solidFill>
                                  <a:srgbClr val="047857"/>
                                </a:solidFill>
                                <a:latin typeface="Cambria Math"/>
                                <a:ea typeface="Cambria Math"/>
                                <a:cs typeface="Cambria Math"/>
                              </a:rPr>
                              <m:t>;</m:t>
                            </m:r>
                            <m:sSub>
                              <m:e>
                                <m:r>
                                  <a:rPr lang="vi-VN" sz="2100" dirty="0">
                                    <a:solidFill>
                                      <a:srgbClr val="047857"/>
                                    </a:solidFill>
                                    <a:latin typeface="Cambria Math"/>
                                    <a:ea typeface="Cambria Math"/>
                                    <a:cs typeface="Cambria Math"/>
                                  </a:rPr>
                                  <m:t>y</m:t>
                                </m:r>
                              </m:e>
                              <m:sub>
                                <m:r>
                                  <a:rPr lang="vi-VN" sz="2100" dirty="0">
                                    <a:solidFill>
                                      <a:srgbClr val="047857"/>
                                    </a:solidFill>
                                    <a:latin typeface="Cambria Math"/>
                                    <a:ea typeface="Cambria Math"/>
                                    <a:cs typeface="Cambria Math"/>
                                  </a:rPr>
                                  <m:t>0</m:t>
                                </m:r>
                              </m:sub>
                            </m:sSub>
                          </m:e>
                        </m:d>
                      </m:oMath>
                    </a14:m>
                  </a:p>
                </p:txBody>
              </p:sp>
            </mc:Choice>
          </mc:AlternateContent>
          <p:sp>
            <p:nvSpPr>
              <p:cNvPr id="19" name="Line 19"/>
              <p:cNvSpPr/>
              <p:nvPr/>
            </p:nvSpPr>
            <p:spPr>
              <a:xfrm>
                <a:off x="809625" y="4286250"/>
                <a:ext cx="5715000" cy="9525"/>
              </a:xfrm>
              <a:custGeom>
                <a:avLst/>
                <a:gdLst/>
                <a:ahLst/>
                <a:cxnLst/>
                <a:rect l="l" t="t" r="r" b="b"/>
                <a:pathLst>
                  <a:path w="5715000" h="9525">
                    <a:moveTo>
                      <a:pt x="0" y="0"/>
                    </a:moveTo>
                    <a:lnTo>
                      <a:pt x="5715000" y="0"/>
                    </a:lnTo>
                  </a:path>
                </a:pathLst>
              </a:custGeom>
              <a:noFill/>
              <a:ln w="19050">
                <a:solidFill>
                  <a:srgbClr val="F1F5F9"/>
                </a:solidFill>
              </a:ln>
            </p:spPr>
          </p:sp>
          <p:sp>
            <p:nvSpPr>
              <p:cNvPr id="20" name="TextBox 20"/>
              <p:cNvSpPr txBox="1"/>
              <p:nvPr/>
            </p:nvSpPr>
            <p:spPr>
              <a:xfrm>
                <a:off x="798957" y="4535805"/>
                <a:ext cx="2467336"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4. Kỹ năng cốt lõi:</a:t>
                </a:r>
              </a:p>
            </p:txBody>
          </p:sp>
          <p:sp>
            <p:nvSpPr>
              <p:cNvPr id="21" name="TextBox 21"/>
              <p:cNvSpPr txBox="1"/>
              <p:nvPr/>
            </p:nvSpPr>
            <p:spPr>
              <a:xfrm>
                <a:off x="2799207" y="4535805"/>
                <a:ext cx="5144959" cy="410718"/>
              </a:xfrm>
              <a:prstGeom prst="rect">
                <a:avLst/>
              </a:prstGeom>
              <a:noFill/>
              <a:ln>
                <a:noFill/>
              </a:ln>
            </p:spPr>
            <p:txBody>
              <a:bodyPr wrap="none" lIns="0" tIns="0" rIns="0" bIns="0" anchor="t" anchorCtr="0">
                <a:spAutoFit/>
              </a:bodyPr>
              <a:lstStyle/>
              <a:p>
                <a:pPr algn="l"/>
                <a:r>
                  <a:rPr lang="vi-VN" sz="2100" b="1" dirty="0">
                    <a:solidFill>
                      <a:srgbClr val="D97706"/>
                    </a:solidFill>
                    <a:latin typeface="+mn-lt"/>
                    <a:ea typeface="+mn-ea"/>
                    <a:cs typeface="+mn-cs"/>
                  </a:rPr>
                  <a:t>Lập thành thạo Bảng biến thiên (BBT)</a:t>
                </a:r>
              </a:p>
            </p:txBody>
          </p:sp>
        </p:grpSp>
        <p:sp>
          <p:nvSpPr>
            <p:cNvPr id="23" name="Rectangle 23"/>
            <p:cNvSpPr/>
            <p:nvPr/>
          </p:nvSpPr>
          <p:spPr>
            <a:xfrm>
              <a:off x="7143750" y="1190625"/>
              <a:ext cx="4572000" cy="5191125"/>
            </a:xfrm>
            <a:prstGeom prst="roundRect">
              <a:avLst>
                <a:gd name="adj" fmla="val 3750"/>
              </a:avLst>
            </a:prstGeom>
            <a:solidFill>
              <a:srgbClr val="FFFFFF"/>
            </a:solidFill>
            <a:ln w="19050">
              <a:solidFill>
                <a:srgbClr val="CBD5E1"/>
              </a:solidFill>
            </a:ln>
          </p:spPr>
        </p:sp>
        <p:sp>
          <p:nvSpPr>
            <p:cNvPr id="24" name="TextBox 24"/>
            <p:cNvSpPr txBox="1"/>
            <p:nvPr/>
          </p:nvSpPr>
          <p:spPr>
            <a:xfrm>
              <a:off x="7465695" y="1423988"/>
              <a:ext cx="2885746" cy="440055"/>
            </a:xfrm>
            <a:prstGeom prst="rect">
              <a:avLst/>
            </a:prstGeom>
            <a:noFill/>
            <a:ln>
              <a:noFill/>
            </a:ln>
          </p:spPr>
          <p:txBody>
            <a:bodyPr wrap="none" lIns="0" tIns="0" rIns="0" bIns="0" anchor="t" anchorCtr="0">
              <a:spAutoFit/>
            </a:bodyPr>
            <a:lstStyle/>
            <a:p>
              <a:pPr algn="l"/>
              <a:r>
                <a:rPr lang="vi-VN" sz="2250" b="1" dirty="0">
                  <a:solidFill>
                    <a:srgbClr val="9333EA"/>
                  </a:solidFill>
                  <a:latin typeface="+mn-lt"/>
                  <a:ea typeface="+mn-ea"/>
                  <a:cs typeface="+mn-cs"/>
                </a:rPr>
                <a:t>NHIỆM VỤ VỀ NHÀ</a:t>
              </a:r>
            </a:p>
          </p:txBody>
        </p:sp>
        <p:sp>
          <p:nvSpPr>
            <p:cNvPr id="25" name="Rectangle 25"/>
            <p:cNvSpPr/>
            <p:nvPr/>
          </p:nvSpPr>
          <p:spPr>
            <a:xfrm>
              <a:off x="7381875" y="2000250"/>
              <a:ext cx="4095750" cy="1857375"/>
            </a:xfrm>
            <a:prstGeom prst="roundRect">
              <a:avLst>
                <a:gd name="adj" fmla="val 7179"/>
              </a:avLst>
            </a:prstGeom>
            <a:solidFill>
              <a:srgbClr val="F8FAFC"/>
            </a:solidFill>
            <a:ln w="14288">
              <a:solidFill>
                <a:srgbClr val="CBD5E1"/>
              </a:solidFill>
            </a:ln>
          </p:spPr>
        </p:sp>
        <p:sp>
          <p:nvSpPr>
            <p:cNvPr id="26" name="TextBox 26"/>
            <p:cNvSpPr txBox="1"/>
            <p:nvPr/>
          </p:nvSpPr>
          <p:spPr>
            <a:xfrm>
              <a:off x="7609332" y="2249805"/>
              <a:ext cx="2797592"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Làm bài 1.1 đến 1.8</a:t>
              </a:r>
            </a:p>
          </p:txBody>
        </p:sp>
        <p:sp>
          <p:nvSpPr>
            <p:cNvPr id="27" name="TextBox 27"/>
            <p:cNvSpPr txBox="1"/>
            <p:nvPr/>
          </p:nvSpPr>
          <p:spPr>
            <a:xfrm>
              <a:off x="7609332" y="2678430"/>
              <a:ext cx="3751805" cy="410718"/>
            </a:xfrm>
            <a:prstGeom prst="rect">
              <a:avLst/>
            </a:prstGeom>
            <a:noFill/>
            <a:ln>
              <a:noFill/>
            </a:ln>
          </p:spPr>
          <p:txBody>
            <a:bodyPr wrap="none" lIns="0" tIns="0" rIns="0" bIns="0" anchor="t" anchorCtr="0">
              <a:spAutoFit/>
            </a:bodyPr>
            <a:lstStyle/>
            <a:p>
              <a:pPr algn="l"/>
              <a:r>
                <a:rPr lang="vi-VN" sz="2100" dirty="0">
                  <a:solidFill>
                    <a:srgbClr val="64748B"/>
                  </a:solidFill>
                  <a:latin typeface="+mn-lt"/>
                  <a:ea typeface="+mn-ea"/>
                  <a:cs typeface="+mn-cs"/>
                </a:rPr>
                <a:t>(SGK Toán 12, trang 11 - 12)</a:t>
              </a:r>
            </a:p>
          </p:txBody>
        </p:sp>
        <p:sp>
          <p:nvSpPr>
            <p:cNvPr id="28" name="TextBox 28"/>
            <p:cNvSpPr txBox="1"/>
            <p:nvPr/>
          </p:nvSpPr>
          <p:spPr>
            <a:xfrm>
              <a:off x="7609332" y="3202305"/>
              <a:ext cx="4491087" cy="410718"/>
            </a:xfrm>
            <a:prstGeom prst="rect">
              <a:avLst/>
            </a:prstGeom>
            <a:noFill/>
            <a:ln>
              <a:noFill/>
            </a:ln>
          </p:spPr>
          <p:txBody>
            <a:bodyPr wrap="none" lIns="0" tIns="0" rIns="0" bIns="0" anchor="t" anchorCtr="0">
              <a:spAutoFit/>
            </a:bodyPr>
            <a:lstStyle/>
            <a:p>
              <a:pPr algn="l" marL="167461" indent="-167461">
                <a:buClr>
                  <a:srgbClr val="1E40AF"/>
                </a:buClr>
                <a:buSzTx/>
                <a:buFontTx/>
                <a:buChar char="•"/>
              </a:pPr>
              <a:r>
                <a:rPr lang="vi-VN" sz="2100" b="1" dirty="0">
                  <a:solidFill>
                    <a:srgbClr val="1E40AF"/>
                  </a:solidFill>
                  <a:latin typeface="+mn-lt"/>
                  <a:ea typeface="+mn-ea"/>
                  <a:cs typeface="+mn-cs"/>
                </a:rPr>
                <a:t>Đọc trước Bài 2: GTLN &amp; GTNN</a:t>
              </a:r>
            </a:p>
          </p:txBody>
        </p:sp>
        <p:sp>
          <p:nvSpPr>
            <p:cNvPr id="29" name="Rectangle 29"/>
            <p:cNvSpPr/>
            <p:nvPr/>
          </p:nvSpPr>
          <p:spPr>
            <a:xfrm>
              <a:off x="7381875" y="4143375"/>
              <a:ext cx="4095750" cy="2000250"/>
            </a:xfrm>
            <a:prstGeom prst="roundRect">
              <a:avLst>
                <a:gd name="adj" fmla="val 7619"/>
              </a:avLst>
            </a:prstGeom>
            <a:solidFill>
              <a:srgbClr val="0F172A"/>
            </a:solidFill>
            <a:ln>
              <a:noFill/>
            </a:ln>
          </p:spPr>
        </p:sp>
        <p:sp>
          <p:nvSpPr>
            <p:cNvPr id="30" name="TextBox 30"/>
            <p:cNvSpPr txBox="1"/>
            <p:nvPr/>
          </p:nvSpPr>
          <p:spPr>
            <a:xfrm>
              <a:off x="8203796" y="4455795"/>
              <a:ext cx="2451909" cy="469392"/>
            </a:xfrm>
            <a:prstGeom prst="rect">
              <a:avLst/>
            </a:prstGeom>
            <a:noFill/>
            <a:ln>
              <a:noFill/>
            </a:ln>
          </p:spPr>
          <p:txBody>
            <a:bodyPr wrap="none" lIns="0" tIns="0" rIns="0" bIns="0" anchor="t" anchorCtr="0">
              <a:spAutoFit/>
            </a:bodyPr>
            <a:lstStyle/>
            <a:p>
              <a:pPr algn="ctr"/>
              <a:r>
                <a:rPr lang="vi-VN" sz="2400" b="1" dirty="0">
                  <a:solidFill>
                    <a:srgbClr val="FFFFFF"/>
                  </a:solidFill>
                  <a:latin typeface="+mn-lt"/>
                  <a:ea typeface="+mn-ea"/>
                  <a:cs typeface="+mn-cs"/>
                </a:rPr>
                <a:t>CHÚC CÁC EM</a:t>
              </a:r>
            </a:p>
          </p:txBody>
        </p:sp>
        <p:sp>
          <p:nvSpPr>
            <p:cNvPr id="31" name="TextBox 31"/>
            <p:cNvSpPr txBox="1"/>
            <p:nvPr/>
          </p:nvSpPr>
          <p:spPr>
            <a:xfrm>
              <a:off x="7378826" y="4884420"/>
              <a:ext cx="4101847" cy="469392"/>
            </a:xfrm>
            <a:prstGeom prst="rect">
              <a:avLst/>
            </a:prstGeom>
            <a:noFill/>
            <a:ln>
              <a:noFill/>
            </a:ln>
          </p:spPr>
          <p:txBody>
            <a:bodyPr wrap="none" lIns="0" tIns="0" rIns="0" bIns="0" anchor="t" anchorCtr="0">
              <a:spAutoFit/>
            </a:bodyPr>
            <a:lstStyle/>
            <a:p>
              <a:pPr algn="ctr"/>
              <a:r>
                <a:rPr lang="vi-VN" sz="2400" b="1" dirty="0">
                  <a:solidFill>
                    <a:srgbClr val="38BDF8"/>
                  </a:solidFill>
                  <a:latin typeface="+mn-lt"/>
                  <a:ea typeface="+mn-ea"/>
                  <a:cs typeface="+mn-cs"/>
                </a:rPr>
                <a:t>HỌC TỐT MÔN TOÁN 12!</a:t>
              </a:r>
            </a:p>
          </p:txBody>
        </p:sp>
        <p:sp>
          <p:nvSpPr>
            <p:cNvPr id="32" name="TextBox 32"/>
            <p:cNvSpPr txBox="1"/>
            <p:nvPr/>
          </p:nvSpPr>
          <p:spPr>
            <a:xfrm>
              <a:off x="7827298" y="5535930"/>
              <a:ext cx="3204903" cy="410718"/>
            </a:xfrm>
            <a:prstGeom prst="rect">
              <a:avLst/>
            </a:prstGeom>
            <a:noFill/>
            <a:ln>
              <a:noFill/>
            </a:ln>
          </p:spPr>
          <p:txBody>
            <a:bodyPr wrap="none" lIns="0" tIns="0" rIns="0" bIns="0" anchor="t" anchorCtr="0">
              <a:spAutoFit/>
            </a:bodyPr>
            <a:lstStyle/>
            <a:p>
              <a:pPr algn="ctr"/>
              <a:r>
                <a:rPr lang="vi-VN" sz="2100" b="1" dirty="0">
                  <a:solidFill>
                    <a:srgbClr val="94A3B8"/>
                  </a:solidFill>
                  <a:latin typeface="+mn-lt"/>
                  <a:ea typeface="+mn-ea"/>
                  <a:cs typeface="+mn-cs"/>
                </a:rPr>
                <a:t>Thầy Nguyễn Văn Sang</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ai1_toan12_don_dieu_cuc_tri">
  <a:themeElements>
    <a:clrScheme name="bai1_toan12_don_dieu_cuc_tri">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i1_toan12_don_dieu_cuc_tri">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i1_toan12_don_dieu_cuc_tr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ai1_toan12_don_dieu_cuc_tri">
  <a:themeElements>
    <a:clrScheme name="bai1_toan12_don_dieu_cuc_tri">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i1_toan12_don_dieu_cuc_tri">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i1_toan12_don_dieu_cuc_tr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vi-VN</dc:language>
  <cp:lastModifiedBy/>
  <cp:revision>1</cp:revision>
  <dcterms:created xsi:type="dcterms:W3CDTF">2026-09-21T10:37:55Z</dcterms:created>
  <dcterms:modified xsi:type="dcterms:W3CDTF">2026-09-21T10:37:55Z</dcterms:modified>
  <cp:category/>
  <cp:contentStatus/>
</cp:coreProperties>
</file>