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7"/>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16x9"/>
  <p:notesSz cx="6858000" cy="9144000"/>
  <p:defaultText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  <Relationship Id="rId2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VN"/>
          </a:p>
        </p:txBody>
      </p:sp>
    </p:spTree>
  </p:cSld>
  <p:clrMap bg1="lt1" tx1="dk1" bg2="lt2" tx2="dk2" accent1="accent1" accent2="accent2" accent3="accent3" accent4="accent4" accent5="accent5" accent6="accent6" hlink="hlink" folHlink="folHlink"/>
  <p:hf/>
  <p:notesStyle>
    <a:lvl1pPr marL="0" algn="l">
      <a:defRPr sz="1200" lang="vi-V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Kính chào quý thầy cô và các em học sinh. Hôm nay chúng ta bắt đầu bài học đầu tiên của Giải tích 12: Tính đơn điệu và cực trị của hàm số.</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Tình huống mở đầu: Bài toán chuyển động của chất điểm trên trục số. Để trả lời chất điểm sang phải hay sang trái, ta cần công cụ khảo sát tính đơn điệu của hàm số.</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I.a: HĐ1 và Khái niệm tính đơn điệu. Các em quan sát định nghĩa bằng ngôn ngữ giải tích: x1 &lt; x2 kéo theo f(x1) &lt; f(x2) thì đồng biến, ngược lại là nghịch biến.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Chú ý hình học: Đồ thị đồng biến đi lên từ trái sang phải, nghịch biến đi xuống. Khi không nói rõ tập K thì hiểu là xét trên tập xác định.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Ví dụ 1 và Luyện tập 1: Rèn luyện kỹ năng quan sát đồ thị hàm trị tuyệt đối và hàm bậc ba để chỉ ra các khoảng đồng biến, nghịch biến.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Định lý cốt lõi: Mối liên hệ giữa dấu đạo hàm và tính đơn điệu. f' dương thì hàm đồng biến, f' âm thì hàm nghịch biến.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Chú ý mở rộng: Định lý vẫn đúng khi đạo hàm bằng 0 tại hữu hạn điểm, như hàm số y = x^3 trong Luyện tập 2 có đạo hàm bằng 0 tại x = 0 nhưng vẫn đồng biến trên 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Quy trình 4 bước chuẩn SGK: Tìm TXĐ, tính đạo hàm tìm nghiệm, lập bảng biến thiên và kết luận các khoảng.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Ví dụ 3: Xét tính đơn điệu của hàm bậc ba y = -x^3 + 3x^2 - 1 qua đầy đủ 4 bước và bảng biến thiên.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Ví dụ 4: Hàm phân thức y = (x - 1)/(x + 1). Lưu ý không được dùng ký hiệu hợp khi kết luận các khoảng đồng biến.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Vận dụng 1: Giải trọn vẹn tình huống mở đầu. Vận tốc dương thì vật sang phải trong khoảng từ 0 đến 6,05 giây, sau đó sang trái.</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II.a: Khái niệm cực trị của hàm số. Điểm cực đại là đỉnh đồi cao nhất trong lân cận, điểm cực tiểu là đáy thung lũng.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Chú ý phân biệt rõ: Điểm cực trị của hàm số x0, Giá trị cực trị y0, và Điểm cực trị của đồ thị hàm số M(x0; y0).</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Ví dụ 5 và Luyện tập 4: Đọc cực trị trực tiếp từ đồ thị hàm trùng phương và hàm bậc ba.</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II.b: Định lý đổi dấu đạo hàm. Đổi dấu từ dương sang âm là cực đại, từ âm sang dương là cực tiểu.</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Ví dụ 6: Tìm cực trị hàm bậc ba y = 2x^3 - 9x^2 + 12x - 3. Điểm cực đại x = 1, điểm cực tiểu x = 2.</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Ví dụ 7 và Ví dụ 8: Hàm trùng phương có 3 cực trị, trong khi hàm phân thức y = (x+1)/(x-2) đạo hàm luôn âm nên không có cực trị.</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Luyện tập 5: Thực hành tìm cực trị của hàm bậc ba và hàm phân thức bậc hai trên bậc nhất.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Vận dụng 2: Bài toán phóng vật đạt độ cao lớn nhất sau 1 giây với độ cao 6 mét.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Hướng dẫn bài tập về nhà từ Bài 1.1 đến Bài 1.9 SGK trang 11-12 và tổng kết toàn bộ bài học.</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ai1_toan12_don_dieu_cuc_tri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vi-VN" smtClean="0"/>
              <a:t>1/27/13</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C1FF6DA9-008F-8B48-92A6-B652298478BF}" type="slidenum">
              <a:rPr lang="vi-VN" smtClean="0"/>
              <a:t>‹#›</a:t>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ai1_toan12_don_dieu_cuc_tri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vi-VN">
                <a:solidFill>
                  <a:schemeClr val="tx1">
                    <a:tint val="75000"/>
                  </a:schemeClr>
                </a:solidFill>
              </a:defRPr>
            </a:lvl1pPr>
          </a:lstStyle>
          <a:p>
            <a:fld id="{5BCAD085-E8A6-8845-BD4E-CB4CCA059FC4}" type="datetimeFigureOut">
              <a:rPr lang="vi-VN" smtClean="0"/>
              <a:t>1/27/13</a:t>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vi-VN">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vi-VN">
                <a:solidFill>
                  <a:schemeClr val="tx1">
                    <a:tint val="75000"/>
                  </a:schemeClr>
                </a:solidFill>
              </a:defRPr>
            </a:lvl1pPr>
          </a:lstStyle>
          <a:p>
            <a:fld id="{C1FF6DA9-008F-8B48-92A6-B652298478BF}" type="slidenum">
              <a:rPr lang="vi-VN" smtClean="0"/>
              <a:t>‹#›</a:t>
            </a:fld>
            <a:endParaRPr lang="vi-V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vi-V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vi-V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vi-V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vi-V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9pPr>
    </p:bodyStyle>
    <p:other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7d44b1559fa7132.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dd37659e682c2b0.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c1a2b03616816bd.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8f4e29efb339ae6.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738798a70696f56.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880f080dbc8f01b.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5201c3f58a74f1e.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614ab72b3ab6a69.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823c97205b99490.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sp>
        <p:nvSpPr>
          <p:cNvPr id="3" name="Ellipse 3"/>
          <p:cNvSpPr/>
          <p:nvPr/>
        </p:nvSpPr>
        <p:spPr>
          <a:xfrm>
            <a:off x="9334500" y="-857250"/>
            <a:ext cx="3810000" cy="3810000"/>
          </a:xfrm>
          <a:prstGeom prst="ellipse">
            <a:avLst/>
          </a:prstGeom>
          <a:solidFill>
            <a:srgbClr val="EFF6FF">
              <a:alpha val="60000"/>
            </a:srgbClr>
          </a:solidFill>
          <a:ln>
            <a:noFill/>
          </a:ln>
        </p:spPr>
      </p:sp>
      <p:sp>
        <p:nvSpPr>
          <p:cNvPr id="4" name="Ellipse 4"/>
          <p:cNvSpPr/>
          <p:nvPr/>
        </p:nvSpPr>
        <p:spPr>
          <a:xfrm>
            <a:off x="9144000" y="4381500"/>
            <a:ext cx="3048000" cy="3048000"/>
          </a:xfrm>
          <a:prstGeom prst="ellipse">
            <a:avLst/>
          </a:prstGeom>
          <a:solidFill>
            <a:srgbClr val="F0FDFA">
              <a:alpha val="60000"/>
            </a:srgbClr>
          </a:solidFill>
          <a:ln>
            <a:noFill/>
          </a:ln>
        </p:spPr>
      </p:sp>
      <p:grpSp>
        <p:nvGrpSpPr>
          <p:cNvPr id="21" name="cover-card"/>
          <p:cNvGrpSpPr/>
          <p:nvPr/>
        </p:nvGrpSpPr>
        <p:grpSpPr>
          <a:xfrm>
            <a:off x="508422" y="428625"/>
            <a:ext cx="11112078" cy="6000750"/>
            <a:chOff x="508422" y="428625"/>
            <a:chExt cx="11112078" cy="6000750"/>
          </a:xfrm>
        </p:grpSpPr>
        <p:sp>
          <p:nvSpPr>
            <p:cNvPr id="5" name="Rectangle 5"/>
            <p:cNvSpPr/>
            <p:nvPr/>
          </p:nvSpPr>
          <p:spPr>
            <a:xfrm>
              <a:off x="571500" y="428625"/>
              <a:ext cx="11049000" cy="6000750"/>
            </a:xfrm>
            <a:prstGeom prst="roundRect">
              <a:avLst>
                <a:gd name="adj" fmla="val 3810"/>
              </a:avLst>
            </a:prstGeom>
            <a:solidFill>
              <a:srgbClr val="FFFFFF"/>
            </a:solidFill>
            <a:ln w="19050">
              <a:solidFill>
                <a:srgbClr val="CBD5E1"/>
              </a:solidFill>
            </a:ln>
          </p:spPr>
        </p:sp>
        <p:sp>
          <p:nvSpPr>
            <p:cNvPr id="6" name="Rectangle 6"/>
            <p:cNvSpPr/>
            <p:nvPr/>
          </p:nvSpPr>
          <p:spPr>
            <a:xfrm>
              <a:off x="571500" y="428625"/>
              <a:ext cx="11049000" cy="133350"/>
            </a:xfrm>
            <a:prstGeom prst="roundRect">
              <a:avLst>
                <a:gd name="adj" fmla="val 50000"/>
              </a:avLst>
            </a:prstGeom>
            <a:solidFill>
              <a:srgbClr val="1E3A8A"/>
            </a:solidFill>
            <a:ln>
              <a:noFill/>
            </a:ln>
          </p:spPr>
        </p:sp>
        <p:sp>
          <p:nvSpPr>
            <p:cNvPr id="7" name="TextBox 7"/>
            <p:cNvSpPr txBox="1"/>
            <p:nvPr/>
          </p:nvSpPr>
          <p:spPr>
            <a:xfrm>
              <a:off x="1037082" y="821055"/>
              <a:ext cx="6863659"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TRƯỜNG CĐ NGHỀ SỐ 1 - BQP • KHOA CƠ BẢN</a:t>
              </a:r>
            </a:p>
          </p:txBody>
        </p:sp>
        <p:sp>
          <p:nvSpPr>
            <p:cNvPr id="8" name="Line 8"/>
            <p:cNvSpPr/>
            <p:nvPr/>
          </p:nvSpPr>
          <p:spPr>
            <a:xfrm>
              <a:off x="1047750" y="1238250"/>
              <a:ext cx="6572250" cy="9525"/>
            </a:xfrm>
            <a:custGeom>
              <a:avLst/>
              <a:gdLst/>
              <a:ahLst/>
              <a:cxnLst/>
              <a:rect l="l" t="t" r="r" b="b"/>
              <a:pathLst>
                <a:path w="6572250" h="9525">
                  <a:moveTo>
                    <a:pt x="0" y="0"/>
                  </a:moveTo>
                  <a:lnTo>
                    <a:pt x="6572250" y="0"/>
                  </a:lnTo>
                </a:path>
              </a:pathLst>
            </a:custGeom>
            <a:noFill/>
            <a:ln w="19050">
              <a:solidFill>
                <a:srgbClr val="E2E8F0"/>
              </a:solidFill>
            </a:ln>
          </p:spPr>
        </p:sp>
        <p:sp>
          <p:nvSpPr>
            <p:cNvPr id="9" name="Rectangle 9"/>
            <p:cNvSpPr/>
            <p:nvPr/>
          </p:nvSpPr>
          <p:spPr>
            <a:xfrm>
              <a:off x="1047750" y="1476375"/>
              <a:ext cx="2095500" cy="438150"/>
            </a:xfrm>
            <a:prstGeom prst="roundRect">
              <a:avLst>
                <a:gd name="adj" fmla="val 21739"/>
              </a:avLst>
            </a:prstGeom>
            <a:solidFill>
              <a:srgbClr val="DBEAFE"/>
            </a:solidFill>
            <a:ln>
              <a:noFill/>
            </a:ln>
          </p:spPr>
        </p:sp>
        <p:sp>
          <p:nvSpPr>
            <p:cNvPr id="10" name="TextBox 10"/>
            <p:cNvSpPr txBox="1"/>
            <p:nvPr/>
          </p:nvSpPr>
          <p:spPr>
            <a:xfrm>
              <a:off x="508422" y="1564005"/>
              <a:ext cx="3174157" cy="410718"/>
            </a:xfrm>
            <a:prstGeom prst="rect">
              <a:avLst/>
            </a:prstGeom>
            <a:noFill/>
            <a:ln>
              <a:noFill/>
            </a:ln>
          </p:spPr>
          <p:txBody>
            <a:bodyPr wrap="none" lIns="0" tIns="0" rIns="0" bIns="0" anchor="t" anchorCtr="0">
              <a:spAutoFit/>
            </a:bodyPr>
            <a:lstStyle/>
            <a:p>
              <a:pPr algn="ctr"/>
              <a:r>
                <a:rPr lang="vi-VN" sz="2100" b="1" dirty="0">
                  <a:solidFill>
                    <a:srgbClr val="1E40AF"/>
                  </a:solidFill>
                  <a:latin typeface="+mn-lt"/>
                  <a:ea typeface="+mn-ea"/>
                  <a:cs typeface="+mn-cs"/>
                </a:rPr>
                <a:t>CHƯƠNG I - GIẢI TÍCH</a:t>
              </a:r>
            </a:p>
          </p:txBody>
        </p:sp>
        <p:sp>
          <p:nvSpPr>
            <p:cNvPr id="11" name="TextBox 11"/>
            <p:cNvSpPr txBox="1"/>
            <p:nvPr/>
          </p:nvSpPr>
          <p:spPr>
            <a:xfrm>
              <a:off x="1030986" y="2120265"/>
              <a:ext cx="7830974" cy="645414"/>
            </a:xfrm>
            <a:prstGeom prst="rect">
              <a:avLst/>
            </a:prstGeom>
            <a:noFill/>
            <a:ln>
              <a:noFill/>
            </a:ln>
          </p:spPr>
          <p:txBody>
            <a:bodyPr wrap="none" lIns="0" tIns="0" rIns="0" bIns="0" anchor="t" anchorCtr="0">
              <a:spAutoFit/>
            </a:bodyPr>
            <a:lstStyle/>
            <a:p>
              <a:pPr algn="l"/>
              <a:r>
                <a:rPr lang="vi-VN" sz="3300" b="1" dirty="0">
                  <a:solidFill>
                    <a:srgbClr val="0F172A"/>
                  </a:solidFill>
                  <a:latin typeface="+mn-lt"/>
                  <a:ea typeface="+mn-ea"/>
                  <a:cs typeface="+mn-cs"/>
                </a:rPr>
                <a:t>BÀI 1. TÍNH ĐƠN ĐIỆU VÀ CỰC TRỊ</a:t>
              </a:r>
            </a:p>
          </p:txBody>
        </p:sp>
        <p:sp>
          <p:nvSpPr>
            <p:cNvPr id="12" name="TextBox 12"/>
            <p:cNvSpPr txBox="1"/>
            <p:nvPr/>
          </p:nvSpPr>
          <p:spPr>
            <a:xfrm>
              <a:off x="1030986" y="2691765"/>
              <a:ext cx="3058478" cy="645414"/>
            </a:xfrm>
            <a:prstGeom prst="rect">
              <a:avLst/>
            </a:prstGeom>
            <a:noFill/>
            <a:ln>
              <a:noFill/>
            </a:ln>
          </p:spPr>
          <p:txBody>
            <a:bodyPr wrap="none" lIns="0" tIns="0" rIns="0" bIns="0" anchor="t" anchorCtr="0">
              <a:spAutoFit/>
            </a:bodyPr>
            <a:lstStyle/>
            <a:p>
              <a:pPr algn="l"/>
              <a:r>
                <a:rPr lang="vi-VN" sz="3300" b="1" dirty="0">
                  <a:solidFill>
                    <a:srgbClr val="2563EB"/>
                  </a:solidFill>
                  <a:latin typeface="+mn-lt"/>
                  <a:ea typeface="+mn-ea"/>
                  <a:cs typeface="+mn-cs"/>
                </a:rPr>
                <a:t>CỦA HÀM SỐ</a:t>
              </a:r>
            </a:p>
          </p:txBody>
        </p:sp>
        <p:sp>
          <p:nvSpPr>
            <p:cNvPr id="13" name="TextBox 13"/>
            <p:cNvSpPr txBox="1"/>
            <p:nvPr/>
          </p:nvSpPr>
          <p:spPr>
            <a:xfrm>
              <a:off x="1037082" y="3392805"/>
              <a:ext cx="6290325" cy="410718"/>
            </a:xfrm>
            <a:prstGeom prst="rect">
              <a:avLst/>
            </a:prstGeom>
            <a:noFill/>
            <a:ln>
              <a:noFill/>
            </a:ln>
          </p:spPr>
          <p:txBody>
            <a:bodyPr wrap="none" lIns="0" tIns="0" rIns="0" bIns="0" anchor="t" anchorCtr="0">
              <a:spAutoFit/>
            </a:bodyPr>
            <a:lstStyle/>
            <a:p>
              <a:pPr algn="l"/>
              <a:r>
                <a:rPr lang="vi-VN" sz="2100" b="1" dirty="0">
                  <a:solidFill>
                    <a:srgbClr val="475569"/>
                  </a:solidFill>
                  <a:latin typeface="+mn-lt"/>
                  <a:ea typeface="+mn-ea"/>
                  <a:cs typeface="+mn-cs"/>
                </a:rPr>
                <a:t>Toán 12 — Sách Kết nối tri thức với cuộc sống</a:t>
              </a:r>
            </a:p>
          </p:txBody>
        </p:sp>
        <p:sp>
          <p:nvSpPr>
            <p:cNvPr id="14" name="Rectangle 14"/>
            <p:cNvSpPr/>
            <p:nvPr/>
          </p:nvSpPr>
          <p:spPr>
            <a:xfrm>
              <a:off x="1047750" y="4048125"/>
              <a:ext cx="4381500" cy="571500"/>
            </a:xfrm>
            <a:prstGeom prst="roundRect">
              <a:avLst>
                <a:gd name="adj" fmla="val 20000"/>
              </a:avLst>
            </a:prstGeom>
            <a:solidFill>
              <a:srgbClr val="F8FAFC"/>
            </a:solidFill>
            <a:ln w="14288">
              <a:solidFill>
                <a:srgbClr val="CBD5E1"/>
              </a:solidFill>
            </a:ln>
          </p:spPr>
        </p:sp>
        <p:sp>
          <p:nvSpPr>
            <p:cNvPr id="15" name="TextBox 15"/>
            <p:cNvSpPr txBox="1"/>
            <p:nvPr/>
          </p:nvSpPr>
          <p:spPr>
            <a:xfrm>
              <a:off x="1356128" y="4202430"/>
              <a:ext cx="3764743" cy="410718"/>
            </a:xfrm>
            <a:prstGeom prst="rect">
              <a:avLst/>
            </a:prstGeom>
            <a:noFill/>
            <a:ln>
              <a:noFill/>
            </a:ln>
          </p:spPr>
          <p:txBody>
            <a:bodyPr wrap="none" lIns="0" tIns="0" rIns="0" bIns="0" anchor="t" anchorCtr="0">
              <a:spAutoFit/>
            </a:bodyPr>
            <a:lstStyle/>
            <a:p>
              <a:pPr algn="ctr"/>
              <a:r>
                <a:rPr lang="vi-VN" sz="2100" b="1" dirty="0">
                  <a:solidFill>
                    <a:srgbClr val="0F172A"/>
                  </a:solidFill>
                  <a:latin typeface="+mn-lt"/>
                  <a:ea typeface="+mn-ea"/>
                  <a:cs typeface="+mn-cs"/>
                </a:rPr>
                <a:t>I. Tính đơn điệu của hàm số</a:t>
              </a:r>
            </a:p>
          </p:txBody>
        </p:sp>
        <p:sp>
          <p:nvSpPr>
            <p:cNvPr id="16" name="Rectangle 16"/>
            <p:cNvSpPr/>
            <p:nvPr/>
          </p:nvSpPr>
          <p:spPr>
            <a:xfrm>
              <a:off x="5715000" y="4048125"/>
              <a:ext cx="4953000" cy="571500"/>
            </a:xfrm>
            <a:prstGeom prst="roundRect">
              <a:avLst>
                <a:gd name="adj" fmla="val 20000"/>
              </a:avLst>
            </a:prstGeom>
            <a:solidFill>
              <a:srgbClr val="F8FAFC"/>
            </a:solidFill>
            <a:ln w="14288">
              <a:solidFill>
                <a:srgbClr val="CBD5E1"/>
              </a:solidFill>
            </a:ln>
          </p:spPr>
        </p:sp>
        <p:sp>
          <p:nvSpPr>
            <p:cNvPr id="17" name="TextBox 17"/>
            <p:cNvSpPr txBox="1"/>
            <p:nvPr/>
          </p:nvSpPr>
          <p:spPr>
            <a:xfrm>
              <a:off x="6744035" y="4202430"/>
              <a:ext cx="2894930" cy="410718"/>
            </a:xfrm>
            <a:prstGeom prst="rect">
              <a:avLst/>
            </a:prstGeom>
            <a:noFill/>
            <a:ln>
              <a:noFill/>
            </a:ln>
          </p:spPr>
          <p:txBody>
            <a:bodyPr wrap="none" lIns="0" tIns="0" rIns="0" bIns="0" anchor="t" anchorCtr="0">
              <a:spAutoFit/>
            </a:bodyPr>
            <a:lstStyle/>
            <a:p>
              <a:pPr algn="ctr"/>
              <a:r>
                <a:rPr lang="vi-VN" sz="2100" b="1" dirty="0">
                  <a:solidFill>
                    <a:srgbClr val="0F172A"/>
                  </a:solidFill>
                  <a:latin typeface="+mn-lt"/>
                  <a:ea typeface="+mn-ea"/>
                  <a:cs typeface="+mn-cs"/>
                </a:rPr>
                <a:t>II. Cực trị của hàm số</a:t>
              </a:r>
            </a:p>
          </p:txBody>
        </p:sp>
        <p:sp>
          <p:nvSpPr>
            <p:cNvPr id="18" name="Rectangle 18"/>
            <p:cNvSpPr/>
            <p:nvPr/>
          </p:nvSpPr>
          <p:spPr>
            <a:xfrm>
              <a:off x="1047750" y="4953000"/>
              <a:ext cx="9620250" cy="1047750"/>
            </a:xfrm>
            <a:prstGeom prst="roundRect">
              <a:avLst>
                <a:gd name="adj" fmla="val 14545"/>
              </a:avLst>
            </a:prstGeom>
            <a:solidFill>
              <a:srgbClr val="EFF6FF"/>
            </a:solidFill>
            <a:ln w="14288">
              <a:solidFill>
                <a:srgbClr val="BFDBFE"/>
              </a:solidFill>
            </a:ln>
          </p:spPr>
        </p:sp>
        <p:sp>
          <p:nvSpPr>
            <p:cNvPr id="19" name="TextBox 19"/>
            <p:cNvSpPr txBox="1"/>
            <p:nvPr/>
          </p:nvSpPr>
          <p:spPr>
            <a:xfrm>
              <a:off x="1417320" y="5138738"/>
              <a:ext cx="5140284" cy="440055"/>
            </a:xfrm>
            <a:prstGeom prst="rect">
              <a:avLst/>
            </a:prstGeom>
            <a:noFill/>
            <a:ln>
              <a:noFill/>
            </a:ln>
          </p:spPr>
          <p:txBody>
            <a:bodyPr wrap="none" lIns="0" tIns="0" rIns="0" bIns="0" anchor="t" anchorCtr="0">
              <a:spAutoFit/>
            </a:bodyPr>
            <a:lstStyle/>
            <a:p>
              <a:pPr algn="l"/>
              <a:r>
                <a:rPr lang="vi-VN" sz="2250" b="1" dirty="0">
                  <a:solidFill>
                    <a:srgbClr val="1E3A8A"/>
                  </a:solidFill>
                  <a:latin typeface="+mn-lt"/>
                  <a:ea typeface="+mn-ea"/>
                  <a:cs typeface="+mn-cs"/>
                </a:rPr>
                <a:t>Giảng viên: ThS. Nguyễn Văn Sang</a:t>
              </a:r>
            </a:p>
          </p:txBody>
        </p:sp>
        <p:sp>
          <p:nvSpPr>
            <p:cNvPr id="20" name="TextBox 20"/>
            <p:cNvSpPr txBox="1"/>
            <p:nvPr/>
          </p:nvSpPr>
          <p:spPr>
            <a:xfrm>
              <a:off x="1418082" y="5535930"/>
              <a:ext cx="5277697" cy="410718"/>
            </a:xfrm>
            <a:prstGeom prst="rect">
              <a:avLst/>
            </a:prstGeom>
            <a:noFill/>
            <a:ln>
              <a:noFill/>
            </a:ln>
          </p:spPr>
          <p:txBody>
            <a:bodyPr wrap="none" lIns="0" tIns="0" rIns="0" bIns="0" anchor="t" anchorCtr="0">
              <a:spAutoFit/>
            </a:bodyPr>
            <a:lstStyle/>
            <a:p>
              <a:pPr algn="l"/>
              <a:r>
                <a:rPr lang="vi-VN" sz="2100" b="1" dirty="0">
                  <a:solidFill>
                    <a:srgbClr val="475569"/>
                  </a:solidFill>
                  <a:latin typeface="+mn-lt"/>
                  <a:ea typeface="+mn-ea"/>
                  <a:cs typeface="+mn-cs"/>
                </a:rPr>
                <a:t>Khoa Cơ bản — Tiết PPCT: 01 - 02 - 03</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736230" y="459105"/>
              <a:ext cx="1232640"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MỞ ĐẦU</a:t>
              </a:r>
            </a:p>
          </p:txBody>
        </p:sp>
        <p:sp>
          <p:nvSpPr>
            <p:cNvPr id="7" name="TextBox 7"/>
            <p:cNvSpPr txBox="1"/>
            <p:nvPr/>
          </p:nvSpPr>
          <p:spPr>
            <a:xfrm>
              <a:off x="2179701" y="460534"/>
              <a:ext cx="6619676"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TÌNH HUỐNG MỞ ĐẦU &amp; MỤC TIÊU BÀI HỌC</a:t>
              </a:r>
            </a:p>
          </p:txBody>
        </p:sp>
      </p:grpSp>
      <p:grpSp>
        <p:nvGrpSpPr>
          <p:cNvPr id="23" name="body-grid"/>
          <p:cNvGrpSpPr/>
          <p:nvPr/>
        </p:nvGrpSpPr>
        <p:grpSpPr>
          <a:xfrm>
            <a:off x="476250" y="1190625"/>
            <a:ext cx="11239500" cy="5191125"/>
            <a:chOff x="476250" y="1190625"/>
            <a:chExt cx="11239500" cy="5191125"/>
          </a:xfrm>
        </p:grpSpPr>
        <p:sp>
          <p:nvSpPr>
            <p:cNvPr id="9" name="Rectangle 9"/>
            <p:cNvSpPr/>
            <p:nvPr/>
          </p:nvSpPr>
          <p:spPr>
            <a:xfrm>
              <a:off x="476250" y="1190625"/>
              <a:ext cx="11239500" cy="2190750"/>
            </a:xfrm>
            <a:prstGeom prst="roundRect">
              <a:avLst>
                <a:gd name="adj" fmla="val 7826"/>
              </a:avLst>
            </a:prstGeom>
            <a:solidFill>
              <a:srgbClr val="FFFFFF"/>
            </a:solidFill>
            <a:ln w="19050">
              <a:solidFill>
                <a:srgbClr val="CBD5E1"/>
              </a:solidFill>
            </a:ln>
          </p:spPr>
        </p:sp>
        <p:sp>
          <p:nvSpPr>
            <p:cNvPr id="10" name="Rectangle 10"/>
            <p:cNvSpPr/>
            <p:nvPr/>
          </p:nvSpPr>
          <p:spPr>
            <a:xfrm>
              <a:off x="476250" y="1190625"/>
              <a:ext cx="114300" cy="2190750"/>
            </a:xfrm>
            <a:prstGeom prst="roundRect">
              <a:avLst>
                <a:gd name="adj" fmla="val 50000"/>
              </a:avLst>
            </a:prstGeom>
            <a:solidFill>
              <a:srgbClr val="2563EB"/>
            </a:solidFill>
            <a:ln>
              <a:noFill/>
            </a:ln>
          </p:spPr>
        </p:sp>
        <p:sp>
          <p:nvSpPr>
            <p:cNvPr id="11" name="TextBox 11"/>
            <p:cNvSpPr txBox="1"/>
            <p:nvPr/>
          </p:nvSpPr>
          <p:spPr>
            <a:xfrm>
              <a:off x="845820" y="1423988"/>
              <a:ext cx="7668168"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TÌNH HUỐNG MỞ ĐẦU (SGK TOÁN 12 - TRANG 5):</a:t>
              </a:r>
            </a:p>
          </p:txBody>
        </p:sp>
        <p:sp>
          <p:nvSpPr>
            <p:cNvPr id="12" name="TextBox 12"/>
            <p:cNvSpPr txBox="1"/>
            <p:nvPr/>
          </p:nvSpPr>
          <p:spPr>
            <a:xfrm>
              <a:off x="846582" y="1868805"/>
              <a:ext cx="7711948"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Chất điểm chuyển động trên trục số nằm ngang với vị trí:</a:t>
              </a:r>
            </a:p>
          </p:txBody>
        </p:sp>
        <p:sp>
          <p:nvSpPr>
            <p:cNvPr id="13" name="Rectangle 13"/>
            <p:cNvSpPr/>
            <p:nvPr/>
          </p:nvSpPr>
          <p:spPr>
            <a:xfrm>
              <a:off x="857250" y="2286000"/>
              <a:ext cx="5524500" cy="523875"/>
            </a:xfrm>
            <a:prstGeom prst="roundRect">
              <a:avLst>
                <a:gd name="adj" fmla="val 18182"/>
              </a:avLst>
            </a:prstGeom>
            <a:solidFill>
              <a:srgbClr val="EFF6FF"/>
            </a:solidFill>
            <a:ln>
              <a:noFill/>
            </a:ln>
          </p:spPr>
        </p:sp>
        <mc:AlternateContent xmlns:mc="http://schemas.openxmlformats.org/markup-compatibility/2006">
          <mc:Choice xmlns:a14="http://schemas.microsoft.com/office/drawing/2010/main" Requires="a14">
            <p:sp>
              <p:nvSpPr>
                <p:cNvPr id="14" name="TextBox 14"/>
                <p:cNvSpPr txBox="1"/>
                <p:nvPr/>
              </p:nvSpPr>
              <p:spPr>
                <a:xfrm>
                  <a:off x="1036320" y="2340197"/>
                  <a:ext cx="3192838" cy="51920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250" dirty="0">
                          <a:solidFill>
                            <a:srgbClr val="1E40AF"/>
                          </a:solidFill>
                          <a:latin typeface="Cambria Math"/>
                          <a:ea typeface="Cambria Math"/>
                          <a:cs typeface="Cambria Math"/>
                        </a:rPr>
                        <m:t>s</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t</m:t>
                          </m:r>
                        </m:e>
                      </m:d>
                      <m:r>
                        <m:rPr>
                          <m:sty m:val="p"/>
                        </m:rPr>
                        <a:rPr lang="vi-VN" sz="2250" dirty="0">
                          <a:solidFill>
                            <a:srgbClr val="1E40AF"/>
                          </a:solidFill>
                          <a:latin typeface="Cambria Math"/>
                          <a:ea typeface="Cambria Math"/>
                          <a:cs typeface="Cambria Math"/>
                        </a:rPr>
                        <m:t>=−</m:t>
                      </m:r>
                      <m:sSup>
                        <m:e>
                          <m:r>
                            <a:rPr lang="vi-VN" sz="2250" dirty="0">
                              <a:solidFill>
                                <a:srgbClr val="1E40AF"/>
                              </a:solidFill>
                              <a:latin typeface="Cambria Math"/>
                              <a:ea typeface="Cambria Math"/>
                              <a:cs typeface="Cambria Math"/>
                            </a:rPr>
                            <m:t>t</m:t>
                          </m:r>
                        </m:e>
                        <m:sup>
                          <m:r>
                            <a:rPr lang="vi-VN" sz="2250" dirty="0">
                              <a:solidFill>
                                <a:srgbClr val="1E40AF"/>
                              </a:solidFill>
                              <a:latin typeface="Cambria Math"/>
                              <a:ea typeface="Cambria Math"/>
                              <a:cs typeface="Cambria Math"/>
                            </a:rPr>
                            <m:t>3</m:t>
                          </m:r>
                        </m:sup>
                      </m:sSup>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9</m:t>
                      </m:r>
                      <m:sSup>
                        <m:e>
                          <m:r>
                            <a:rPr lang="vi-VN" sz="2250" dirty="0">
                              <a:solidFill>
                                <a:srgbClr val="1E40AF"/>
                              </a:solidFill>
                              <a:latin typeface="Cambria Math"/>
                              <a:ea typeface="Cambria Math"/>
                              <a:cs typeface="Cambria Math"/>
                            </a:rPr>
                            <m:t>t</m:t>
                          </m:r>
                        </m:e>
                        <m:sup>
                          <m:r>
                            <a:rPr lang="vi-VN" sz="2250" dirty="0">
                              <a:solidFill>
                                <a:srgbClr val="1E40AF"/>
                              </a:solidFill>
                              <a:latin typeface="Cambria Math"/>
                              <a:ea typeface="Cambria Math"/>
                              <a:cs typeface="Cambria Math"/>
                            </a:rPr>
                            <m:t>2</m:t>
                          </m:r>
                        </m:sup>
                      </m:sSup>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t</m:t>
                      </m:r>
                    </m:oMath>
                  </a14:m>
                  <a:r>
                    <a:rPr lang="vi-VN" sz="2250" b="1" dirty="0">
                      <a:solidFill>
                        <a:srgbClr val="1E40AF"/>
                      </a:solidFill>
                      <a:latin typeface="+mn-lt"/>
                      <a:ea typeface="+mn-ea"/>
                      <a:cs typeface="+mn-cs"/>
                    </a:rPr>
                    <a:t xml:space="preserve"> </a:t>
                  </a:r>
                  <a14:m>
                    <m:oMath xmlns:a="http://schemas.openxmlformats.org/drawingml/2006/main" xmlns:m="http://schemas.openxmlformats.org/officeDocument/2006/math">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t</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0</m:t>
                          </m:r>
                        </m:e>
                      </m:d>
                    </m:oMath>
                  </a14:m>
                </a:p>
              </p:txBody>
            </p:sp>
          </mc:Choice>
        </mc:AlternateContent>
        <p:sp>
          <p:nvSpPr>
            <p:cNvPr id="15" name="TextBox 15"/>
            <p:cNvSpPr txBox="1"/>
            <p:nvPr/>
          </p:nvSpPr>
          <p:spPr>
            <a:xfrm>
              <a:off x="845820" y="2947988"/>
              <a:ext cx="9181263" cy="440055"/>
            </a:xfrm>
            <a:prstGeom prst="rect">
              <a:avLst/>
            </a:prstGeom>
            <a:noFill/>
            <a:ln>
              <a:noFill/>
            </a:ln>
          </p:spPr>
          <p:txBody>
            <a:bodyPr wrap="none" lIns="0" tIns="0" rIns="0" bIns="0" anchor="t" anchorCtr="0">
              <a:spAutoFit/>
            </a:bodyPr>
            <a:lstStyle/>
            <a:p>
              <a:pPr algn="l"/>
              <a:r>
                <a:rPr lang="vi-VN" sz="2250" b="1" dirty="0">
                  <a:solidFill>
                    <a:srgbClr val="B91C1C"/>
                  </a:solidFill>
                  <a:latin typeface="+mn-lt"/>
                  <a:ea typeface="+mn-ea"/>
                  <a:cs typeface="+mn-cs"/>
                </a:rPr>
                <a:t>❓ Trong khoảng thời gian nào chất điểm sang phải? Sang trái?</a:t>
              </a:r>
            </a:p>
          </p:txBody>
        </p:sp>
        <p:sp>
          <p:nvSpPr>
            <p:cNvPr id="16" name="Rectangle 16"/>
            <p:cNvSpPr/>
            <p:nvPr/>
          </p:nvSpPr>
          <p:spPr>
            <a:xfrm>
              <a:off x="476250" y="3619500"/>
              <a:ext cx="11239500" cy="2762250"/>
            </a:xfrm>
            <a:prstGeom prst="roundRect">
              <a:avLst>
                <a:gd name="adj" fmla="val 6207"/>
              </a:avLst>
            </a:prstGeom>
            <a:solidFill>
              <a:srgbClr val="FFFFFF"/>
            </a:solidFill>
            <a:ln w="19050">
              <a:solidFill>
                <a:srgbClr val="CBD5E1"/>
              </a:solidFill>
            </a:ln>
          </p:spPr>
        </p:sp>
        <p:sp>
          <p:nvSpPr>
            <p:cNvPr id="17" name="Rectangle 17"/>
            <p:cNvSpPr/>
            <p:nvPr/>
          </p:nvSpPr>
          <p:spPr>
            <a:xfrm>
              <a:off x="476250" y="3619500"/>
              <a:ext cx="114300" cy="2762250"/>
            </a:xfrm>
            <a:prstGeom prst="roundRect">
              <a:avLst>
                <a:gd name="adj" fmla="val 50000"/>
              </a:avLst>
            </a:prstGeom>
            <a:solidFill>
              <a:srgbClr val="059669"/>
            </a:solidFill>
            <a:ln>
              <a:noFill/>
            </a:ln>
          </p:spPr>
        </p:sp>
        <p:sp>
          <p:nvSpPr>
            <p:cNvPr id="18" name="TextBox 18"/>
            <p:cNvSpPr txBox="1"/>
            <p:nvPr/>
          </p:nvSpPr>
          <p:spPr>
            <a:xfrm>
              <a:off x="845820" y="3852862"/>
              <a:ext cx="8325658"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MỤC TIÊU BÀI HỌC CẦN ĐẠT THEO CHUẨN BGD&amp;ĐT:</a:t>
              </a:r>
            </a:p>
          </p:txBody>
        </p:sp>
        <mc:AlternateContent xmlns:mc="http://schemas.openxmlformats.org/markup-compatibility/2006">
          <mc:Choice xmlns:a14="http://schemas.microsoft.com/office/drawing/2010/main" Requires="a14">
            <p:sp>
              <p:nvSpPr>
                <p:cNvPr id="19" name="TextBox 19"/>
                <p:cNvSpPr txBox="1"/>
                <p:nvPr/>
              </p:nvSpPr>
              <p:spPr>
                <a:xfrm>
                  <a:off x="846582" y="4331970"/>
                  <a:ext cx="8888345"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Nhận biết tính đồng biến, nghịch biến qua dấu của đạo hàm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oMath>
                  </a14:m>
                  <a:r>
                    <a:rPr lang="vi-VN" sz="2100" b="1" dirty="0">
                      <a:solidFill>
                        <a:srgbClr val="0F172A"/>
                      </a:solidFill>
                      <a:latin typeface="+mn-lt"/>
                      <a:ea typeface="+mn-ea"/>
                      <a:cs typeface="+mn-cs"/>
                    </a:rPr>
                    <a:t>.</a:t>
                  </a:r>
                </a:p>
              </p:txBody>
            </p:sp>
          </mc:Choice>
        </mc:AlternateContent>
        <p:sp>
          <p:nvSpPr>
            <p:cNvPr id="20" name="TextBox 20"/>
            <p:cNvSpPr txBox="1"/>
            <p:nvPr/>
          </p:nvSpPr>
          <p:spPr>
            <a:xfrm>
              <a:off x="846582" y="4821555"/>
              <a:ext cx="8854622"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Nắm vững khái niệm cực đại, cực tiểu và định lý dấu hiệu cực trị.</a:t>
              </a:r>
            </a:p>
          </p:txBody>
        </p:sp>
        <p:sp>
          <p:nvSpPr>
            <p:cNvPr id="21" name="TextBox 21"/>
            <p:cNvSpPr txBox="1"/>
            <p:nvPr/>
          </p:nvSpPr>
          <p:spPr>
            <a:xfrm>
              <a:off x="846582" y="5297805"/>
              <a:ext cx="9085895"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Lập thành thạo Bảng biến thiên (BBT) 4 bước để khảo sát hàm số.</a:t>
              </a:r>
            </a:p>
          </p:txBody>
        </p:sp>
        <p:sp>
          <p:nvSpPr>
            <p:cNvPr id="22" name="TextBox 22"/>
            <p:cNvSpPr txBox="1"/>
            <p:nvPr/>
          </p:nvSpPr>
          <p:spPr>
            <a:xfrm>
              <a:off x="846582" y="5774055"/>
              <a:ext cx="9527572" cy="410718"/>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Giải quyết bài toán thực tế chuyển động và tối ưu hóa trong đời sống.</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800076" y="459105"/>
              <a:ext cx="1104948"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I.a</a:t>
              </a:r>
            </a:p>
          </p:txBody>
        </p:sp>
        <p:sp>
          <p:nvSpPr>
            <p:cNvPr id="7" name="TextBox 7"/>
            <p:cNvSpPr txBox="1"/>
            <p:nvPr/>
          </p:nvSpPr>
          <p:spPr>
            <a:xfrm>
              <a:off x="2179701" y="460534"/>
              <a:ext cx="7112739"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 TÍNH ĐƠN ĐIỆU: HĐ1 &amp; Khái niệm tính đơn điệu</a:t>
              </a:r>
            </a:p>
          </p:txBody>
        </p:sp>
      </p:grpSp>
      <p:grpSp>
        <p:nvGrpSpPr>
          <p:cNvPr id="26" name="content"/>
          <p:cNvGrpSpPr/>
          <p:nvPr/>
        </p:nvGrpSpPr>
        <p:grpSpPr>
          <a:xfrm>
            <a:off x="476250" y="1190625"/>
            <a:ext cx="11239500" cy="5191125"/>
            <a:chOff x="476250" y="1190625"/>
            <a:chExt cx="11239500" cy="5191125"/>
          </a:xfrm>
        </p:grpSpPr>
        <p:sp>
          <p:nvSpPr>
            <p:cNvPr id="9" name="Rectangle 9"/>
            <p:cNvSpPr/>
            <p:nvPr/>
          </p:nvSpPr>
          <p:spPr>
            <a:xfrm>
              <a:off x="476250" y="1190625"/>
              <a:ext cx="57150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714375" y="1428750"/>
              <a:ext cx="5238750" cy="1428750"/>
            </a:xfrm>
            <a:prstGeom prst="roundRect">
              <a:avLst>
                <a:gd name="adj" fmla="val 9333"/>
              </a:avLst>
            </a:prstGeom>
            <a:solidFill>
              <a:srgbClr val="EFF6FF"/>
            </a:solidFill>
            <a:ln w="14288">
              <a:solidFill>
                <a:srgbClr val="BFDBFE"/>
              </a:solidFill>
            </a:ln>
          </p:spPr>
        </p:sp>
        <p:sp>
          <p:nvSpPr>
            <p:cNvPr id="11" name="TextBox 11"/>
            <p:cNvSpPr txBox="1"/>
            <p:nvPr/>
          </p:nvSpPr>
          <p:spPr>
            <a:xfrm>
              <a:off x="894207" y="1583055"/>
              <a:ext cx="5381520"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HOẠT ĐỘNG 1 (HĐ1 - SGK TRANG 5):</a:t>
              </a:r>
            </a:p>
          </p:txBody>
        </p:sp>
        <mc:AlternateContent xmlns:mc="http://schemas.openxmlformats.org/markup-compatibility/2006">
          <mc:Choice xmlns:a14="http://schemas.microsoft.com/office/drawing/2010/main" Requires="a14">
            <p:sp>
              <p:nvSpPr>
                <p:cNvPr id="12" name="TextBox 12"/>
                <p:cNvSpPr txBox="1"/>
                <p:nvPr/>
              </p:nvSpPr>
              <p:spPr>
                <a:xfrm>
                  <a:off x="894207" y="1903514"/>
                  <a:ext cx="5448210"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Quan sát đồ thị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oMath>
                  </a14:m>
                  <a:r>
                    <a:rPr lang="vi-VN" sz="2100" b="1" dirty="0">
                      <a:solidFill>
                        <a:srgbClr val="0F172A"/>
                      </a:solidFill>
                      <a:latin typeface="+mn-lt"/>
                      <a:ea typeface="+mn-ea"/>
                      <a:cs typeface="+mn-cs"/>
                    </a:rPr>
                    <a:t xml:space="preserve"> (Hình 1.2):</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894207" y="2331720"/>
                  <a:ext cx="6525502" cy="437388"/>
                </a:xfrm>
                <a:prstGeom prst="rect">
                  <a:avLst/>
                </a:prstGeom>
                <a:noFill/>
                <a:ln>
                  <a:noFill/>
                </a:ln>
              </p:spPr>
              <p:txBody>
                <a:bodyPr wrap="none" lIns="0" tIns="0" rIns="0" bIns="0" anchor="t" anchorCtr="0">
                  <a:spAutoFit/>
                </a:bodyPr>
                <a:lstStyle/>
                <a:p>
                  <a:pPr algn="l" marL="167461" indent="-167461">
                    <a:buClr>
                      <a:srgbClr val="1E40AF"/>
                    </a:buClr>
                    <a:buSzTx/>
                    <a:buFontTx/>
                    <a:buChar char="•"/>
                  </a:pPr>
                  <a:r>
                    <a:rPr lang="vi-VN" sz="2100" b="1" dirty="0">
                      <a:solidFill>
                        <a:srgbClr val="1E40AF"/>
                      </a:solidFill>
                      <a:latin typeface="+mn-lt"/>
                      <a:ea typeface="+mn-ea"/>
                      <a:cs typeface="+mn-cs"/>
                    </a:rPr>
                    <a:t xml:space="preserve">Đồng biến trên </a:t>
                  </a:r>
                  <a14:m>
                    <m:oMath xmlns:a="http://schemas.openxmlformats.org/drawingml/2006/main" xmlns:m="http://schemas.openxmlformats.org/officeDocument/2006/math">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e>
                      </m:d>
                    </m:oMath>
                  </a14:m>
                  <a:r>
                    <a:rPr lang="vi-VN" sz="2100" b="1" dirty="0">
                      <a:solidFill>
                        <a:srgbClr val="1E40AF"/>
                      </a:solidFill>
                      <a:latin typeface="+mn-lt"/>
                      <a:ea typeface="+mn-ea"/>
                      <a:cs typeface="+mn-cs"/>
                    </a:rPr>
                    <a:t xml:space="preserve"> | Nghịch biến trên </a:t>
                  </a:r>
                  <a14:m>
                    <m:oMath xmlns:a="http://schemas.openxmlformats.org/drawingml/2006/main" xmlns:m="http://schemas.openxmlformats.org/officeDocument/2006/math">
                      <m:d>
                        <m:dPr>
                          <m:begChr m:val="("/>
                          <m:sepChr m:val=""/>
                          <m:endChr m:val=")"/>
                          <m:grow m:val="on"/>
                          <m:ctrlPr>
                            <a:rPr lang="vi-VN" sz="2100" dirty="0">
                              <a:solidFill>
                                <a:srgbClr val="1E40AF"/>
                              </a:solidFill>
                              <a:latin typeface="Cambria Math"/>
                              <a:ea typeface="Cambria Math"/>
                              <a:cs typeface="Cambria Math"/>
                            </a:rPr>
                          </m:ctrlPr>
                        </m:dPr>
                        <m:e>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e>
                      </m:d>
                    </m:oMath>
                  </a14:m>
                </a:p>
              </p:txBody>
            </p:sp>
          </mc:Choice>
        </mc:AlternateContent>
        <p:sp>
          <p:nvSpPr>
            <p:cNvPr id="14" name="TextBox 14"/>
            <p:cNvSpPr txBox="1"/>
            <p:nvPr/>
          </p:nvSpPr>
          <p:spPr>
            <a:xfrm>
              <a:off x="702945" y="2995612"/>
              <a:ext cx="6227668"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KHÁI NIỆM TÍNH ĐƠN ĐIỆU (SGK KNTT):</a:t>
              </a:r>
            </a:p>
          </p:txBody>
        </p:sp>
        <mc:AlternateContent xmlns:mc="http://schemas.openxmlformats.org/markup-compatibility/2006">
          <mc:Choice xmlns:a14="http://schemas.microsoft.com/office/drawing/2010/main" Requires="a14">
            <p:sp>
              <p:nvSpPr>
                <p:cNvPr id="15" name="TextBox 15"/>
                <p:cNvSpPr txBox="1"/>
                <p:nvPr/>
              </p:nvSpPr>
              <p:spPr>
                <a:xfrm>
                  <a:off x="703707" y="3392805"/>
                  <a:ext cx="5918055"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Giả sử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 xml:space="preserve"> là khoảng, đoạn hoặc nửa khoảng:</a:t>
                  </a:r>
                </a:p>
              </p:txBody>
            </p:sp>
          </mc:Choice>
        </mc:AlternateContent>
        <p:sp>
          <p:nvSpPr>
            <p:cNvPr id="16" name="Rectangle 16"/>
            <p:cNvSpPr/>
            <p:nvPr/>
          </p:nvSpPr>
          <p:spPr>
            <a:xfrm>
              <a:off x="714375" y="3857625"/>
              <a:ext cx="5238750" cy="1095375"/>
            </a:xfrm>
            <a:prstGeom prst="roundRect">
              <a:avLst>
                <a:gd name="adj" fmla="val 10435"/>
              </a:avLst>
            </a:prstGeom>
            <a:solidFill>
              <a:srgbClr val="F0FDF4"/>
            </a:solidFill>
            <a:ln w="14288">
              <a:solidFill>
                <a:srgbClr val="BBF7D0"/>
              </a:solidFill>
            </a:ln>
          </p:spPr>
        </p:sp>
        <mc:AlternateContent xmlns:mc="http://schemas.openxmlformats.org/markup-compatibility/2006">
          <mc:Choice xmlns:a14="http://schemas.microsoft.com/office/drawing/2010/main" Requires="a14">
            <p:sp>
              <p:nvSpPr>
                <p:cNvPr id="17" name="TextBox 17"/>
                <p:cNvSpPr txBox="1"/>
                <p:nvPr/>
              </p:nvSpPr>
              <p:spPr>
                <a:xfrm>
                  <a:off x="894207" y="4011930"/>
                  <a:ext cx="3684138"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1. Đồng biến (Tăng) trên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K</m:t>
                      </m:r>
                    </m:oMath>
                  </a14:m>
                  <a:r>
                    <a:rPr lang="vi-VN" sz="2100" b="1" dirty="0">
                      <a:solidFill>
                        <a:srgbClr val="047857"/>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894207" y="4427220"/>
                  <a:ext cx="4503745" cy="48192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ty m:val="p"/>
                        </m:rPr>
                        <a:rPr lang="vi-VN" sz="2100" dirty="0">
                          <a:solidFill>
                            <a:srgbClr val="166534"/>
                          </a:solidFill>
                          <a:latin typeface="Cambria Math"/>
                          <a:ea typeface="Cambria Math"/>
                          <a:cs typeface="Cambria Math"/>
                        </a:rPr>
                        <m:t>∀</m:t>
                      </m:r>
                      <m:sSub>
                        <m:e>
                          <m:r>
                            <a:rPr lang="vi-VN" sz="2100" dirty="0">
                              <a:solidFill>
                                <a:srgbClr val="166534"/>
                              </a:solidFill>
                              <a:latin typeface="Cambria Math"/>
                              <a:ea typeface="Cambria Math"/>
                              <a:cs typeface="Cambria Math"/>
                            </a:rPr>
                            <m:t>x</m:t>
                          </m:r>
                        </m:e>
                        <m:sub>
                          <m:r>
                            <a:rPr lang="vi-VN" sz="2100" dirty="0">
                              <a:solidFill>
                                <a:srgbClr val="166534"/>
                              </a:solidFill>
                              <a:latin typeface="Cambria Math"/>
                              <a:ea typeface="Cambria Math"/>
                              <a:cs typeface="Cambria Math"/>
                            </a:rPr>
                            <m:t>1</m:t>
                          </m:r>
                        </m:sub>
                      </m:sSub>
                      <m:r>
                        <m:rPr>
                          <m:sty m:val="p"/>
                        </m:rPr>
                        <a:rPr lang="vi-VN" sz="2100" dirty="0">
                          <a:solidFill>
                            <a:srgbClr val="166534"/>
                          </a:solidFill>
                          <a:latin typeface="Cambria Math"/>
                          <a:ea typeface="Cambria Math"/>
                          <a:cs typeface="Cambria Math"/>
                        </a:rPr>
                        <m:t>,</m:t>
                      </m:r>
                      <m:sSub>
                        <m:e>
                          <m:r>
                            <a:rPr lang="vi-VN" sz="2100" dirty="0">
                              <a:solidFill>
                                <a:srgbClr val="166534"/>
                              </a:solidFill>
                              <a:latin typeface="Cambria Math"/>
                              <a:ea typeface="Cambria Math"/>
                              <a:cs typeface="Cambria Math"/>
                            </a:rPr>
                            <m:t>x</m:t>
                          </m:r>
                        </m:e>
                        <m:sub>
                          <m:r>
                            <a:rPr lang="vi-VN" sz="2100" dirty="0">
                              <a:solidFill>
                                <a:srgbClr val="166534"/>
                              </a:solidFill>
                              <a:latin typeface="Cambria Math"/>
                              <a:ea typeface="Cambria Math"/>
                              <a:cs typeface="Cambria Math"/>
                            </a:rPr>
                            <m:t>2</m:t>
                          </m:r>
                        </m:sub>
                      </m:sSub>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K</m:t>
                      </m:r>
                      <m:r>
                        <m:rPr>
                          <m:sty m:val="p"/>
                        </m:rPr>
                        <a:rPr lang="vi-VN" sz="2100" dirty="0">
                          <a:solidFill>
                            <a:srgbClr val="166534"/>
                          </a:solidFill>
                          <a:latin typeface="Cambria Math"/>
                          <a:ea typeface="Cambria Math"/>
                          <a:cs typeface="Cambria Math"/>
                        </a:rPr>
                        <m:t>,</m:t>
                      </m:r>
                      <m:sSub>
                        <m:e>
                          <m:r>
                            <a:rPr lang="vi-VN" sz="2100" dirty="0">
                              <a:solidFill>
                                <a:srgbClr val="166534"/>
                              </a:solidFill>
                              <a:latin typeface="Cambria Math"/>
                              <a:ea typeface="Cambria Math"/>
                              <a:cs typeface="Cambria Math"/>
                            </a:rPr>
                            <m:t>x</m:t>
                          </m:r>
                        </m:e>
                        <m:sub>
                          <m:r>
                            <a:rPr lang="vi-VN" sz="2100" dirty="0">
                              <a:solidFill>
                                <a:srgbClr val="166534"/>
                              </a:solidFill>
                              <a:latin typeface="Cambria Math"/>
                              <a:ea typeface="Cambria Math"/>
                              <a:cs typeface="Cambria Math"/>
                            </a:rPr>
                            <m:t>1</m:t>
                          </m:r>
                        </m:sub>
                      </m:sSub>
                      <m:r>
                        <m:rPr>
                          <m:sty m:val="p"/>
                        </m:rPr>
                        <a:rPr lang="vi-VN" sz="2100" dirty="0">
                          <a:solidFill>
                            <a:srgbClr val="166534"/>
                          </a:solidFill>
                          <a:latin typeface="Cambria Math"/>
                          <a:ea typeface="Cambria Math"/>
                          <a:cs typeface="Cambria Math"/>
                        </a:rPr>
                        <m:t>&lt;</m:t>
                      </m:r>
                      <m:sSub>
                        <m:e>
                          <m:r>
                            <a:rPr lang="vi-VN" sz="2100" dirty="0">
                              <a:solidFill>
                                <a:srgbClr val="166534"/>
                              </a:solidFill>
                              <a:latin typeface="Cambria Math"/>
                              <a:ea typeface="Cambria Math"/>
                              <a:cs typeface="Cambria Math"/>
                            </a:rPr>
                            <m:t>x</m:t>
                          </m:r>
                        </m:e>
                        <m:sub>
                          <m:r>
                            <a:rPr lang="vi-VN" sz="2100" dirty="0">
                              <a:solidFill>
                                <a:srgbClr val="166534"/>
                              </a:solidFill>
                              <a:latin typeface="Cambria Math"/>
                              <a:ea typeface="Cambria Math"/>
                              <a:cs typeface="Cambria Math"/>
                            </a:rPr>
                            <m:t>2</m:t>
                          </m:r>
                        </m:sub>
                      </m:sSub>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f</m:t>
                      </m:r>
                      <m:d>
                        <m:dPr>
                          <m:begChr m:val="("/>
                          <m:sepChr m:val=""/>
                          <m:endChr m:val=")"/>
                          <m:grow m:val="on"/>
                          <m:ctrlPr>
                            <a:rPr lang="vi-VN" sz="2100" dirty="0">
                              <a:solidFill>
                                <a:srgbClr val="166534"/>
                              </a:solidFill>
                              <a:latin typeface="Cambria Math"/>
                              <a:ea typeface="Cambria Math"/>
                              <a:cs typeface="Cambria Math"/>
                            </a:rPr>
                          </m:ctrlPr>
                        </m:dPr>
                        <m:e>
                          <m:sSub>
                            <m:e>
                              <m:r>
                                <a:rPr lang="vi-VN" sz="2100" dirty="0">
                                  <a:solidFill>
                                    <a:srgbClr val="166534"/>
                                  </a:solidFill>
                                  <a:latin typeface="Cambria Math"/>
                                  <a:ea typeface="Cambria Math"/>
                                  <a:cs typeface="Cambria Math"/>
                                </a:rPr>
                                <m:t>x</m:t>
                              </m:r>
                            </m:e>
                            <m:sub>
                              <m:r>
                                <a:rPr lang="vi-VN" sz="2100" dirty="0">
                                  <a:solidFill>
                                    <a:srgbClr val="166534"/>
                                  </a:solidFill>
                                  <a:latin typeface="Cambria Math"/>
                                  <a:ea typeface="Cambria Math"/>
                                  <a:cs typeface="Cambria Math"/>
                                </a:rPr>
                                <m:t>1</m:t>
                              </m:r>
                            </m:sub>
                          </m:sSub>
                        </m:e>
                      </m:d>
                      <m:r>
                        <m:rPr>
                          <m:sty m:val="p"/>
                        </m:rPr>
                        <a:rPr lang="vi-VN" sz="2100" dirty="0">
                          <a:solidFill>
                            <a:srgbClr val="166534"/>
                          </a:solidFill>
                          <a:latin typeface="Cambria Math"/>
                          <a:ea typeface="Cambria Math"/>
                          <a:cs typeface="Cambria Math"/>
                        </a:rPr>
                        <m:t>&lt;</m:t>
                      </m:r>
                      <m:r>
                        <a:rPr lang="vi-VN" sz="2100" dirty="0">
                          <a:solidFill>
                            <a:srgbClr val="166534"/>
                          </a:solidFill>
                          <a:latin typeface="Cambria Math"/>
                          <a:ea typeface="Cambria Math"/>
                          <a:cs typeface="Cambria Math"/>
                        </a:rPr>
                        <m:t>f</m:t>
                      </m:r>
                      <m:d>
                        <m:dPr>
                          <m:begChr m:val="("/>
                          <m:sepChr m:val=""/>
                          <m:endChr m:val=")"/>
                          <m:grow m:val="on"/>
                          <m:ctrlPr>
                            <a:rPr lang="vi-VN" sz="2100" dirty="0">
                              <a:solidFill>
                                <a:srgbClr val="166534"/>
                              </a:solidFill>
                              <a:latin typeface="Cambria Math"/>
                              <a:ea typeface="Cambria Math"/>
                              <a:cs typeface="Cambria Math"/>
                            </a:rPr>
                          </m:ctrlPr>
                        </m:dPr>
                        <m:e>
                          <m:sSub>
                            <m:e>
                              <m:r>
                                <a:rPr lang="vi-VN" sz="2100" dirty="0">
                                  <a:solidFill>
                                    <a:srgbClr val="166534"/>
                                  </a:solidFill>
                                  <a:latin typeface="Cambria Math"/>
                                  <a:ea typeface="Cambria Math"/>
                                  <a:cs typeface="Cambria Math"/>
                                </a:rPr>
                                <m:t>x</m:t>
                              </m:r>
                            </m:e>
                            <m:sub>
                              <m:r>
                                <a:rPr lang="vi-VN" sz="2100" dirty="0">
                                  <a:solidFill>
                                    <a:srgbClr val="166534"/>
                                  </a:solidFill>
                                  <a:latin typeface="Cambria Math"/>
                                  <a:ea typeface="Cambria Math"/>
                                  <a:cs typeface="Cambria Math"/>
                                </a:rPr>
                                <m:t>2</m:t>
                              </m:r>
                            </m:sub>
                          </m:sSub>
                        </m:e>
                      </m:d>
                    </m:oMath>
                  </a14:m>
                </a:p>
              </p:txBody>
            </p:sp>
          </mc:Choice>
        </mc:AlternateContent>
        <p:sp>
          <p:nvSpPr>
            <p:cNvPr id="19" name="Rectangle 19"/>
            <p:cNvSpPr/>
            <p:nvPr/>
          </p:nvSpPr>
          <p:spPr>
            <a:xfrm>
              <a:off x="714375" y="5095875"/>
              <a:ext cx="5238750" cy="1095375"/>
            </a:xfrm>
            <a:prstGeom prst="roundRect">
              <a:avLst>
                <a:gd name="adj" fmla="val 10435"/>
              </a:avLst>
            </a:prstGeom>
            <a:solidFill>
              <a:srgbClr val="FEF2F2"/>
            </a:solidFill>
            <a:ln w="14288">
              <a:solidFill>
                <a:srgbClr val="FECACA"/>
              </a:solidFill>
            </a:ln>
          </p:spPr>
        </p:sp>
        <mc:AlternateContent xmlns:mc="http://schemas.openxmlformats.org/markup-compatibility/2006">
          <mc:Choice xmlns:a14="http://schemas.microsoft.com/office/drawing/2010/main" Requires="a14">
            <p:sp>
              <p:nvSpPr>
                <p:cNvPr id="20" name="TextBox 20"/>
                <p:cNvSpPr txBox="1"/>
                <p:nvPr/>
              </p:nvSpPr>
              <p:spPr>
                <a:xfrm>
                  <a:off x="894207" y="5250180"/>
                  <a:ext cx="3950753" cy="41071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 xml:space="preserve">2. Nghịch biến (Giảm) trên </a:t>
                  </a: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K</m:t>
                      </m:r>
                    </m:oMath>
                  </a14:m>
                  <a:r>
                    <a:rPr lang="vi-VN" sz="2100" b="1" dirty="0">
                      <a:solidFill>
                        <a:srgbClr val="DC2626"/>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21" name="TextBox 21"/>
                <p:cNvSpPr txBox="1"/>
                <p:nvPr/>
              </p:nvSpPr>
              <p:spPr>
                <a:xfrm>
                  <a:off x="894207" y="5665470"/>
                  <a:ext cx="4503745" cy="48192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ty m:val="p"/>
                        </m:rPr>
                        <a:rPr lang="vi-VN" sz="2100" dirty="0">
                          <a:solidFill>
                            <a:srgbClr val="B91C1C"/>
                          </a:solidFill>
                          <a:latin typeface="Cambria Math"/>
                          <a:ea typeface="Cambria Math"/>
                          <a:cs typeface="Cambria Math"/>
                        </a:rPr>
                        <m:t>∀</m:t>
                      </m:r>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1</m:t>
                          </m:r>
                        </m:sub>
                      </m:sSub>
                      <m:r>
                        <m:rPr>
                          <m:sty m:val="p"/>
                        </m:rPr>
                        <a:rPr lang="vi-VN" sz="2100" dirty="0">
                          <a:solidFill>
                            <a:srgbClr val="B91C1C"/>
                          </a:solidFill>
                          <a:latin typeface="Cambria Math"/>
                          <a:ea typeface="Cambria Math"/>
                          <a:cs typeface="Cambria Math"/>
                        </a:rPr>
                        <m:t>,</m:t>
                      </m:r>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2</m:t>
                          </m:r>
                        </m:sub>
                      </m:sSub>
                      <m:r>
                        <m:rPr>
                          <m:sty m:val="p"/>
                        </m:rPr>
                        <a:rPr lang="vi-VN" sz="2100" dirty="0">
                          <a:solidFill>
                            <a:srgbClr val="B91C1C"/>
                          </a:solidFill>
                          <a:latin typeface="Cambria Math"/>
                          <a:ea typeface="Cambria Math"/>
                          <a:cs typeface="Cambria Math"/>
                        </a:rPr>
                        <m:t>∈</m:t>
                      </m:r>
                      <m:r>
                        <a:rPr lang="vi-VN" sz="2100" dirty="0">
                          <a:solidFill>
                            <a:srgbClr val="B91C1C"/>
                          </a:solidFill>
                          <a:latin typeface="Cambria Math"/>
                          <a:ea typeface="Cambria Math"/>
                          <a:cs typeface="Cambria Math"/>
                        </a:rPr>
                        <m:t>K</m:t>
                      </m:r>
                      <m:r>
                        <m:rPr>
                          <m:sty m:val="p"/>
                        </m:rPr>
                        <a:rPr lang="vi-VN" sz="2100" dirty="0">
                          <a:solidFill>
                            <a:srgbClr val="B91C1C"/>
                          </a:solidFill>
                          <a:latin typeface="Cambria Math"/>
                          <a:ea typeface="Cambria Math"/>
                          <a:cs typeface="Cambria Math"/>
                        </a:rPr>
                        <m:t>,</m:t>
                      </m:r>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1</m:t>
                          </m:r>
                        </m:sub>
                      </m:sSub>
                      <m:r>
                        <m:rPr>
                          <m:sty m:val="p"/>
                        </m:rPr>
                        <a:rPr lang="vi-VN" sz="2100" dirty="0">
                          <a:solidFill>
                            <a:srgbClr val="B91C1C"/>
                          </a:solidFill>
                          <a:latin typeface="Cambria Math"/>
                          <a:ea typeface="Cambria Math"/>
                          <a:cs typeface="Cambria Math"/>
                        </a:rPr>
                        <m:t>&lt;</m:t>
                      </m:r>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2</m:t>
                          </m:r>
                        </m:sub>
                      </m:sSub>
                      <m:r>
                        <m:rPr>
                          <m:sty m:val="p"/>
                        </m:rPr>
                        <a:rPr lang="vi-VN" sz="2100" dirty="0">
                          <a:solidFill>
                            <a:srgbClr val="B91C1C"/>
                          </a:solidFill>
                          <a:latin typeface="Cambria Math"/>
                          <a:ea typeface="Cambria Math"/>
                          <a:cs typeface="Cambria Math"/>
                        </a:rPr>
                        <m:t>⇒</m:t>
                      </m:r>
                      <m:r>
                        <a:rPr lang="vi-VN" sz="2100" dirty="0">
                          <a:solidFill>
                            <a:srgbClr val="B91C1C"/>
                          </a:solidFill>
                          <a:latin typeface="Cambria Math"/>
                          <a:ea typeface="Cambria Math"/>
                          <a:cs typeface="Cambria Math"/>
                        </a:rPr>
                        <m:t>f</m:t>
                      </m:r>
                      <m:d>
                        <m:dPr>
                          <m:begChr m:val="("/>
                          <m:sepChr m:val=""/>
                          <m:endChr m:val=")"/>
                          <m:grow m:val="on"/>
                          <m:ctrlPr>
                            <a:rPr lang="vi-VN" sz="2100" dirty="0">
                              <a:solidFill>
                                <a:srgbClr val="B91C1C"/>
                              </a:solidFill>
                              <a:latin typeface="Cambria Math"/>
                              <a:ea typeface="Cambria Math"/>
                              <a:cs typeface="Cambria Math"/>
                            </a:rPr>
                          </m:ctrlPr>
                        </m:dPr>
                        <m:e>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1</m:t>
                              </m:r>
                            </m:sub>
                          </m:sSub>
                        </m:e>
                      </m:d>
                      <m:r>
                        <m:rPr>
                          <m:sty m:val="p"/>
                        </m:rPr>
                        <a:rPr lang="vi-VN" sz="2100" dirty="0">
                          <a:solidFill>
                            <a:srgbClr val="B91C1C"/>
                          </a:solidFill>
                          <a:latin typeface="Cambria Math"/>
                          <a:ea typeface="Cambria Math"/>
                          <a:cs typeface="Cambria Math"/>
                        </a:rPr>
                        <m:t>&gt;</m:t>
                      </m:r>
                      <m:r>
                        <a:rPr lang="vi-VN" sz="2100" dirty="0">
                          <a:solidFill>
                            <a:srgbClr val="B91C1C"/>
                          </a:solidFill>
                          <a:latin typeface="Cambria Math"/>
                          <a:ea typeface="Cambria Math"/>
                          <a:cs typeface="Cambria Math"/>
                        </a:rPr>
                        <m:t>f</m:t>
                      </m:r>
                      <m:d>
                        <m:dPr>
                          <m:begChr m:val="("/>
                          <m:sepChr m:val=""/>
                          <m:endChr m:val=")"/>
                          <m:grow m:val="on"/>
                          <m:ctrlPr>
                            <a:rPr lang="vi-VN" sz="2100" dirty="0">
                              <a:solidFill>
                                <a:srgbClr val="B91C1C"/>
                              </a:solidFill>
                              <a:latin typeface="Cambria Math"/>
                              <a:ea typeface="Cambria Math"/>
                              <a:cs typeface="Cambria Math"/>
                            </a:rPr>
                          </m:ctrlPr>
                        </m:dPr>
                        <m:e>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2</m:t>
                              </m:r>
                            </m:sub>
                          </m:sSub>
                        </m:e>
                      </m:d>
                    </m:oMath>
                  </a14:m>
                </a:p>
              </p:txBody>
            </p:sp>
          </mc:Choice>
        </mc:AlternateContent>
        <p:sp>
          <p:nvSpPr>
            <p:cNvPr id="22" name="Rectangle 22"/>
            <p:cNvSpPr/>
            <p:nvPr/>
          </p:nvSpPr>
          <p:spPr>
            <a:xfrm>
              <a:off x="6381750" y="1190625"/>
              <a:ext cx="5334000" cy="5191125"/>
            </a:xfrm>
            <a:prstGeom prst="roundRect">
              <a:avLst>
                <a:gd name="adj" fmla="val 3303"/>
              </a:avLst>
            </a:prstGeom>
            <a:solidFill>
              <a:srgbClr val="FFFFFF"/>
            </a:solidFill>
            <a:ln w="19050">
              <a:solidFill>
                <a:srgbClr val="CBD5E1"/>
              </a:solidFill>
            </a:ln>
          </p:spPr>
        </p:sp>
        <p:sp>
          <p:nvSpPr>
            <p:cNvPr id="23" name="TextBox 23"/>
            <p:cNvSpPr txBox="1"/>
            <p:nvPr/>
          </p:nvSpPr>
          <p:spPr>
            <a:xfrm>
              <a:off x="6539344" y="1376362"/>
              <a:ext cx="5018812"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HÌNH DÁNG ĐỒ THỊ TRỰC QUAN</a:t>
              </a:r>
            </a:p>
          </p:txBody>
        </p:sp>
        <p:pic>
          <p:nvPicPr>
            <p:cNvPr id="24" name="Image 24"/>
            <p:cNvPicPr>
              <a:picLocks noChangeAspect="1"/>
            </p:cNvPicPr>
            <p:nvPr/>
          </p:nvPicPr>
          <p:blipFill>
            <a:blip r:embed="rId2"/>
            <a:stretch>
              <a:fillRect/>
            </a:stretch>
          </p:blipFill>
          <p:spPr>
            <a:xfrm>
              <a:off x="6524625" y="2758939"/>
              <a:ext cx="5048250" cy="2102123"/>
            </a:xfrm>
            <a:prstGeom prst="rect">
              <a:avLst/>
            </a:prstGeom>
          </p:spPr>
        </p:pic>
        <p:sp>
          <p:nvSpPr>
            <p:cNvPr id="25" name="TextBox 25"/>
            <p:cNvSpPr txBox="1"/>
            <p:nvPr/>
          </p:nvSpPr>
          <p:spPr>
            <a:xfrm>
              <a:off x="6925406" y="5916930"/>
              <a:ext cx="4246688"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Đồ thị minh họa HĐ1 và Ví dụ 1</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12052" y="459105"/>
              <a:ext cx="1680995"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CHÚ Ý SGK</a:t>
              </a:r>
            </a:p>
          </p:txBody>
        </p:sp>
        <p:sp>
          <p:nvSpPr>
            <p:cNvPr id="7" name="TextBox 7"/>
            <p:cNvSpPr txBox="1"/>
            <p:nvPr/>
          </p:nvSpPr>
          <p:spPr>
            <a:xfrm>
              <a:off x="2179701" y="460534"/>
              <a:ext cx="6538102"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 TÍNH ĐƠN ĐIỆU: Chú ý &amp; Nhận xét sư phạm</a:t>
              </a:r>
            </a:p>
          </p:txBody>
        </p:sp>
      </p:grpSp>
      <p:grpSp>
        <p:nvGrpSpPr>
          <p:cNvPr id="22" name="content"/>
          <p:cNvGrpSpPr/>
          <p:nvPr/>
        </p:nvGrpSpPr>
        <p:grpSpPr>
          <a:xfrm>
            <a:off x="476250" y="1190625"/>
            <a:ext cx="11239500" cy="5191125"/>
            <a:chOff x="476250" y="1190625"/>
            <a:chExt cx="11239500"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76375"/>
              <a:ext cx="10572750" cy="1381125"/>
            </a:xfrm>
            <a:prstGeom prst="roundRect">
              <a:avLst>
                <a:gd name="adj" fmla="val 9655"/>
              </a:avLst>
            </a:prstGeom>
            <a:solidFill>
              <a:srgbClr val="EFF6FF"/>
            </a:solidFill>
            <a:ln w="19050">
              <a:solidFill>
                <a:srgbClr val="BFDBFE"/>
              </a:solidFill>
            </a:ln>
          </p:spPr>
        </p:sp>
        <p:sp>
          <p:nvSpPr>
            <p:cNvPr id="11" name="TextBox 11"/>
            <p:cNvSpPr txBox="1"/>
            <p:nvPr/>
          </p:nvSpPr>
          <p:spPr>
            <a:xfrm>
              <a:off x="1036320" y="1662112"/>
              <a:ext cx="8521586"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1. ĐẶC TRƯNG HÌNH HỌC CỦA ĐỒ THỊ (SGK TRANG 5):</a:t>
              </a:r>
            </a:p>
          </p:txBody>
        </p:sp>
        <p:sp>
          <p:nvSpPr>
            <p:cNvPr id="12" name="TextBox 12"/>
            <p:cNvSpPr txBox="1"/>
            <p:nvPr/>
          </p:nvSpPr>
          <p:spPr>
            <a:xfrm>
              <a:off x="1037082" y="2106930"/>
              <a:ext cx="8426442" cy="410718"/>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Hàm số ĐỒNG BIẾN trên K ⇔ Đồ thị ĐI LÊN từ trái sang phải.</a:t>
              </a:r>
            </a:p>
          </p:txBody>
        </p:sp>
        <p:sp>
          <p:nvSpPr>
            <p:cNvPr id="13" name="TextBox 13"/>
            <p:cNvSpPr txBox="1"/>
            <p:nvPr/>
          </p:nvSpPr>
          <p:spPr>
            <a:xfrm>
              <a:off x="1037082" y="2487930"/>
              <a:ext cx="9207429" cy="410718"/>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Hàm số NGHỊCH BIẾN trên K ⇔ Đồ thị ĐI XUỐNG từ trái sang phải.</a:t>
              </a:r>
            </a:p>
          </p:txBody>
        </p:sp>
        <p:sp>
          <p:nvSpPr>
            <p:cNvPr id="14" name="Rectangle 14"/>
            <p:cNvSpPr/>
            <p:nvPr/>
          </p:nvSpPr>
          <p:spPr>
            <a:xfrm>
              <a:off x="809625" y="3095625"/>
              <a:ext cx="10572750" cy="1381125"/>
            </a:xfrm>
            <a:prstGeom prst="roundRect">
              <a:avLst>
                <a:gd name="adj" fmla="val 9655"/>
              </a:avLst>
            </a:prstGeom>
            <a:solidFill>
              <a:srgbClr val="F8FAFC"/>
            </a:solidFill>
            <a:ln w="14288">
              <a:solidFill>
                <a:srgbClr val="E2E8F0"/>
              </a:solidFill>
            </a:ln>
          </p:spPr>
        </p:sp>
        <p:sp>
          <p:nvSpPr>
            <p:cNvPr id="15" name="TextBox 15"/>
            <p:cNvSpPr txBox="1"/>
            <p:nvPr/>
          </p:nvSpPr>
          <p:spPr>
            <a:xfrm>
              <a:off x="1036320" y="3281362"/>
              <a:ext cx="6458992" cy="440055"/>
            </a:xfrm>
            <a:prstGeom prst="rect">
              <a:avLst/>
            </a:prstGeom>
            <a:noFill/>
            <a:ln>
              <a:noFill/>
            </a:ln>
          </p:spPr>
          <p:txBody>
            <a:bodyPr wrap="none" lIns="0" tIns="0" rIns="0" bIns="0" anchor="t" anchorCtr="0">
              <a:spAutoFit/>
            </a:bodyPr>
            <a:lstStyle/>
            <a:p>
              <a:pPr algn="l"/>
              <a:r>
                <a:rPr lang="vi-VN" sz="2250" b="1" dirty="0">
                  <a:solidFill>
                    <a:srgbClr val="1E40AF"/>
                  </a:solidFill>
                  <a:latin typeface="+mn-lt"/>
                  <a:ea typeface="+mn-ea"/>
                  <a:cs typeface="+mn-cs"/>
                </a:rPr>
                <a:t>2. THUẬT NGỮ TOÁN HỌC DÙNG CHUNG:</a:t>
              </a:r>
            </a:p>
          </p:txBody>
        </p:sp>
        <p:sp>
          <p:nvSpPr>
            <p:cNvPr id="16" name="TextBox 16"/>
            <p:cNvSpPr txBox="1"/>
            <p:nvPr/>
          </p:nvSpPr>
          <p:spPr>
            <a:xfrm>
              <a:off x="1037082" y="3726180"/>
              <a:ext cx="8976502"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Đồng biến hay nghịch biến trên K gọi chung là ĐƠN ĐIỆU trên K.</a:t>
              </a:r>
            </a:p>
          </p:txBody>
        </p:sp>
        <p:sp>
          <p:nvSpPr>
            <p:cNvPr id="17" name="TextBox 17"/>
            <p:cNvSpPr txBox="1"/>
            <p:nvPr/>
          </p:nvSpPr>
          <p:spPr>
            <a:xfrm>
              <a:off x="1037082" y="4107180"/>
              <a:ext cx="9955393"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Việc tìm các khoảng đồng biến, nghịch biến gọi là XÉT TÍNH ĐƠN ĐIỆU.</a:t>
              </a:r>
            </a:p>
          </p:txBody>
        </p:sp>
        <p:sp>
          <p:nvSpPr>
            <p:cNvPr id="18" name="Rectangle 18"/>
            <p:cNvSpPr/>
            <p:nvPr/>
          </p:nvSpPr>
          <p:spPr>
            <a:xfrm>
              <a:off x="809625" y="4714875"/>
              <a:ext cx="10572750" cy="1381125"/>
            </a:xfrm>
            <a:prstGeom prst="roundRect">
              <a:avLst>
                <a:gd name="adj" fmla="val 9655"/>
              </a:avLst>
            </a:prstGeom>
            <a:solidFill>
              <a:srgbClr val="FFFBEB"/>
            </a:solidFill>
            <a:ln w="19050">
              <a:solidFill>
                <a:srgbClr val="FDE68A"/>
              </a:solidFill>
            </a:ln>
          </p:spPr>
        </p:sp>
        <p:sp>
          <p:nvSpPr>
            <p:cNvPr id="19" name="TextBox 19"/>
            <p:cNvSpPr txBox="1"/>
            <p:nvPr/>
          </p:nvSpPr>
          <p:spPr>
            <a:xfrm>
              <a:off x="1036320" y="4900612"/>
              <a:ext cx="5801694" cy="440055"/>
            </a:xfrm>
            <a:prstGeom prst="rect">
              <a:avLst/>
            </a:prstGeom>
            <a:noFill/>
            <a:ln>
              <a:noFill/>
            </a:ln>
          </p:spPr>
          <p:txBody>
            <a:bodyPr wrap="none" lIns="0" tIns="0" rIns="0" bIns="0" anchor="t" anchorCtr="0">
              <a:spAutoFit/>
            </a:bodyPr>
            <a:lstStyle/>
            <a:p>
              <a:pPr algn="l"/>
              <a:r>
                <a:rPr lang="vi-VN" sz="2250" b="1" dirty="0">
                  <a:solidFill>
                    <a:srgbClr val="B45309"/>
                  </a:solidFill>
                  <a:latin typeface="+mn-lt"/>
                  <a:ea typeface="+mn-ea"/>
                  <a:cs typeface="+mn-cs"/>
                </a:rPr>
                <a:t>3. QUY ƯỚC VỀ TẬP XÁC ĐỊNH (TXĐ):</a:t>
              </a:r>
            </a:p>
          </p:txBody>
        </p:sp>
        <p:sp>
          <p:nvSpPr>
            <p:cNvPr id="20" name="TextBox 20"/>
            <p:cNvSpPr txBox="1"/>
            <p:nvPr/>
          </p:nvSpPr>
          <p:spPr>
            <a:xfrm>
              <a:off x="1037082" y="5345430"/>
              <a:ext cx="954335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Khi xét tính đơn điệu mà không chỉ rõ tập K thì ta ngầm hiểu là xét trên</a:t>
              </a:r>
            </a:p>
          </p:txBody>
        </p:sp>
        <p:sp>
          <p:nvSpPr>
            <p:cNvPr id="21" name="TextBox 21"/>
            <p:cNvSpPr txBox="1"/>
            <p:nvPr/>
          </p:nvSpPr>
          <p:spPr>
            <a:xfrm>
              <a:off x="1037082" y="5726430"/>
              <a:ext cx="6618257"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TOÀN BỘ TẬP XÁC ĐỊNH (TXĐ) của hàm số đó.</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94973" y="459105"/>
              <a:ext cx="1515155"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VD1 &amp; LT1</a:t>
              </a:r>
            </a:p>
          </p:txBody>
        </p:sp>
        <p:sp>
          <p:nvSpPr>
            <p:cNvPr id="7" name="TextBox 7"/>
            <p:cNvSpPr txBox="1"/>
            <p:nvPr/>
          </p:nvSpPr>
          <p:spPr>
            <a:xfrm>
              <a:off x="2179701" y="460534"/>
              <a:ext cx="5799390"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 TÍNH ĐƠN ĐIỆU: Ví dụ 1 &amp; Luyện tập 1</a:t>
              </a:r>
            </a:p>
          </p:txBody>
        </p:sp>
      </p:grpSp>
      <p:grpSp>
        <p:nvGrpSpPr>
          <p:cNvPr id="25" name="content"/>
          <p:cNvGrpSpPr/>
          <p:nvPr/>
        </p:nvGrpSpPr>
        <p:grpSpPr>
          <a:xfrm>
            <a:off x="476250" y="1190625"/>
            <a:ext cx="11239500" cy="5191125"/>
            <a:chOff x="476250" y="1190625"/>
            <a:chExt cx="11239500" cy="5191125"/>
          </a:xfrm>
        </p:grpSpPr>
        <p:sp>
          <p:nvSpPr>
            <p:cNvPr id="9" name="Rectangle 9"/>
            <p:cNvSpPr/>
            <p:nvPr/>
          </p:nvSpPr>
          <p:spPr>
            <a:xfrm>
              <a:off x="476250" y="1190625"/>
              <a:ext cx="619125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714375" y="1381125"/>
              <a:ext cx="5715000" cy="2143125"/>
            </a:xfrm>
            <a:prstGeom prst="roundRect">
              <a:avLst>
                <a:gd name="adj" fmla="val 6222"/>
              </a:avLst>
            </a:prstGeom>
            <a:solidFill>
              <a:srgbClr val="F8FAFC"/>
            </a:solidFill>
            <a:ln w="14288">
              <a:solidFill>
                <a:srgbClr val="E2E8F0"/>
              </a:solidFill>
            </a:ln>
          </p:spPr>
        </p:sp>
        <p:sp>
          <p:nvSpPr>
            <p:cNvPr id="11" name="TextBox 11"/>
            <p:cNvSpPr txBox="1"/>
            <p:nvPr/>
          </p:nvSpPr>
          <p:spPr>
            <a:xfrm>
              <a:off x="894207" y="1535430"/>
              <a:ext cx="4801197"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1 (HÌNH 1.4 SGK TRANG 6):</a:t>
              </a:r>
            </a:p>
          </p:txBody>
        </p:sp>
        <mc:AlternateContent xmlns:mc="http://schemas.openxmlformats.org/markup-compatibility/2006">
          <mc:Choice xmlns:a14="http://schemas.microsoft.com/office/drawing/2010/main" Requires="a14">
            <p:sp>
              <p:nvSpPr>
                <p:cNvPr id="12" name="TextBox 12"/>
                <p:cNvSpPr txBox="1"/>
                <p:nvPr/>
              </p:nvSpPr>
              <p:spPr>
                <a:xfrm>
                  <a:off x="894207" y="1903095"/>
                  <a:ext cx="3723289"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Đồ thị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oMath>
                  </a14:m>
                  <a:r>
                    <a:rPr lang="vi-VN" sz="2100" b="1" dirty="0">
                      <a:solidFill>
                        <a:srgbClr val="0F172A"/>
                      </a:solidFill>
                      <a:latin typeface="+mn-lt"/>
                      <a:ea typeface="+mn-ea"/>
                      <a:cs typeface="+mn-cs"/>
                    </a:rPr>
                    <a:t xml:space="preserve"> trên </a:t>
                  </a:r>
                  <a14:m>
                    <m:oMath xmlns:a="http://schemas.openxmlformats.org/drawingml/2006/main" xmlns:m="http://schemas.openxmlformats.org/officeDocument/2006/math">
                      <m:r>
                        <m:rPr>
                          <m:scr m:val="double-struck"/>
                          <m:sty m:val="p"/>
                        </m:rPr>
                        <a:rPr lang="vi-VN" sz="2100" dirty="0">
                          <a:solidFill>
                            <a:srgbClr val="0F172A"/>
                          </a:solidFill>
                          <a:latin typeface="Cambria Math"/>
                          <a:ea typeface="Cambria Math"/>
                          <a:cs typeface="Cambria Math"/>
                        </a:rPr>
                        <m:t>R</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894207" y="2284095"/>
                  <a:ext cx="6519685" cy="437388"/>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 xml:space="preserve">Đi lên từ trái sang phải trên </a:t>
                  </a:r>
                  <a14:m>
                    <m:oMath xmlns:a="http://schemas.openxmlformats.org/drawingml/2006/main" xmlns:m="http://schemas.openxmlformats.org/officeDocument/2006/math">
                      <m:d>
                        <m:dPr>
                          <m:begChr m:val="("/>
                          <m:sepChr m:val=""/>
                          <m:endChr m:val=")"/>
                          <m:grow m:val="on"/>
                          <m:ctrlPr>
                            <a:rPr lang="vi-VN" sz="2100" dirty="0">
                              <a:solidFill>
                                <a:srgbClr val="047857"/>
                              </a:solidFill>
                              <a:latin typeface="Cambria Math"/>
                              <a:ea typeface="Cambria Math"/>
                              <a:cs typeface="Cambria Math"/>
                            </a:rPr>
                          </m:ctrlPr>
                        </m:dPr>
                        <m:e>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e>
                      </m:d>
                    </m:oMath>
                  </a14:m>
                  <a:r>
                    <a:rPr lang="vi-VN" sz="2100" b="1" dirty="0">
                      <a:solidFill>
                        <a:srgbClr val="047857"/>
                      </a:solidFill>
                      <a:latin typeface="+mn-lt"/>
                      <a:ea typeface="+mn-ea"/>
                      <a:cs typeface="+mn-cs"/>
                    </a:rPr>
                    <a:t xml:space="preserve"> ⇒ Đồng biến</a:t>
                  </a:r>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894207" y="2665095"/>
                  <a:ext cx="7123177" cy="437388"/>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Đi xuống từ trái sang phải trên </a:t>
                  </a:r>
                  <a14:m>
                    <m:oMath xmlns:a="http://schemas.openxmlformats.org/drawingml/2006/main" xmlns:m="http://schemas.openxmlformats.org/officeDocument/2006/math">
                      <m:d>
                        <m:dPr>
                          <m:begChr m:val="("/>
                          <m:sepChr m:val=""/>
                          <m:endChr m:val=")"/>
                          <m:grow m:val="on"/>
                          <m:ctrlPr>
                            <a:rPr lang="vi-VN" sz="2100" dirty="0">
                              <a:solidFill>
                                <a:srgbClr val="DC2626"/>
                              </a:solidFill>
                              <a:latin typeface="Cambria Math"/>
                              <a:ea typeface="Cambria Math"/>
                              <a:cs typeface="Cambria Math"/>
                            </a:rPr>
                          </m:ctrlPr>
                        </m:dPr>
                        <m:e>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0</m:t>
                          </m:r>
                        </m:e>
                      </m:d>
                    </m:oMath>
                  </a14:m>
                  <a:r>
                    <a:rPr lang="vi-VN" sz="2100" b="1" dirty="0">
                      <a:solidFill>
                        <a:srgbClr val="DC2626"/>
                      </a:solidFill>
                      <a:latin typeface="+mn-lt"/>
                      <a:ea typeface="+mn-ea"/>
                      <a:cs typeface="+mn-cs"/>
                    </a:rPr>
                    <a:t xml:space="preserve"> ⇒ Nghịch biến</a:t>
                  </a:r>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894207" y="3107055"/>
                  <a:ext cx="4366102" cy="410718"/>
                </a:xfrm>
                <a:prstGeom prst="rect">
                  <a:avLst/>
                </a:prstGeom>
                <a:noFill/>
                <a:ln>
                  <a:noFill/>
                </a:ln>
              </p:spPr>
              <p:txBody>
                <a:bodyPr wrap="none" lIns="0" tIns="0" rIns="0" bIns="0" anchor="t" anchorCtr="0">
                  <a:spAutoFit/>
                </a:bodyPr>
                <a:lstStyle/>
                <a:p>
                  <a:pPr algn="l"/>
                  <a:r>
                    <a:rPr lang="vi-VN" sz="2100" dirty="0">
                      <a:solidFill>
                        <a:srgbClr val="475569"/>
                      </a:solidFill>
                      <a:latin typeface="+mn-lt"/>
                      <a:ea typeface="+mn-ea"/>
                      <a:cs typeface="+mn-cs"/>
                    </a:rPr>
                    <a:t xml:space="preserve">Tập xác định của hàm số là </a:t>
                  </a:r>
                  <a14:m>
                    <m:oMath xmlns:a="http://schemas.openxmlformats.org/drawingml/2006/main" xmlns:m="http://schemas.openxmlformats.org/officeDocument/2006/math">
                      <m:r>
                        <a:rPr lang="vi-VN" sz="2100" dirty="0">
                          <a:solidFill>
                            <a:srgbClr val="475569"/>
                          </a:solidFill>
                          <a:latin typeface="Cambria Math"/>
                          <a:ea typeface="Cambria Math"/>
                          <a:cs typeface="Cambria Math"/>
                        </a:rPr>
                        <m:t>D</m:t>
                      </m:r>
                      <m:r>
                        <m:rPr>
                          <m:sty m:val="p"/>
                        </m:rPr>
                        <a:rPr lang="vi-VN" sz="2100" dirty="0">
                          <a:solidFill>
                            <a:srgbClr val="475569"/>
                          </a:solidFill>
                          <a:latin typeface="Cambria Math"/>
                          <a:ea typeface="Cambria Math"/>
                          <a:cs typeface="Cambria Math"/>
                        </a:rPr>
                        <m:t>=</m:t>
                      </m:r>
                      <m:r>
                        <m:rPr>
                          <m:scr m:val="double-struck"/>
                          <m:sty m:val="p"/>
                        </m:rPr>
                        <a:rPr lang="vi-VN" sz="2100" dirty="0">
                          <a:solidFill>
                            <a:srgbClr val="475569"/>
                          </a:solidFill>
                          <a:latin typeface="Cambria Math"/>
                          <a:ea typeface="Cambria Math"/>
                          <a:cs typeface="Cambria Math"/>
                        </a:rPr>
                        <m:t>R</m:t>
                      </m:r>
                    </m:oMath>
                  </a14:m>
                  <a:r>
                    <a:rPr lang="vi-VN" sz="2100" dirty="0">
                      <a:solidFill>
                        <a:srgbClr val="475569"/>
                      </a:solidFill>
                      <a:latin typeface="+mn-lt"/>
                      <a:ea typeface="+mn-ea"/>
                      <a:cs typeface="+mn-cs"/>
                    </a:rPr>
                    <a:t>.</a:t>
                  </a:r>
                </a:p>
              </p:txBody>
            </p:sp>
          </mc:Choice>
        </mc:AlternateContent>
        <p:sp>
          <p:nvSpPr>
            <p:cNvPr id="16" name="Rectangle 16"/>
            <p:cNvSpPr/>
            <p:nvPr/>
          </p:nvSpPr>
          <p:spPr>
            <a:xfrm>
              <a:off x="714375" y="3714750"/>
              <a:ext cx="5715000" cy="2428875"/>
            </a:xfrm>
            <a:prstGeom prst="roundRect">
              <a:avLst>
                <a:gd name="adj" fmla="val 5490"/>
              </a:avLst>
            </a:prstGeom>
            <a:solidFill>
              <a:srgbClr val="EFF6FF"/>
            </a:solidFill>
            <a:ln w="14288">
              <a:solidFill>
                <a:srgbClr val="BFDBFE"/>
              </a:solidFill>
            </a:ln>
          </p:spPr>
        </p:sp>
        <p:sp>
          <p:nvSpPr>
            <p:cNvPr id="17" name="TextBox 17"/>
            <p:cNvSpPr txBox="1"/>
            <p:nvPr/>
          </p:nvSpPr>
          <p:spPr>
            <a:xfrm>
              <a:off x="894207" y="3869055"/>
              <a:ext cx="5697309"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LUYỆN TẬP 1 (HÌNH 1.5 SGK TRANG 6):</a:t>
              </a:r>
            </a:p>
          </p:txBody>
        </p:sp>
        <p:sp>
          <p:nvSpPr>
            <p:cNvPr id="18" name="TextBox 18"/>
            <p:cNvSpPr txBox="1"/>
            <p:nvPr/>
          </p:nvSpPr>
          <p:spPr>
            <a:xfrm>
              <a:off x="894207" y="4250055"/>
              <a:ext cx="591725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Từ đồ thị hàm bậc ba (Hình bên phải), ta có:</a:t>
              </a:r>
            </a:p>
          </p:txBody>
        </p:sp>
        <mc:AlternateContent xmlns:mc="http://schemas.openxmlformats.org/markup-compatibility/2006">
          <mc:Choice xmlns:a14="http://schemas.microsoft.com/office/drawing/2010/main" Requires="a14">
            <p:sp>
              <p:nvSpPr>
                <p:cNvPr id="19" name="TextBox 19"/>
                <p:cNvSpPr txBox="1"/>
                <p:nvPr/>
              </p:nvSpPr>
              <p:spPr>
                <a:xfrm>
                  <a:off x="894207" y="4665345"/>
                  <a:ext cx="4706017" cy="43738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 Đồng biến trên: </a:t>
                  </a:r>
                  <a14:m>
                    <m:oMath xmlns:a="http://schemas.openxmlformats.org/drawingml/2006/main" xmlns:m="http://schemas.openxmlformats.org/officeDocument/2006/math">
                      <m:d>
                        <m:dPr>
                          <m:begChr m:val="("/>
                          <m:sepChr m:val=""/>
                          <m:endChr m:val=")"/>
                          <m:grow m:val="on"/>
                          <m:ctrlPr>
                            <a:rPr lang="vi-VN" sz="2100" dirty="0">
                              <a:solidFill>
                                <a:srgbClr val="047857"/>
                              </a:solidFill>
                              <a:latin typeface="Cambria Math"/>
                              <a:ea typeface="Cambria Math"/>
                              <a:cs typeface="Cambria Math"/>
                            </a:rPr>
                          </m:ctrlPr>
                        </m:dPr>
                        <m:e>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1</m:t>
                          </m:r>
                        </m:e>
                      </m:d>
                    </m:oMath>
                  </a14:m>
                  <a:r>
                    <a:rPr lang="vi-VN" sz="2100" b="1" dirty="0">
                      <a:solidFill>
                        <a:srgbClr val="047857"/>
                      </a:solidFill>
                      <a:latin typeface="+mn-lt"/>
                      <a:ea typeface="+mn-ea"/>
                      <a:cs typeface="+mn-cs"/>
                    </a:rPr>
                    <a:t xml:space="preserve"> và </a:t>
                  </a:r>
                  <a14:m>
                    <m:oMath xmlns:a="http://schemas.openxmlformats.org/drawingml/2006/main" xmlns:m="http://schemas.openxmlformats.org/officeDocument/2006/math">
                      <m:d>
                        <m:dPr>
                          <m:begChr m:val="("/>
                          <m:sepChr m:val=""/>
                          <m:endChr m:val=")"/>
                          <m:grow m:val="on"/>
                          <m:ctrlPr>
                            <a:rPr lang="vi-VN" sz="2100" dirty="0">
                              <a:solidFill>
                                <a:srgbClr val="047857"/>
                              </a:solidFill>
                              <a:latin typeface="Cambria Math"/>
                              <a:ea typeface="Cambria Math"/>
                              <a:cs typeface="Cambria Math"/>
                            </a:rPr>
                          </m:ctrlPr>
                        </m:dPr>
                        <m:e>
                          <m:r>
                            <a:rPr lang="vi-VN" sz="2100" dirty="0">
                              <a:solidFill>
                                <a:srgbClr val="047857"/>
                              </a:solidFill>
                              <a:latin typeface="Cambria Math"/>
                              <a:ea typeface="Cambria Math"/>
                              <a:cs typeface="Cambria Math"/>
                            </a:rPr>
                            <m:t>1</m:t>
                          </m:r>
                          <m:r>
                            <m:rPr>
                              <m:sty m:val="p"/>
                            </m:rPr>
                            <a:rPr lang="vi-VN" sz="2100" dirty="0">
                              <a:solidFill>
                                <a:srgbClr val="047857"/>
                              </a:solidFill>
                              <a:latin typeface="Cambria Math"/>
                              <a:ea typeface="Cambria Math"/>
                              <a:cs typeface="Cambria Math"/>
                            </a:rPr>
                            <m:t>;+∞</m:t>
                          </m:r>
                        </m:e>
                      </m:d>
                    </m:oMath>
                  </a14:m>
                </a:p>
              </p:txBody>
            </p:sp>
          </mc:Choice>
        </mc:AlternateContent>
        <mc:AlternateContent xmlns:mc="http://schemas.openxmlformats.org/markup-compatibility/2006">
          <mc:Choice xmlns:a14="http://schemas.microsoft.com/office/drawing/2010/main" Requires="a14">
            <p:sp>
              <p:nvSpPr>
                <p:cNvPr id="20" name="TextBox 20"/>
                <p:cNvSpPr txBox="1"/>
                <p:nvPr/>
              </p:nvSpPr>
              <p:spPr>
                <a:xfrm>
                  <a:off x="894207" y="5093970"/>
                  <a:ext cx="4529875" cy="43738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 xml:space="preserve">⇒ Nghịch biến trên khoảng: </a:t>
                  </a:r>
                  <a14:m>
                    <m:oMath xmlns:a="http://schemas.openxmlformats.org/drawingml/2006/main" xmlns:m="http://schemas.openxmlformats.org/officeDocument/2006/math">
                      <m:d>
                        <m:dPr>
                          <m:begChr m:val="("/>
                          <m:sepChr m:val=""/>
                          <m:endChr m:val=")"/>
                          <m:grow m:val="on"/>
                          <m:ctrlPr>
                            <a:rPr lang="vi-VN" sz="2100" dirty="0">
                              <a:solidFill>
                                <a:srgbClr val="DC2626"/>
                              </a:solidFill>
                              <a:latin typeface="Cambria Math"/>
                              <a:ea typeface="Cambria Math"/>
                              <a:cs typeface="Cambria Math"/>
                            </a:rPr>
                          </m:ctrlPr>
                        </m:dPr>
                        <m:e>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e>
                      </m:d>
                    </m:oMath>
                  </a14:m>
                </a:p>
              </p:txBody>
            </p:sp>
          </mc:Choice>
        </mc:AlternateContent>
        <p:sp>
          <p:nvSpPr>
            <p:cNvPr id="21" name="TextBox 21"/>
            <p:cNvSpPr txBox="1"/>
            <p:nvPr/>
          </p:nvSpPr>
          <p:spPr>
            <a:xfrm>
              <a:off x="894207" y="5583555"/>
              <a:ext cx="5559012"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Đồ thị đổi chiều biến thiên tại 2 đỉnh uốn.</a:t>
              </a:r>
            </a:p>
          </p:txBody>
        </p:sp>
        <p:sp>
          <p:nvSpPr>
            <p:cNvPr id="22" name="Rectangle 22"/>
            <p:cNvSpPr/>
            <p:nvPr/>
          </p:nvSpPr>
          <p:spPr>
            <a:xfrm>
              <a:off x="6858000" y="1190625"/>
              <a:ext cx="4857750" cy="5191125"/>
            </a:xfrm>
            <a:prstGeom prst="roundRect">
              <a:avLst>
                <a:gd name="adj" fmla="val 3529"/>
              </a:avLst>
            </a:prstGeom>
            <a:solidFill>
              <a:srgbClr val="FFFFFF"/>
            </a:solidFill>
            <a:ln w="19050">
              <a:solidFill>
                <a:srgbClr val="CBD5E1"/>
              </a:solidFill>
            </a:ln>
          </p:spPr>
        </p:sp>
        <p:sp>
          <p:nvSpPr>
            <p:cNvPr id="23" name="TextBox 23"/>
            <p:cNvSpPr txBox="1"/>
            <p:nvPr/>
          </p:nvSpPr>
          <p:spPr>
            <a:xfrm>
              <a:off x="7648458" y="1376362"/>
              <a:ext cx="3276835"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ĐỒ THỊ LUYỆN TẬP 1</a:t>
              </a:r>
            </a:p>
          </p:txBody>
        </p:sp>
        <p:pic>
          <p:nvPicPr>
            <p:cNvPr id="24" name="Image 24"/>
            <p:cNvPicPr>
              <a:picLocks noChangeAspect="1"/>
            </p:cNvPicPr>
            <p:nvPr/>
          </p:nvPicPr>
          <p:blipFill>
            <a:blip r:embed="rId2"/>
            <a:stretch>
              <a:fillRect/>
            </a:stretch>
          </p:blipFill>
          <p:spPr>
            <a:xfrm>
              <a:off x="7000875" y="2398514"/>
              <a:ext cx="4572000" cy="2918222"/>
            </a:xfrm>
            <a:prstGeom prst="rect">
              <a:avLst/>
            </a:prstGeom>
          </p:spPr>
        </p:pic>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744474" y="459105"/>
              <a:ext cx="1216152"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ĐỊNH LÝ</a:t>
              </a:r>
            </a:p>
          </p:txBody>
        </p:sp>
        <p:sp>
          <p:nvSpPr>
            <p:cNvPr id="7" name="TextBox 7"/>
            <p:cNvSpPr txBox="1"/>
            <p:nvPr/>
          </p:nvSpPr>
          <p:spPr>
            <a:xfrm>
              <a:off x="2179701" y="460534"/>
              <a:ext cx="6066716"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 TÍNH ĐƠN ĐIỆU: HĐ2 &amp; Định lý đạo hàm</a:t>
              </a:r>
            </a:p>
          </p:txBody>
        </p:sp>
      </p:grpSp>
      <p:grpSp>
        <p:nvGrpSpPr>
          <p:cNvPr id="27" name="content"/>
          <p:cNvGrpSpPr/>
          <p:nvPr/>
        </p:nvGrpSpPr>
        <p:grpSpPr>
          <a:xfrm>
            <a:off x="476250" y="1190625"/>
            <a:ext cx="11239500" cy="5191125"/>
            <a:chOff x="476250" y="1190625"/>
            <a:chExt cx="11239500"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28750"/>
              <a:ext cx="10572750" cy="1238250"/>
            </a:xfrm>
            <a:prstGeom prst="roundRect">
              <a:avLst>
                <a:gd name="adj" fmla="val 10769"/>
              </a:avLst>
            </a:prstGeom>
            <a:solidFill>
              <a:srgbClr val="F8FAFC"/>
            </a:solidFill>
            <a:ln w="14288">
              <a:solidFill>
                <a:srgbClr val="CBD5E1"/>
              </a:solidFill>
            </a:ln>
          </p:spPr>
        </p:sp>
        <p:sp>
          <p:nvSpPr>
            <p:cNvPr id="11" name="TextBox 11"/>
            <p:cNvSpPr txBox="1"/>
            <p:nvPr/>
          </p:nvSpPr>
          <p:spPr>
            <a:xfrm>
              <a:off x="1037082" y="1583055"/>
              <a:ext cx="5381520"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HOẠT ĐỘNG 2 (HĐ2 - SGK TRANG 6):</a:t>
              </a:r>
            </a:p>
          </p:txBody>
        </p:sp>
        <mc:AlternateContent xmlns:mc="http://schemas.openxmlformats.org/markup-compatibility/2006">
          <mc:Choice xmlns:a14="http://schemas.microsoft.com/office/drawing/2010/main" Requires="a14">
            <p:sp>
              <p:nvSpPr>
                <p:cNvPr id="12" name="TextBox 12"/>
                <p:cNvSpPr txBox="1"/>
                <p:nvPr/>
              </p:nvSpPr>
              <p:spPr>
                <a:xfrm>
                  <a:off x="1037082" y="1903514"/>
                  <a:ext cx="5033279"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Xét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oMath>
                  </a14:m>
                  <a:r>
                    <a:rPr lang="vi-VN" sz="2100" b="1" dirty="0">
                      <a:solidFill>
                        <a:srgbClr val="0F172A"/>
                      </a:solidFill>
                      <a:latin typeface="+mn-lt"/>
                      <a:ea typeface="+mn-ea"/>
                      <a:cs typeface="+mn-cs"/>
                    </a:rPr>
                    <a:t xml:space="preserve"> có đạo hàm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2x</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1037082" y="2297430"/>
                  <a:ext cx="10530014" cy="410718"/>
                </a:xfrm>
                <a:prstGeom prst="rect">
                  <a:avLst/>
                </a:prstGeom>
                <a:noFill/>
                <a:ln>
                  <a:noFill/>
                </a:ln>
              </p:spPr>
              <p:txBody>
                <a:bodyPr wrap="none" lIns="0" tIns="0" rIns="0" bIns="0" anchor="t" anchorCtr="0">
                  <a:spAutoFit/>
                </a:bodyPr>
                <a:lstStyle/>
                <a:p>
                  <a:pPr algn="l" marL="167461" indent="-167461">
                    <a:buClr>
                      <a:srgbClr val="1E40AF"/>
                    </a:buClr>
                    <a:buSzTx/>
                    <a:buFontTx/>
                    <a:buChar char="•"/>
                  </a:pPr>
                  <a:r>
                    <a:rPr lang="vi-VN" sz="2100" b="1" dirty="0">
                      <a:solidFill>
                        <a:srgbClr val="1E40AF"/>
                      </a:solidFill>
                      <a:latin typeface="+mn-lt"/>
                      <a:ea typeface="+mn-ea"/>
                      <a:cs typeface="+mn-cs"/>
                    </a:rPr>
                    <a:t xml:space="preserve">Khi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&gt;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&gt;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(Hàm số đồng biến) | Khi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&lt;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&lt;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(Hàm số nghịch biến)</a:t>
                  </a:r>
                </a:p>
              </p:txBody>
            </p:sp>
          </mc:Choice>
        </mc:AlternateContent>
        <p:sp>
          <p:nvSpPr>
            <p:cNvPr id="14" name="TextBox 14"/>
            <p:cNvSpPr txBox="1"/>
            <p:nvPr/>
          </p:nvSpPr>
          <p:spPr>
            <a:xfrm>
              <a:off x="798195" y="2852738"/>
              <a:ext cx="9748556" cy="440055"/>
            </a:xfrm>
            <a:prstGeom prst="rect">
              <a:avLst/>
            </a:prstGeom>
            <a:noFill/>
            <a:ln>
              <a:noFill/>
            </a:ln>
          </p:spPr>
          <p:txBody>
            <a:bodyPr wrap="none" lIns="0" tIns="0" rIns="0" bIns="0" anchor="t" anchorCtr="0">
              <a:spAutoFit/>
            </a:bodyPr>
            <a:lstStyle/>
            <a:p>
              <a:pPr algn="l"/>
              <a:r>
                <a:rPr lang="vi-VN" sz="2250" b="1" dirty="0">
                  <a:solidFill>
                    <a:srgbClr val="1E40AF"/>
                  </a:solidFill>
                  <a:latin typeface="+mn-lt"/>
                  <a:ea typeface="+mn-ea"/>
                  <a:cs typeface="+mn-cs"/>
                </a:rPr>
                <a:t>ĐỊNH LÝ MỐI LIÊN HỆ ĐẠO HÀM VÀ ĐƠN ĐIỆU (SGK TRANG 6):</a:t>
              </a:r>
            </a:p>
          </p:txBody>
        </p:sp>
        <mc:AlternateContent xmlns:mc="http://schemas.openxmlformats.org/markup-compatibility/2006">
          <mc:Choice xmlns:a14="http://schemas.microsoft.com/office/drawing/2010/main" Requires="a14">
            <p:sp>
              <p:nvSpPr>
                <p:cNvPr id="15" name="TextBox 15"/>
                <p:cNvSpPr txBox="1"/>
                <p:nvPr/>
              </p:nvSpPr>
              <p:spPr>
                <a:xfrm>
                  <a:off x="798957" y="3236595"/>
                  <a:ext cx="6382848"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Cho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oMath>
                  </a14:m>
                  <a:r>
                    <a:rPr lang="vi-VN" sz="2100" b="1" dirty="0">
                      <a:solidFill>
                        <a:srgbClr val="0F172A"/>
                      </a:solidFill>
                      <a:latin typeface="+mn-lt"/>
                      <a:ea typeface="+mn-ea"/>
                      <a:cs typeface="+mn-cs"/>
                    </a:rPr>
                    <a:t xml:space="preserve"> có đạo hàm trên khoảng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a:t>
                  </a:r>
                </a:p>
              </p:txBody>
            </p:sp>
          </mc:Choice>
        </mc:AlternateContent>
        <p:grpSp>
          <p:nvGrpSpPr>
            <p:cNvPr id="24" name="Group 24"/>
            <p:cNvGrpSpPr/>
            <p:nvPr/>
          </p:nvGrpSpPr>
          <p:grpSpPr>
            <a:xfrm>
              <a:off x="809625" y="3762375"/>
              <a:ext cx="10776191" cy="1449705"/>
              <a:chOff x="809625" y="3762375"/>
              <a:chExt cx="10776191" cy="1449705"/>
            </a:xfrm>
          </p:grpSpPr>
          <p:sp>
            <p:nvSpPr>
              <p:cNvPr id="16" name="Rectangle 16"/>
              <p:cNvSpPr/>
              <p:nvPr/>
            </p:nvSpPr>
            <p:spPr>
              <a:xfrm>
                <a:off x="809625" y="3762375"/>
                <a:ext cx="5143500" cy="1381125"/>
              </a:xfrm>
              <a:prstGeom prst="roundRect">
                <a:avLst>
                  <a:gd name="adj" fmla="val 9655"/>
                </a:avLst>
              </a:prstGeom>
              <a:solidFill>
                <a:srgbClr val="F0FDF4"/>
              </a:solidFill>
              <a:ln w="19050">
                <a:solidFill>
                  <a:srgbClr val="BBF7D0"/>
                </a:solidFill>
              </a:ln>
            </p:spPr>
          </p:sp>
          <p:sp>
            <p:nvSpPr>
              <p:cNvPr id="17" name="TextBox 17"/>
              <p:cNvSpPr txBox="1"/>
              <p:nvPr/>
            </p:nvSpPr>
            <p:spPr>
              <a:xfrm>
                <a:off x="1036320" y="3948112"/>
                <a:ext cx="4373752"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1. ĐẠO HÀM DƯƠNG (y' &gt; 0):</a:t>
                </a:r>
              </a:p>
            </p:txBody>
          </p:sp>
          <mc:AlternateContent xmlns:mc="http://schemas.openxmlformats.org/markup-compatibility/2006">
            <mc:Choice xmlns:a14="http://schemas.microsoft.com/office/drawing/2010/main" Requires="a14">
              <p:sp>
                <p:nvSpPr>
                  <p:cNvPr id="18" name="TextBox 18"/>
                  <p:cNvSpPr txBox="1"/>
                  <p:nvPr/>
                </p:nvSpPr>
                <p:spPr>
                  <a:xfrm>
                    <a:off x="1037082" y="4379595"/>
                    <a:ext cx="3180027"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Nếu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r>
                          <m:rPr>
                            <m:sty m:val="p"/>
                          </m:rPr>
                          <a:rPr lang="vi-VN" sz="2100" dirty="0">
                            <a:solidFill>
                              <a:srgbClr val="0F172A"/>
                            </a:solidFill>
                            <a:latin typeface="Cambria Math"/>
                            <a:ea typeface="Cambria Math"/>
                            <a:cs typeface="Cambria Math"/>
                          </a:rPr>
                          <m:t>&gt;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 xml:space="preserve"> thì:</a:t>
                    </a:r>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1036320" y="4743450"/>
                    <a:ext cx="4815777" cy="468630"/>
                  </a:xfrm>
                  <a:prstGeom prst="rect">
                    <a:avLst/>
                  </a:prstGeom>
                  <a:noFill/>
                  <a:ln>
                    <a:noFill/>
                  </a:ln>
                </p:spPr>
                <p:txBody>
                  <a:bodyPr wrap="none" lIns="0" tIns="0" rIns="0" bIns="0" anchor="t" anchorCtr="0">
                    <a:spAutoFit/>
                  </a:bodyPr>
                  <a:lstStyle/>
                  <a:p>
                    <a:pPr algn="l"/>
                    <a:r>
                      <a:rPr lang="vi-VN" sz="2250" b="1" dirty="0">
                        <a:solidFill>
                          <a:srgbClr val="166534"/>
                        </a:solidFill>
                        <a:latin typeface="+mn-lt"/>
                        <a:ea typeface="+mn-ea"/>
                        <a:cs typeface="+mn-cs"/>
                      </a:rPr>
                      <a:t xml:space="preserve">⇒ Hàm số </a:t>
                    </a:r>
                    <a14:m>
                      <m:oMath xmlns:a="http://schemas.openxmlformats.org/drawingml/2006/main" xmlns:m="http://schemas.openxmlformats.org/officeDocument/2006/math">
                        <m:r>
                          <a:rPr lang="vi-VN" sz="2250" dirty="0">
                            <a:solidFill>
                              <a:srgbClr val="166534"/>
                            </a:solidFill>
                            <a:latin typeface="Cambria Math"/>
                            <a:ea typeface="Cambria Math"/>
                            <a:cs typeface="Cambria Math"/>
                          </a:rPr>
                          <m:t>f</m:t>
                        </m:r>
                        <m:d>
                          <m:dPr>
                            <m:begChr m:val="("/>
                            <m:sepChr m:val=""/>
                            <m:endChr m:val=")"/>
                            <m:grow m:val="on"/>
                            <m:ctrlPr>
                              <a:rPr lang="vi-VN" sz="2250" dirty="0">
                                <a:solidFill>
                                  <a:srgbClr val="166534"/>
                                </a:solidFill>
                                <a:latin typeface="Cambria Math"/>
                                <a:ea typeface="Cambria Math"/>
                                <a:cs typeface="Cambria Math"/>
                              </a:rPr>
                            </m:ctrlPr>
                          </m:dPr>
                          <m:e>
                            <m:r>
                              <a:rPr lang="vi-VN" sz="2250" dirty="0">
                                <a:solidFill>
                                  <a:srgbClr val="166534"/>
                                </a:solidFill>
                                <a:latin typeface="Cambria Math"/>
                                <a:ea typeface="Cambria Math"/>
                                <a:cs typeface="Cambria Math"/>
                              </a:rPr>
                              <m:t>x</m:t>
                            </m:r>
                          </m:e>
                        </m:d>
                      </m:oMath>
                    </a14:m>
                    <a:r>
                      <a:rPr lang="vi-VN" sz="2250" b="1" dirty="0">
                        <a:solidFill>
                          <a:srgbClr val="166534"/>
                        </a:solidFill>
                        <a:latin typeface="+mn-lt"/>
                        <a:ea typeface="+mn-ea"/>
                        <a:cs typeface="+mn-cs"/>
                      </a:rPr>
                      <a:t xml:space="preserve"> ĐỒNG BIẾN trên </a:t>
                    </a:r>
                    <a14:m>
                      <m:oMath xmlns:a="http://schemas.openxmlformats.org/drawingml/2006/main" xmlns:m="http://schemas.openxmlformats.org/officeDocument/2006/math">
                        <m:r>
                          <a:rPr lang="vi-VN" sz="2250" dirty="0">
                            <a:solidFill>
                              <a:srgbClr val="166534"/>
                            </a:solidFill>
                            <a:latin typeface="Cambria Math"/>
                            <a:ea typeface="Cambria Math"/>
                            <a:cs typeface="Cambria Math"/>
                          </a:rPr>
                          <m:t>K</m:t>
                        </m:r>
                      </m:oMath>
                    </a14:m>
                  </a:p>
                </p:txBody>
              </p:sp>
            </mc:Choice>
          </mc:AlternateContent>
          <p:sp>
            <p:nvSpPr>
              <p:cNvPr id="20" name="Rectangle 20"/>
              <p:cNvSpPr/>
              <p:nvPr/>
            </p:nvSpPr>
            <p:spPr>
              <a:xfrm>
                <a:off x="6238875" y="3762375"/>
                <a:ext cx="5143500" cy="1381125"/>
              </a:xfrm>
              <a:prstGeom prst="roundRect">
                <a:avLst>
                  <a:gd name="adj" fmla="val 9655"/>
                </a:avLst>
              </a:prstGeom>
              <a:solidFill>
                <a:srgbClr val="FEF2F2"/>
              </a:solidFill>
              <a:ln w="19050">
                <a:solidFill>
                  <a:srgbClr val="FECACA"/>
                </a:solidFill>
              </a:ln>
            </p:spPr>
          </p:sp>
          <p:sp>
            <p:nvSpPr>
              <p:cNvPr id="21" name="TextBox 21"/>
              <p:cNvSpPr txBox="1"/>
              <p:nvPr/>
            </p:nvSpPr>
            <p:spPr>
              <a:xfrm>
                <a:off x="6465570" y="3948112"/>
                <a:ext cx="3677849" cy="440055"/>
              </a:xfrm>
              <a:prstGeom prst="rect">
                <a:avLst/>
              </a:prstGeom>
              <a:noFill/>
              <a:ln>
                <a:noFill/>
              </a:ln>
            </p:spPr>
            <p:txBody>
              <a:bodyPr wrap="none" lIns="0" tIns="0" rIns="0" bIns="0" anchor="t" anchorCtr="0">
                <a:spAutoFit/>
              </a:bodyPr>
              <a:lstStyle/>
              <a:p>
                <a:pPr algn="l"/>
                <a:r>
                  <a:rPr lang="vi-VN" sz="2250" b="1" dirty="0">
                    <a:solidFill>
                      <a:srgbClr val="DC2626"/>
                    </a:solidFill>
                    <a:latin typeface="+mn-lt"/>
                    <a:ea typeface="+mn-ea"/>
                    <a:cs typeface="+mn-cs"/>
                  </a:rPr>
                  <a:t>2. ĐẠO HÀM ÂM (y' &lt; 0):</a:t>
                </a:r>
              </a:p>
            </p:txBody>
          </p:sp>
          <mc:AlternateContent xmlns:mc="http://schemas.openxmlformats.org/markup-compatibility/2006">
            <mc:Choice xmlns:a14="http://schemas.microsoft.com/office/drawing/2010/main" Requires="a14">
              <p:sp>
                <p:nvSpPr>
                  <p:cNvPr id="22" name="TextBox 22"/>
                  <p:cNvSpPr txBox="1"/>
                  <p:nvPr/>
                </p:nvSpPr>
                <p:spPr>
                  <a:xfrm>
                    <a:off x="6466332" y="4379595"/>
                    <a:ext cx="3180027"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Nếu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r>
                          <m:rPr>
                            <m:sty m:val="p"/>
                          </m:rPr>
                          <a:rPr lang="vi-VN" sz="2100" dirty="0">
                            <a:solidFill>
                              <a:srgbClr val="0F172A"/>
                            </a:solidFill>
                            <a:latin typeface="Cambria Math"/>
                            <a:ea typeface="Cambria Math"/>
                            <a:cs typeface="Cambria Math"/>
                          </a:rPr>
                          <m:t>&lt;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 xml:space="preserve"> thì:</a:t>
                    </a:r>
                  </a:p>
                </p:txBody>
              </p:sp>
            </mc:Choice>
          </mc:AlternateContent>
          <mc:AlternateContent xmlns:mc="http://schemas.openxmlformats.org/markup-compatibility/2006">
            <mc:Choice xmlns:a14="http://schemas.microsoft.com/office/drawing/2010/main" Requires="a14">
              <p:sp>
                <p:nvSpPr>
                  <p:cNvPr id="23" name="TextBox 23"/>
                  <p:cNvSpPr txBox="1"/>
                  <p:nvPr/>
                </p:nvSpPr>
                <p:spPr>
                  <a:xfrm>
                    <a:off x="6465570" y="4743450"/>
                    <a:ext cx="5120246" cy="468630"/>
                  </a:xfrm>
                  <a:prstGeom prst="rect">
                    <a:avLst/>
                  </a:prstGeom>
                  <a:noFill/>
                  <a:ln>
                    <a:noFill/>
                  </a:ln>
                </p:spPr>
                <p:txBody>
                  <a:bodyPr wrap="none" lIns="0" tIns="0" rIns="0" bIns="0" anchor="t" anchorCtr="0">
                    <a:spAutoFit/>
                  </a:bodyPr>
                  <a:lstStyle/>
                  <a:p>
                    <a:pPr algn="l"/>
                    <a:r>
                      <a:rPr lang="vi-VN" sz="2250" b="1" dirty="0">
                        <a:solidFill>
                          <a:srgbClr val="B91C1C"/>
                        </a:solidFill>
                        <a:latin typeface="+mn-lt"/>
                        <a:ea typeface="+mn-ea"/>
                        <a:cs typeface="+mn-cs"/>
                      </a:rPr>
                      <a:t xml:space="preserve">⇒ Hàm số </a:t>
                    </a:r>
                    <a14:m>
                      <m:oMath xmlns:a="http://schemas.openxmlformats.org/drawingml/2006/main" xmlns:m="http://schemas.openxmlformats.org/officeDocument/2006/math">
                        <m:r>
                          <a:rPr lang="vi-VN" sz="2250" dirty="0">
                            <a:solidFill>
                              <a:srgbClr val="B91C1C"/>
                            </a:solidFill>
                            <a:latin typeface="Cambria Math"/>
                            <a:ea typeface="Cambria Math"/>
                            <a:cs typeface="Cambria Math"/>
                          </a:rPr>
                          <m:t>f</m:t>
                        </m:r>
                        <m:d>
                          <m:dPr>
                            <m:begChr m:val="("/>
                            <m:sepChr m:val=""/>
                            <m:endChr m:val=")"/>
                            <m:grow m:val="on"/>
                            <m:ctrlPr>
                              <a:rPr lang="vi-VN" sz="2250" dirty="0">
                                <a:solidFill>
                                  <a:srgbClr val="B91C1C"/>
                                </a:solidFill>
                                <a:latin typeface="Cambria Math"/>
                                <a:ea typeface="Cambria Math"/>
                                <a:cs typeface="Cambria Math"/>
                              </a:rPr>
                            </m:ctrlPr>
                          </m:dPr>
                          <m:e>
                            <m:r>
                              <a:rPr lang="vi-VN" sz="2250" dirty="0">
                                <a:solidFill>
                                  <a:srgbClr val="B91C1C"/>
                                </a:solidFill>
                                <a:latin typeface="Cambria Math"/>
                                <a:ea typeface="Cambria Math"/>
                                <a:cs typeface="Cambria Math"/>
                              </a:rPr>
                              <m:t>x</m:t>
                            </m:r>
                          </m:e>
                        </m:d>
                      </m:oMath>
                    </a14:m>
                    <a:r>
                      <a:rPr lang="vi-VN" sz="2250" b="1" dirty="0">
                        <a:solidFill>
                          <a:srgbClr val="B91C1C"/>
                        </a:solidFill>
                        <a:latin typeface="+mn-lt"/>
                        <a:ea typeface="+mn-ea"/>
                        <a:cs typeface="+mn-cs"/>
                      </a:rPr>
                      <a:t xml:space="preserve"> NGHỊCH BIẾN trên </a:t>
                    </a:r>
                    <a14:m>
                      <m:oMath xmlns:a="http://schemas.openxmlformats.org/drawingml/2006/main" xmlns:m="http://schemas.openxmlformats.org/officeDocument/2006/math">
                        <m:r>
                          <a:rPr lang="vi-VN" sz="2250" dirty="0">
                            <a:solidFill>
                              <a:srgbClr val="B91C1C"/>
                            </a:solidFill>
                            <a:latin typeface="Cambria Math"/>
                            <a:ea typeface="Cambria Math"/>
                            <a:cs typeface="Cambria Math"/>
                          </a:rPr>
                          <m:t>K</m:t>
                        </m:r>
                      </m:oMath>
                    </a14:m>
                  </a:p>
                </p:txBody>
              </p:sp>
            </mc:Choice>
          </mc:AlternateContent>
        </p:grpSp>
        <p:sp>
          <p:nvSpPr>
            <p:cNvPr id="25" name="Rectangle 25"/>
            <p:cNvSpPr/>
            <p:nvPr/>
          </p:nvSpPr>
          <p:spPr>
            <a:xfrm>
              <a:off x="809625" y="5381625"/>
              <a:ext cx="10572750" cy="809625"/>
            </a:xfrm>
            <a:prstGeom prst="roundRect">
              <a:avLst>
                <a:gd name="adj" fmla="val 14118"/>
              </a:avLst>
            </a:prstGeom>
            <a:solidFill>
              <a:srgbClr val="EFF6FF"/>
            </a:solidFill>
            <a:ln w="14288">
              <a:solidFill>
                <a:srgbClr val="BFDBFE"/>
              </a:solidFill>
            </a:ln>
          </p:spPr>
        </p:sp>
        <p:sp>
          <p:nvSpPr>
            <p:cNvPr id="26" name="TextBox 26"/>
            <p:cNvSpPr txBox="1"/>
            <p:nvPr/>
          </p:nvSpPr>
          <p:spPr>
            <a:xfrm>
              <a:off x="1037082" y="5659755"/>
              <a:ext cx="959659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CÔNG CỤ ĐẠO HÀM GIÚP XÉT ĐƠN ĐIỆU MỌI HÀM SỐ PHỨC TẠP!</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94973" y="459105"/>
              <a:ext cx="1515155"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VD2 &amp; LT2</a:t>
              </a:r>
            </a:p>
          </p:txBody>
        </p:sp>
        <p:sp>
          <p:nvSpPr>
            <p:cNvPr id="7" name="TextBox 7"/>
            <p:cNvSpPr txBox="1"/>
            <p:nvPr/>
          </p:nvSpPr>
          <p:spPr>
            <a:xfrm>
              <a:off x="2179701" y="460534"/>
              <a:ext cx="6345651"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 TÍNH ĐƠN ĐIỆU: Chú ý định lý, VD2 &amp; LT2</a:t>
              </a:r>
            </a:p>
          </p:txBody>
        </p:sp>
      </p:grpSp>
      <p:grpSp>
        <p:nvGrpSpPr>
          <p:cNvPr id="29" name="content"/>
          <p:cNvGrpSpPr/>
          <p:nvPr/>
        </p:nvGrpSpPr>
        <p:grpSpPr>
          <a:xfrm>
            <a:off x="476250" y="1190625"/>
            <a:ext cx="11612932" cy="5191125"/>
            <a:chOff x="476250" y="1190625"/>
            <a:chExt cx="11612932"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28750"/>
              <a:ext cx="10572750" cy="1428750"/>
            </a:xfrm>
            <a:prstGeom prst="roundRect">
              <a:avLst>
                <a:gd name="adj" fmla="val 9333"/>
              </a:avLst>
            </a:prstGeom>
            <a:solidFill>
              <a:srgbClr val="FFFBEB"/>
            </a:solidFill>
            <a:ln w="19050">
              <a:solidFill>
                <a:srgbClr val="FDE68A"/>
              </a:solidFill>
            </a:ln>
          </p:spPr>
        </p:sp>
        <p:sp>
          <p:nvSpPr>
            <p:cNvPr id="11" name="TextBox 11"/>
            <p:cNvSpPr txBox="1"/>
            <p:nvPr/>
          </p:nvSpPr>
          <p:spPr>
            <a:xfrm>
              <a:off x="1036320" y="1614488"/>
              <a:ext cx="4983480" cy="440055"/>
            </a:xfrm>
            <a:prstGeom prst="rect">
              <a:avLst/>
            </a:prstGeom>
            <a:noFill/>
            <a:ln>
              <a:noFill/>
            </a:ln>
          </p:spPr>
          <p:txBody>
            <a:bodyPr wrap="none" lIns="0" tIns="0" rIns="0" bIns="0" anchor="t" anchorCtr="0">
              <a:spAutoFit/>
            </a:bodyPr>
            <a:lstStyle/>
            <a:p>
              <a:pPr algn="l"/>
              <a:r>
                <a:rPr lang="vi-VN" sz="2250" b="1" dirty="0">
                  <a:solidFill>
                    <a:srgbClr val="B45309"/>
                  </a:solidFill>
                  <a:latin typeface="+mn-lt"/>
                  <a:ea typeface="+mn-ea"/>
                  <a:cs typeface="+mn-cs"/>
                </a:rPr>
                <a:t>CHÚ Ý ĐỊNH LÝ (SGK TRANG 7):</a:t>
              </a:r>
            </a:p>
          </p:txBody>
        </p:sp>
        <mc:AlternateContent xmlns:mc="http://schemas.openxmlformats.org/markup-compatibility/2006">
          <mc:Choice xmlns:a14="http://schemas.microsoft.com/office/drawing/2010/main" Requires="a14">
            <p:sp>
              <p:nvSpPr>
                <p:cNvPr id="12" name="TextBox 12"/>
                <p:cNvSpPr txBox="1"/>
                <p:nvPr/>
              </p:nvSpPr>
              <p:spPr>
                <a:xfrm>
                  <a:off x="1037082" y="2045970"/>
                  <a:ext cx="9534812"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Định lí vẫn đúng khi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oMath>
                  </a14:m>
                  <a:r>
                    <a:rPr lang="vi-VN" sz="2100" b="1" dirty="0">
                      <a:solidFill>
                        <a:srgbClr val="0F172A"/>
                      </a:solidFill>
                      <a:latin typeface="+mn-lt"/>
                      <a:ea typeface="+mn-ea"/>
                      <a:cs typeface="+mn-cs"/>
                    </a:rPr>
                    <a:t xml:space="preserve"> tại một số hữu hạn điểm trong khoảng K.</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1037082" y="2426970"/>
                  <a:ext cx="8855792"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Nếu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 xml:space="preserve"> thì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oMath>
                  </a14:m>
                  <a:r>
                    <a:rPr lang="vi-VN" sz="2100" b="1" dirty="0">
                      <a:solidFill>
                        <a:srgbClr val="0F172A"/>
                      </a:solidFill>
                      <a:latin typeface="+mn-lt"/>
                      <a:ea typeface="+mn-ea"/>
                      <a:cs typeface="+mn-cs"/>
                    </a:rPr>
                    <a:t xml:space="preserve"> không đổi (hàm hằng) trên K.</a:t>
                  </a:r>
                </a:p>
              </p:txBody>
            </p:sp>
          </mc:Choice>
        </mc:AlternateContent>
        <p:grpSp>
          <p:nvGrpSpPr>
            <p:cNvPr id="28" name="Group 28"/>
            <p:cNvGrpSpPr/>
            <p:nvPr/>
          </p:nvGrpSpPr>
          <p:grpSpPr>
            <a:xfrm>
              <a:off x="809625" y="3048000"/>
              <a:ext cx="11279557" cy="3000375"/>
              <a:chOff x="809625" y="3048000"/>
              <a:chExt cx="11279557" cy="3000375"/>
            </a:xfrm>
          </p:grpSpPr>
          <p:sp>
            <p:nvSpPr>
              <p:cNvPr id="14" name="Rectangle 14"/>
              <p:cNvSpPr/>
              <p:nvPr/>
            </p:nvSpPr>
            <p:spPr>
              <a:xfrm>
                <a:off x="809625" y="3048000"/>
                <a:ext cx="5143500" cy="3000375"/>
              </a:xfrm>
              <a:prstGeom prst="roundRect">
                <a:avLst>
                  <a:gd name="adj" fmla="val 4444"/>
                </a:avLst>
              </a:prstGeom>
              <a:solidFill>
                <a:srgbClr val="F8FAFC"/>
              </a:solidFill>
              <a:ln w="14288">
                <a:solidFill>
                  <a:srgbClr val="E2E8F0"/>
                </a:solidFill>
              </a:ln>
            </p:spPr>
          </p:sp>
          <p:sp>
            <p:nvSpPr>
              <p:cNvPr id="15" name="TextBox 15"/>
              <p:cNvSpPr txBox="1"/>
              <p:nvPr/>
            </p:nvSpPr>
            <p:spPr>
              <a:xfrm>
                <a:off x="1037082" y="3249930"/>
                <a:ext cx="3489827"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2 (SGK TRANG 7):</a:t>
                </a:r>
              </a:p>
            </p:txBody>
          </p:sp>
          <mc:AlternateContent xmlns:mc="http://schemas.openxmlformats.org/markup-compatibility/2006">
            <mc:Choice xmlns:a14="http://schemas.microsoft.com/office/drawing/2010/main" Requires="a14">
              <p:sp>
                <p:nvSpPr>
                  <p:cNvPr id="16" name="TextBox 16"/>
                  <p:cNvSpPr txBox="1"/>
                  <p:nvPr/>
                </p:nvSpPr>
                <p:spPr>
                  <a:xfrm>
                    <a:off x="1037082" y="3570389"/>
                    <a:ext cx="4076991"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Xét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oMath>
                    </a14:m>
                    <a:r>
                      <a:rPr lang="vi-VN" sz="2100" b="1" dirty="0">
                        <a:solidFill>
                          <a:srgbClr val="0F172A"/>
                        </a:solidFill>
                        <a:latin typeface="+mn-lt"/>
                        <a:ea typeface="+mn-ea"/>
                        <a:cs typeface="+mn-cs"/>
                      </a:rPr>
                      <a:t xml:space="preserve">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D</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7" name="TextBox 17"/>
                  <p:cNvSpPr txBox="1"/>
                  <p:nvPr/>
                </p:nvSpPr>
                <p:spPr>
                  <a:xfrm>
                    <a:off x="1037082" y="4011930"/>
                    <a:ext cx="2261920"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Đạo hàm: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4x</m:t>
                        </m:r>
                      </m:oMath>
                    </a14:m>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1037082" y="4427220"/>
                    <a:ext cx="5137947" cy="437388"/>
                  </a:xfrm>
                  <a:prstGeom prst="rect">
                    <a:avLst/>
                  </a:prstGeom>
                  <a:noFill/>
                  <a:ln>
                    <a:noFill/>
                  </a:ln>
                </p:spPr>
                <p:txBody>
                  <a:bodyPr wrap="none" lIns="0" tIns="0" rIns="0" bIns="0" anchor="t" anchorCtr="0">
                    <a:spAutoFit/>
                  </a:bodyPr>
                  <a:lstStyle/>
                  <a:p>
                    <a:pPr algn="l" marL="167461" indent="-167461">
                      <a:buClr>
                        <a:srgbClr val="047857"/>
                      </a:buClr>
                      <a:buSzTx/>
                      <a:buFontTx/>
                      <a:buChar char="•"/>
                    </a:pP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y'</m:t>
                        </m:r>
                        <m:r>
                          <m:rPr>
                            <m:sty m:val="p"/>
                          </m:rPr>
                          <a:rPr lang="vi-VN" sz="2100" dirty="0">
                            <a:solidFill>
                              <a:srgbClr val="047857"/>
                            </a:solidFill>
                            <a:latin typeface="Cambria Math"/>
                            <a:ea typeface="Cambria Math"/>
                            <a:cs typeface="Cambria Math"/>
                          </a:rPr>
                          <m:t>&gt;</m:t>
                        </m:r>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&gt;</m:t>
                        </m:r>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oMath>
                    </a14:m>
                    <a:r>
                      <a:rPr lang="vi-VN" sz="2100" b="1" dirty="0">
                        <a:solidFill>
                          <a:srgbClr val="047857"/>
                        </a:solidFill>
                        <a:latin typeface="+mn-lt"/>
                        <a:ea typeface="+mn-ea"/>
                        <a:cs typeface="+mn-cs"/>
                      </a:rPr>
                      <a:t xml:space="preserve"> Đồng biến trên </a:t>
                    </a:r>
                    <a14:m>
                      <m:oMath xmlns:a="http://schemas.openxmlformats.org/drawingml/2006/main" xmlns:m="http://schemas.openxmlformats.org/officeDocument/2006/math">
                        <m:d>
                          <m:dPr>
                            <m:begChr m:val="("/>
                            <m:sepChr m:val=""/>
                            <m:endChr m:val=")"/>
                            <m:grow m:val="on"/>
                            <m:ctrlPr>
                              <a:rPr lang="vi-VN" sz="2100" dirty="0">
                                <a:solidFill>
                                  <a:srgbClr val="047857"/>
                                </a:solidFill>
                                <a:latin typeface="Cambria Math"/>
                                <a:ea typeface="Cambria Math"/>
                                <a:cs typeface="Cambria Math"/>
                              </a:rPr>
                            </m:ctrlPr>
                          </m:dPr>
                          <m:e>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e>
                        </m:d>
                      </m:oMath>
                    </a14:m>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1037082" y="4855845"/>
                    <a:ext cx="5302266" cy="437388"/>
                  </a:xfrm>
                  <a:prstGeom prst="rect">
                    <a:avLst/>
                  </a:prstGeom>
                  <a:noFill/>
                  <a:ln>
                    <a:noFill/>
                  </a:ln>
                </p:spPr>
                <p:txBody>
                  <a:bodyPr wrap="none" lIns="0" tIns="0" rIns="0" bIns="0" anchor="t" anchorCtr="0">
                    <a:spAutoFit/>
                  </a:bodyPr>
                  <a:lstStyle/>
                  <a:p>
                    <a:pPr algn="l" marL="167461" indent="-167461">
                      <a:buClr>
                        <a:srgbClr val="DC2626"/>
                      </a:buClr>
                      <a:buSzTx/>
                      <a:buFontTx/>
                      <a:buChar char="•"/>
                    </a:pP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y'</m:t>
                        </m:r>
                        <m:r>
                          <m:rPr>
                            <m:sty m:val="p"/>
                          </m:rPr>
                          <a:rPr lang="vi-VN" sz="2100" dirty="0">
                            <a:solidFill>
                              <a:srgbClr val="DC2626"/>
                            </a:solidFill>
                            <a:latin typeface="Cambria Math"/>
                            <a:ea typeface="Cambria Math"/>
                            <a:cs typeface="Cambria Math"/>
                          </a:rPr>
                          <m:t>&lt;</m:t>
                        </m:r>
                        <m:r>
                          <a:rPr lang="vi-VN" sz="2100" dirty="0">
                            <a:solidFill>
                              <a:srgbClr val="DC2626"/>
                            </a:solidFill>
                            <a:latin typeface="Cambria Math"/>
                            <a:ea typeface="Cambria Math"/>
                            <a:cs typeface="Cambria Math"/>
                          </a:rPr>
                          <m:t>0</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&lt;</m:t>
                        </m:r>
                        <m:r>
                          <a:rPr lang="vi-VN" sz="2100" dirty="0">
                            <a:solidFill>
                              <a:srgbClr val="DC2626"/>
                            </a:solidFill>
                            <a:latin typeface="Cambria Math"/>
                            <a:ea typeface="Cambria Math"/>
                            <a:cs typeface="Cambria Math"/>
                          </a:rPr>
                          <m:t>0</m:t>
                        </m:r>
                        <m:r>
                          <m:rPr>
                            <m:sty m:val="p"/>
                          </m:rPr>
                          <a:rPr lang="vi-VN" sz="2100" dirty="0">
                            <a:solidFill>
                              <a:srgbClr val="DC2626"/>
                            </a:solidFill>
                            <a:latin typeface="Cambria Math"/>
                            <a:ea typeface="Cambria Math"/>
                            <a:cs typeface="Cambria Math"/>
                          </a:rPr>
                          <m:t>⇒</m:t>
                        </m:r>
                      </m:oMath>
                    </a14:m>
                    <a:r>
                      <a:rPr lang="vi-VN" sz="2100" b="1" dirty="0">
                        <a:solidFill>
                          <a:srgbClr val="DC2626"/>
                        </a:solidFill>
                        <a:latin typeface="+mn-lt"/>
                        <a:ea typeface="+mn-ea"/>
                        <a:cs typeface="+mn-cs"/>
                      </a:rPr>
                      <a:t xml:space="preserve"> Nghịch biến trên </a:t>
                    </a:r>
                    <a14:m>
                      <m:oMath xmlns:a="http://schemas.openxmlformats.org/drawingml/2006/main" xmlns:m="http://schemas.openxmlformats.org/officeDocument/2006/math">
                        <m:d>
                          <m:dPr>
                            <m:begChr m:val="("/>
                            <m:sepChr m:val=""/>
                            <m:endChr m:val=")"/>
                            <m:grow m:val="on"/>
                            <m:ctrlPr>
                              <a:rPr lang="vi-VN" sz="2100" dirty="0">
                                <a:solidFill>
                                  <a:srgbClr val="DC2626"/>
                                </a:solidFill>
                                <a:latin typeface="Cambria Math"/>
                                <a:ea typeface="Cambria Math"/>
                                <a:cs typeface="Cambria Math"/>
                              </a:rPr>
                            </m:ctrlPr>
                          </m:dPr>
                          <m:e>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0</m:t>
                            </m:r>
                          </m:e>
                        </m:d>
                      </m:oMath>
                    </a14:m>
                  </a:p>
                </p:txBody>
              </p:sp>
            </mc:Choice>
          </mc:AlternateContent>
          <mc:AlternateContent xmlns:mc="http://schemas.openxmlformats.org/markup-compatibility/2006">
            <mc:Choice xmlns:a14="http://schemas.microsoft.com/office/drawing/2010/main" Requires="a14">
              <p:sp>
                <p:nvSpPr>
                  <p:cNvPr id="20" name="TextBox 20"/>
                  <p:cNvSpPr txBox="1"/>
                  <p:nvPr/>
                </p:nvSpPr>
                <p:spPr>
                  <a:xfrm>
                    <a:off x="1037082" y="5393055"/>
                    <a:ext cx="4857774"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Tại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thì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(1 điểm duy nhất).</a:t>
                    </a:r>
                  </a:p>
                </p:txBody>
              </p:sp>
            </mc:Choice>
          </mc:AlternateContent>
          <p:sp>
            <p:nvSpPr>
              <p:cNvPr id="21" name="Rectangle 21"/>
              <p:cNvSpPr/>
              <p:nvPr/>
            </p:nvSpPr>
            <p:spPr>
              <a:xfrm>
                <a:off x="6238875" y="3048000"/>
                <a:ext cx="5143500" cy="3000375"/>
              </a:xfrm>
              <a:prstGeom prst="roundRect">
                <a:avLst>
                  <a:gd name="adj" fmla="val 4444"/>
                </a:avLst>
              </a:prstGeom>
              <a:solidFill>
                <a:srgbClr val="EFF6FF"/>
              </a:solidFill>
              <a:ln w="14288">
                <a:solidFill>
                  <a:srgbClr val="BFDBFE"/>
                </a:solidFill>
              </a:ln>
            </p:spPr>
          </p:sp>
          <p:sp>
            <p:nvSpPr>
              <p:cNvPr id="22" name="TextBox 22"/>
              <p:cNvSpPr txBox="1"/>
              <p:nvPr/>
            </p:nvSpPr>
            <p:spPr>
              <a:xfrm>
                <a:off x="6466332" y="3249930"/>
                <a:ext cx="4385939"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LUYỆN TẬP 2 (SGK TRANG 7):</a:t>
                </a:r>
              </a:p>
            </p:txBody>
          </p:sp>
          <mc:AlternateContent xmlns:mc="http://schemas.openxmlformats.org/markup-compatibility/2006">
            <mc:Choice xmlns:a14="http://schemas.microsoft.com/office/drawing/2010/main" Requires="a14">
              <p:sp>
                <p:nvSpPr>
                  <p:cNvPr id="23" name="TextBox 23"/>
                  <p:cNvSpPr txBox="1"/>
                  <p:nvPr/>
                </p:nvSpPr>
                <p:spPr>
                  <a:xfrm>
                    <a:off x="6466332" y="3570389"/>
                    <a:ext cx="3440346"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Xét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3</m:t>
                            </m:r>
                          </m:sup>
                        </m:sSup>
                      </m:oMath>
                    </a14:m>
                    <a:r>
                      <a:rPr lang="vi-VN" sz="2100" b="1" dirty="0">
                        <a:solidFill>
                          <a:srgbClr val="0F172A"/>
                        </a:solidFill>
                        <a:latin typeface="+mn-lt"/>
                        <a:ea typeface="+mn-ea"/>
                        <a:cs typeface="+mn-cs"/>
                      </a:rPr>
                      <a:t xml:space="preserve">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D</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24" name="TextBox 24"/>
                  <p:cNvSpPr txBox="1"/>
                  <p:nvPr/>
                </p:nvSpPr>
                <p:spPr>
                  <a:xfrm>
                    <a:off x="6466332" y="3951389"/>
                    <a:ext cx="3786673"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Đạo hàm: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oMath>
                    </a14:m>
                  </a:p>
                </p:txBody>
              </p:sp>
            </mc:Choice>
          </mc:AlternateContent>
          <mc:AlternateContent xmlns:mc="http://schemas.openxmlformats.org/markup-compatibility/2006">
            <mc:Choice xmlns:a14="http://schemas.microsoft.com/office/drawing/2010/main" Requires="a14">
              <p:sp>
                <p:nvSpPr>
                  <p:cNvPr id="25" name="TextBox 25"/>
                  <p:cNvSpPr txBox="1"/>
                  <p:nvPr/>
                </p:nvSpPr>
                <p:spPr>
                  <a:xfrm>
                    <a:off x="6466332" y="4440555"/>
                    <a:ext cx="4673916"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Dấu bằng xảy ra duy nhất tại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0</m:t>
                        </m:r>
                      </m:oMath>
                    </a14:m>
                    <a:r>
                      <a:rPr lang="vi-VN" sz="2100" b="1" dirty="0">
                        <a:solidFill>
                          <a:srgbClr val="047857"/>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26" name="TextBox 26"/>
                  <p:cNvSpPr txBox="1"/>
                  <p:nvPr/>
                </p:nvSpPr>
                <p:spPr>
                  <a:xfrm>
                    <a:off x="6465570" y="4948238"/>
                    <a:ext cx="4703273"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 xml:space="preserve">⇒ HÀM SỐ ĐỒNG BIẾN TRÊN </a:t>
                    </a:r>
                    <a14:m>
                      <m:oMath xmlns:a="http://schemas.openxmlformats.org/drawingml/2006/main" xmlns:m="http://schemas.openxmlformats.org/officeDocument/2006/math">
                        <m:r>
                          <m:rPr>
                            <m:scr m:val="double-struck"/>
                            <m:sty m:val="p"/>
                          </m:rPr>
                          <a:rPr lang="vi-VN" sz="2250" dirty="0">
                            <a:solidFill>
                              <a:srgbClr val="047857"/>
                            </a:solidFill>
                            <a:latin typeface="Cambria Math"/>
                            <a:ea typeface="Cambria Math"/>
                            <a:cs typeface="Cambria Math"/>
                          </a:rPr>
                          <m:t>R</m:t>
                        </m:r>
                      </m:oMath>
                    </a14:m>
                  </a:p>
                </p:txBody>
              </p:sp>
            </mc:Choice>
          </mc:AlternateContent>
          <p:sp>
            <p:nvSpPr>
              <p:cNvPr id="27" name="TextBox 27"/>
              <p:cNvSpPr txBox="1"/>
              <p:nvPr/>
            </p:nvSpPr>
            <p:spPr>
              <a:xfrm>
                <a:off x="6466332" y="5440680"/>
                <a:ext cx="5622850"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Minh chứng cho chú ý dấu bằng hữu hạn!</a:t>
                </a:r>
              </a:p>
            </p:txBody>
          </p:sp>
        </p:gr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20446" y="459105"/>
              <a:ext cx="1664208"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QUY TRÌNH</a:t>
              </a:r>
            </a:p>
          </p:txBody>
        </p:sp>
        <p:sp>
          <p:nvSpPr>
            <p:cNvPr id="7" name="TextBox 7"/>
            <p:cNvSpPr txBox="1"/>
            <p:nvPr/>
          </p:nvSpPr>
          <p:spPr>
            <a:xfrm>
              <a:off x="2179701" y="460534"/>
              <a:ext cx="7303345"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 TÍNH ĐƠN ĐIỆU: b. Quy trình 4 bước xét qua BBT</a:t>
              </a:r>
            </a:p>
          </p:txBody>
        </p:sp>
      </p:grpSp>
      <p:grpSp>
        <p:nvGrpSpPr>
          <p:cNvPr id="24" name="content"/>
          <p:cNvGrpSpPr/>
          <p:nvPr/>
        </p:nvGrpSpPr>
        <p:grpSpPr>
          <a:xfrm>
            <a:off x="476250" y="1190625"/>
            <a:ext cx="12420354" cy="5191125"/>
            <a:chOff x="476250" y="1190625"/>
            <a:chExt cx="12420354"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10122106"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4 BƯỚC KHẢO SÁT CHIỀU BIẾN THIÊN QUA BBT (SGK TRANG 7):</a:t>
              </a:r>
            </a:p>
          </p:txBody>
        </p:sp>
        <p:grpSp>
          <p:nvGrpSpPr>
            <p:cNvPr id="23" name="Group 23"/>
            <p:cNvGrpSpPr/>
            <p:nvPr/>
          </p:nvGrpSpPr>
          <p:grpSpPr>
            <a:xfrm>
              <a:off x="809625" y="1952625"/>
              <a:ext cx="12086979" cy="4184523"/>
              <a:chOff x="809625" y="1952625"/>
              <a:chExt cx="12086979" cy="4184523"/>
            </a:xfrm>
          </p:grpSpPr>
          <p:sp>
            <p:nvSpPr>
              <p:cNvPr id="11" name="Rectangle 11"/>
              <p:cNvSpPr/>
              <p:nvPr/>
            </p:nvSpPr>
            <p:spPr>
              <a:xfrm>
                <a:off x="809625" y="1952625"/>
                <a:ext cx="10572750" cy="904875"/>
              </a:xfrm>
              <a:prstGeom prst="roundRect">
                <a:avLst>
                  <a:gd name="adj" fmla="val 12632"/>
                </a:avLst>
              </a:prstGeom>
              <a:solidFill>
                <a:srgbClr val="F8FAFC"/>
              </a:solidFill>
              <a:ln w="14288">
                <a:solidFill>
                  <a:srgbClr val="CBD5E1"/>
                </a:solidFill>
              </a:ln>
            </p:spPr>
          </p:sp>
          <p:sp>
            <p:nvSpPr>
              <p:cNvPr id="12" name="TextBox 12"/>
              <p:cNvSpPr txBox="1"/>
              <p:nvPr/>
            </p:nvSpPr>
            <p:spPr>
              <a:xfrm>
                <a:off x="1037082" y="2125980"/>
                <a:ext cx="4060202"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BƯỚC ①: TÌM TẬP XÁC ĐỊNH</a:t>
                </a:r>
              </a:p>
            </p:txBody>
          </p:sp>
          <p:sp>
            <p:nvSpPr>
              <p:cNvPr id="13" name="TextBox 13"/>
              <p:cNvSpPr txBox="1"/>
              <p:nvPr/>
            </p:nvSpPr>
            <p:spPr>
              <a:xfrm>
                <a:off x="1037082" y="2487930"/>
                <a:ext cx="5268304"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Tìm tập xác định D của hàm số y = f(x).</a:t>
                </a:r>
              </a:p>
            </p:txBody>
          </p:sp>
          <p:sp>
            <p:nvSpPr>
              <p:cNvPr id="14" name="Rectangle 14"/>
              <p:cNvSpPr/>
              <p:nvPr/>
            </p:nvSpPr>
            <p:spPr>
              <a:xfrm>
                <a:off x="809625" y="3000375"/>
                <a:ext cx="10572750" cy="952500"/>
              </a:xfrm>
              <a:prstGeom prst="roundRect">
                <a:avLst>
                  <a:gd name="adj" fmla="val 12000"/>
                </a:avLst>
              </a:prstGeom>
              <a:solidFill>
                <a:srgbClr val="F8FAFC"/>
              </a:solidFill>
              <a:ln w="14288">
                <a:solidFill>
                  <a:srgbClr val="CBD5E1"/>
                </a:solidFill>
              </a:ln>
            </p:spPr>
          </p:sp>
          <p:sp>
            <p:nvSpPr>
              <p:cNvPr id="15" name="TextBox 15"/>
              <p:cNvSpPr txBox="1"/>
              <p:nvPr/>
            </p:nvSpPr>
            <p:spPr>
              <a:xfrm>
                <a:off x="1037082" y="3173730"/>
                <a:ext cx="6964083"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BƯỚC ②: TÍNH ĐẠO HÀM VÀ TÌM ĐIỂM ĐẶC BIỆT</a:t>
                </a:r>
              </a:p>
            </p:txBody>
          </p:sp>
          <p:sp>
            <p:nvSpPr>
              <p:cNvPr id="16" name="TextBox 16"/>
              <p:cNvSpPr txBox="1"/>
              <p:nvPr/>
            </p:nvSpPr>
            <p:spPr>
              <a:xfrm>
                <a:off x="1037082" y="3535680"/>
                <a:ext cx="11310574"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Tính đạo hàm y' = f'(x). Tìm các điểm x_i mà tại đó f'(x_i) = 0 hoặc f'(x) không tồn tại.</a:t>
                </a:r>
              </a:p>
            </p:txBody>
          </p:sp>
          <p:sp>
            <p:nvSpPr>
              <p:cNvPr id="17" name="Rectangle 17"/>
              <p:cNvSpPr/>
              <p:nvPr/>
            </p:nvSpPr>
            <p:spPr>
              <a:xfrm>
                <a:off x="809625" y="4095750"/>
                <a:ext cx="10572750" cy="952500"/>
              </a:xfrm>
              <a:prstGeom prst="roundRect">
                <a:avLst>
                  <a:gd name="adj" fmla="val 12000"/>
                </a:avLst>
              </a:prstGeom>
              <a:solidFill>
                <a:srgbClr val="F8FAFC"/>
              </a:solidFill>
              <a:ln w="14288">
                <a:solidFill>
                  <a:srgbClr val="CBD5E1"/>
                </a:solidFill>
              </a:ln>
            </p:spPr>
          </p:sp>
          <p:sp>
            <p:nvSpPr>
              <p:cNvPr id="18" name="TextBox 18"/>
              <p:cNvSpPr txBox="1"/>
              <p:nvPr/>
            </p:nvSpPr>
            <p:spPr>
              <a:xfrm>
                <a:off x="1037082" y="4269105"/>
                <a:ext cx="557021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BƯỚC ③: LẬP BẢNG BIẾN THIÊN (BBT)</a:t>
                </a:r>
              </a:p>
            </p:txBody>
          </p:sp>
          <p:sp>
            <p:nvSpPr>
              <p:cNvPr id="19" name="TextBox 19"/>
              <p:cNvSpPr txBox="1"/>
              <p:nvPr/>
            </p:nvSpPr>
            <p:spPr>
              <a:xfrm>
                <a:off x="1037082" y="4631055"/>
                <a:ext cx="11859522"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Sắp xếp các điểm x_i theo thứ tự tăng dần. Xét dấu f'(x) và vẽ mũi tên chiều biến thiên y.</a:t>
                </a:r>
              </a:p>
            </p:txBody>
          </p:sp>
          <p:sp>
            <p:nvSpPr>
              <p:cNvPr id="20" name="Rectangle 20"/>
              <p:cNvSpPr/>
              <p:nvPr/>
            </p:nvSpPr>
            <p:spPr>
              <a:xfrm>
                <a:off x="809625" y="5191125"/>
                <a:ext cx="10572750" cy="904875"/>
              </a:xfrm>
              <a:prstGeom prst="roundRect">
                <a:avLst>
                  <a:gd name="adj" fmla="val 12632"/>
                </a:avLst>
              </a:prstGeom>
              <a:solidFill>
                <a:srgbClr val="F0FDF4"/>
              </a:solidFill>
              <a:ln w="19050">
                <a:solidFill>
                  <a:srgbClr val="BBF7D0"/>
                </a:solidFill>
              </a:ln>
            </p:spPr>
          </p:sp>
          <p:sp>
            <p:nvSpPr>
              <p:cNvPr id="21" name="TextBox 21"/>
              <p:cNvSpPr txBox="1"/>
              <p:nvPr/>
            </p:nvSpPr>
            <p:spPr>
              <a:xfrm>
                <a:off x="1037082" y="5364480"/>
                <a:ext cx="5022866"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BƯỚC ④: NÊU KẾT LUẬN SƯ PHẠM</a:t>
                </a:r>
              </a:p>
            </p:txBody>
          </p:sp>
          <p:sp>
            <p:nvSpPr>
              <p:cNvPr id="22" name="TextBox 22"/>
              <p:cNvSpPr txBox="1"/>
              <p:nvPr/>
            </p:nvSpPr>
            <p:spPr>
              <a:xfrm>
                <a:off x="1037082" y="5726430"/>
                <a:ext cx="9660110" cy="410718"/>
              </a:xfrm>
              <a:prstGeom prst="rect">
                <a:avLst/>
              </a:prstGeom>
              <a:noFill/>
              <a:ln>
                <a:noFill/>
              </a:ln>
            </p:spPr>
            <p:txBody>
              <a:bodyPr wrap="none" lIns="0" tIns="0" rIns="0" bIns="0" anchor="t" anchorCtr="0">
                <a:spAutoFit/>
              </a:bodyPr>
              <a:lstStyle/>
              <a:p>
                <a:pPr algn="l"/>
                <a:r>
                  <a:rPr lang="vi-VN" sz="2100" b="1" dirty="0">
                    <a:solidFill>
                      <a:srgbClr val="166534"/>
                    </a:solidFill>
                    <a:latin typeface="+mn-lt"/>
                    <a:ea typeface="+mn-ea"/>
                    <a:cs typeface="+mn-cs"/>
                  </a:rPr>
                  <a:t>Kết luận cụ thể các khoảng đồng biến, khoảng nghịch biến của hàm số.</a:t>
                </a:r>
              </a:p>
            </p:txBody>
          </p:sp>
        </p:gr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61697" y="459105"/>
              <a:ext cx="1581706"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HĐ3 &amp; VD3</a:t>
              </a:r>
            </a:p>
          </p:txBody>
        </p:sp>
        <p:sp>
          <p:nvSpPr>
            <p:cNvPr id="7" name="TextBox 7"/>
            <p:cNvSpPr txBox="1"/>
            <p:nvPr/>
          </p:nvSpPr>
          <p:spPr>
            <a:xfrm>
              <a:off x="2179701" y="460534"/>
              <a:ext cx="6720983"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 TÍNH ĐƠN ĐIỆU: HĐ3 &amp; Ví dụ 3 (Hàm bậc ba)</a:t>
              </a:r>
            </a:p>
          </p:txBody>
        </p:sp>
      </p:grpSp>
      <p:grpSp>
        <p:nvGrpSpPr>
          <p:cNvPr id="27" name="content"/>
          <p:cNvGrpSpPr/>
          <p:nvPr/>
        </p:nvGrpSpPr>
        <p:grpSpPr>
          <a:xfrm>
            <a:off x="476250" y="1190625"/>
            <a:ext cx="11360980" cy="5191125"/>
            <a:chOff x="476250" y="1190625"/>
            <a:chExt cx="11360980" cy="5191125"/>
          </a:xfrm>
        </p:grpSpPr>
        <p:sp>
          <p:nvSpPr>
            <p:cNvPr id="9" name="Rectangle 9"/>
            <p:cNvSpPr/>
            <p:nvPr/>
          </p:nvSpPr>
          <p:spPr>
            <a:xfrm>
              <a:off x="476250" y="1190625"/>
              <a:ext cx="57150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957" y="1440180"/>
              <a:ext cx="5016742"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3 (SGK TOÁN 12 - TRANG 8):</a:t>
              </a:r>
            </a:p>
          </p:txBody>
        </p:sp>
        <mc:AlternateContent xmlns:mc="http://schemas.openxmlformats.org/markup-compatibility/2006">
          <mc:Choice xmlns:a14="http://schemas.microsoft.com/office/drawing/2010/main" Requires="a14">
            <p:sp>
              <p:nvSpPr>
                <p:cNvPr id="11" name="TextBox 11"/>
                <p:cNvSpPr txBox="1"/>
                <p:nvPr/>
              </p:nvSpPr>
              <p:spPr>
                <a:xfrm>
                  <a:off x="798957" y="1808264"/>
                  <a:ext cx="5011346"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Tìm khoảng đơn điệu: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3</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oMath>
                  </a14:m>
                </a:p>
              </p:txBody>
            </p:sp>
          </mc:Choice>
        </mc:AlternateContent>
        <p:grpSp>
          <p:nvGrpSpPr>
            <p:cNvPr id="20" name="Group 20"/>
            <p:cNvGrpSpPr/>
            <p:nvPr/>
          </p:nvGrpSpPr>
          <p:grpSpPr>
            <a:xfrm>
              <a:off x="798957" y="2535555"/>
              <a:ext cx="4963668" cy="3138678"/>
              <a:chOff x="798957" y="2535555"/>
              <a:chExt cx="4963668" cy="3138678"/>
            </a:xfrm>
          </p:grpSpPr>
          <mc:AlternateContent xmlns:mc="http://schemas.openxmlformats.org/markup-compatibility/2006">
            <mc:Choice xmlns:a14="http://schemas.microsoft.com/office/drawing/2010/main" Requires="a14">
              <p:sp>
                <p:nvSpPr>
                  <p:cNvPr id="12" name="TextBox 12"/>
                  <p:cNvSpPr txBox="1"/>
                  <p:nvPr/>
                </p:nvSpPr>
                <p:spPr>
                  <a:xfrm>
                    <a:off x="798957" y="2535555"/>
                    <a:ext cx="298347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①. Tập xác định: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D</m:t>
                        </m:r>
                        <m:r>
                          <m:rPr>
                            <m:sty m:val="p"/>
                          </m:rPr>
                          <a:rPr lang="vi-VN" sz="2100" dirty="0">
                            <a:solidFill>
                              <a:srgbClr val="1E40AF"/>
                            </a:solidFill>
                            <a:latin typeface="Cambria Math"/>
                            <a:ea typeface="Cambria Math"/>
                            <a:cs typeface="Cambria Math"/>
                          </a:rPr>
                          <m:t>=</m:t>
                        </m:r>
                        <m:r>
                          <m:rPr>
                            <m:scr m:val="double-struck"/>
                            <m:sty m:val="p"/>
                          </m:rPr>
                          <a:rPr lang="vi-VN" sz="2100" dirty="0">
                            <a:solidFill>
                              <a:srgbClr val="1E40AF"/>
                            </a:solidFill>
                            <a:latin typeface="Cambria Math"/>
                            <a:ea typeface="Cambria Math"/>
                            <a:cs typeface="Cambria Math"/>
                          </a:rPr>
                          <m:t>R</m:t>
                        </m:r>
                      </m:oMath>
                    </a14:m>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798957" y="3011805"/>
                    <a:ext cx="258897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②. Tính đạo hàm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oMath>
                    </a14:m>
                    <a:r>
                      <a:rPr lang="vi-VN" sz="2100" b="1" dirty="0">
                        <a:solidFill>
                          <a:srgbClr val="1E40AF"/>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798957" y="3332264"/>
                    <a:ext cx="3192122" cy="48459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6x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3x</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e>
                        </m:d>
                      </m:oMath>
                    </a14:m>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798957" y="3773805"/>
                    <a:ext cx="3135723" cy="41071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hoặc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2</m:t>
                        </m:r>
                      </m:oMath>
                    </a14:m>
                  </a:p>
                </p:txBody>
              </p:sp>
            </mc:Choice>
          </mc:AlternateContent>
          <p:sp>
            <p:nvSpPr>
              <p:cNvPr id="16" name="Line 16"/>
              <p:cNvSpPr/>
              <p:nvPr/>
            </p:nvSpPr>
            <p:spPr>
              <a:xfrm>
                <a:off x="809625" y="4286250"/>
                <a:ext cx="4953000" cy="9525"/>
              </a:xfrm>
              <a:custGeom>
                <a:avLst/>
                <a:gdLst/>
                <a:ahLst/>
                <a:cxnLst/>
                <a:rect l="l" t="t" r="r" b="b"/>
                <a:pathLst>
                  <a:path w="4953000" h="9525">
                    <a:moveTo>
                      <a:pt x="0" y="0"/>
                    </a:moveTo>
                    <a:lnTo>
                      <a:pt x="4953000" y="0"/>
                    </a:lnTo>
                  </a:path>
                </a:pathLst>
              </a:custGeom>
              <a:noFill/>
              <a:ln w="19050">
                <a:solidFill>
                  <a:srgbClr val="F1F5F9"/>
                </a:solidFill>
              </a:ln>
            </p:spPr>
          </p:sp>
          <p:sp>
            <p:nvSpPr>
              <p:cNvPr id="17" name="TextBox 17"/>
              <p:cNvSpPr txBox="1"/>
              <p:nvPr/>
            </p:nvSpPr>
            <p:spPr>
              <a:xfrm>
                <a:off x="798957" y="4488180"/>
                <a:ext cx="4074007"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④. Kết luận từ bảng biến thiên:</a:t>
                </a:r>
              </a:p>
            </p:txBody>
          </p:sp>
          <mc:AlternateContent xmlns:mc="http://schemas.openxmlformats.org/markup-compatibility/2006">
            <mc:Choice xmlns:a14="http://schemas.microsoft.com/office/drawing/2010/main" Requires="a14">
              <p:sp>
                <p:nvSpPr>
                  <p:cNvPr id="18" name="TextBox 18"/>
                  <p:cNvSpPr txBox="1"/>
                  <p:nvPr/>
                </p:nvSpPr>
                <p:spPr>
                  <a:xfrm>
                    <a:off x="798957" y="4855845"/>
                    <a:ext cx="4125298" cy="437388"/>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 xml:space="preserve">Đồng biến trên khoảng: </a:t>
                    </a:r>
                    <a14:m>
                      <m:oMath xmlns:a="http://schemas.openxmlformats.org/drawingml/2006/main" xmlns:m="http://schemas.openxmlformats.org/officeDocument/2006/math">
                        <m:d>
                          <m:dPr>
                            <m:begChr m:val="("/>
                            <m:sepChr m:val=""/>
                            <m:endChr m:val=")"/>
                            <m:grow m:val="on"/>
                            <m:ctrlPr>
                              <a:rPr lang="vi-VN" sz="2100" dirty="0">
                                <a:solidFill>
                                  <a:srgbClr val="047857"/>
                                </a:solidFill>
                                <a:latin typeface="Cambria Math"/>
                                <a:ea typeface="Cambria Math"/>
                                <a:cs typeface="Cambria Math"/>
                              </a:rPr>
                            </m:ctrlPr>
                          </m:dPr>
                          <m:e>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2</m:t>
                            </m:r>
                          </m:e>
                        </m:d>
                      </m:oMath>
                    </a14:m>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798957" y="5236845"/>
                    <a:ext cx="4159473" cy="437388"/>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Nghịch biến: </a:t>
                    </a:r>
                    <a14:m>
                      <m:oMath xmlns:a="http://schemas.openxmlformats.org/drawingml/2006/main" xmlns:m="http://schemas.openxmlformats.org/officeDocument/2006/math">
                        <m:d>
                          <m:dPr>
                            <m:begChr m:val="("/>
                            <m:sepChr m:val=""/>
                            <m:endChr m:val=")"/>
                            <m:grow m:val="on"/>
                            <m:ctrlPr>
                              <a:rPr lang="vi-VN" sz="2100" dirty="0">
                                <a:solidFill>
                                  <a:srgbClr val="DC2626"/>
                                </a:solidFill>
                                <a:latin typeface="Cambria Math"/>
                                <a:ea typeface="Cambria Math"/>
                                <a:cs typeface="Cambria Math"/>
                              </a:rPr>
                            </m:ctrlPr>
                          </m:dPr>
                          <m:e>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0</m:t>
                            </m:r>
                          </m:e>
                        </m:d>
                      </m:oMath>
                    </a14:m>
                    <a:r>
                      <a:rPr lang="vi-VN" sz="2100" b="1" dirty="0">
                        <a:solidFill>
                          <a:srgbClr val="DC2626"/>
                        </a:solidFill>
                        <a:latin typeface="+mn-lt"/>
                        <a:ea typeface="+mn-ea"/>
                        <a:cs typeface="+mn-cs"/>
                      </a:rPr>
                      <a:t xml:space="preserve"> và </a:t>
                    </a:r>
                    <a14:m>
                      <m:oMath xmlns:a="http://schemas.openxmlformats.org/drawingml/2006/main" xmlns:m="http://schemas.openxmlformats.org/officeDocument/2006/math">
                        <m:d>
                          <m:dPr>
                            <m:begChr m:val="("/>
                            <m:sepChr m:val=""/>
                            <m:endChr m:val=")"/>
                            <m:grow m:val="on"/>
                            <m:ctrlPr>
                              <a:rPr lang="vi-VN" sz="2100" dirty="0">
                                <a:solidFill>
                                  <a:srgbClr val="DC2626"/>
                                </a:solidFill>
                                <a:latin typeface="Cambria Math"/>
                                <a:ea typeface="Cambria Math"/>
                                <a:cs typeface="Cambria Math"/>
                              </a:rPr>
                            </m:ctrlPr>
                          </m:dPr>
                          <m:e>
                            <m:r>
                              <a:rPr lang="vi-VN" sz="2100" dirty="0">
                                <a:solidFill>
                                  <a:srgbClr val="DC2626"/>
                                </a:solidFill>
                                <a:latin typeface="Cambria Math"/>
                                <a:ea typeface="Cambria Math"/>
                                <a:cs typeface="Cambria Math"/>
                              </a:rPr>
                              <m:t>2</m:t>
                            </m:r>
                            <m:r>
                              <m:rPr>
                                <m:sty m:val="p"/>
                              </m:rPr>
                              <a:rPr lang="vi-VN" sz="2100" dirty="0">
                                <a:solidFill>
                                  <a:srgbClr val="DC2626"/>
                                </a:solidFill>
                                <a:latin typeface="Cambria Math"/>
                                <a:ea typeface="Cambria Math"/>
                                <a:cs typeface="Cambria Math"/>
                              </a:rPr>
                              <m:t>;+∞</m:t>
                            </m:r>
                          </m:e>
                        </m:d>
                      </m:oMath>
                    </a14:m>
                  </a:p>
                </p:txBody>
              </p:sp>
            </mc:Choice>
          </mc:AlternateContent>
        </p:grpSp>
        <p:sp>
          <p:nvSpPr>
            <p:cNvPr id="21" name="Rectangle 21"/>
            <p:cNvSpPr/>
            <p:nvPr/>
          </p:nvSpPr>
          <p:spPr>
            <a:xfrm>
              <a:off x="6381750" y="1190625"/>
              <a:ext cx="5334000" cy="5191125"/>
            </a:xfrm>
            <a:prstGeom prst="roundRect">
              <a:avLst>
                <a:gd name="adj" fmla="val 3303"/>
              </a:avLst>
            </a:prstGeom>
            <a:solidFill>
              <a:srgbClr val="FFFFFF"/>
            </a:solidFill>
            <a:ln w="19050">
              <a:solidFill>
                <a:srgbClr val="CBD5E1"/>
              </a:solidFill>
            </a:ln>
          </p:spPr>
        </p:sp>
        <p:sp>
          <p:nvSpPr>
            <p:cNvPr id="22" name="TextBox 22"/>
            <p:cNvSpPr txBox="1"/>
            <p:nvPr/>
          </p:nvSpPr>
          <p:spPr>
            <a:xfrm>
              <a:off x="6903613" y="1376362"/>
              <a:ext cx="4290273"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BẢNG BIẾN THIÊN (VÍ DỤ 3)</a:t>
              </a:r>
            </a:p>
          </p:txBody>
        </p:sp>
        <p:pic>
          <p:nvPicPr>
            <p:cNvPr id="23" name="Image 23"/>
            <p:cNvPicPr>
              <a:picLocks noChangeAspect="1"/>
            </p:cNvPicPr>
            <p:nvPr/>
          </p:nvPicPr>
          <p:blipFill>
            <a:blip r:embed="rId2"/>
            <a:stretch>
              <a:fillRect/>
            </a:stretch>
          </p:blipFill>
          <p:spPr>
            <a:xfrm>
              <a:off x="6572250" y="2436465"/>
              <a:ext cx="4953000" cy="1985070"/>
            </a:xfrm>
            <a:prstGeom prst="rect">
              <a:avLst/>
            </a:prstGeom>
          </p:spPr>
        </p:pic>
        <p:sp>
          <p:nvSpPr>
            <p:cNvPr id="24" name="Rectangle 24"/>
            <p:cNvSpPr/>
            <p:nvPr/>
          </p:nvSpPr>
          <p:spPr>
            <a:xfrm>
              <a:off x="6572250" y="5048250"/>
              <a:ext cx="4953000" cy="1047750"/>
            </a:xfrm>
            <a:prstGeom prst="roundRect">
              <a:avLst>
                <a:gd name="adj" fmla="val 10909"/>
              </a:avLst>
            </a:prstGeom>
            <a:solidFill>
              <a:srgbClr val="F8FAFC"/>
            </a:solidFill>
            <a:ln w="14288">
              <a:solidFill>
                <a:srgbClr val="E2E8F0"/>
              </a:solidFill>
            </a:ln>
          </p:spPr>
        </p:sp>
        <p:sp>
          <p:nvSpPr>
            <p:cNvPr id="25" name="TextBox 25"/>
            <p:cNvSpPr txBox="1"/>
            <p:nvPr/>
          </p:nvSpPr>
          <p:spPr>
            <a:xfrm>
              <a:off x="6752082" y="5154930"/>
              <a:ext cx="5085148"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Quy tắc dấu: "Trong trái, ngoài cùng"</a:t>
              </a:r>
            </a:p>
          </p:txBody>
        </p:sp>
        <p:sp>
          <p:nvSpPr>
            <p:cNvPr id="26" name="TextBox 26"/>
            <p:cNvSpPr txBox="1"/>
            <p:nvPr/>
          </p:nvSpPr>
          <p:spPr>
            <a:xfrm>
              <a:off x="6752082" y="5535930"/>
              <a:ext cx="5011047" cy="41071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Hệ số a = -3 &lt; 0 ⇒ Trong (0; 2) dấu (+)</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94973" y="459105"/>
              <a:ext cx="1515155"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VD4 &amp; LT3</a:t>
              </a:r>
            </a:p>
          </p:txBody>
        </p:sp>
        <p:sp>
          <p:nvSpPr>
            <p:cNvPr id="7" name="TextBox 7"/>
            <p:cNvSpPr txBox="1"/>
            <p:nvPr/>
          </p:nvSpPr>
          <p:spPr>
            <a:xfrm>
              <a:off x="2179701" y="460534"/>
              <a:ext cx="5799390"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 TÍNH ĐƠN ĐIỆU: Ví dụ 4 &amp; Luyện tập 3</a:t>
              </a:r>
            </a:p>
          </p:txBody>
        </p:sp>
      </p:grpSp>
      <p:grpSp>
        <p:nvGrpSpPr>
          <p:cNvPr id="27" name="content"/>
          <p:cNvGrpSpPr/>
          <p:nvPr/>
        </p:nvGrpSpPr>
        <p:grpSpPr>
          <a:xfrm>
            <a:off x="476250" y="1190625"/>
            <a:ext cx="11663327" cy="5191125"/>
            <a:chOff x="476250" y="1190625"/>
            <a:chExt cx="11663327" cy="5191125"/>
          </a:xfrm>
        </p:grpSpPr>
        <p:sp>
          <p:nvSpPr>
            <p:cNvPr id="9" name="Rectangle 9"/>
            <p:cNvSpPr/>
            <p:nvPr/>
          </p:nvSpPr>
          <p:spPr>
            <a:xfrm>
              <a:off x="476250" y="1190625"/>
              <a:ext cx="57150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957" y="1440180"/>
              <a:ext cx="6194532"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4: HÀM PHÂN THỨC (SGK TRANG 8):</a:t>
              </a:r>
            </a:p>
          </p:txBody>
        </p:sp>
        <mc:AlternateContent xmlns:mc="http://schemas.openxmlformats.org/markup-compatibility/2006">
          <mc:Choice xmlns:a14="http://schemas.microsoft.com/office/drawing/2010/main" Requires="a14">
            <p:sp>
              <p:nvSpPr>
                <p:cNvPr id="11" name="TextBox 11"/>
                <p:cNvSpPr txBox="1"/>
                <p:nvPr/>
              </p:nvSpPr>
              <p:spPr>
                <a:xfrm>
                  <a:off x="798957" y="1803197"/>
                  <a:ext cx="5010598" cy="616610"/>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Xét chiều biến thiên: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f>
                        <m:fPr>
                          <m:type m:val="bar"/>
                          <m:ctrlPr>
                            <a:rPr lang="vi-VN" sz="2100" dirty="0">
                              <a:solidFill>
                                <a:srgbClr val="0F172A"/>
                              </a:solidFill>
                              <a:latin typeface="Cambria Math"/>
                              <a:ea typeface="Cambria Math"/>
                              <a:cs typeface="Cambria Math"/>
                            </a:rPr>
                          </m:ctrlPr>
                        </m:fPr>
                        <m:num>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num>
                        <m:den>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den>
                      </m:f>
                    </m:oMath>
                  </a14:m>
                </a:p>
              </p:txBody>
            </p:sp>
          </mc:Choice>
        </mc:AlternateContent>
        <p:grpSp>
          <p:nvGrpSpPr>
            <p:cNvPr id="20" name="Group 20"/>
            <p:cNvGrpSpPr/>
            <p:nvPr/>
          </p:nvGrpSpPr>
          <p:grpSpPr>
            <a:xfrm>
              <a:off x="798957" y="2522220"/>
              <a:ext cx="4971548" cy="3329178"/>
              <a:chOff x="798957" y="2522220"/>
              <a:chExt cx="4971548" cy="3329178"/>
            </a:xfrm>
          </p:grpSpPr>
          <mc:AlternateContent xmlns:mc="http://schemas.openxmlformats.org/markup-compatibility/2006">
            <mc:Choice xmlns:a14="http://schemas.microsoft.com/office/drawing/2010/main" Requires="a14">
              <p:sp>
                <p:nvSpPr>
                  <p:cNvPr id="12" name="TextBox 12"/>
                  <p:cNvSpPr txBox="1"/>
                  <p:nvPr/>
                </p:nvSpPr>
                <p:spPr>
                  <a:xfrm>
                    <a:off x="798957" y="2522220"/>
                    <a:ext cx="3730530" cy="43738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①. Tập xác định: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D</m:t>
                        </m:r>
                        <m:r>
                          <m:rPr>
                            <m:sty m:val="p"/>
                          </m:rPr>
                          <a:rPr lang="vi-VN" sz="2100" dirty="0">
                            <a:solidFill>
                              <a:srgbClr val="1E40AF"/>
                            </a:solidFill>
                            <a:latin typeface="Cambria Math"/>
                            <a:ea typeface="Cambria Math"/>
                            <a:cs typeface="Cambria Math"/>
                          </a:rPr>
                          <m:t>=</m:t>
                        </m:r>
                        <m:r>
                          <m:rPr>
                            <m:scr m:val="double-struck"/>
                            <m:sty m:val="p"/>
                          </m:rPr>
                          <a:rPr lang="vi-VN" sz="2100" dirty="0">
                            <a:solidFill>
                              <a:srgbClr val="1E40AF"/>
                            </a:solidFill>
                            <a:latin typeface="Cambria Math"/>
                            <a:ea typeface="Cambria Math"/>
                            <a:cs typeface="Cambria Math"/>
                          </a:rPr>
                          <m:t>R</m:t>
                        </m:r>
                        <m:r>
                          <m:rPr>
                            <m:sty m:val="p"/>
                          </m:rPr>
                          <a:rPr lang="vi-VN" sz="2100" dirty="0">
                            <a:solidFill>
                              <a:srgbClr val="1E40AF"/>
                            </a:solidFill>
                            <a:latin typeface="Cambria Math"/>
                            <a:ea typeface="Cambria Math"/>
                            <a:cs typeface="Cambria Math"/>
                          </a:rPr>
                          <m:t>∖</m:t>
                        </m:r>
                        <m:d>
                          <m:dPr>
                            <m:begChr m:val="{"/>
                            <m:sepChr m:val=""/>
                            <m:endChr m:val="}"/>
                            <m:grow m:val="on"/>
                            <m:ctrlPr>
                              <a:rPr lang="vi-VN" sz="2100" dirty="0">
                                <a:solidFill>
                                  <a:srgbClr val="1E40AF"/>
                                </a:solidFill>
                                <a:latin typeface="Cambria Math"/>
                                <a:ea typeface="Cambria Math"/>
                                <a:cs typeface="Cambria Math"/>
                              </a:rPr>
                            </m:ctrlPr>
                          </m:dPr>
                          <m:e>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e>
                        </m:d>
                      </m:oMath>
                    </a14:m>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798957" y="3011805"/>
                    <a:ext cx="258897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②. Tính đạo hàm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oMath>
                    </a14:m>
                    <a:r>
                      <a:rPr lang="vi-VN" sz="2100" b="1" dirty="0">
                        <a:solidFill>
                          <a:srgbClr val="1E40AF"/>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798957" y="3327197"/>
                    <a:ext cx="3243376" cy="666846"/>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f>
                          <m:fPr>
                            <m:type m:val="bar"/>
                            <m:ctrlPr>
                              <a:rPr lang="vi-VN" sz="2100" dirty="0">
                                <a:solidFill>
                                  <a:srgbClr val="0F172A"/>
                                </a:solidFill>
                                <a:latin typeface="Cambria Math"/>
                                <a:ea typeface="Cambria Math"/>
                                <a:cs typeface="Cambria Math"/>
                              </a:rPr>
                            </m:ctrlPr>
                          </m:fPr>
                          <m:num>
                            <m:r>
                              <a:rPr lang="vi-VN" sz="2100" dirty="0">
                                <a:solidFill>
                                  <a:srgbClr val="0F172A"/>
                                </a:solidFill>
                                <a:latin typeface="Cambria Math"/>
                                <a:ea typeface="Cambria Math"/>
                                <a:cs typeface="Cambria Math"/>
                              </a:rPr>
                              <m:t>2</m:t>
                            </m:r>
                          </m:num>
                          <m:den>
                            <m:sSup>
                              <m:e>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e>
                                </m:d>
                              </m:e>
                              <m:sup>
                                <m:r>
                                  <a:rPr lang="vi-VN" sz="2100" dirty="0">
                                    <a:solidFill>
                                      <a:srgbClr val="0F172A"/>
                                    </a:solidFill>
                                    <a:latin typeface="Cambria Math"/>
                                    <a:ea typeface="Cambria Math"/>
                                    <a:cs typeface="Cambria Math"/>
                                  </a:rPr>
                                  <m:t>2</m:t>
                                </m:r>
                              </m:sup>
                            </m:sSup>
                          </m:den>
                        </m:f>
                        <m:r>
                          <m:rPr>
                            <m:sty m:val="p"/>
                          </m:rPr>
                          <a:rPr lang="vi-VN" sz="2100" dirty="0">
                            <a:solidFill>
                              <a:srgbClr val="0F172A"/>
                            </a:solidFill>
                            <a:latin typeface="Cambria Math"/>
                            <a:ea typeface="Cambria Math"/>
                            <a:cs typeface="Cambria Math"/>
                          </a:rPr>
                          <m:t>&gt;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oMath>
                    </a14:m>
                  </a:p>
                </p:txBody>
              </p:sp>
            </mc:Choice>
          </mc:AlternateContent>
          <p:sp>
            <p:nvSpPr>
              <p:cNvPr id="15" name="Line 15"/>
              <p:cNvSpPr/>
              <p:nvPr/>
            </p:nvSpPr>
            <p:spPr>
              <a:xfrm>
                <a:off x="809625" y="4000500"/>
                <a:ext cx="4953000" cy="9525"/>
              </a:xfrm>
              <a:custGeom>
                <a:avLst/>
                <a:gdLst/>
                <a:ahLst/>
                <a:cxnLst/>
                <a:rect l="l" t="t" r="r" b="b"/>
                <a:pathLst>
                  <a:path w="4953000" h="9525">
                    <a:moveTo>
                      <a:pt x="0" y="0"/>
                    </a:moveTo>
                    <a:lnTo>
                      <a:pt x="4953000" y="0"/>
                    </a:lnTo>
                  </a:path>
                </a:pathLst>
              </a:custGeom>
              <a:noFill/>
              <a:ln w="19050">
                <a:solidFill>
                  <a:srgbClr val="F1F5F9"/>
                </a:solidFill>
              </a:ln>
            </p:spPr>
          </p:sp>
          <p:sp>
            <p:nvSpPr>
              <p:cNvPr id="16" name="TextBox 16"/>
              <p:cNvSpPr txBox="1"/>
              <p:nvPr/>
            </p:nvSpPr>
            <p:spPr>
              <a:xfrm>
                <a:off x="798957" y="4202430"/>
                <a:ext cx="3116441"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④. Kết luận quan trọng:</a:t>
                </a:r>
              </a:p>
            </p:txBody>
          </p:sp>
          <p:sp>
            <p:nvSpPr>
              <p:cNvPr id="17" name="TextBox 17"/>
              <p:cNvSpPr txBox="1"/>
              <p:nvPr/>
            </p:nvSpPr>
            <p:spPr>
              <a:xfrm>
                <a:off x="798957" y="4583430"/>
                <a:ext cx="4822604"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Hàm số đồng biến trên các khoảng:</a:t>
                </a:r>
              </a:p>
            </p:txBody>
          </p:sp>
          <mc:AlternateContent xmlns:mc="http://schemas.openxmlformats.org/markup-compatibility/2006">
            <mc:Choice xmlns:a14="http://schemas.microsoft.com/office/drawing/2010/main" Requires="a14">
              <p:sp>
                <p:nvSpPr>
                  <p:cNvPr id="18" name="TextBox 18"/>
                  <p:cNvSpPr txBox="1"/>
                  <p:nvPr/>
                </p:nvSpPr>
                <p:spPr>
                  <a:xfrm>
                    <a:off x="798957" y="4951095"/>
                    <a:ext cx="2379862" cy="43738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d>
                          <m:dPr>
                            <m:begChr m:val="("/>
                            <m:sepChr m:val=""/>
                            <m:endChr m:val=")"/>
                            <m:grow m:val="on"/>
                            <m:ctrlPr>
                              <a:rPr lang="vi-VN" sz="2100" dirty="0">
                                <a:solidFill>
                                  <a:srgbClr val="166534"/>
                                </a:solidFill>
                                <a:latin typeface="Cambria Math"/>
                                <a:ea typeface="Cambria Math"/>
                                <a:cs typeface="Cambria Math"/>
                              </a:rPr>
                            </m:ctrlPr>
                          </m:dPr>
                          <m:e>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1</m:t>
                            </m:r>
                          </m:e>
                        </m:d>
                      </m:oMath>
                    </a14:m>
                    <a:r>
                      <a:rPr lang="vi-VN" sz="2100" b="1" dirty="0">
                        <a:solidFill>
                          <a:srgbClr val="166534"/>
                        </a:solidFill>
                        <a:latin typeface="+mn-lt"/>
                        <a:ea typeface="+mn-ea"/>
                        <a:cs typeface="+mn-cs"/>
                      </a:rPr>
                      <a:t xml:space="preserve"> và </a:t>
                    </a:r>
                    <a14:m>
                      <m:oMath xmlns:a="http://schemas.openxmlformats.org/drawingml/2006/main" xmlns:m="http://schemas.openxmlformats.org/officeDocument/2006/math">
                        <m:d>
                          <m:dPr>
                            <m:begChr m:val="("/>
                            <m:sepChr m:val=""/>
                            <m:endChr m:val=")"/>
                            <m:grow m:val="on"/>
                            <m:ctrlPr>
                              <a:rPr lang="vi-VN" sz="2100" dirty="0">
                                <a:solidFill>
                                  <a:srgbClr val="166534"/>
                                </a:solidFill>
                                <a:latin typeface="Cambria Math"/>
                                <a:ea typeface="Cambria Math"/>
                                <a:cs typeface="Cambria Math"/>
                              </a:rPr>
                            </m:ctrlPr>
                          </m:dPr>
                          <m:e>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1</m:t>
                            </m:r>
                            <m:r>
                              <m:rPr>
                                <m:sty m:val="p"/>
                              </m:rPr>
                              <a:rPr lang="vi-VN" sz="2100" dirty="0">
                                <a:solidFill>
                                  <a:srgbClr val="166534"/>
                                </a:solidFill>
                                <a:latin typeface="Cambria Math"/>
                                <a:ea typeface="Cambria Math"/>
                                <a:cs typeface="Cambria Math"/>
                              </a:rPr>
                              <m:t>;+∞</m:t>
                            </m:r>
                          </m:e>
                        </m:d>
                      </m:oMath>
                    </a14:m>
                  </a:p>
                </p:txBody>
              </p:sp>
            </mc:Choice>
          </mc:AlternateContent>
          <p:sp>
            <p:nvSpPr>
              <p:cNvPr id="19" name="TextBox 19"/>
              <p:cNvSpPr txBox="1"/>
              <p:nvPr/>
            </p:nvSpPr>
            <p:spPr>
              <a:xfrm>
                <a:off x="798957" y="5440680"/>
                <a:ext cx="4971548" cy="41071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 KHÔNG DÙNG KÝ HIỆU HỢP (∪)</a:t>
                </a:r>
              </a:p>
            </p:txBody>
          </p:sp>
        </p:grpSp>
        <p:sp>
          <p:nvSpPr>
            <p:cNvPr id="21" name="Rectangle 21"/>
            <p:cNvSpPr/>
            <p:nvPr/>
          </p:nvSpPr>
          <p:spPr>
            <a:xfrm>
              <a:off x="6381750" y="1190625"/>
              <a:ext cx="5334000" cy="5191125"/>
            </a:xfrm>
            <a:prstGeom prst="roundRect">
              <a:avLst>
                <a:gd name="adj" fmla="val 3303"/>
              </a:avLst>
            </a:prstGeom>
            <a:solidFill>
              <a:srgbClr val="FFFFFF"/>
            </a:solidFill>
            <a:ln w="19050">
              <a:solidFill>
                <a:srgbClr val="CBD5E1"/>
              </a:solidFill>
            </a:ln>
          </p:spPr>
        </p:sp>
        <p:sp>
          <p:nvSpPr>
            <p:cNvPr id="22" name="TextBox 22"/>
            <p:cNvSpPr txBox="1"/>
            <p:nvPr/>
          </p:nvSpPr>
          <p:spPr>
            <a:xfrm>
              <a:off x="6903613" y="1376362"/>
              <a:ext cx="4290273"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BẢNG BIẾN THIÊN (VÍ DỤ 4)</a:t>
              </a:r>
            </a:p>
          </p:txBody>
        </p:sp>
        <p:pic>
          <p:nvPicPr>
            <p:cNvPr id="23" name="Image 23"/>
            <p:cNvPicPr>
              <a:picLocks noChangeAspect="1"/>
            </p:cNvPicPr>
            <p:nvPr/>
          </p:nvPicPr>
          <p:blipFill>
            <a:blip r:embed="rId2"/>
            <a:stretch>
              <a:fillRect/>
            </a:stretch>
          </p:blipFill>
          <p:spPr>
            <a:xfrm>
              <a:off x="6572250" y="2255565"/>
              <a:ext cx="4953000" cy="2346871"/>
            </a:xfrm>
            <a:prstGeom prst="rect">
              <a:avLst/>
            </a:prstGeom>
          </p:spPr>
        </p:pic>
        <p:sp>
          <p:nvSpPr>
            <p:cNvPr id="24" name="Rectangle 24"/>
            <p:cNvSpPr/>
            <p:nvPr/>
          </p:nvSpPr>
          <p:spPr>
            <a:xfrm>
              <a:off x="6572250" y="5048250"/>
              <a:ext cx="4953000" cy="1047750"/>
            </a:xfrm>
            <a:prstGeom prst="roundRect">
              <a:avLst>
                <a:gd name="adj" fmla="val 10909"/>
              </a:avLst>
            </a:prstGeom>
            <a:solidFill>
              <a:srgbClr val="FEF3C7"/>
            </a:solidFill>
            <a:ln w="14288">
              <a:solidFill>
                <a:srgbClr val="FDE68A"/>
              </a:solidFill>
            </a:ln>
          </p:spPr>
        </p:sp>
        <p:sp>
          <p:nvSpPr>
            <p:cNvPr id="25" name="TextBox 25"/>
            <p:cNvSpPr txBox="1"/>
            <p:nvPr/>
          </p:nvSpPr>
          <p:spPr>
            <a:xfrm>
              <a:off x="6752082" y="5250180"/>
              <a:ext cx="3391076" cy="410718"/>
            </a:xfrm>
            <a:prstGeom prst="rect">
              <a:avLst/>
            </a:prstGeom>
            <a:noFill/>
            <a:ln>
              <a:noFill/>
            </a:ln>
          </p:spPr>
          <p:txBody>
            <a:bodyPr wrap="none" lIns="0" tIns="0" rIns="0" bIns="0" anchor="t" anchorCtr="0">
              <a:spAutoFit/>
            </a:bodyPr>
            <a:lstStyle/>
            <a:p>
              <a:pPr algn="l"/>
              <a:r>
                <a:rPr lang="vi-VN" sz="2100" b="1" dirty="0">
                  <a:solidFill>
                    <a:srgbClr val="92400E"/>
                  </a:solidFill>
                  <a:latin typeface="+mn-lt"/>
                  <a:ea typeface="+mn-ea"/>
                  <a:cs typeface="+mn-cs"/>
                </a:rPr>
                <a:t>LƯU Ý CỘT 2 GẠCH (||):</a:t>
              </a:r>
            </a:p>
          </p:txBody>
        </p:sp>
        <p:sp>
          <p:nvSpPr>
            <p:cNvPr id="26" name="TextBox 26"/>
            <p:cNvSpPr txBox="1"/>
            <p:nvPr/>
          </p:nvSpPr>
          <p:spPr>
            <a:xfrm>
              <a:off x="6752082" y="5631180"/>
              <a:ext cx="5387495"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Tại x = -1 cả y' và y đều không xác định.</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20739" y="238125"/>
            <a:ext cx="11295011" cy="714375"/>
            <a:chOff x="420739" y="238125"/>
            <a:chExt cx="11295011"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420739" y="459105"/>
              <a:ext cx="1863623"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VẬN DỤNG 1</a:t>
              </a:r>
            </a:p>
          </p:txBody>
        </p:sp>
        <p:sp>
          <p:nvSpPr>
            <p:cNvPr id="7" name="TextBox 7"/>
            <p:cNvSpPr txBox="1"/>
            <p:nvPr/>
          </p:nvSpPr>
          <p:spPr>
            <a:xfrm>
              <a:off x="2179701" y="460534"/>
              <a:ext cx="6738353"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 TÍNH ĐƠN ĐIỆU: Vận dụng 1 — Chuyển động</a:t>
              </a:r>
            </a:p>
          </p:txBody>
        </p:sp>
      </p:grpSp>
      <p:grpSp>
        <p:nvGrpSpPr>
          <p:cNvPr id="28" name="content"/>
          <p:cNvGrpSpPr/>
          <p:nvPr/>
        </p:nvGrpSpPr>
        <p:grpSpPr>
          <a:xfrm>
            <a:off x="476250" y="1190625"/>
            <a:ext cx="11582105" cy="5191125"/>
            <a:chOff x="476250" y="1190625"/>
            <a:chExt cx="11582105"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28750"/>
              <a:ext cx="10572750" cy="1143000"/>
            </a:xfrm>
            <a:prstGeom prst="roundRect">
              <a:avLst>
                <a:gd name="adj" fmla="val 11667"/>
              </a:avLst>
            </a:prstGeom>
            <a:solidFill>
              <a:srgbClr val="EFF6FF"/>
            </a:solidFill>
            <a:ln w="19050">
              <a:solidFill>
                <a:srgbClr val="BFDBFE"/>
              </a:solidFill>
            </a:ln>
          </p:spPr>
        </p:sp>
        <p:sp>
          <p:nvSpPr>
            <p:cNvPr id="11" name="TextBox 11"/>
            <p:cNvSpPr txBox="1"/>
            <p:nvPr/>
          </p:nvSpPr>
          <p:spPr>
            <a:xfrm>
              <a:off x="1037082" y="1630680"/>
              <a:ext cx="7853654"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GIẢI BÀI TOÁN TÌNH HUỐNG MỞ ĐẦU (SGK TRANG 9):</a:t>
              </a:r>
            </a:p>
          </p:txBody>
        </p:sp>
        <mc:AlternateContent xmlns:mc="http://schemas.openxmlformats.org/markup-compatibility/2006">
          <mc:Choice xmlns:a14="http://schemas.microsoft.com/office/drawing/2010/main" Requires="a14">
            <p:sp>
              <p:nvSpPr>
                <p:cNvPr id="12" name="TextBox 12"/>
                <p:cNvSpPr txBox="1"/>
                <p:nvPr/>
              </p:nvSpPr>
              <p:spPr>
                <a:xfrm>
                  <a:off x="1037082" y="1998764"/>
                  <a:ext cx="7968579" cy="484594"/>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Phương trình chuyển động: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s</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t</m:t>
                          </m:r>
                        </m:e>
                      </m:d>
                      <m:r>
                        <m:rPr>
                          <m:sty m:val="p"/>
                        </m:rPr>
                        <a:rPr lang="vi-VN" sz="2100" dirty="0">
                          <a:solidFill>
                            <a:srgbClr val="0F172A"/>
                          </a:solidFill>
                          <a:latin typeface="Cambria Math"/>
                          <a:ea typeface="Cambria Math"/>
                          <a:cs typeface="Cambria Math"/>
                        </a:rPr>
                        <m:t>=−</m:t>
                      </m:r>
                      <m:sSup>
                        <m:e>
                          <m:r>
                            <a:rPr lang="vi-VN" sz="2100" dirty="0">
                              <a:solidFill>
                                <a:srgbClr val="0F172A"/>
                              </a:solidFill>
                              <a:latin typeface="Cambria Math"/>
                              <a:ea typeface="Cambria Math"/>
                              <a:cs typeface="Cambria Math"/>
                            </a:rPr>
                            <m:t>t</m:t>
                          </m:r>
                        </m:e>
                        <m:sup>
                          <m:r>
                            <a:rPr lang="vi-VN" sz="2100" dirty="0">
                              <a:solidFill>
                                <a:srgbClr val="0F172A"/>
                              </a:solidFill>
                              <a:latin typeface="Cambria Math"/>
                              <a:ea typeface="Cambria Math"/>
                              <a:cs typeface="Cambria Math"/>
                            </a:rPr>
                            <m:t>3</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9</m:t>
                      </m:r>
                      <m:sSup>
                        <m:e>
                          <m:r>
                            <a:rPr lang="vi-VN" sz="2100" dirty="0">
                              <a:solidFill>
                                <a:srgbClr val="0F172A"/>
                              </a:solidFill>
                              <a:latin typeface="Cambria Math"/>
                              <a:ea typeface="Cambria Math"/>
                              <a:cs typeface="Cambria Math"/>
                            </a:rPr>
                            <m:t>t</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t</m:t>
                      </m:r>
                    </m:oMath>
                  </a14:m>
                  <a:r>
                    <a:rPr lang="vi-VN" sz="2100" b="1" dirty="0">
                      <a:solidFill>
                        <a:srgbClr val="0F172A"/>
                      </a:solidFill>
                      <a:latin typeface="+mn-lt"/>
                      <a:ea typeface="+mn-ea"/>
                      <a:cs typeface="+mn-cs"/>
                    </a:rPr>
                    <a:t xml:space="preserve"> với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t</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oMath>
                  </a14:m>
                  <a:r>
                    <a:rPr lang="vi-VN" sz="2100" b="1" dirty="0">
                      <a:solidFill>
                        <a:srgbClr val="0F172A"/>
                      </a:solidFill>
                      <a:latin typeface="+mn-lt"/>
                      <a:ea typeface="+mn-ea"/>
                      <a:cs typeface="+mn-cs"/>
                    </a:rPr>
                    <a:t xml:space="preserve"> (giây).</a:t>
                  </a:r>
                </a:p>
              </p:txBody>
            </p:sp>
          </mc:Choice>
        </mc:AlternateContent>
        <p:grpSp>
          <p:nvGrpSpPr>
            <p:cNvPr id="27" name="Group 27"/>
            <p:cNvGrpSpPr/>
            <p:nvPr/>
          </p:nvGrpSpPr>
          <p:grpSpPr>
            <a:xfrm>
              <a:off x="809625" y="2762250"/>
              <a:ext cx="11248730" cy="3238500"/>
              <a:chOff x="809625" y="2762250"/>
              <a:chExt cx="11248730" cy="3238500"/>
            </a:xfrm>
          </p:grpSpPr>
          <p:sp>
            <p:nvSpPr>
              <p:cNvPr id="13" name="Rectangle 13"/>
              <p:cNvSpPr/>
              <p:nvPr/>
            </p:nvSpPr>
            <p:spPr>
              <a:xfrm>
                <a:off x="809625" y="2762250"/>
                <a:ext cx="5143500" cy="3238500"/>
              </a:xfrm>
              <a:prstGeom prst="roundRect">
                <a:avLst>
                  <a:gd name="adj" fmla="val 4118"/>
                </a:avLst>
              </a:prstGeom>
              <a:solidFill>
                <a:srgbClr val="F8FAFC"/>
              </a:solidFill>
              <a:ln w="14288">
                <a:solidFill>
                  <a:srgbClr val="E2E8F0"/>
                </a:solidFill>
              </a:ln>
            </p:spPr>
          </p:sp>
          <mc:AlternateContent xmlns:mc="http://schemas.openxmlformats.org/markup-compatibility/2006">
            <mc:Choice xmlns:a14="http://schemas.microsoft.com/office/drawing/2010/main" Requires="a14">
              <p:sp>
                <p:nvSpPr>
                  <p:cNvPr id="14" name="TextBox 14"/>
                  <p:cNvSpPr txBox="1"/>
                  <p:nvPr/>
                </p:nvSpPr>
                <p:spPr>
                  <a:xfrm>
                    <a:off x="1037082" y="2950845"/>
                    <a:ext cx="3643839" cy="43738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a) Tìm vận tốc tức thời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v</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t</m:t>
                            </m:r>
                          </m:e>
                        </m:d>
                      </m:oMath>
                    </a14:m>
                    <a:r>
                      <a:rPr lang="vi-VN" sz="2100" b="1" dirty="0">
                        <a:solidFill>
                          <a:srgbClr val="1E40AF"/>
                        </a:solidFill>
                        <a:latin typeface="+mn-lt"/>
                        <a:ea typeface="+mn-ea"/>
                        <a:cs typeface="+mn-cs"/>
                      </a:rPr>
                      <a:t>:</a:t>
                    </a:r>
                  </a:p>
                </p:txBody>
              </p:sp>
            </mc:Choice>
          </mc:AlternateContent>
          <p:sp>
            <p:nvSpPr>
              <p:cNvPr id="15" name="TextBox 15"/>
              <p:cNvSpPr txBox="1"/>
              <p:nvPr/>
            </p:nvSpPr>
            <p:spPr>
              <a:xfrm>
                <a:off x="1037082" y="3392805"/>
                <a:ext cx="5968693"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Vận tốc chính là đạo hàm của quãng đường:</a:t>
                </a:r>
              </a:p>
            </p:txBody>
          </p:sp>
          <p:sp>
            <p:nvSpPr>
              <p:cNvPr id="16" name="Rectangle 16"/>
              <p:cNvSpPr/>
              <p:nvPr/>
            </p:nvSpPr>
            <p:spPr>
              <a:xfrm>
                <a:off x="1047750" y="3810000"/>
                <a:ext cx="4667250" cy="619125"/>
              </a:xfrm>
              <a:prstGeom prst="roundRect">
                <a:avLst>
                  <a:gd name="adj" fmla="val 15385"/>
                </a:avLst>
              </a:prstGeom>
              <a:solidFill>
                <a:srgbClr val="EFF6FF"/>
              </a:solidFill>
              <a:ln>
                <a:noFill/>
              </a:ln>
            </p:spPr>
          </p:sp>
          <mc:AlternateContent xmlns:mc="http://schemas.openxmlformats.org/markup-compatibility/2006">
            <mc:Choice xmlns:a14="http://schemas.microsoft.com/office/drawing/2010/main" Requires="a14">
              <p:sp>
                <p:nvSpPr>
                  <p:cNvPr id="17" name="TextBox 17"/>
                  <p:cNvSpPr txBox="1"/>
                  <p:nvPr/>
                </p:nvSpPr>
                <p:spPr>
                  <a:xfrm>
                    <a:off x="1227582" y="3922814"/>
                    <a:ext cx="3262062" cy="48459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1E40AF"/>
                            </a:solidFill>
                            <a:latin typeface="Cambria Math"/>
                            <a:ea typeface="Cambria Math"/>
                            <a:cs typeface="Cambria Math"/>
                          </a:rPr>
                          <m:t>v</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t</m:t>
                            </m:r>
                          </m:e>
                        </m:d>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s'</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t</m:t>
                            </m:r>
                          </m:e>
                        </m:d>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3</m:t>
                        </m:r>
                        <m:sSup>
                          <m:e>
                            <m:r>
                              <a:rPr lang="vi-VN" sz="2100" dirty="0">
                                <a:solidFill>
                                  <a:srgbClr val="1E40AF"/>
                                </a:solidFill>
                                <a:latin typeface="Cambria Math"/>
                                <a:ea typeface="Cambria Math"/>
                                <a:cs typeface="Cambria Math"/>
                              </a:rPr>
                              <m:t>t</m:t>
                            </m:r>
                          </m:e>
                          <m:sup>
                            <m:r>
                              <a:rPr lang="vi-VN" sz="2100" dirty="0">
                                <a:solidFill>
                                  <a:srgbClr val="1E40AF"/>
                                </a:solidFill>
                                <a:latin typeface="Cambria Math"/>
                                <a:ea typeface="Cambria Math"/>
                                <a:cs typeface="Cambria Math"/>
                              </a:rPr>
                              <m:t>2</m:t>
                            </m:r>
                          </m:sup>
                        </m:sSup>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18t</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oMath>
                    </a14:m>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1037082" y="4522470"/>
                    <a:ext cx="3449173" cy="437388"/>
                  </a:xfrm>
                  <a:prstGeom prst="rect">
                    <a:avLst/>
                  </a:prstGeom>
                  <a:noFill/>
                  <a:ln>
                    <a:noFill/>
                  </a:ln>
                </p:spPr>
                <p:txBody>
                  <a:bodyPr wrap="none" lIns="0" tIns="0" rIns="0" bIns="0" anchor="t" anchorCtr="0">
                    <a:spAutoFit/>
                  </a:bodyPr>
                  <a:lstStyle/>
                  <a:p>
                    <a:pPr algn="l"/>
                    <a:r>
                      <a:rPr lang="vi-VN" sz="2100" dirty="0">
                        <a:solidFill>
                          <a:srgbClr val="475569"/>
                        </a:solidFill>
                        <a:latin typeface="+mn-lt"/>
                        <a:ea typeface="+mn-ea"/>
                        <a:cs typeface="+mn-cs"/>
                      </a:rPr>
                      <a:t xml:space="preserve">Nghiệm dương của </a:t>
                    </a:r>
                    <a14:m>
                      <m:oMath xmlns:a="http://schemas.openxmlformats.org/drawingml/2006/main" xmlns:m="http://schemas.openxmlformats.org/officeDocument/2006/math">
                        <m:r>
                          <a:rPr lang="vi-VN" sz="2100" dirty="0">
                            <a:solidFill>
                              <a:srgbClr val="475569"/>
                            </a:solidFill>
                            <a:latin typeface="Cambria Math"/>
                            <a:ea typeface="Cambria Math"/>
                            <a:cs typeface="Cambria Math"/>
                          </a:rPr>
                          <m:t>v</m:t>
                        </m:r>
                        <m:d>
                          <m:dPr>
                            <m:begChr m:val="("/>
                            <m:sepChr m:val=""/>
                            <m:endChr m:val=")"/>
                            <m:grow m:val="on"/>
                            <m:ctrlPr>
                              <a:rPr lang="vi-VN" sz="2100" dirty="0">
                                <a:solidFill>
                                  <a:srgbClr val="475569"/>
                                </a:solidFill>
                                <a:latin typeface="Cambria Math"/>
                                <a:ea typeface="Cambria Math"/>
                                <a:cs typeface="Cambria Math"/>
                              </a:rPr>
                            </m:ctrlPr>
                          </m:dPr>
                          <m:e>
                            <m:r>
                              <a:rPr lang="vi-VN" sz="2100" dirty="0">
                                <a:solidFill>
                                  <a:srgbClr val="475569"/>
                                </a:solidFill>
                                <a:latin typeface="Cambria Math"/>
                                <a:ea typeface="Cambria Math"/>
                                <a:cs typeface="Cambria Math"/>
                              </a:rPr>
                              <m:t>t</m:t>
                            </m:r>
                          </m:e>
                        </m:d>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0</m:t>
                        </m:r>
                      </m:oMath>
                    </a14:m>
                    <a:r>
                      <a:rPr lang="vi-VN" sz="2100" dirty="0">
                        <a:solidFill>
                          <a:srgbClr val="475569"/>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1037082" y="4853483"/>
                    <a:ext cx="3826194" cy="661949"/>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b>
                          <m:e>
                            <m:r>
                              <a:rPr lang="vi-VN" sz="2100" dirty="0">
                                <a:solidFill>
                                  <a:srgbClr val="1E40AF"/>
                                </a:solidFill>
                                <a:latin typeface="Cambria Math"/>
                                <a:ea typeface="Cambria Math"/>
                                <a:cs typeface="Cambria Math"/>
                              </a:rPr>
                              <m:t>t</m:t>
                            </m:r>
                          </m:e>
                          <m:sub>
                            <m:r>
                              <a:rPr lang="vi-VN" sz="2100" dirty="0">
                                <a:solidFill>
                                  <a:srgbClr val="1E40AF"/>
                                </a:solidFill>
                                <a:latin typeface="Cambria Math"/>
                                <a:ea typeface="Cambria Math"/>
                                <a:cs typeface="Cambria Math"/>
                              </a:rPr>
                              <m:t>1</m:t>
                            </m:r>
                          </m:sub>
                        </m:sSub>
                        <m:r>
                          <m:rPr>
                            <m:sty m:val="p"/>
                          </m:rPr>
                          <a:rPr lang="vi-VN" sz="2100" dirty="0">
                            <a:solidFill>
                              <a:srgbClr val="1E40AF"/>
                            </a:solidFill>
                            <a:latin typeface="Cambria Math"/>
                            <a:ea typeface="Cambria Math"/>
                            <a:cs typeface="Cambria Math"/>
                          </a:rPr>
                          <m:t>=</m:t>
                        </m:r>
                        <m:f>
                          <m:fPr>
                            <m:type m:val="bar"/>
                            <m:ctrlPr>
                              <a:rPr lang="vi-VN" sz="2100" dirty="0">
                                <a:solidFill>
                                  <a:srgbClr val="1E40AF"/>
                                </a:solidFill>
                                <a:latin typeface="Cambria Math"/>
                                <a:ea typeface="Cambria Math"/>
                                <a:cs typeface="Cambria Math"/>
                              </a:rPr>
                            </m:ctrlPr>
                          </m:fPr>
                          <m:num>
                            <m:r>
                              <a:rPr lang="vi-VN" sz="2100" dirty="0">
                                <a:solidFill>
                                  <a:srgbClr val="1E40AF"/>
                                </a:solidFill>
                                <a:latin typeface="Cambria Math"/>
                                <a:ea typeface="Cambria Math"/>
                                <a:cs typeface="Cambria Math"/>
                              </a:rPr>
                              <m:t>9</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2</m:t>
                            </m:r>
                            <m:rad>
                              <m:radPr>
                                <m:degHide m:val="on"/>
                                <m:ctrlPr>
                                  <a:rPr lang="vi-VN" sz="2100" dirty="0">
                                    <a:solidFill>
                                      <a:srgbClr val="1E40AF"/>
                                    </a:solidFill>
                                    <a:latin typeface="Cambria Math"/>
                                    <a:ea typeface="Cambria Math"/>
                                    <a:cs typeface="Cambria Math"/>
                                  </a:rPr>
                                </m:ctrlPr>
                              </m:radPr>
                              <m:deg/>
                              <m:e>
                                <m:r>
                                  <a:rPr lang="vi-VN" sz="2100" dirty="0">
                                    <a:solidFill>
                                      <a:srgbClr val="1E40AF"/>
                                    </a:solidFill>
                                    <a:latin typeface="Cambria Math"/>
                                    <a:ea typeface="Cambria Math"/>
                                    <a:cs typeface="Cambria Math"/>
                                  </a:rPr>
                                  <m:t>21</m:t>
                                </m:r>
                              </m:e>
                            </m:rad>
                          </m:num>
                          <m:den>
                            <m:r>
                              <a:rPr lang="vi-VN" sz="2100" dirty="0">
                                <a:solidFill>
                                  <a:srgbClr val="1E40AF"/>
                                </a:solidFill>
                                <a:latin typeface="Cambria Math"/>
                                <a:ea typeface="Cambria Math"/>
                                <a:cs typeface="Cambria Math"/>
                              </a:rPr>
                              <m:t>3</m:t>
                            </m:r>
                          </m:den>
                        </m:f>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6</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05</m:t>
                        </m:r>
                      </m:oMath>
                    </a14:m>
                    <a:r>
                      <a:rPr lang="vi-VN" sz="2100" b="1" dirty="0">
                        <a:solidFill>
                          <a:srgbClr val="1E40AF"/>
                        </a:solidFill>
                        <a:latin typeface="+mn-lt"/>
                        <a:ea typeface="+mn-ea"/>
                        <a:cs typeface="+mn-cs"/>
                      </a:rPr>
                      <a:t xml:space="preserve"> (giây)</a:t>
                    </a:r>
                  </a:p>
                </p:txBody>
              </p:sp>
            </mc:Choice>
          </mc:AlternateContent>
          <p:sp>
            <p:nvSpPr>
              <p:cNvPr id="20" name="Rectangle 20"/>
              <p:cNvSpPr/>
              <p:nvPr/>
            </p:nvSpPr>
            <p:spPr>
              <a:xfrm>
                <a:off x="6238875" y="2762250"/>
                <a:ext cx="5143500" cy="3238500"/>
              </a:xfrm>
              <a:prstGeom prst="roundRect">
                <a:avLst>
                  <a:gd name="adj" fmla="val 4118"/>
                </a:avLst>
              </a:prstGeom>
              <a:solidFill>
                <a:srgbClr val="F0FDF4"/>
              </a:solidFill>
              <a:ln w="19050">
                <a:solidFill>
                  <a:srgbClr val="BBF7D0"/>
                </a:solidFill>
              </a:ln>
            </p:spPr>
          </p:sp>
          <p:sp>
            <p:nvSpPr>
              <p:cNvPr id="21" name="TextBox 21"/>
              <p:cNvSpPr txBox="1"/>
              <p:nvPr/>
            </p:nvSpPr>
            <p:spPr>
              <a:xfrm>
                <a:off x="6466332" y="2964180"/>
                <a:ext cx="4240788"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b) Kết luận chiều chuyển động:</a:t>
                </a:r>
              </a:p>
            </p:txBody>
          </p:sp>
          <p:sp>
            <p:nvSpPr>
              <p:cNvPr id="22" name="TextBox 22"/>
              <p:cNvSpPr txBox="1"/>
              <p:nvPr/>
            </p:nvSpPr>
            <p:spPr>
              <a:xfrm>
                <a:off x="6466332" y="3440430"/>
                <a:ext cx="5592023"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1. Chuyển động sang phải (chiều dương):</a:t>
                </a:r>
              </a:p>
            </p:txBody>
          </p:sp>
          <mc:AlternateContent xmlns:mc="http://schemas.openxmlformats.org/markup-compatibility/2006">
            <mc:Choice xmlns:a14="http://schemas.microsoft.com/office/drawing/2010/main" Requires="a14">
              <p:sp>
                <p:nvSpPr>
                  <p:cNvPr id="23" name="TextBox 23"/>
                  <p:cNvSpPr txBox="1"/>
                  <p:nvPr/>
                </p:nvSpPr>
                <p:spPr>
                  <a:xfrm>
                    <a:off x="6466332" y="3855720"/>
                    <a:ext cx="3963484" cy="437388"/>
                  </a:xfrm>
                  <a:prstGeom prst="rect">
                    <a:avLst/>
                  </a:prstGeom>
                  <a:noFill/>
                  <a:ln>
                    <a:noFill/>
                  </a:ln>
                </p:spPr>
                <p:txBody>
                  <a:bodyPr wrap="none" lIns="0" tIns="0" rIns="0" bIns="0" anchor="t" anchorCtr="0">
                    <a:spAutoFit/>
                  </a:bodyPr>
                  <a:lstStyle/>
                  <a:p>
                    <a:pPr algn="l"/>
                    <a:r>
                      <a:rPr lang="vi-VN" sz="2100" b="1" dirty="0">
                        <a:solidFill>
                          <a:srgbClr val="166534"/>
                        </a:solidFill>
                        <a:latin typeface="+mn-lt"/>
                        <a:ea typeface="+mn-ea"/>
                        <a:cs typeface="+mn-cs"/>
                      </a:rPr>
                      <a:t xml:space="preserve">Khi </a:t>
                    </a:r>
                    <a14:m>
                      <m:oMath xmlns:a="http://schemas.openxmlformats.org/drawingml/2006/main" xmlns:m="http://schemas.openxmlformats.org/officeDocument/2006/math">
                        <m:r>
                          <a:rPr lang="vi-VN" sz="2100" dirty="0">
                            <a:solidFill>
                              <a:srgbClr val="166534"/>
                            </a:solidFill>
                            <a:latin typeface="Cambria Math"/>
                            <a:ea typeface="Cambria Math"/>
                            <a:cs typeface="Cambria Math"/>
                          </a:rPr>
                          <m:t>v</m:t>
                        </m:r>
                        <m:d>
                          <m:dPr>
                            <m:begChr m:val="("/>
                            <m:sepChr m:val=""/>
                            <m:endChr m:val=")"/>
                            <m:grow m:val="on"/>
                            <m:ctrlPr>
                              <a:rPr lang="vi-VN" sz="2100" dirty="0">
                                <a:solidFill>
                                  <a:srgbClr val="166534"/>
                                </a:solidFill>
                                <a:latin typeface="Cambria Math"/>
                                <a:ea typeface="Cambria Math"/>
                                <a:cs typeface="Cambria Math"/>
                              </a:rPr>
                            </m:ctrlPr>
                          </m:dPr>
                          <m:e>
                            <m:r>
                              <a:rPr lang="vi-VN" sz="2100" dirty="0">
                                <a:solidFill>
                                  <a:srgbClr val="166534"/>
                                </a:solidFill>
                                <a:latin typeface="Cambria Math"/>
                                <a:ea typeface="Cambria Math"/>
                                <a:cs typeface="Cambria Math"/>
                              </a:rPr>
                              <m:t>t</m:t>
                            </m:r>
                          </m:e>
                        </m:d>
                        <m:r>
                          <m:rPr>
                            <m:sty m:val="p"/>
                          </m:rPr>
                          <a:rPr lang="vi-VN" sz="2100" dirty="0">
                            <a:solidFill>
                              <a:srgbClr val="166534"/>
                            </a:solidFill>
                            <a:latin typeface="Cambria Math"/>
                            <a:ea typeface="Cambria Math"/>
                            <a:cs typeface="Cambria Math"/>
                          </a:rPr>
                          <m:t>&gt;</m:t>
                        </m:r>
                        <m:r>
                          <a:rPr lang="vi-VN" sz="2100" dirty="0">
                            <a:solidFill>
                              <a:srgbClr val="166534"/>
                            </a:solidFill>
                            <a:latin typeface="Cambria Math"/>
                            <a:ea typeface="Cambria Math"/>
                            <a:cs typeface="Cambria Math"/>
                          </a:rPr>
                          <m:t>0</m:t>
                        </m:r>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0</m:t>
                        </m:r>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t</m:t>
                        </m:r>
                        <m:r>
                          <m:rPr>
                            <m:sty m:val="p"/>
                          </m:rPr>
                          <a:rPr lang="vi-VN" sz="2100" dirty="0">
                            <a:solidFill>
                              <a:srgbClr val="166534"/>
                            </a:solidFill>
                            <a:latin typeface="Cambria Math"/>
                            <a:ea typeface="Cambria Math"/>
                            <a:cs typeface="Cambria Math"/>
                          </a:rPr>
                          <m:t>&lt;</m:t>
                        </m:r>
                        <m:r>
                          <a:rPr lang="vi-VN" sz="2100" dirty="0">
                            <a:solidFill>
                              <a:srgbClr val="166534"/>
                            </a:solidFill>
                            <a:latin typeface="Cambria Math"/>
                            <a:ea typeface="Cambria Math"/>
                            <a:cs typeface="Cambria Math"/>
                          </a:rPr>
                          <m:t>6</m:t>
                        </m:r>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05</m:t>
                        </m:r>
                      </m:oMath>
                    </a14:m>
                    <a:r>
                      <a:rPr lang="vi-VN" sz="2100" b="1" dirty="0">
                        <a:solidFill>
                          <a:srgbClr val="166534"/>
                        </a:solidFill>
                        <a:latin typeface="+mn-lt"/>
                        <a:ea typeface="+mn-ea"/>
                        <a:cs typeface="+mn-cs"/>
                      </a:rPr>
                      <a:t xml:space="preserve"> giây.</a:t>
                    </a:r>
                  </a:p>
                </p:txBody>
              </p:sp>
            </mc:Choice>
          </mc:AlternateContent>
          <p:sp>
            <p:nvSpPr>
              <p:cNvPr id="24" name="TextBox 24"/>
              <p:cNvSpPr txBox="1"/>
              <p:nvPr/>
            </p:nvSpPr>
            <p:spPr>
              <a:xfrm>
                <a:off x="6466332" y="4440555"/>
                <a:ext cx="4996086" cy="41071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2. Chuyển động sang trái (chiều âm):</a:t>
                </a:r>
              </a:p>
            </p:txBody>
          </p:sp>
          <mc:AlternateContent xmlns:mc="http://schemas.openxmlformats.org/markup-compatibility/2006">
            <mc:Choice xmlns:a14="http://schemas.microsoft.com/office/drawing/2010/main" Requires="a14">
              <p:sp>
                <p:nvSpPr>
                  <p:cNvPr id="25" name="TextBox 25"/>
                  <p:cNvSpPr txBox="1"/>
                  <p:nvPr/>
                </p:nvSpPr>
                <p:spPr>
                  <a:xfrm>
                    <a:off x="6466332" y="4855845"/>
                    <a:ext cx="3494029" cy="437388"/>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 xml:space="preserve">Khi </a:t>
                    </a:r>
                    <a14:m>
                      <m:oMath xmlns:a="http://schemas.openxmlformats.org/drawingml/2006/main" xmlns:m="http://schemas.openxmlformats.org/officeDocument/2006/math">
                        <m:r>
                          <a:rPr lang="vi-VN" sz="2100" dirty="0">
                            <a:solidFill>
                              <a:srgbClr val="B91C1C"/>
                            </a:solidFill>
                            <a:latin typeface="Cambria Math"/>
                            <a:ea typeface="Cambria Math"/>
                            <a:cs typeface="Cambria Math"/>
                          </a:rPr>
                          <m:t>v</m:t>
                        </m:r>
                        <m:d>
                          <m:dPr>
                            <m:begChr m:val="("/>
                            <m:sepChr m:val=""/>
                            <m:endChr m:val=")"/>
                            <m:grow m:val="on"/>
                            <m:ctrlPr>
                              <a:rPr lang="vi-VN" sz="2100" dirty="0">
                                <a:solidFill>
                                  <a:srgbClr val="B91C1C"/>
                                </a:solidFill>
                                <a:latin typeface="Cambria Math"/>
                                <a:ea typeface="Cambria Math"/>
                                <a:cs typeface="Cambria Math"/>
                              </a:rPr>
                            </m:ctrlPr>
                          </m:dPr>
                          <m:e>
                            <m:r>
                              <a:rPr lang="vi-VN" sz="2100" dirty="0">
                                <a:solidFill>
                                  <a:srgbClr val="B91C1C"/>
                                </a:solidFill>
                                <a:latin typeface="Cambria Math"/>
                                <a:ea typeface="Cambria Math"/>
                                <a:cs typeface="Cambria Math"/>
                              </a:rPr>
                              <m:t>t</m:t>
                            </m:r>
                          </m:e>
                        </m:d>
                        <m:r>
                          <m:rPr>
                            <m:sty m:val="p"/>
                          </m:rPr>
                          <a:rPr lang="vi-VN" sz="2100" dirty="0">
                            <a:solidFill>
                              <a:srgbClr val="B91C1C"/>
                            </a:solidFill>
                            <a:latin typeface="Cambria Math"/>
                            <a:ea typeface="Cambria Math"/>
                            <a:cs typeface="Cambria Math"/>
                          </a:rPr>
                          <m:t>&lt;</m:t>
                        </m:r>
                        <m:r>
                          <a:rPr lang="vi-VN" sz="2100" dirty="0">
                            <a:solidFill>
                              <a:srgbClr val="B91C1C"/>
                            </a:solidFill>
                            <a:latin typeface="Cambria Math"/>
                            <a:ea typeface="Cambria Math"/>
                            <a:cs typeface="Cambria Math"/>
                          </a:rPr>
                          <m:t>0</m:t>
                        </m:r>
                        <m:r>
                          <m:rPr>
                            <m:sty m:val="p"/>
                          </m:rPr>
                          <a:rPr lang="vi-VN" sz="2100" dirty="0">
                            <a:solidFill>
                              <a:srgbClr val="B91C1C"/>
                            </a:solidFill>
                            <a:latin typeface="Cambria Math"/>
                            <a:ea typeface="Cambria Math"/>
                            <a:cs typeface="Cambria Math"/>
                          </a:rPr>
                          <m:t>⇒</m:t>
                        </m:r>
                        <m:r>
                          <a:rPr lang="vi-VN" sz="2100" dirty="0">
                            <a:solidFill>
                              <a:srgbClr val="B91C1C"/>
                            </a:solidFill>
                            <a:latin typeface="Cambria Math"/>
                            <a:ea typeface="Cambria Math"/>
                            <a:cs typeface="Cambria Math"/>
                          </a:rPr>
                          <m:t>t</m:t>
                        </m:r>
                        <m:r>
                          <m:rPr>
                            <m:sty m:val="p"/>
                          </m:rPr>
                          <a:rPr lang="vi-VN" sz="2100" dirty="0">
                            <a:solidFill>
                              <a:srgbClr val="B91C1C"/>
                            </a:solidFill>
                            <a:latin typeface="Cambria Math"/>
                            <a:ea typeface="Cambria Math"/>
                            <a:cs typeface="Cambria Math"/>
                          </a:rPr>
                          <m:t>&gt;</m:t>
                        </m:r>
                        <m:r>
                          <a:rPr lang="vi-VN" sz="2100" dirty="0">
                            <a:solidFill>
                              <a:srgbClr val="B91C1C"/>
                            </a:solidFill>
                            <a:latin typeface="Cambria Math"/>
                            <a:ea typeface="Cambria Math"/>
                            <a:cs typeface="Cambria Math"/>
                          </a:rPr>
                          <m:t>6</m:t>
                        </m:r>
                        <m:r>
                          <m:rPr>
                            <m:sty m:val="p"/>
                          </m:rPr>
                          <a:rPr lang="vi-VN" sz="2100" dirty="0">
                            <a:solidFill>
                              <a:srgbClr val="B91C1C"/>
                            </a:solidFill>
                            <a:latin typeface="Cambria Math"/>
                            <a:ea typeface="Cambria Math"/>
                            <a:cs typeface="Cambria Math"/>
                          </a:rPr>
                          <m:t>,</m:t>
                        </m:r>
                        <m:r>
                          <a:rPr lang="vi-VN" sz="2100" dirty="0">
                            <a:solidFill>
                              <a:srgbClr val="B91C1C"/>
                            </a:solidFill>
                            <a:latin typeface="Cambria Math"/>
                            <a:ea typeface="Cambria Math"/>
                            <a:cs typeface="Cambria Math"/>
                          </a:rPr>
                          <m:t>05</m:t>
                        </m:r>
                      </m:oMath>
                    </a14:m>
                    <a:r>
                      <a:rPr lang="vi-VN" sz="2100" b="1" dirty="0">
                        <a:solidFill>
                          <a:srgbClr val="B91C1C"/>
                        </a:solidFill>
                        <a:latin typeface="+mn-lt"/>
                        <a:ea typeface="+mn-ea"/>
                        <a:cs typeface="+mn-cs"/>
                      </a:rPr>
                      <a:t xml:space="preserve"> giây.</a:t>
                    </a:r>
                  </a:p>
                </p:txBody>
              </p:sp>
            </mc:Choice>
          </mc:AlternateContent>
          <mc:AlternateContent xmlns:mc="http://schemas.openxmlformats.org/markup-compatibility/2006">
            <mc:Choice xmlns:a14="http://schemas.microsoft.com/office/drawing/2010/main" Requires="a14">
              <p:sp>
                <p:nvSpPr>
                  <p:cNvPr id="26" name="TextBox 26"/>
                  <p:cNvSpPr txBox="1"/>
                  <p:nvPr/>
                </p:nvSpPr>
                <p:spPr>
                  <a:xfrm>
                    <a:off x="6466332" y="5440680"/>
                    <a:ext cx="4694033"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Tại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t</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6</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05</m:t>
                        </m:r>
                      </m:oMath>
                    </a14:m>
                    <a:r>
                      <a:rPr lang="vi-VN" sz="2100" b="1" dirty="0">
                        <a:solidFill>
                          <a:srgbClr val="1E40AF"/>
                        </a:solidFill>
                        <a:latin typeface="+mn-lt"/>
                        <a:ea typeface="+mn-ea"/>
                        <a:cs typeface="+mn-cs"/>
                      </a:rPr>
                      <a:t>s vật dừng lại đổi chiều!</a:t>
                    </a:r>
                  </a:p>
                </p:txBody>
              </p:sp>
            </mc:Choice>
          </mc:AlternateContent>
        </p:gr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757979" y="459105"/>
              <a:ext cx="1189143"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II.a</a:t>
              </a:r>
            </a:p>
          </p:txBody>
        </p:sp>
        <p:sp>
          <p:nvSpPr>
            <p:cNvPr id="7" name="TextBox 7"/>
            <p:cNvSpPr txBox="1"/>
            <p:nvPr/>
          </p:nvSpPr>
          <p:spPr>
            <a:xfrm>
              <a:off x="2179701" y="460534"/>
              <a:ext cx="6247007"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II. CỰC TRỊ: a. Khái niệm Cực đại &amp; Cực tiểu</a:t>
              </a:r>
            </a:p>
          </p:txBody>
        </p:sp>
      </p:grpSp>
      <p:grpSp>
        <p:nvGrpSpPr>
          <p:cNvPr id="26" name="content"/>
          <p:cNvGrpSpPr/>
          <p:nvPr/>
        </p:nvGrpSpPr>
        <p:grpSpPr>
          <a:xfrm>
            <a:off x="476250" y="1190625"/>
            <a:ext cx="11239500" cy="5191125"/>
            <a:chOff x="476250" y="1190625"/>
            <a:chExt cx="11239500" cy="5191125"/>
          </a:xfrm>
        </p:grpSpPr>
        <p:sp>
          <p:nvSpPr>
            <p:cNvPr id="9" name="Rectangle 9"/>
            <p:cNvSpPr/>
            <p:nvPr/>
          </p:nvSpPr>
          <p:spPr>
            <a:xfrm>
              <a:off x="476250" y="1190625"/>
              <a:ext cx="59055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5801246"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ĐỊNH NGHĨA CỰC TRỊ (SGK TRANG 9)</a:t>
              </a:r>
            </a:p>
          </p:txBody>
        </p:sp>
        <p:grpSp>
          <p:nvGrpSpPr>
            <p:cNvPr id="21" name="Group 21"/>
            <p:cNvGrpSpPr/>
            <p:nvPr/>
          </p:nvGrpSpPr>
          <p:grpSpPr>
            <a:xfrm>
              <a:off x="762000" y="1952625"/>
              <a:ext cx="6938078" cy="4095750"/>
              <a:chOff x="762000" y="1952625"/>
              <a:chExt cx="6938078" cy="4095750"/>
            </a:xfrm>
          </p:grpSpPr>
          <p:sp>
            <p:nvSpPr>
              <p:cNvPr id="11" name="Rectangle 11"/>
              <p:cNvSpPr/>
              <p:nvPr/>
            </p:nvSpPr>
            <p:spPr>
              <a:xfrm>
                <a:off x="762000" y="1952625"/>
                <a:ext cx="5334000" cy="1952625"/>
              </a:xfrm>
              <a:prstGeom prst="roundRect">
                <a:avLst>
                  <a:gd name="adj" fmla="val 6829"/>
                </a:avLst>
              </a:prstGeom>
              <a:solidFill>
                <a:srgbClr val="EFF6FF"/>
              </a:solidFill>
              <a:ln w="14288">
                <a:solidFill>
                  <a:srgbClr val="BFDBFE"/>
                </a:solidFill>
              </a:ln>
            </p:spPr>
          </p:sp>
          <mc:AlternateContent xmlns:mc="http://schemas.openxmlformats.org/markup-compatibility/2006">
            <mc:Choice xmlns:a14="http://schemas.microsoft.com/office/drawing/2010/main" Requires="a14">
              <p:sp>
                <p:nvSpPr>
                  <p:cNvPr id="12" name="TextBox 12"/>
                  <p:cNvSpPr txBox="1"/>
                  <p:nvPr/>
                </p:nvSpPr>
                <p:spPr>
                  <a:xfrm>
                    <a:off x="941070" y="2138362"/>
                    <a:ext cx="3341767" cy="48777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1. ĐIỂM CỰC ĐẠI (</a:t>
                    </a:r>
                    <a14:m>
                      <m:oMath xmlns:a="http://schemas.openxmlformats.org/drawingml/2006/main" xmlns:m="http://schemas.openxmlformats.org/officeDocument/2006/math">
                        <m:sSub>
                          <m:e>
                            <m:r>
                              <a:rPr lang="vi-VN" sz="2250" dirty="0">
                                <a:solidFill>
                                  <a:srgbClr val="1D4ED8"/>
                                </a:solidFill>
                                <a:latin typeface="Cambria Math"/>
                                <a:ea typeface="Cambria Math"/>
                                <a:cs typeface="Cambria Math"/>
                              </a:rPr>
                              <m:t>x</m:t>
                            </m:r>
                          </m:e>
                          <m:sub>
                            <m:r>
                              <a:rPr lang="vi-VN" sz="2250" dirty="0">
                                <a:solidFill>
                                  <a:srgbClr val="1D4ED8"/>
                                </a:solidFill>
                                <a:latin typeface="Cambria Math"/>
                                <a:ea typeface="Cambria Math"/>
                                <a:cs typeface="Cambria Math"/>
                              </a:rPr>
                              <m:t>0</m:t>
                            </m:r>
                          </m:sub>
                        </m:sSub>
                      </m:oMath>
                    </a14:m>
                    <a:r>
                      <a:rPr lang="vi-VN" sz="2250" b="1" dirty="0">
                        <a:solidFill>
                          <a:srgbClr val="1D4ED8"/>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941832" y="2569845"/>
                    <a:ext cx="4967392" cy="481927"/>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Tồn tại khoảng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h</m:t>
                            </m:r>
                            <m:r>
                              <m:rPr>
                                <m:sty m:val="p"/>
                              </m:rPr>
                              <a:rPr lang="vi-VN" sz="2100" dirty="0">
                                <a:solidFill>
                                  <a:srgbClr val="0F172A"/>
                                </a:solidFill>
                                <a:latin typeface="Cambria Math"/>
                                <a:ea typeface="Cambria Math"/>
                                <a:cs typeface="Cambria Math"/>
                              </a:rPr>
                              <m: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h</m:t>
                            </m:r>
                          </m:e>
                        </m:d>
                      </m:oMath>
                    </a14:m>
                    <a:r>
                      <a:rPr lang="vi-VN" sz="2100" b="1" dirty="0">
                        <a:solidFill>
                          <a:srgbClr val="0F172A"/>
                        </a:solidFill>
                        <a:latin typeface="+mn-lt"/>
                        <a:ea typeface="+mn-ea"/>
                        <a:cs typeface="+mn-cs"/>
                      </a:rPr>
                      <a:t xml:space="preserve"> sao cho:</a:t>
                    </a:r>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941832" y="2998470"/>
                    <a:ext cx="2496364" cy="48192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1E40AF"/>
                            </a:solidFill>
                            <a:latin typeface="Cambria Math"/>
                            <a:ea typeface="Cambria Math"/>
                            <a:cs typeface="Cambria Math"/>
                          </a:rPr>
                          <m:t>f</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x</m:t>
                            </m:r>
                          </m:e>
                        </m:d>
                        <m:r>
                          <m:rPr>
                            <m:sty m:val="p"/>
                          </m:rPr>
                          <a:rPr lang="vi-VN" sz="2100" dirty="0">
                            <a:solidFill>
                              <a:srgbClr val="1E40AF"/>
                            </a:solidFill>
                            <a:latin typeface="Cambria Math"/>
                            <a:ea typeface="Cambria Math"/>
                            <a:cs typeface="Cambria Math"/>
                          </a:rPr>
                          <m:t>&lt;</m:t>
                        </m:r>
                        <m:r>
                          <a:rPr lang="vi-VN" sz="2100" dirty="0">
                            <a:solidFill>
                              <a:srgbClr val="1E40AF"/>
                            </a:solidFill>
                            <a:latin typeface="Cambria Math"/>
                            <a:ea typeface="Cambria Math"/>
                            <a:cs typeface="Cambria Math"/>
                          </a:rPr>
                          <m:t>f</m:t>
                        </m:r>
                        <m:d>
                          <m:dPr>
                            <m:begChr m:val="("/>
                            <m:sepChr m:val=""/>
                            <m:endChr m:val=")"/>
                            <m:grow m:val="on"/>
                            <m:ctrlPr>
                              <a:rPr lang="vi-VN" sz="2100" dirty="0">
                                <a:solidFill>
                                  <a:srgbClr val="1E40AF"/>
                                </a:solidFill>
                                <a:latin typeface="Cambria Math"/>
                                <a:ea typeface="Cambria Math"/>
                                <a:cs typeface="Cambria Math"/>
                              </a:rPr>
                            </m:ctrlPr>
                          </m:dPr>
                          <m:e>
                            <m:sSub>
                              <m:e>
                                <m:r>
                                  <a:rPr lang="vi-VN" sz="2100" dirty="0">
                                    <a:solidFill>
                                      <a:srgbClr val="1E40AF"/>
                                    </a:solidFill>
                                    <a:latin typeface="Cambria Math"/>
                                    <a:ea typeface="Cambria Math"/>
                                    <a:cs typeface="Cambria Math"/>
                                  </a:rPr>
                                  <m:t>x</m:t>
                                </m:r>
                              </m:e>
                              <m:sub>
                                <m:r>
                                  <a:rPr lang="vi-VN" sz="2100" dirty="0">
                                    <a:solidFill>
                                      <a:srgbClr val="1E40AF"/>
                                    </a:solidFill>
                                    <a:latin typeface="Cambria Math"/>
                                    <a:ea typeface="Cambria Math"/>
                                    <a:cs typeface="Cambria Math"/>
                                  </a:rPr>
                                  <m:t>0</m:t>
                                </m:r>
                              </m:sub>
                            </m:sSub>
                          </m:e>
                        </m:d>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sSub>
                          <m:e>
                            <m:r>
                              <a:rPr lang="vi-VN" sz="2100" dirty="0">
                                <a:solidFill>
                                  <a:srgbClr val="1E40AF"/>
                                </a:solidFill>
                                <a:latin typeface="Cambria Math"/>
                                <a:ea typeface="Cambria Math"/>
                                <a:cs typeface="Cambria Math"/>
                              </a:rPr>
                              <m:t>x</m:t>
                            </m:r>
                          </m:e>
                          <m:sub>
                            <m:r>
                              <a:rPr lang="vi-VN" sz="2100" dirty="0">
                                <a:solidFill>
                                  <a:srgbClr val="1E40AF"/>
                                </a:solidFill>
                                <a:latin typeface="Cambria Math"/>
                                <a:ea typeface="Cambria Math"/>
                                <a:cs typeface="Cambria Math"/>
                              </a:rPr>
                              <m:t>0</m:t>
                            </m:r>
                          </m:sub>
                        </m:sSub>
                      </m:oMath>
                    </a14:m>
                  </a:p>
                </p:txBody>
              </p:sp>
            </mc:Choice>
          </mc:AlternateContent>
          <p:sp>
            <p:nvSpPr>
              <p:cNvPr id="15" name="TextBox 15"/>
              <p:cNvSpPr txBox="1"/>
              <p:nvPr/>
            </p:nvSpPr>
            <p:spPr>
              <a:xfrm>
                <a:off x="941832" y="3421380"/>
                <a:ext cx="6675266"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HÌNH ẢNH: ĐỈNH ĐỒI (CAO NHẤT LÂN CẬN)</a:t>
                </a:r>
              </a:p>
            </p:txBody>
          </p:sp>
          <p:sp>
            <p:nvSpPr>
              <p:cNvPr id="16" name="Rectangle 16"/>
              <p:cNvSpPr/>
              <p:nvPr/>
            </p:nvSpPr>
            <p:spPr>
              <a:xfrm>
                <a:off x="762000" y="4095750"/>
                <a:ext cx="5334000" cy="1952625"/>
              </a:xfrm>
              <a:prstGeom prst="roundRect">
                <a:avLst>
                  <a:gd name="adj" fmla="val 6829"/>
                </a:avLst>
              </a:prstGeom>
              <a:solidFill>
                <a:srgbClr val="FEF2F2"/>
              </a:solidFill>
              <a:ln w="14288">
                <a:solidFill>
                  <a:srgbClr val="FECACA"/>
                </a:solidFill>
              </a:ln>
            </p:spPr>
          </p:sp>
          <mc:AlternateContent xmlns:mc="http://schemas.openxmlformats.org/markup-compatibility/2006">
            <mc:Choice xmlns:a14="http://schemas.microsoft.com/office/drawing/2010/main" Requires="a14">
              <p:sp>
                <p:nvSpPr>
                  <p:cNvPr id="17" name="TextBox 17"/>
                  <p:cNvSpPr txBox="1"/>
                  <p:nvPr/>
                </p:nvSpPr>
                <p:spPr>
                  <a:xfrm>
                    <a:off x="941070" y="4281488"/>
                    <a:ext cx="3519581" cy="487775"/>
                  </a:xfrm>
                  <a:prstGeom prst="rect">
                    <a:avLst/>
                  </a:prstGeom>
                  <a:noFill/>
                  <a:ln>
                    <a:noFill/>
                  </a:ln>
                </p:spPr>
                <p:txBody>
                  <a:bodyPr wrap="none" lIns="0" tIns="0" rIns="0" bIns="0" anchor="t" anchorCtr="0">
                    <a:spAutoFit/>
                  </a:bodyPr>
                  <a:lstStyle/>
                  <a:p>
                    <a:pPr algn="l"/>
                    <a:r>
                      <a:rPr lang="vi-VN" sz="2250" b="1" dirty="0">
                        <a:solidFill>
                          <a:srgbClr val="DC2626"/>
                        </a:solidFill>
                        <a:latin typeface="+mn-lt"/>
                        <a:ea typeface="+mn-ea"/>
                        <a:cs typeface="+mn-cs"/>
                      </a:rPr>
                      <a:t>2. ĐIỂM CỰC TIỂU (</a:t>
                    </a:r>
                    <a14:m>
                      <m:oMath xmlns:a="http://schemas.openxmlformats.org/drawingml/2006/main" xmlns:m="http://schemas.openxmlformats.org/officeDocument/2006/math">
                        <m:sSub>
                          <m:e>
                            <m:r>
                              <a:rPr lang="vi-VN" sz="2250" dirty="0">
                                <a:solidFill>
                                  <a:srgbClr val="DC2626"/>
                                </a:solidFill>
                                <a:latin typeface="Cambria Math"/>
                                <a:ea typeface="Cambria Math"/>
                                <a:cs typeface="Cambria Math"/>
                              </a:rPr>
                              <m:t>x</m:t>
                            </m:r>
                          </m:e>
                          <m:sub>
                            <m:r>
                              <a:rPr lang="vi-VN" sz="2250" dirty="0">
                                <a:solidFill>
                                  <a:srgbClr val="DC2626"/>
                                </a:solidFill>
                                <a:latin typeface="Cambria Math"/>
                                <a:ea typeface="Cambria Math"/>
                                <a:cs typeface="Cambria Math"/>
                              </a:rPr>
                              <m:t>0</m:t>
                            </m:r>
                          </m:sub>
                        </m:sSub>
                      </m:oMath>
                    </a14:m>
                    <a:r>
                      <a:rPr lang="vi-VN" sz="2250" b="1" dirty="0">
                        <a:solidFill>
                          <a:srgbClr val="DC2626"/>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941832" y="4712970"/>
                    <a:ext cx="4967392" cy="481927"/>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Tồn tại khoảng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h</m:t>
                            </m:r>
                            <m:r>
                              <m:rPr>
                                <m:sty m:val="p"/>
                              </m:rPr>
                              <a:rPr lang="vi-VN" sz="2100" dirty="0">
                                <a:solidFill>
                                  <a:srgbClr val="0F172A"/>
                                </a:solidFill>
                                <a:latin typeface="Cambria Math"/>
                                <a:ea typeface="Cambria Math"/>
                                <a:cs typeface="Cambria Math"/>
                              </a:rPr>
                              <m: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h</m:t>
                            </m:r>
                          </m:e>
                        </m:d>
                      </m:oMath>
                    </a14:m>
                    <a:r>
                      <a:rPr lang="vi-VN" sz="2100" b="1" dirty="0">
                        <a:solidFill>
                          <a:srgbClr val="0F172A"/>
                        </a:solidFill>
                        <a:latin typeface="+mn-lt"/>
                        <a:ea typeface="+mn-ea"/>
                        <a:cs typeface="+mn-cs"/>
                      </a:rPr>
                      <a:t xml:space="preserve"> sao cho:</a:t>
                    </a:r>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941832" y="5141595"/>
                    <a:ext cx="2496364" cy="48192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B91C1C"/>
                            </a:solidFill>
                            <a:latin typeface="Cambria Math"/>
                            <a:ea typeface="Cambria Math"/>
                            <a:cs typeface="Cambria Math"/>
                          </a:rPr>
                          <m:t>f</m:t>
                        </m:r>
                        <m:d>
                          <m:dPr>
                            <m:begChr m:val="("/>
                            <m:sepChr m:val=""/>
                            <m:endChr m:val=")"/>
                            <m:grow m:val="on"/>
                            <m:ctrlPr>
                              <a:rPr lang="vi-VN" sz="2100" dirty="0">
                                <a:solidFill>
                                  <a:srgbClr val="B91C1C"/>
                                </a:solidFill>
                                <a:latin typeface="Cambria Math"/>
                                <a:ea typeface="Cambria Math"/>
                                <a:cs typeface="Cambria Math"/>
                              </a:rPr>
                            </m:ctrlPr>
                          </m:dPr>
                          <m:e>
                            <m:r>
                              <a:rPr lang="vi-VN" sz="2100" dirty="0">
                                <a:solidFill>
                                  <a:srgbClr val="B91C1C"/>
                                </a:solidFill>
                                <a:latin typeface="Cambria Math"/>
                                <a:ea typeface="Cambria Math"/>
                                <a:cs typeface="Cambria Math"/>
                              </a:rPr>
                              <m:t>x</m:t>
                            </m:r>
                          </m:e>
                        </m:d>
                        <m:r>
                          <m:rPr>
                            <m:sty m:val="p"/>
                          </m:rPr>
                          <a:rPr lang="vi-VN" sz="2100" dirty="0">
                            <a:solidFill>
                              <a:srgbClr val="B91C1C"/>
                            </a:solidFill>
                            <a:latin typeface="Cambria Math"/>
                            <a:ea typeface="Cambria Math"/>
                            <a:cs typeface="Cambria Math"/>
                          </a:rPr>
                          <m:t>&gt;</m:t>
                        </m:r>
                        <m:r>
                          <a:rPr lang="vi-VN" sz="2100" dirty="0">
                            <a:solidFill>
                              <a:srgbClr val="B91C1C"/>
                            </a:solidFill>
                            <a:latin typeface="Cambria Math"/>
                            <a:ea typeface="Cambria Math"/>
                            <a:cs typeface="Cambria Math"/>
                          </a:rPr>
                          <m:t>f</m:t>
                        </m:r>
                        <m:d>
                          <m:dPr>
                            <m:begChr m:val="("/>
                            <m:sepChr m:val=""/>
                            <m:endChr m:val=")"/>
                            <m:grow m:val="on"/>
                            <m:ctrlPr>
                              <a:rPr lang="vi-VN" sz="2100" dirty="0">
                                <a:solidFill>
                                  <a:srgbClr val="B91C1C"/>
                                </a:solidFill>
                                <a:latin typeface="Cambria Math"/>
                                <a:ea typeface="Cambria Math"/>
                                <a:cs typeface="Cambria Math"/>
                              </a:rPr>
                            </m:ctrlPr>
                          </m:dPr>
                          <m:e>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0</m:t>
                                </m:r>
                              </m:sub>
                            </m:sSub>
                          </m:e>
                        </m:d>
                        <m:r>
                          <m:rPr>
                            <m:sty m:val="p"/>
                          </m:rPr>
                          <a:rPr lang="vi-VN" sz="2100" dirty="0">
                            <a:solidFill>
                              <a:srgbClr val="B91C1C"/>
                            </a:solidFill>
                            <a:latin typeface="Cambria Math"/>
                            <a:ea typeface="Cambria Math"/>
                            <a:cs typeface="Cambria Math"/>
                          </a:rPr>
                          <m:t>,∀</m:t>
                        </m:r>
                        <m:r>
                          <a:rPr lang="vi-VN" sz="2100" dirty="0">
                            <a:solidFill>
                              <a:srgbClr val="B91C1C"/>
                            </a:solidFill>
                            <a:latin typeface="Cambria Math"/>
                            <a:ea typeface="Cambria Math"/>
                            <a:cs typeface="Cambria Math"/>
                          </a:rPr>
                          <m:t>x</m:t>
                        </m:r>
                        <m:r>
                          <m:rPr>
                            <m:sty m:val="p"/>
                          </m:rPr>
                          <a:rPr lang="vi-VN" sz="2100" dirty="0">
                            <a:solidFill>
                              <a:srgbClr val="B91C1C"/>
                            </a:solidFill>
                            <a:latin typeface="Cambria Math"/>
                            <a:ea typeface="Cambria Math"/>
                            <a:cs typeface="Cambria Math"/>
                          </a:rPr>
                          <m:t>≠</m:t>
                        </m:r>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0</m:t>
                            </m:r>
                          </m:sub>
                        </m:sSub>
                      </m:oMath>
                    </a14:m>
                  </a:p>
                </p:txBody>
              </p:sp>
            </mc:Choice>
          </mc:AlternateContent>
          <p:sp>
            <p:nvSpPr>
              <p:cNvPr id="20" name="TextBox 20"/>
              <p:cNvSpPr txBox="1"/>
              <p:nvPr/>
            </p:nvSpPr>
            <p:spPr>
              <a:xfrm>
                <a:off x="941832" y="5564505"/>
                <a:ext cx="6758246" cy="410718"/>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 HÌNH ẢNH: ĐÁY THUNG LŨNG (THẤP NHẤT)</a:t>
                </a:r>
              </a:p>
            </p:txBody>
          </p:sp>
        </p:grpSp>
        <p:sp>
          <p:nvSpPr>
            <p:cNvPr id="22" name="Rectangle 22"/>
            <p:cNvSpPr/>
            <p:nvPr/>
          </p:nvSpPr>
          <p:spPr>
            <a:xfrm>
              <a:off x="6572250" y="1190625"/>
              <a:ext cx="5143500" cy="5191125"/>
            </a:xfrm>
            <a:prstGeom prst="roundRect">
              <a:avLst>
                <a:gd name="adj" fmla="val 3333"/>
              </a:avLst>
            </a:prstGeom>
            <a:solidFill>
              <a:srgbClr val="FFFFFF"/>
            </a:solidFill>
            <a:ln w="19050">
              <a:solidFill>
                <a:srgbClr val="CBD5E1"/>
              </a:solidFill>
            </a:ln>
          </p:spPr>
        </p:sp>
        <p:sp>
          <p:nvSpPr>
            <p:cNvPr id="23" name="TextBox 23"/>
            <p:cNvSpPr txBox="1"/>
            <p:nvPr/>
          </p:nvSpPr>
          <p:spPr>
            <a:xfrm>
              <a:off x="6785717" y="1376362"/>
              <a:ext cx="4716567"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MINH HỌA HÌNH DÁNG ĐỒ THỊ</a:t>
              </a:r>
            </a:p>
          </p:txBody>
        </p:sp>
        <p:pic>
          <p:nvPicPr>
            <p:cNvPr id="24" name="Image 24"/>
            <p:cNvPicPr>
              <a:picLocks noChangeAspect="1"/>
            </p:cNvPicPr>
            <p:nvPr/>
          </p:nvPicPr>
          <p:blipFill>
            <a:blip r:embed="rId2"/>
            <a:stretch>
              <a:fillRect/>
            </a:stretch>
          </p:blipFill>
          <p:spPr>
            <a:xfrm>
              <a:off x="7189291" y="1809750"/>
              <a:ext cx="3909418" cy="4048125"/>
            </a:xfrm>
            <a:prstGeom prst="rect">
              <a:avLst/>
            </a:prstGeom>
          </p:spPr>
        </p:pic>
        <p:sp>
          <p:nvSpPr>
            <p:cNvPr id="25" name="TextBox 25"/>
            <p:cNvSpPr txBox="1"/>
            <p:nvPr/>
          </p:nvSpPr>
          <p:spPr>
            <a:xfrm>
              <a:off x="1648514" y="5916930"/>
              <a:ext cx="8894972"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 Cực trị có tính chất địa phương (so sánh trong lân cận điểm x₀)</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12052" y="459105"/>
              <a:ext cx="1680995"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CHÚ Ý SGK</a:t>
              </a:r>
            </a:p>
          </p:txBody>
        </p:sp>
        <p:sp>
          <p:nvSpPr>
            <p:cNvPr id="7" name="TextBox 7"/>
            <p:cNvSpPr txBox="1"/>
            <p:nvPr/>
          </p:nvSpPr>
          <p:spPr>
            <a:xfrm>
              <a:off x="2179701" y="460534"/>
              <a:ext cx="5699986"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II. CỰC TRỊ: Chú ý phân biệt 3 khái niệm</a:t>
              </a:r>
            </a:p>
          </p:txBody>
        </p:sp>
      </p:grpSp>
      <p:grpSp>
        <p:nvGrpSpPr>
          <p:cNvPr id="31" name="content"/>
          <p:cNvGrpSpPr/>
          <p:nvPr/>
        </p:nvGrpSpPr>
        <p:grpSpPr>
          <a:xfrm>
            <a:off x="476250" y="1190625"/>
            <a:ext cx="11239500" cy="5191125"/>
            <a:chOff x="476250" y="1190625"/>
            <a:chExt cx="11239500"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76375"/>
              <a:ext cx="10572750" cy="762000"/>
            </a:xfrm>
            <a:prstGeom prst="roundRect">
              <a:avLst>
                <a:gd name="adj" fmla="val 15000"/>
              </a:avLst>
            </a:prstGeom>
            <a:solidFill>
              <a:srgbClr val="FEF3C7"/>
            </a:solidFill>
            <a:ln w="19050">
              <a:solidFill>
                <a:srgbClr val="FDE68A"/>
              </a:solidFill>
            </a:ln>
          </p:spPr>
        </p:sp>
        <p:sp>
          <p:nvSpPr>
            <p:cNvPr id="11" name="TextBox 11"/>
            <p:cNvSpPr txBox="1"/>
            <p:nvPr/>
          </p:nvSpPr>
          <p:spPr>
            <a:xfrm>
              <a:off x="1036320" y="1709738"/>
              <a:ext cx="10049329" cy="440055"/>
            </a:xfrm>
            <a:prstGeom prst="rect">
              <a:avLst/>
            </a:prstGeom>
            <a:noFill/>
            <a:ln>
              <a:noFill/>
            </a:ln>
          </p:spPr>
          <p:txBody>
            <a:bodyPr wrap="none" lIns="0" tIns="0" rIns="0" bIns="0" anchor="t" anchorCtr="0">
              <a:spAutoFit/>
            </a:bodyPr>
            <a:lstStyle/>
            <a:p>
              <a:pPr algn="l"/>
              <a:r>
                <a:rPr lang="vi-VN" sz="2250" b="1" dirty="0">
                  <a:solidFill>
                    <a:srgbClr val="92400E"/>
                  </a:solidFill>
                  <a:latin typeface="+mn-lt"/>
                  <a:ea typeface="+mn-ea"/>
                  <a:cs typeface="+mn-cs"/>
                </a:rPr>
                <a:t>⚠️ PHÂN BIỆT RÕ RÀNG 3 THUẬT NGỮ (SGK TOÁN 12 TRANG 9):</a:t>
              </a:r>
            </a:p>
          </p:txBody>
        </p:sp>
        <p:grpSp>
          <p:nvGrpSpPr>
            <p:cNvPr id="27" name="Group 27"/>
            <p:cNvGrpSpPr/>
            <p:nvPr/>
          </p:nvGrpSpPr>
          <p:grpSpPr>
            <a:xfrm>
              <a:off x="809625" y="2476500"/>
              <a:ext cx="10572750" cy="2190750"/>
              <a:chOff x="809625" y="2476500"/>
              <a:chExt cx="10572750" cy="2190750"/>
            </a:xfrm>
          </p:grpSpPr>
          <p:sp>
            <p:nvSpPr>
              <p:cNvPr id="12" name="Rectangle 12"/>
              <p:cNvSpPr/>
              <p:nvPr/>
            </p:nvSpPr>
            <p:spPr>
              <a:xfrm>
                <a:off x="809625" y="2476500"/>
                <a:ext cx="3333750" cy="2190750"/>
              </a:xfrm>
              <a:prstGeom prst="roundRect">
                <a:avLst>
                  <a:gd name="adj" fmla="val 6087"/>
                </a:avLst>
              </a:prstGeom>
              <a:solidFill>
                <a:srgbClr val="EFF6FF"/>
              </a:solidFill>
              <a:ln w="19050">
                <a:solidFill>
                  <a:srgbClr val="BFDBFE"/>
                </a:solidFill>
              </a:ln>
            </p:spPr>
          </p:sp>
          <p:sp>
            <p:nvSpPr>
              <p:cNvPr id="13" name="TextBox 13"/>
              <p:cNvSpPr txBox="1"/>
              <p:nvPr/>
            </p:nvSpPr>
            <p:spPr>
              <a:xfrm>
                <a:off x="1036320" y="2662238"/>
                <a:ext cx="2565514"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1. ĐIỂM CỰC TRỊ</a:t>
                </a:r>
              </a:p>
            </p:txBody>
          </p:sp>
          <p:sp>
            <p:nvSpPr>
              <p:cNvPr id="14" name="TextBox 14"/>
              <p:cNvSpPr txBox="1"/>
              <p:nvPr/>
            </p:nvSpPr>
            <p:spPr>
              <a:xfrm>
                <a:off x="1037082" y="3059430"/>
                <a:ext cx="2045772"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CỦA HÀM SỐ:</a:t>
                </a:r>
              </a:p>
            </p:txBody>
          </p:sp>
          <p:sp>
            <p:nvSpPr>
              <p:cNvPr id="15" name="TextBox 15"/>
              <p:cNvSpPr txBox="1"/>
              <p:nvPr/>
            </p:nvSpPr>
            <p:spPr>
              <a:xfrm>
                <a:off x="1036320" y="3519488"/>
                <a:ext cx="2776298"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Chính là hoành độ:</a:t>
                </a:r>
              </a:p>
            </p:txBody>
          </p:sp>
          <mc:AlternateContent xmlns:mc="http://schemas.openxmlformats.org/markup-compatibility/2006">
            <mc:Choice xmlns:a14="http://schemas.microsoft.com/office/drawing/2010/main" Requires="a14">
              <p:sp>
                <p:nvSpPr>
                  <p:cNvPr id="16" name="TextBox 16"/>
                  <p:cNvSpPr txBox="1"/>
                  <p:nvPr/>
                </p:nvSpPr>
                <p:spPr>
                  <a:xfrm>
                    <a:off x="1034034" y="3899535"/>
                    <a:ext cx="3458485" cy="58533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b>
                          <m:e>
                            <m:r>
                              <a:rPr lang="vi-VN" sz="2700" dirty="0">
                                <a:solidFill>
                                  <a:srgbClr val="1D4ED8"/>
                                </a:solidFill>
                                <a:latin typeface="Cambria Math"/>
                                <a:ea typeface="Cambria Math"/>
                                <a:cs typeface="Cambria Math"/>
                              </a:rPr>
                              <m:t>x</m:t>
                            </m:r>
                          </m:e>
                          <m:sub>
                            <m:r>
                              <a:rPr lang="vi-VN" sz="2700" dirty="0">
                                <a:solidFill>
                                  <a:srgbClr val="1D4ED8"/>
                                </a:solidFill>
                                <a:latin typeface="Cambria Math"/>
                                <a:ea typeface="Cambria Math"/>
                                <a:cs typeface="Cambria Math"/>
                              </a:rPr>
                              <m:t>0</m:t>
                            </m:r>
                          </m:sub>
                        </m:sSub>
                      </m:oMath>
                    </a14:m>
                    <a:r>
                      <a:rPr lang="vi-VN" sz="2700" b="1" dirty="0">
                        <a:solidFill>
                          <a:srgbClr val="1D4ED8"/>
                        </a:solidFill>
                        <a:latin typeface="+mn-lt"/>
                        <a:ea typeface="+mn-ea"/>
                        <a:cs typeface="+mn-cs"/>
                      </a:rPr>
                      <a:t xml:space="preserve"> (</a:t>
                    </a:r>
                    <a14:m>
                      <m:oMath xmlns:a="http://schemas.openxmlformats.org/drawingml/2006/main" xmlns:m="http://schemas.openxmlformats.org/officeDocument/2006/math">
                        <m:sSub>
                          <m:e>
                            <m:r>
                              <a:rPr lang="vi-VN" sz="2700" dirty="0">
                                <a:solidFill>
                                  <a:srgbClr val="1D4ED8"/>
                                </a:solidFill>
                                <a:latin typeface="Cambria Math"/>
                                <a:ea typeface="Cambria Math"/>
                                <a:cs typeface="Cambria Math"/>
                              </a:rPr>
                              <m:t>x</m:t>
                            </m:r>
                          </m:e>
                          <m:sub>
                            <m:r>
                              <a:rPr lang="vi-VN" sz="2700" dirty="0">
                                <a:solidFill>
                                  <a:srgbClr val="1D4ED8"/>
                                </a:solidFill>
                                <a:latin typeface="Cambria Math"/>
                                <a:ea typeface="Cambria Math"/>
                                <a:cs typeface="Cambria Math"/>
                              </a:rPr>
                              <m:t>CĐ</m:t>
                            </m:r>
                          </m:sub>
                        </m:sSub>
                      </m:oMath>
                    </a14:m>
                    <a:r>
                      <a:rPr lang="vi-VN" sz="2700" b="1" dirty="0">
                        <a:solidFill>
                          <a:srgbClr val="1D4ED8"/>
                        </a:solidFill>
                        <a:latin typeface="+mn-lt"/>
                        <a:ea typeface="+mn-ea"/>
                        <a:cs typeface="+mn-cs"/>
                      </a:rPr>
                      <a:t xml:space="preserve">, </a:t>
                    </a:r>
                    <a14:m>
                      <m:oMath xmlns:a="http://schemas.openxmlformats.org/drawingml/2006/main" xmlns:m="http://schemas.openxmlformats.org/officeDocument/2006/math">
                        <m:sSub>
                          <m:e>
                            <m:r>
                              <a:rPr lang="vi-VN" sz="2700" dirty="0">
                                <a:solidFill>
                                  <a:srgbClr val="1D4ED8"/>
                                </a:solidFill>
                                <a:latin typeface="Cambria Math"/>
                                <a:ea typeface="Cambria Math"/>
                                <a:cs typeface="Cambria Math"/>
                              </a:rPr>
                              <m:t>x</m:t>
                            </m:r>
                          </m:e>
                          <m:sub>
                            <m:r>
                              <a:rPr lang="vi-VN" sz="2700" dirty="0">
                                <a:solidFill>
                                  <a:srgbClr val="1D4ED8"/>
                                </a:solidFill>
                                <a:latin typeface="Cambria Math"/>
                                <a:ea typeface="Cambria Math"/>
                                <a:cs typeface="Cambria Math"/>
                              </a:rPr>
                              <m:t>CT</m:t>
                            </m:r>
                          </m:sub>
                        </m:sSub>
                      </m:oMath>
                    </a14:m>
                    <a:r>
                      <a:rPr lang="vi-VN" sz="2700" b="1" dirty="0">
                        <a:solidFill>
                          <a:srgbClr val="1D4ED8"/>
                        </a:solidFill>
                        <a:latin typeface="+mn-lt"/>
                        <a:ea typeface="+mn-ea"/>
                        <a:cs typeface="+mn-cs"/>
                      </a:rPr>
                      <a:t>)</a:t>
                    </a:r>
                  </a:p>
                </p:txBody>
              </p:sp>
            </mc:Choice>
          </mc:AlternateContent>
          <p:sp>
            <p:nvSpPr>
              <p:cNvPr id="17" name="Rectangle 17"/>
              <p:cNvSpPr/>
              <p:nvPr/>
            </p:nvSpPr>
            <p:spPr>
              <a:xfrm>
                <a:off x="4429125" y="2476500"/>
                <a:ext cx="3333750" cy="2190750"/>
              </a:xfrm>
              <a:prstGeom prst="roundRect">
                <a:avLst>
                  <a:gd name="adj" fmla="val 6087"/>
                </a:avLst>
              </a:prstGeom>
              <a:solidFill>
                <a:srgbClr val="F0FDF4"/>
              </a:solidFill>
              <a:ln w="19050">
                <a:solidFill>
                  <a:srgbClr val="BBF7D0"/>
                </a:solidFill>
              </a:ln>
            </p:spPr>
          </p:sp>
          <p:sp>
            <p:nvSpPr>
              <p:cNvPr id="18" name="TextBox 18"/>
              <p:cNvSpPr txBox="1"/>
              <p:nvPr/>
            </p:nvSpPr>
            <p:spPr>
              <a:xfrm>
                <a:off x="4655820" y="2662238"/>
                <a:ext cx="2938808"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2. GIÁ TRỊ CỰC TRỊ</a:t>
                </a:r>
              </a:p>
            </p:txBody>
          </p:sp>
          <p:sp>
            <p:nvSpPr>
              <p:cNvPr id="19" name="TextBox 19"/>
              <p:cNvSpPr txBox="1"/>
              <p:nvPr/>
            </p:nvSpPr>
            <p:spPr>
              <a:xfrm>
                <a:off x="4656582" y="3059430"/>
                <a:ext cx="2808842" cy="410718"/>
              </a:xfrm>
              <a:prstGeom prst="rect">
                <a:avLst/>
              </a:prstGeom>
              <a:noFill/>
              <a:ln>
                <a:noFill/>
              </a:ln>
            </p:spPr>
            <p:txBody>
              <a:bodyPr wrap="none" lIns="0" tIns="0" rIns="0" bIns="0" anchor="t" anchorCtr="0">
                <a:spAutoFit/>
              </a:bodyPr>
              <a:lstStyle/>
              <a:p>
                <a:pPr algn="l"/>
                <a:r>
                  <a:rPr lang="vi-VN" sz="2100" b="1" dirty="0">
                    <a:solidFill>
                      <a:srgbClr val="065F46"/>
                    </a:solidFill>
                    <a:latin typeface="+mn-lt"/>
                    <a:ea typeface="+mn-ea"/>
                    <a:cs typeface="+mn-cs"/>
                  </a:rPr>
                  <a:t>(CỰC TRỊ HÀM SỐ):</a:t>
                </a:r>
              </a:p>
            </p:txBody>
          </p:sp>
          <p:sp>
            <p:nvSpPr>
              <p:cNvPr id="20" name="TextBox 20"/>
              <p:cNvSpPr txBox="1"/>
              <p:nvPr/>
            </p:nvSpPr>
            <p:spPr>
              <a:xfrm>
                <a:off x="4655820" y="3519488"/>
                <a:ext cx="2523437"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Chính là tung độ:</a:t>
                </a:r>
              </a:p>
            </p:txBody>
          </p:sp>
          <mc:AlternateContent xmlns:mc="http://schemas.openxmlformats.org/markup-compatibility/2006">
            <mc:Choice xmlns:a14="http://schemas.microsoft.com/office/drawing/2010/main" Requires="a14">
              <p:sp>
                <p:nvSpPr>
                  <p:cNvPr id="21" name="TextBox 21"/>
                  <p:cNvSpPr txBox="1"/>
                  <p:nvPr/>
                </p:nvSpPr>
                <p:spPr>
                  <a:xfrm>
                    <a:off x="4653534" y="3882390"/>
                    <a:ext cx="1628898" cy="61962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b>
                          <m:e>
                            <m:r>
                              <a:rPr lang="vi-VN" sz="2700" dirty="0">
                                <a:solidFill>
                                  <a:srgbClr val="047857"/>
                                </a:solidFill>
                                <a:latin typeface="Cambria Math"/>
                                <a:ea typeface="Cambria Math"/>
                                <a:cs typeface="Cambria Math"/>
                              </a:rPr>
                              <m:t>y</m:t>
                            </m:r>
                          </m:e>
                          <m:sub>
                            <m:r>
                              <a:rPr lang="vi-VN" sz="2700" dirty="0">
                                <a:solidFill>
                                  <a:srgbClr val="047857"/>
                                </a:solidFill>
                                <a:latin typeface="Cambria Math"/>
                                <a:ea typeface="Cambria Math"/>
                                <a:cs typeface="Cambria Math"/>
                              </a:rPr>
                              <m:t>0</m:t>
                            </m:r>
                          </m:sub>
                        </m:sSub>
                        <m:r>
                          <m:rPr>
                            <m:sty m:val="p"/>
                          </m:rPr>
                          <a:rPr lang="vi-VN" sz="2700" dirty="0">
                            <a:solidFill>
                              <a:srgbClr val="047857"/>
                            </a:solidFill>
                            <a:latin typeface="Cambria Math"/>
                            <a:ea typeface="Cambria Math"/>
                            <a:cs typeface="Cambria Math"/>
                          </a:rPr>
                          <m:t>=</m:t>
                        </m:r>
                        <m:r>
                          <a:rPr lang="vi-VN" sz="2700" dirty="0">
                            <a:solidFill>
                              <a:srgbClr val="047857"/>
                            </a:solidFill>
                            <a:latin typeface="Cambria Math"/>
                            <a:ea typeface="Cambria Math"/>
                            <a:cs typeface="Cambria Math"/>
                          </a:rPr>
                          <m:t>f</m:t>
                        </m:r>
                        <m:d>
                          <m:dPr>
                            <m:begChr m:val="("/>
                            <m:sepChr m:val=""/>
                            <m:endChr m:val=")"/>
                            <m:grow m:val="on"/>
                            <m:ctrlPr>
                              <a:rPr lang="vi-VN" sz="2700" dirty="0">
                                <a:solidFill>
                                  <a:srgbClr val="047857"/>
                                </a:solidFill>
                                <a:latin typeface="Cambria Math"/>
                                <a:ea typeface="Cambria Math"/>
                                <a:cs typeface="Cambria Math"/>
                              </a:rPr>
                            </m:ctrlPr>
                          </m:dPr>
                          <m:e>
                            <m:sSub>
                              <m:e>
                                <m:r>
                                  <a:rPr lang="vi-VN" sz="2700" dirty="0">
                                    <a:solidFill>
                                      <a:srgbClr val="047857"/>
                                    </a:solidFill>
                                    <a:latin typeface="Cambria Math"/>
                                    <a:ea typeface="Cambria Math"/>
                                    <a:cs typeface="Cambria Math"/>
                                  </a:rPr>
                                  <m:t>x</m:t>
                                </m:r>
                              </m:e>
                              <m:sub>
                                <m:r>
                                  <a:rPr lang="vi-VN" sz="2700" dirty="0">
                                    <a:solidFill>
                                      <a:srgbClr val="047857"/>
                                    </a:solidFill>
                                    <a:latin typeface="Cambria Math"/>
                                    <a:ea typeface="Cambria Math"/>
                                    <a:cs typeface="Cambria Math"/>
                                  </a:rPr>
                                  <m:t>0</m:t>
                                </m:r>
                              </m:sub>
                            </m:sSub>
                          </m:e>
                        </m:d>
                      </m:oMath>
                    </a14:m>
                  </a:p>
                </p:txBody>
              </p:sp>
            </mc:Choice>
          </mc:AlternateContent>
          <p:sp>
            <p:nvSpPr>
              <p:cNvPr id="22" name="Rectangle 22"/>
              <p:cNvSpPr/>
              <p:nvPr/>
            </p:nvSpPr>
            <p:spPr>
              <a:xfrm>
                <a:off x="8048625" y="2476500"/>
                <a:ext cx="3333750" cy="2190750"/>
              </a:xfrm>
              <a:prstGeom prst="roundRect">
                <a:avLst>
                  <a:gd name="adj" fmla="val 6087"/>
                </a:avLst>
              </a:prstGeom>
              <a:solidFill>
                <a:srgbClr val="FAF5FF"/>
              </a:solidFill>
              <a:ln w="19050">
                <a:solidFill>
                  <a:srgbClr val="E9D5FF"/>
                </a:solidFill>
              </a:ln>
            </p:spPr>
          </p:sp>
          <p:sp>
            <p:nvSpPr>
              <p:cNvPr id="23" name="TextBox 23"/>
              <p:cNvSpPr txBox="1"/>
              <p:nvPr/>
            </p:nvSpPr>
            <p:spPr>
              <a:xfrm>
                <a:off x="8275320" y="2662238"/>
                <a:ext cx="2565514" cy="440055"/>
              </a:xfrm>
              <a:prstGeom prst="rect">
                <a:avLst/>
              </a:prstGeom>
              <a:noFill/>
              <a:ln>
                <a:noFill/>
              </a:ln>
            </p:spPr>
            <p:txBody>
              <a:bodyPr wrap="none" lIns="0" tIns="0" rIns="0" bIns="0" anchor="t" anchorCtr="0">
                <a:spAutoFit/>
              </a:bodyPr>
              <a:lstStyle/>
              <a:p>
                <a:pPr algn="l"/>
                <a:r>
                  <a:rPr lang="vi-VN" sz="2250" b="1" dirty="0">
                    <a:solidFill>
                      <a:srgbClr val="7C3AED"/>
                    </a:solidFill>
                    <a:latin typeface="+mn-lt"/>
                    <a:ea typeface="+mn-ea"/>
                    <a:cs typeface="+mn-cs"/>
                  </a:rPr>
                  <a:t>3. ĐIỂM CỰC TRỊ</a:t>
                </a:r>
              </a:p>
            </p:txBody>
          </p:sp>
          <p:sp>
            <p:nvSpPr>
              <p:cNvPr id="24" name="TextBox 24"/>
              <p:cNvSpPr txBox="1"/>
              <p:nvPr/>
            </p:nvSpPr>
            <p:spPr>
              <a:xfrm>
                <a:off x="8276082" y="3059430"/>
                <a:ext cx="1863145" cy="410718"/>
              </a:xfrm>
              <a:prstGeom prst="rect">
                <a:avLst/>
              </a:prstGeom>
              <a:noFill/>
              <a:ln>
                <a:noFill/>
              </a:ln>
            </p:spPr>
            <p:txBody>
              <a:bodyPr wrap="none" lIns="0" tIns="0" rIns="0" bIns="0" anchor="t" anchorCtr="0">
                <a:spAutoFit/>
              </a:bodyPr>
              <a:lstStyle/>
              <a:p>
                <a:pPr algn="l"/>
                <a:r>
                  <a:rPr lang="vi-VN" sz="2100" b="1" dirty="0">
                    <a:solidFill>
                      <a:srgbClr val="6B21A8"/>
                    </a:solidFill>
                    <a:latin typeface="+mn-lt"/>
                    <a:ea typeface="+mn-ea"/>
                    <a:cs typeface="+mn-cs"/>
                  </a:rPr>
                  <a:t>CỦA ĐỒ THỊ:</a:t>
                </a:r>
              </a:p>
            </p:txBody>
          </p:sp>
          <p:sp>
            <p:nvSpPr>
              <p:cNvPr id="25" name="TextBox 25"/>
              <p:cNvSpPr txBox="1"/>
              <p:nvPr/>
            </p:nvSpPr>
            <p:spPr>
              <a:xfrm>
                <a:off x="8275320" y="3519488"/>
                <a:ext cx="2369178"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Cặp tọa độ Oxy:</a:t>
                </a:r>
              </a:p>
            </p:txBody>
          </p:sp>
          <mc:AlternateContent xmlns:mc="http://schemas.openxmlformats.org/markup-compatibility/2006">
            <mc:Choice xmlns:a14="http://schemas.microsoft.com/office/drawing/2010/main" Requires="a14">
              <p:sp>
                <p:nvSpPr>
                  <p:cNvPr id="26" name="TextBox 26"/>
                  <p:cNvSpPr txBox="1"/>
                  <p:nvPr/>
                </p:nvSpPr>
                <p:spPr>
                  <a:xfrm>
                    <a:off x="8273796" y="3899535"/>
                    <a:ext cx="1556869" cy="58519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550" dirty="0">
                            <a:solidFill>
                              <a:srgbClr val="7C3AED"/>
                            </a:solidFill>
                            <a:latin typeface="Cambria Math"/>
                            <a:ea typeface="Cambria Math"/>
                            <a:cs typeface="Cambria Math"/>
                          </a:rPr>
                          <m:t>M</m:t>
                        </m:r>
                        <m:d>
                          <m:dPr>
                            <m:begChr m:val="("/>
                            <m:sepChr m:val=""/>
                            <m:endChr m:val=")"/>
                            <m:grow m:val="on"/>
                            <m:ctrlPr>
                              <a:rPr lang="vi-VN" sz="2550" dirty="0">
                                <a:solidFill>
                                  <a:srgbClr val="7C3AED"/>
                                </a:solidFill>
                                <a:latin typeface="Cambria Math"/>
                                <a:ea typeface="Cambria Math"/>
                                <a:cs typeface="Cambria Math"/>
                              </a:rPr>
                            </m:ctrlPr>
                          </m:dPr>
                          <m:e>
                            <m:sSub>
                              <m:e>
                                <m:r>
                                  <a:rPr lang="vi-VN" sz="2550" dirty="0">
                                    <a:solidFill>
                                      <a:srgbClr val="7C3AED"/>
                                    </a:solidFill>
                                    <a:latin typeface="Cambria Math"/>
                                    <a:ea typeface="Cambria Math"/>
                                    <a:cs typeface="Cambria Math"/>
                                  </a:rPr>
                                  <m:t>x</m:t>
                                </m:r>
                              </m:e>
                              <m:sub>
                                <m:r>
                                  <a:rPr lang="vi-VN" sz="2550" dirty="0">
                                    <a:solidFill>
                                      <a:srgbClr val="7C3AED"/>
                                    </a:solidFill>
                                    <a:latin typeface="Cambria Math"/>
                                    <a:ea typeface="Cambria Math"/>
                                    <a:cs typeface="Cambria Math"/>
                                  </a:rPr>
                                  <m:t>0</m:t>
                                </m:r>
                              </m:sub>
                            </m:sSub>
                            <m:r>
                              <m:rPr>
                                <m:sty m:val="p"/>
                              </m:rPr>
                              <a:rPr lang="vi-VN" sz="2550" dirty="0">
                                <a:solidFill>
                                  <a:srgbClr val="7C3AED"/>
                                </a:solidFill>
                                <a:latin typeface="Cambria Math"/>
                                <a:ea typeface="Cambria Math"/>
                                <a:cs typeface="Cambria Math"/>
                              </a:rPr>
                              <m:t>;</m:t>
                            </m:r>
                            <m:sSub>
                              <m:e>
                                <m:r>
                                  <a:rPr lang="vi-VN" sz="2550" dirty="0">
                                    <a:solidFill>
                                      <a:srgbClr val="7C3AED"/>
                                    </a:solidFill>
                                    <a:latin typeface="Cambria Math"/>
                                    <a:ea typeface="Cambria Math"/>
                                    <a:cs typeface="Cambria Math"/>
                                  </a:rPr>
                                  <m:t>y</m:t>
                                </m:r>
                              </m:e>
                              <m:sub>
                                <m:r>
                                  <a:rPr lang="vi-VN" sz="2550" dirty="0">
                                    <a:solidFill>
                                      <a:srgbClr val="7C3AED"/>
                                    </a:solidFill>
                                    <a:latin typeface="Cambria Math"/>
                                    <a:ea typeface="Cambria Math"/>
                                    <a:cs typeface="Cambria Math"/>
                                  </a:rPr>
                                  <m:t>0</m:t>
                                </m:r>
                              </m:sub>
                            </m:sSub>
                          </m:e>
                        </m:d>
                      </m:oMath>
                    </a14:m>
                  </a:p>
                </p:txBody>
              </p:sp>
            </mc:Choice>
          </mc:AlternateContent>
        </p:grpSp>
        <p:sp>
          <p:nvSpPr>
            <p:cNvPr id="28" name="Rectangle 28"/>
            <p:cNvSpPr/>
            <p:nvPr/>
          </p:nvSpPr>
          <p:spPr>
            <a:xfrm>
              <a:off x="809625" y="4953000"/>
              <a:ext cx="10572750" cy="1190625"/>
            </a:xfrm>
            <a:prstGeom prst="roundRect">
              <a:avLst>
                <a:gd name="adj" fmla="val 11200"/>
              </a:avLst>
            </a:prstGeom>
            <a:solidFill>
              <a:srgbClr val="F8FAFC"/>
            </a:solidFill>
            <a:ln w="14288">
              <a:solidFill>
                <a:srgbClr val="CBD5E1"/>
              </a:solidFill>
            </a:ln>
          </p:spPr>
        </p:sp>
        <mc:AlternateContent xmlns:mc="http://schemas.openxmlformats.org/markup-compatibility/2006">
          <mc:Choice xmlns:a14="http://schemas.microsoft.com/office/drawing/2010/main" Requires="a14">
            <p:sp>
              <p:nvSpPr>
                <p:cNvPr id="29" name="TextBox 29"/>
                <p:cNvSpPr txBox="1"/>
                <p:nvPr/>
              </p:nvSpPr>
              <p:spPr>
                <a:xfrm>
                  <a:off x="1084707" y="5141595"/>
                  <a:ext cx="7227380"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Ví dụ hàm số có điểm cực đại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oMath>
                  </a14:m>
                  <a:r>
                    <a:rPr lang="vi-VN" sz="2100" b="1" dirty="0">
                      <a:solidFill>
                        <a:srgbClr val="0F172A"/>
                      </a:solidFill>
                      <a:latin typeface="+mn-lt"/>
                      <a:ea typeface="+mn-ea"/>
                      <a:cs typeface="+mn-cs"/>
                    </a:rPr>
                    <a:t xml:space="preserve"> và giá trị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30" name="TextBox 30"/>
                <p:cNvSpPr txBox="1"/>
                <p:nvPr/>
              </p:nvSpPr>
              <p:spPr>
                <a:xfrm>
                  <a:off x="1083945" y="5600700"/>
                  <a:ext cx="9898740" cy="502063"/>
                </a:xfrm>
                <a:prstGeom prst="rect">
                  <a:avLst/>
                </a:prstGeom>
                <a:noFill/>
                <a:ln>
                  <a:noFill/>
                </a:ln>
              </p:spPr>
              <p:txBody>
                <a:bodyPr wrap="none" lIns="0" tIns="0" rIns="0" bIns="0" anchor="t" anchorCtr="0">
                  <a:spAutoFit/>
                </a:bodyPr>
                <a:lstStyle/>
                <a:p>
                  <a:pPr algn="l"/>
                  <a:r>
                    <a:rPr lang="vi-VN" sz="2250" b="1" dirty="0">
                      <a:solidFill>
                        <a:srgbClr val="1E40AF"/>
                      </a:solidFill>
                      <a:latin typeface="+mn-lt"/>
                      <a:ea typeface="+mn-ea"/>
                      <a:cs typeface="+mn-cs"/>
                    </a:rPr>
                    <a:t xml:space="preserve">→ Điểm CĐ: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x</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1</m:t>
                      </m:r>
                    </m:oMath>
                  </a14:m>
                  <a:r>
                    <a:rPr lang="vi-VN" sz="2250" b="1" dirty="0">
                      <a:solidFill>
                        <a:srgbClr val="1E40AF"/>
                      </a:solidFill>
                      <a:latin typeface="+mn-lt"/>
                      <a:ea typeface="+mn-ea"/>
                      <a:cs typeface="+mn-cs"/>
                    </a:rPr>
                    <a:t xml:space="preserve"> | Giá trị CĐ: </a:t>
                  </a:r>
                  <a14:m>
                    <m:oMath xmlns:a="http://schemas.openxmlformats.org/drawingml/2006/main" xmlns:m="http://schemas.openxmlformats.org/officeDocument/2006/math">
                      <m:sSub>
                        <m:e>
                          <m:r>
                            <a:rPr lang="vi-VN" sz="2250" dirty="0">
                              <a:solidFill>
                                <a:srgbClr val="1E40AF"/>
                              </a:solidFill>
                              <a:latin typeface="Cambria Math"/>
                              <a:ea typeface="Cambria Math"/>
                              <a:cs typeface="Cambria Math"/>
                            </a:rPr>
                            <m:t>y</m:t>
                          </m:r>
                        </m:e>
                        <m:sub>
                          <m:r>
                            <a:rPr lang="vi-VN" sz="2250" dirty="0">
                              <a:solidFill>
                                <a:srgbClr val="1E40AF"/>
                              </a:solidFill>
                              <a:latin typeface="Cambria Math"/>
                              <a:ea typeface="Cambria Math"/>
                              <a:cs typeface="Cambria Math"/>
                            </a:rPr>
                            <m:t>CĐ</m:t>
                          </m:r>
                        </m:sub>
                      </m:sSub>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2</m:t>
                      </m:r>
                    </m:oMath>
                  </a14:m>
                  <a:r>
                    <a:rPr lang="vi-VN" sz="2250" b="1" dirty="0">
                      <a:solidFill>
                        <a:srgbClr val="1E40AF"/>
                      </a:solidFill>
                      <a:latin typeface="+mn-lt"/>
                      <a:ea typeface="+mn-ea"/>
                      <a:cs typeface="+mn-cs"/>
                    </a:rPr>
                    <a:t xml:space="preserve"> | Điểm CĐ đồ thị: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A</m:t>
                      </m:r>
                      <m:d>
                        <m:dPr>
                          <m:begChr m:val="("/>
                          <m:sepChr m:val=""/>
                          <m:endChr m:val=")"/>
                          <m:grow m:val="on"/>
                          <m:ctrlPr>
                            <a:rPr lang="vi-VN" sz="2250" dirty="0">
                              <a:solidFill>
                                <a:srgbClr val="1E40AF"/>
                              </a:solidFill>
                              <a:latin typeface="Cambria Math"/>
                              <a:ea typeface="Cambria Math"/>
                              <a:cs typeface="Cambria Math"/>
                            </a:rPr>
                          </m:ctrlPr>
                        </m:dPr>
                        <m:e>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1</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2</m:t>
                          </m:r>
                        </m:e>
                      </m:d>
                    </m:oMath>
                  </a14:m>
                </a:p>
              </p:txBody>
            </p:sp>
          </mc:Choice>
        </mc:AlternateContent>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94973" y="459105"/>
              <a:ext cx="1515155"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VD5 &amp; LT4</a:t>
              </a:r>
            </a:p>
          </p:txBody>
        </p:sp>
        <p:sp>
          <p:nvSpPr>
            <p:cNvPr id="7" name="TextBox 7"/>
            <p:cNvSpPr txBox="1"/>
            <p:nvPr/>
          </p:nvSpPr>
          <p:spPr>
            <a:xfrm>
              <a:off x="2179701" y="460534"/>
              <a:ext cx="6538526"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II. CỰC TRỊ: Ví dụ 5 &amp; Luyện tập 4 (Đọc đồ thị)</a:t>
              </a:r>
            </a:p>
          </p:txBody>
        </p:sp>
      </p:grpSp>
      <p:grpSp>
        <p:nvGrpSpPr>
          <p:cNvPr id="26" name="content"/>
          <p:cNvGrpSpPr/>
          <p:nvPr/>
        </p:nvGrpSpPr>
        <p:grpSpPr>
          <a:xfrm>
            <a:off x="476250" y="1190625"/>
            <a:ext cx="12068538" cy="5191125"/>
            <a:chOff x="476250" y="1190625"/>
            <a:chExt cx="12068538"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28750"/>
              <a:ext cx="5143500" cy="4667250"/>
            </a:xfrm>
            <a:prstGeom prst="roundRect">
              <a:avLst>
                <a:gd name="adj" fmla="val 2857"/>
              </a:avLst>
            </a:prstGeom>
            <a:solidFill>
              <a:srgbClr val="F8FAFC"/>
            </a:solidFill>
            <a:ln w="14288">
              <a:solidFill>
                <a:srgbClr val="E2E8F0"/>
              </a:solidFill>
            </a:ln>
          </p:spPr>
        </p:sp>
        <p:sp>
          <p:nvSpPr>
            <p:cNvPr id="11" name="TextBox 11"/>
            <p:cNvSpPr txBox="1"/>
            <p:nvPr/>
          </p:nvSpPr>
          <p:spPr>
            <a:xfrm>
              <a:off x="1037082" y="1630680"/>
              <a:ext cx="4967337"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5 (HÌNH 1.8 SGK TRANG 10):</a:t>
              </a:r>
            </a:p>
          </p:txBody>
        </p:sp>
        <p:sp>
          <p:nvSpPr>
            <p:cNvPr id="12" name="TextBox 12"/>
            <p:cNvSpPr txBox="1"/>
            <p:nvPr/>
          </p:nvSpPr>
          <p:spPr>
            <a:xfrm>
              <a:off x="1037082" y="2059305"/>
              <a:ext cx="609391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Tìm các cực trị của đồ thị hàm trùng phương:</a:t>
              </a:r>
            </a:p>
          </p:txBody>
        </p:sp>
        <mc:AlternateContent xmlns:mc="http://schemas.openxmlformats.org/markup-compatibility/2006">
          <mc:Choice xmlns:a14="http://schemas.microsoft.com/office/drawing/2010/main" Requires="a14">
            <p:sp>
              <p:nvSpPr>
                <p:cNvPr id="13" name="TextBox 13"/>
                <p:cNvSpPr txBox="1"/>
                <p:nvPr/>
              </p:nvSpPr>
              <p:spPr>
                <a:xfrm>
                  <a:off x="1037082" y="2535555"/>
                  <a:ext cx="4700445" cy="455257"/>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 xml:space="preserve">Điểm cực đại: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0</m:t>
                      </m:r>
                    </m:oMath>
                  </a14:m>
                  <a:r>
                    <a:rPr lang="vi-VN" sz="2100" b="1" dirty="0">
                      <a:solidFill>
                        <a:srgbClr val="047857"/>
                      </a:solidFill>
                      <a:latin typeface="+mn-lt"/>
                      <a:ea typeface="+mn-ea"/>
                      <a:cs typeface="+mn-cs"/>
                    </a:rPr>
                    <a:t xml:space="preserve"> và </a:t>
                  </a:r>
                  <a14:m>
                    <m:oMath xmlns:a="http://schemas.openxmlformats.org/drawingml/2006/main" xmlns:m="http://schemas.openxmlformats.org/officeDocument/2006/math">
                      <m:sSub>
                        <m:e>
                          <m:r>
                            <a:rPr lang="vi-VN" sz="2100" dirty="0">
                              <a:solidFill>
                                <a:srgbClr val="047857"/>
                              </a:solidFill>
                              <a:latin typeface="Cambria Math"/>
                              <a:ea typeface="Cambria Math"/>
                              <a:cs typeface="Cambria Math"/>
                            </a:rPr>
                            <m:t>y</m:t>
                          </m:r>
                        </m:e>
                        <m:sub>
                          <m:r>
                            <a:rPr lang="vi-VN" sz="2100" dirty="0">
                              <a:solidFill>
                                <a:srgbClr val="047857"/>
                              </a:solidFill>
                              <a:latin typeface="Cambria Math"/>
                              <a:ea typeface="Cambria Math"/>
                              <a:cs typeface="Cambria Math"/>
                            </a:rPr>
                            <m:t>CĐ</m:t>
                          </m:r>
                        </m:sub>
                      </m:sSub>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2</m:t>
                      </m:r>
                    </m:oMath>
                  </a14:m>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1037082" y="3011805"/>
                  <a:ext cx="5649256" cy="455257"/>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Điểm cực tiểu: </a:t>
                  </a: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oMath>
                  </a14:m>
                  <a:r>
                    <a:rPr lang="vi-VN" sz="2100" b="1" dirty="0">
                      <a:solidFill>
                        <a:srgbClr val="DC2626"/>
                      </a:solidFill>
                      <a:latin typeface="+mn-lt"/>
                      <a:ea typeface="+mn-ea"/>
                      <a:cs typeface="+mn-cs"/>
                    </a:rPr>
                    <a:t xml:space="preserve"> và </a:t>
                  </a:r>
                  <a14:m>
                    <m:oMath xmlns:a="http://schemas.openxmlformats.org/drawingml/2006/main" xmlns:m="http://schemas.openxmlformats.org/officeDocument/2006/math">
                      <m:sSub>
                        <m:e>
                          <m:r>
                            <a:rPr lang="vi-VN" sz="2100" dirty="0">
                              <a:solidFill>
                                <a:srgbClr val="DC2626"/>
                              </a:solidFill>
                              <a:latin typeface="Cambria Math"/>
                              <a:ea typeface="Cambria Math"/>
                              <a:cs typeface="Cambria Math"/>
                            </a:rPr>
                            <m:t>y</m:t>
                          </m:r>
                        </m:e>
                        <m:sub>
                          <m:r>
                            <a:rPr lang="vi-VN" sz="2100" dirty="0">
                              <a:solidFill>
                                <a:srgbClr val="DC2626"/>
                              </a:solidFill>
                              <a:latin typeface="Cambria Math"/>
                              <a:ea typeface="Cambria Math"/>
                              <a:cs typeface="Cambria Math"/>
                            </a:rPr>
                            <m:t>CT</m:t>
                          </m:r>
                        </m:sub>
                      </m:sSub>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oMath>
                  </a14:m>
                </a:p>
              </p:txBody>
            </p:sp>
          </mc:Choice>
        </mc:AlternateContent>
        <p:sp>
          <p:nvSpPr>
            <p:cNvPr id="15" name="TextBox 15"/>
            <p:cNvSpPr txBox="1"/>
            <p:nvPr/>
          </p:nvSpPr>
          <p:spPr>
            <a:xfrm>
              <a:off x="1037082" y="3583305"/>
              <a:ext cx="4367127"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Tọa độ 3 điểm cực trị của đồ thị:</a:t>
              </a:r>
            </a:p>
          </p:txBody>
        </p:sp>
        <mc:AlternateContent xmlns:mc="http://schemas.openxmlformats.org/markup-compatibility/2006">
          <mc:Choice xmlns:a14="http://schemas.microsoft.com/office/drawing/2010/main" Requires="a14">
            <p:sp>
              <p:nvSpPr>
                <p:cNvPr id="16" name="TextBox 16"/>
                <p:cNvSpPr txBox="1"/>
                <p:nvPr/>
              </p:nvSpPr>
              <p:spPr>
                <a:xfrm>
                  <a:off x="1036320" y="4029075"/>
                  <a:ext cx="3453328" cy="46863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250" dirty="0">
                          <a:solidFill>
                            <a:srgbClr val="1E40AF"/>
                          </a:solidFill>
                          <a:latin typeface="Cambria Math"/>
                          <a:ea typeface="Cambria Math"/>
                          <a:cs typeface="Cambria Math"/>
                        </a:rPr>
                        <m:t>A</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0</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2</m:t>
                          </m:r>
                        </m:e>
                      </m:d>
                    </m:oMath>
                  </a14:m>
                  <a:r>
                    <a:rPr lang="vi-VN" sz="2250" b="1" dirty="0">
                      <a:solidFill>
                        <a:srgbClr val="1E40AF"/>
                      </a:solidFill>
                      <a:latin typeface="+mn-lt"/>
                      <a:ea typeface="+mn-ea"/>
                      <a:cs typeface="+mn-cs"/>
                    </a:rPr>
                    <a:t xml:space="preserve">,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B</m:t>
                      </m:r>
                      <m:d>
                        <m:dPr>
                          <m:begChr m:val="("/>
                          <m:sepChr m:val=""/>
                          <m:endChr m:val=")"/>
                          <m:grow m:val="on"/>
                          <m:ctrlPr>
                            <a:rPr lang="vi-VN" sz="2250" dirty="0">
                              <a:solidFill>
                                <a:srgbClr val="1E40AF"/>
                              </a:solidFill>
                              <a:latin typeface="Cambria Math"/>
                              <a:ea typeface="Cambria Math"/>
                              <a:cs typeface="Cambria Math"/>
                            </a:rPr>
                          </m:ctrlPr>
                        </m:dPr>
                        <m:e>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1</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1</m:t>
                          </m:r>
                        </m:e>
                      </m:d>
                    </m:oMath>
                  </a14:m>
                  <a:r>
                    <a:rPr lang="vi-VN" sz="2250" b="1" dirty="0">
                      <a:solidFill>
                        <a:srgbClr val="1E40AF"/>
                      </a:solidFill>
                      <a:latin typeface="+mn-lt"/>
                      <a:ea typeface="+mn-ea"/>
                      <a:cs typeface="+mn-cs"/>
                    </a:rPr>
                    <a:t xml:space="preserve">,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C</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1</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1</m:t>
                          </m:r>
                        </m:e>
                      </m:d>
                    </m:oMath>
                  </a14:m>
                </a:p>
              </p:txBody>
            </p:sp>
          </mc:Choice>
        </mc:AlternateContent>
        <p:sp>
          <p:nvSpPr>
            <p:cNvPr id="17" name="TextBox 17"/>
            <p:cNvSpPr txBox="1"/>
            <p:nvPr/>
          </p:nvSpPr>
          <p:spPr>
            <a:xfrm>
              <a:off x="1037082" y="4726305"/>
              <a:ext cx="5752604" cy="410718"/>
            </a:xfrm>
            <a:prstGeom prst="rect">
              <a:avLst/>
            </a:prstGeom>
            <a:noFill/>
            <a:ln>
              <a:noFill/>
            </a:ln>
          </p:spPr>
          <p:txBody>
            <a:bodyPr wrap="none" lIns="0" tIns="0" rIns="0" bIns="0" anchor="t" anchorCtr="0">
              <a:spAutoFit/>
            </a:bodyPr>
            <a:lstStyle/>
            <a:p>
              <a:pPr algn="l"/>
              <a:r>
                <a:rPr lang="vi-VN" sz="2100" dirty="0">
                  <a:solidFill>
                    <a:srgbClr val="475569"/>
                  </a:solidFill>
                  <a:latin typeface="+mn-lt"/>
                  <a:ea typeface="+mn-ea"/>
                  <a:cs typeface="+mn-cs"/>
                </a:rPr>
                <a:t>Hàm số có 1 cực đại và 2 cực tiểu bằng nhau.</a:t>
              </a:r>
            </a:p>
          </p:txBody>
        </p:sp>
        <p:sp>
          <p:nvSpPr>
            <p:cNvPr id="18" name="Rectangle 18"/>
            <p:cNvSpPr/>
            <p:nvPr/>
          </p:nvSpPr>
          <p:spPr>
            <a:xfrm>
              <a:off x="6238875" y="1428750"/>
              <a:ext cx="5143500" cy="4667250"/>
            </a:xfrm>
            <a:prstGeom prst="roundRect">
              <a:avLst>
                <a:gd name="adj" fmla="val 2857"/>
              </a:avLst>
            </a:prstGeom>
            <a:solidFill>
              <a:srgbClr val="EFF6FF"/>
            </a:solidFill>
            <a:ln w="14288">
              <a:solidFill>
                <a:srgbClr val="BFDBFE"/>
              </a:solidFill>
            </a:ln>
          </p:spPr>
        </p:sp>
        <p:sp>
          <p:nvSpPr>
            <p:cNvPr id="19" name="TextBox 19"/>
            <p:cNvSpPr txBox="1"/>
            <p:nvPr/>
          </p:nvSpPr>
          <p:spPr>
            <a:xfrm>
              <a:off x="6466332" y="1630680"/>
              <a:ext cx="5863449"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LUYỆN TẬP 4 (HÌNH 1.9 SGK TRANG 10):</a:t>
              </a:r>
            </a:p>
          </p:txBody>
        </p:sp>
        <p:sp>
          <p:nvSpPr>
            <p:cNvPr id="20" name="TextBox 20"/>
            <p:cNvSpPr txBox="1"/>
            <p:nvPr/>
          </p:nvSpPr>
          <p:spPr>
            <a:xfrm>
              <a:off x="6466332" y="2059305"/>
              <a:ext cx="3942513"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Đồ thị hàm bậc ba (Hình 1.9):</a:t>
              </a:r>
            </a:p>
          </p:txBody>
        </p:sp>
        <mc:AlternateContent xmlns:mc="http://schemas.openxmlformats.org/markup-compatibility/2006">
          <mc:Choice xmlns:a14="http://schemas.microsoft.com/office/drawing/2010/main" Requires="a14">
            <p:sp>
              <p:nvSpPr>
                <p:cNvPr id="21" name="TextBox 21"/>
                <p:cNvSpPr txBox="1"/>
                <p:nvPr/>
              </p:nvSpPr>
              <p:spPr>
                <a:xfrm>
                  <a:off x="6418707" y="2392680"/>
                  <a:ext cx="3857371" cy="455257"/>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 xml:space="preserve">Cực đại tại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1</m:t>
                      </m:r>
                    </m:oMath>
                  </a14:m>
                  <a:r>
                    <a:rPr lang="vi-VN" sz="2100" b="1" dirty="0">
                      <a:solidFill>
                        <a:srgbClr val="047857"/>
                      </a:solidFill>
                      <a:latin typeface="+mn-lt"/>
                      <a:ea typeface="+mn-ea"/>
                      <a:cs typeface="+mn-cs"/>
                    </a:rPr>
                    <a:t xml:space="preserve">; </a:t>
                  </a:r>
                  <a14:m>
                    <m:oMath xmlns:a="http://schemas.openxmlformats.org/drawingml/2006/main" xmlns:m="http://schemas.openxmlformats.org/officeDocument/2006/math">
                      <m:sSub>
                        <m:e>
                          <m:r>
                            <a:rPr lang="vi-VN" sz="2100" dirty="0">
                              <a:solidFill>
                                <a:srgbClr val="047857"/>
                              </a:solidFill>
                              <a:latin typeface="Cambria Math"/>
                              <a:ea typeface="Cambria Math"/>
                              <a:cs typeface="Cambria Math"/>
                            </a:rPr>
                            <m:t>y</m:t>
                          </m:r>
                        </m:e>
                        <m:sub>
                          <m:r>
                            <a:rPr lang="vi-VN" sz="2100" dirty="0">
                              <a:solidFill>
                                <a:srgbClr val="047857"/>
                              </a:solidFill>
                              <a:latin typeface="Cambria Math"/>
                              <a:ea typeface="Cambria Math"/>
                              <a:cs typeface="Cambria Math"/>
                            </a:rPr>
                            <m:t>CD</m:t>
                          </m:r>
                        </m:sub>
                      </m:sSub>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2</m:t>
                      </m:r>
                    </m:oMath>
                  </a14:m>
                </a:p>
              </p:txBody>
            </p:sp>
          </mc:Choice>
        </mc:AlternateContent>
        <mc:AlternateContent xmlns:mc="http://schemas.openxmlformats.org/markup-compatibility/2006">
          <mc:Choice xmlns:a14="http://schemas.microsoft.com/office/drawing/2010/main" Requires="a14">
            <p:sp>
              <p:nvSpPr>
                <p:cNvPr id="22" name="TextBox 22"/>
                <p:cNvSpPr txBox="1"/>
                <p:nvPr/>
              </p:nvSpPr>
              <p:spPr>
                <a:xfrm>
                  <a:off x="6418707" y="2821305"/>
                  <a:ext cx="3921967" cy="455257"/>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Cực tiểu tại </a:t>
                  </a: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oMath>
                  </a14:m>
                  <a:r>
                    <a:rPr lang="vi-VN" sz="2100" b="1" dirty="0">
                      <a:solidFill>
                        <a:srgbClr val="DC2626"/>
                      </a:solidFill>
                      <a:latin typeface="+mn-lt"/>
                      <a:ea typeface="+mn-ea"/>
                      <a:cs typeface="+mn-cs"/>
                    </a:rPr>
                    <a:t xml:space="preserve">; </a:t>
                  </a:r>
                  <a14:m>
                    <m:oMath xmlns:a="http://schemas.openxmlformats.org/drawingml/2006/main" xmlns:m="http://schemas.openxmlformats.org/officeDocument/2006/math">
                      <m:sSub>
                        <m:e>
                          <m:r>
                            <a:rPr lang="vi-VN" sz="2100" dirty="0">
                              <a:solidFill>
                                <a:srgbClr val="DC2626"/>
                              </a:solidFill>
                              <a:latin typeface="Cambria Math"/>
                              <a:ea typeface="Cambria Math"/>
                              <a:cs typeface="Cambria Math"/>
                            </a:rPr>
                            <m:t>y</m:t>
                          </m:r>
                        </m:e>
                        <m:sub>
                          <m:r>
                            <a:rPr lang="vi-VN" sz="2100" dirty="0">
                              <a:solidFill>
                                <a:srgbClr val="DC2626"/>
                              </a:solidFill>
                              <a:latin typeface="Cambria Math"/>
                              <a:ea typeface="Cambria Math"/>
                              <a:cs typeface="Cambria Math"/>
                            </a:rPr>
                            <m:t>CT</m:t>
                          </m:r>
                        </m:sub>
                      </m:sSub>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2</m:t>
                      </m:r>
                    </m:oMath>
                  </a14:m>
                </a:p>
              </p:txBody>
            </p:sp>
          </mc:Choice>
        </mc:AlternateContent>
        <p:sp>
          <p:nvSpPr>
            <p:cNvPr id="23" name="TextBox 23"/>
            <p:cNvSpPr txBox="1"/>
            <p:nvPr/>
          </p:nvSpPr>
          <p:spPr>
            <a:xfrm>
              <a:off x="6466332" y="3583305"/>
              <a:ext cx="4367127"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Tọa độ 2 điểm cực trị của đồ thị:</a:t>
              </a:r>
            </a:p>
          </p:txBody>
        </p:sp>
        <mc:AlternateContent xmlns:mc="http://schemas.openxmlformats.org/markup-compatibility/2006">
          <mc:Choice xmlns:a14="http://schemas.microsoft.com/office/drawing/2010/main" Requires="a14">
            <p:sp>
              <p:nvSpPr>
                <p:cNvPr id="24" name="TextBox 24"/>
                <p:cNvSpPr txBox="1"/>
                <p:nvPr/>
              </p:nvSpPr>
              <p:spPr>
                <a:xfrm>
                  <a:off x="6465570" y="4029075"/>
                  <a:ext cx="2732780" cy="46863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250" dirty="0">
                          <a:solidFill>
                            <a:srgbClr val="1E40AF"/>
                          </a:solidFill>
                          <a:latin typeface="Cambria Math"/>
                          <a:ea typeface="Cambria Math"/>
                          <a:cs typeface="Cambria Math"/>
                        </a:rPr>
                        <m:t>A</m:t>
                      </m:r>
                      <m:d>
                        <m:dPr>
                          <m:begChr m:val="("/>
                          <m:sepChr m:val=""/>
                          <m:endChr m:val=")"/>
                          <m:grow m:val="on"/>
                          <m:ctrlPr>
                            <a:rPr lang="vi-VN" sz="2250" dirty="0">
                              <a:solidFill>
                                <a:srgbClr val="1E40AF"/>
                              </a:solidFill>
                              <a:latin typeface="Cambria Math"/>
                              <a:ea typeface="Cambria Math"/>
                              <a:cs typeface="Cambria Math"/>
                            </a:rPr>
                          </m:ctrlPr>
                        </m:dPr>
                        <m:e>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1</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2</m:t>
                          </m:r>
                        </m:e>
                      </m:d>
                    </m:oMath>
                  </a14:m>
                  <a:r>
                    <a:rPr lang="vi-VN" sz="2250" b="1" dirty="0">
                      <a:solidFill>
                        <a:srgbClr val="1E40AF"/>
                      </a:solidFill>
                      <a:latin typeface="+mn-lt"/>
                      <a:ea typeface="+mn-ea"/>
                      <a:cs typeface="+mn-cs"/>
                    </a:rPr>
                    <a:t xml:space="preserve"> và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B</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1</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2</m:t>
                          </m:r>
                        </m:e>
                      </m:d>
                    </m:oMath>
                  </a14:m>
                </a:p>
              </p:txBody>
            </p:sp>
          </mc:Choice>
        </mc:AlternateContent>
        <p:sp>
          <p:nvSpPr>
            <p:cNvPr id="25" name="TextBox 25"/>
            <p:cNvSpPr txBox="1"/>
            <p:nvPr/>
          </p:nvSpPr>
          <p:spPr>
            <a:xfrm>
              <a:off x="6466332" y="4726305"/>
              <a:ext cx="6078456" cy="410718"/>
            </a:xfrm>
            <a:prstGeom prst="rect">
              <a:avLst/>
            </a:prstGeom>
            <a:noFill/>
            <a:ln>
              <a:noFill/>
            </a:ln>
          </p:spPr>
          <p:txBody>
            <a:bodyPr wrap="none" lIns="0" tIns="0" rIns="0" bIns="0" anchor="t" anchorCtr="0">
              <a:spAutoFit/>
            </a:bodyPr>
            <a:lstStyle/>
            <a:p>
              <a:pPr algn="l"/>
              <a:r>
                <a:rPr lang="vi-VN" sz="2100" b="1" dirty="0">
                  <a:solidFill>
                    <a:srgbClr val="166534"/>
                  </a:solidFill>
                  <a:latin typeface="+mn-lt"/>
                  <a:ea typeface="+mn-ea"/>
                  <a:cs typeface="+mn-cs"/>
                </a:rPr>
                <a:t>Rèn luyện kỹ năng quan sát đồ thị trực quan!</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744474" y="459105"/>
              <a:ext cx="1216152"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ĐỊNH LÝ</a:t>
              </a:r>
            </a:p>
          </p:txBody>
        </p:sp>
        <p:sp>
          <p:nvSpPr>
            <p:cNvPr id="7" name="TextBox 7"/>
            <p:cNvSpPr txBox="1"/>
            <p:nvPr/>
          </p:nvSpPr>
          <p:spPr>
            <a:xfrm>
              <a:off x="2179701" y="460534"/>
              <a:ext cx="5553581"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II. CỰC TRỊ: b. Định lý đổi dấu đạo hàm</a:t>
              </a:r>
            </a:p>
          </p:txBody>
        </p:sp>
      </p:grpSp>
      <p:grpSp>
        <p:nvGrpSpPr>
          <p:cNvPr id="21" name="content"/>
          <p:cNvGrpSpPr/>
          <p:nvPr/>
        </p:nvGrpSpPr>
        <p:grpSpPr>
          <a:xfrm>
            <a:off x="476250" y="1190625"/>
            <a:ext cx="11239500" cy="5191125"/>
            <a:chOff x="476250" y="1190625"/>
            <a:chExt cx="11239500"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8735373"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ĐỊNH LÝ DẤU HIỆU CỰC TRỊ (SGK TOÁN 12 - TRANG 10):</a:t>
              </a:r>
            </a:p>
          </p:txBody>
        </p:sp>
        <p:pic>
          <p:nvPicPr>
            <p:cNvPr id="11" name="Image 11"/>
            <p:cNvPicPr>
              <a:picLocks noChangeAspect="1"/>
            </p:cNvPicPr>
            <p:nvPr/>
          </p:nvPicPr>
          <p:blipFill>
            <a:blip r:embed="rId2"/>
            <a:stretch>
              <a:fillRect/>
            </a:stretch>
          </p:blipFill>
          <p:spPr>
            <a:xfrm>
              <a:off x="2972926" y="1905000"/>
              <a:ext cx="6246148" cy="2476500"/>
            </a:xfrm>
            <a:prstGeom prst="rect">
              <a:avLst/>
            </a:prstGeom>
          </p:spPr>
        </p:pic>
        <p:grpSp>
          <p:nvGrpSpPr>
            <p:cNvPr id="20" name="Group 20"/>
            <p:cNvGrpSpPr/>
            <p:nvPr/>
          </p:nvGrpSpPr>
          <p:grpSpPr>
            <a:xfrm>
              <a:off x="809625" y="4572000"/>
              <a:ext cx="10572750" cy="1524000"/>
              <a:chOff x="809625" y="4572000"/>
              <a:chExt cx="10572750" cy="1524000"/>
            </a:xfrm>
          </p:grpSpPr>
          <p:sp>
            <p:nvSpPr>
              <p:cNvPr id="12" name="Rectangle 12"/>
              <p:cNvSpPr/>
              <p:nvPr/>
            </p:nvSpPr>
            <p:spPr>
              <a:xfrm>
                <a:off x="809625" y="4572000"/>
                <a:ext cx="5143500" cy="1524000"/>
              </a:xfrm>
              <a:prstGeom prst="roundRect">
                <a:avLst>
                  <a:gd name="adj" fmla="val 8750"/>
                </a:avLst>
              </a:prstGeom>
              <a:solidFill>
                <a:srgbClr val="EFF6FF"/>
              </a:solidFill>
              <a:ln w="14288">
                <a:solidFill>
                  <a:srgbClr val="BFDBFE"/>
                </a:solidFill>
              </a:ln>
            </p:spPr>
          </p:sp>
          <p:sp>
            <p:nvSpPr>
              <p:cNvPr id="13" name="TextBox 13"/>
              <p:cNvSpPr txBox="1"/>
              <p:nvPr/>
            </p:nvSpPr>
            <p:spPr>
              <a:xfrm>
                <a:off x="1036320" y="4757738"/>
                <a:ext cx="3578824"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DẤU HIỆU 1 (CỰC ĐẠI):</a:t>
                </a:r>
              </a:p>
            </p:txBody>
          </p:sp>
          <mc:AlternateContent xmlns:mc="http://schemas.openxmlformats.org/markup-compatibility/2006">
            <mc:Choice xmlns:a14="http://schemas.microsoft.com/office/drawing/2010/main" Requires="a14">
              <p:sp>
                <p:nvSpPr>
                  <p:cNvPr id="14" name="TextBox 14"/>
                  <p:cNvSpPr txBox="1"/>
                  <p:nvPr/>
                </p:nvSpPr>
                <p:spPr>
                  <a:xfrm>
                    <a:off x="1037082" y="5189220"/>
                    <a:ext cx="6618508" cy="468592"/>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Khi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x</m:t>
                        </m:r>
                      </m:oMath>
                    </a14:m>
                    <a:r>
                      <a:rPr lang="vi-VN" sz="2100" b="1" dirty="0">
                        <a:solidFill>
                          <a:srgbClr val="0F172A"/>
                        </a:solidFill>
                        <a:latin typeface="+mn-lt"/>
                        <a:ea typeface="+mn-ea"/>
                        <a:cs typeface="+mn-cs"/>
                      </a:rPr>
                      <a:t xml:space="preserve"> qua </a:t>
                    </a:r>
                    <a14:m>
                      <m:oMath xmlns:a="http://schemas.openxmlformats.org/drawingml/2006/main" xmlns:m="http://schemas.openxmlformats.org/officeDocument/2006/math">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oMath>
                    </a14:m>
                    <a:r>
                      <a:rPr lang="vi-VN" sz="2100" b="1" dirty="0">
                        <a:solidFill>
                          <a:srgbClr val="0F172A"/>
                        </a:solidFill>
                        <a:latin typeface="+mn-lt"/>
                        <a:ea typeface="+mn-ea"/>
                        <a:cs typeface="+mn-cs"/>
                      </a:rPr>
                      <a:t xml:space="preserve">, đạo hàm đổi dấu từ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oMath>
                    </a14:m>
                    <a:r>
                      <a:rPr lang="vi-VN" sz="2100" b="1" dirty="0">
                        <a:solidFill>
                          <a:srgbClr val="0F172A"/>
                        </a:solidFill>
                        <a:latin typeface="+mn-lt"/>
                        <a:ea typeface="+mn-ea"/>
                        <a:cs typeface="+mn-cs"/>
                      </a:rPr>
                      <a:t xml:space="preserve"> sang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oMath>
                    </a14:m>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1037082" y="5631180"/>
                    <a:ext cx="3932661" cy="455257"/>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 Hàm số đạt CỰC ĐẠI tại </a:t>
                    </a:r>
                    <a14:m>
                      <m:oMath xmlns:a="http://schemas.openxmlformats.org/drawingml/2006/main" xmlns:m="http://schemas.openxmlformats.org/officeDocument/2006/math">
                        <m:sSub>
                          <m:e>
                            <m:r>
                              <a:rPr lang="vi-VN" sz="2100" dirty="0">
                                <a:solidFill>
                                  <a:srgbClr val="1E40AF"/>
                                </a:solidFill>
                                <a:latin typeface="Cambria Math"/>
                                <a:ea typeface="Cambria Math"/>
                                <a:cs typeface="Cambria Math"/>
                              </a:rPr>
                              <m:t>x</m:t>
                            </m:r>
                          </m:e>
                          <m:sub>
                            <m:r>
                              <a:rPr lang="vi-VN" sz="2100" dirty="0">
                                <a:solidFill>
                                  <a:srgbClr val="1E40AF"/>
                                </a:solidFill>
                                <a:latin typeface="Cambria Math"/>
                                <a:ea typeface="Cambria Math"/>
                                <a:cs typeface="Cambria Math"/>
                              </a:rPr>
                              <m:t>0</m:t>
                            </m:r>
                          </m:sub>
                        </m:sSub>
                      </m:oMath>
                    </a14:m>
                  </a:p>
                </p:txBody>
              </p:sp>
            </mc:Choice>
          </mc:AlternateContent>
          <p:sp>
            <p:nvSpPr>
              <p:cNvPr id="16" name="Rectangle 16"/>
              <p:cNvSpPr/>
              <p:nvPr/>
            </p:nvSpPr>
            <p:spPr>
              <a:xfrm>
                <a:off x="6238875" y="4572000"/>
                <a:ext cx="5143500" cy="1524000"/>
              </a:xfrm>
              <a:prstGeom prst="roundRect">
                <a:avLst>
                  <a:gd name="adj" fmla="val 8750"/>
                </a:avLst>
              </a:prstGeom>
              <a:solidFill>
                <a:srgbClr val="FEF2F2"/>
              </a:solidFill>
              <a:ln w="14288">
                <a:solidFill>
                  <a:srgbClr val="FECACA"/>
                </a:solidFill>
              </a:ln>
            </p:spPr>
          </p:sp>
          <p:sp>
            <p:nvSpPr>
              <p:cNvPr id="17" name="TextBox 17"/>
              <p:cNvSpPr txBox="1"/>
              <p:nvPr/>
            </p:nvSpPr>
            <p:spPr>
              <a:xfrm>
                <a:off x="6465570" y="4757738"/>
                <a:ext cx="3756639" cy="440055"/>
              </a:xfrm>
              <a:prstGeom prst="rect">
                <a:avLst/>
              </a:prstGeom>
              <a:noFill/>
              <a:ln>
                <a:noFill/>
              </a:ln>
            </p:spPr>
            <p:txBody>
              <a:bodyPr wrap="none" lIns="0" tIns="0" rIns="0" bIns="0" anchor="t" anchorCtr="0">
                <a:spAutoFit/>
              </a:bodyPr>
              <a:lstStyle/>
              <a:p>
                <a:pPr algn="l"/>
                <a:r>
                  <a:rPr lang="vi-VN" sz="2250" b="1" dirty="0">
                    <a:solidFill>
                      <a:srgbClr val="DC2626"/>
                    </a:solidFill>
                    <a:latin typeface="+mn-lt"/>
                    <a:ea typeface="+mn-ea"/>
                    <a:cs typeface="+mn-cs"/>
                  </a:rPr>
                  <a:t>DẤU HIỆU 2 (CỰC TIỂU):</a:t>
                </a:r>
              </a:p>
            </p:txBody>
          </p:sp>
          <mc:AlternateContent xmlns:mc="http://schemas.openxmlformats.org/markup-compatibility/2006">
            <mc:Choice xmlns:a14="http://schemas.microsoft.com/office/drawing/2010/main" Requires="a14">
              <p:sp>
                <p:nvSpPr>
                  <p:cNvPr id="18" name="TextBox 18"/>
                  <p:cNvSpPr txBox="1"/>
                  <p:nvPr/>
                </p:nvSpPr>
                <p:spPr>
                  <a:xfrm>
                    <a:off x="6466332" y="5189220"/>
                    <a:ext cx="4875347"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Đạo hàm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oMath>
                    </a14:m>
                    <a:r>
                      <a:rPr lang="vi-VN" sz="2100" b="1" dirty="0">
                        <a:solidFill>
                          <a:srgbClr val="0F172A"/>
                        </a:solidFill>
                        <a:latin typeface="+mn-lt"/>
                        <a:ea typeface="+mn-ea"/>
                        <a:cs typeface="+mn-cs"/>
                      </a:rPr>
                      <a:t xml:space="preserve"> đổi dấu: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oMath>
                    </a14:m>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6466332" y="5631180"/>
                    <a:ext cx="4100172" cy="455257"/>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 xml:space="preserve">⇒ Hàm số đạt CỰC TIỂU tại </a:t>
                    </a:r>
                    <a14:m>
                      <m:oMath xmlns:a="http://schemas.openxmlformats.org/drawingml/2006/main" xmlns:m="http://schemas.openxmlformats.org/officeDocument/2006/math">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0</m:t>
                            </m:r>
                          </m:sub>
                        </m:sSub>
                      </m:oMath>
                    </a14:m>
                  </a:p>
                </p:txBody>
              </p:sp>
            </mc:Choice>
          </mc:AlternateContent>
        </p:gr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61697" y="459105"/>
              <a:ext cx="1581706"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HĐ5 &amp; VD6</a:t>
              </a:r>
            </a:p>
          </p:txBody>
        </p:sp>
        <p:sp>
          <p:nvSpPr>
            <p:cNvPr id="7" name="TextBox 7"/>
            <p:cNvSpPr txBox="1"/>
            <p:nvPr/>
          </p:nvSpPr>
          <p:spPr>
            <a:xfrm>
              <a:off x="2179701" y="460534"/>
              <a:ext cx="5737239"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II. CỰC TRỊ: HĐ5 &amp; Ví dụ 6 (Hàm bậc ba)</a:t>
              </a:r>
            </a:p>
          </p:txBody>
        </p:sp>
      </p:grpSp>
      <p:grpSp>
        <p:nvGrpSpPr>
          <p:cNvPr id="27" name="content"/>
          <p:cNvGrpSpPr/>
          <p:nvPr/>
        </p:nvGrpSpPr>
        <p:grpSpPr>
          <a:xfrm>
            <a:off x="476250" y="1190625"/>
            <a:ext cx="11239500" cy="5191125"/>
            <a:chOff x="476250" y="1190625"/>
            <a:chExt cx="11239500" cy="5191125"/>
          </a:xfrm>
        </p:grpSpPr>
        <p:sp>
          <p:nvSpPr>
            <p:cNvPr id="9" name="Rectangle 9"/>
            <p:cNvSpPr/>
            <p:nvPr/>
          </p:nvSpPr>
          <p:spPr>
            <a:xfrm>
              <a:off x="476250" y="1190625"/>
              <a:ext cx="57150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957" y="1440180"/>
              <a:ext cx="5182881"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6 (SGK TOÁN 12 - TRANG 11):</a:t>
              </a:r>
            </a:p>
          </p:txBody>
        </p:sp>
        <mc:AlternateContent xmlns:mc="http://schemas.openxmlformats.org/markup-compatibility/2006">
          <mc:Choice xmlns:a14="http://schemas.microsoft.com/office/drawing/2010/main" Requires="a14">
            <p:sp>
              <p:nvSpPr>
                <p:cNvPr id="11" name="TextBox 11"/>
                <p:cNvSpPr txBox="1"/>
                <p:nvPr/>
              </p:nvSpPr>
              <p:spPr>
                <a:xfrm>
                  <a:off x="798957" y="1808264"/>
                  <a:ext cx="4383780"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Tìm cực trị: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3</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9</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12x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oMath>
                  </a14:m>
                </a:p>
              </p:txBody>
            </p:sp>
          </mc:Choice>
        </mc:AlternateContent>
        <p:grpSp>
          <p:nvGrpSpPr>
            <p:cNvPr id="20" name="Group 20"/>
            <p:cNvGrpSpPr/>
            <p:nvPr/>
          </p:nvGrpSpPr>
          <p:grpSpPr>
            <a:xfrm>
              <a:off x="798957" y="2535555"/>
              <a:ext cx="4963668" cy="3169882"/>
              <a:chOff x="798957" y="2535555"/>
              <a:chExt cx="4963668" cy="3169882"/>
            </a:xfrm>
          </p:grpSpPr>
          <mc:AlternateContent xmlns:mc="http://schemas.openxmlformats.org/markup-compatibility/2006">
            <mc:Choice xmlns:a14="http://schemas.microsoft.com/office/drawing/2010/main" Requires="a14">
              <p:sp>
                <p:nvSpPr>
                  <p:cNvPr id="12" name="TextBox 12"/>
                  <p:cNvSpPr txBox="1"/>
                  <p:nvPr/>
                </p:nvSpPr>
                <p:spPr>
                  <a:xfrm>
                    <a:off x="798957" y="2535555"/>
                    <a:ext cx="298347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①. Tập xác định: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D</m:t>
                        </m:r>
                        <m:r>
                          <m:rPr>
                            <m:sty m:val="p"/>
                          </m:rPr>
                          <a:rPr lang="vi-VN" sz="2100" dirty="0">
                            <a:solidFill>
                              <a:srgbClr val="1E40AF"/>
                            </a:solidFill>
                            <a:latin typeface="Cambria Math"/>
                            <a:ea typeface="Cambria Math"/>
                            <a:cs typeface="Cambria Math"/>
                          </a:rPr>
                          <m:t>=</m:t>
                        </m:r>
                        <m:r>
                          <m:rPr>
                            <m:scr m:val="double-struck"/>
                            <m:sty m:val="p"/>
                          </m:rPr>
                          <a:rPr lang="vi-VN" sz="2100" dirty="0">
                            <a:solidFill>
                              <a:srgbClr val="1E40AF"/>
                            </a:solidFill>
                            <a:latin typeface="Cambria Math"/>
                            <a:ea typeface="Cambria Math"/>
                            <a:cs typeface="Cambria Math"/>
                          </a:rPr>
                          <m:t>R</m:t>
                        </m:r>
                      </m:oMath>
                    </a14:m>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798957" y="3011805"/>
                    <a:ext cx="3989978"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②. Đạo hàm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oMath>
                    </a14:m>
                    <a:r>
                      <a:rPr lang="vi-VN" sz="2100" b="1" dirty="0">
                        <a:solidFill>
                          <a:srgbClr val="1E40AF"/>
                        </a:solidFill>
                        <a:latin typeface="+mn-lt"/>
                        <a:ea typeface="+mn-ea"/>
                        <a:cs typeface="+mn-cs"/>
                      </a:rPr>
                      <a:t xml:space="preserve"> và giải nghiệm:</a:t>
                    </a:r>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798957" y="3332264"/>
                    <a:ext cx="4323495" cy="48459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6</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18x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12</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6</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e>
                        </m:d>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e>
                        </m:d>
                      </m:oMath>
                    </a14:m>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798957" y="3773805"/>
                    <a:ext cx="3135723" cy="41071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oMath>
                    </a14:m>
                    <a:r>
                      <a:rPr lang="vi-VN" sz="2100" b="1" dirty="0">
                        <a:solidFill>
                          <a:srgbClr val="1E40AF"/>
                        </a:solidFill>
                        <a:latin typeface="+mn-lt"/>
                        <a:ea typeface="+mn-ea"/>
                        <a:cs typeface="+mn-cs"/>
                      </a:rPr>
                      <a:t xml:space="preserve"> hoặc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2</m:t>
                        </m:r>
                      </m:oMath>
                    </a14:m>
                  </a:p>
                </p:txBody>
              </p:sp>
            </mc:Choice>
          </mc:AlternateContent>
          <p:sp>
            <p:nvSpPr>
              <p:cNvPr id="16" name="Line 16"/>
              <p:cNvSpPr/>
              <p:nvPr/>
            </p:nvSpPr>
            <p:spPr>
              <a:xfrm>
                <a:off x="809625" y="4286250"/>
                <a:ext cx="4953000" cy="9525"/>
              </a:xfrm>
              <a:custGeom>
                <a:avLst/>
                <a:gdLst/>
                <a:ahLst/>
                <a:cxnLst/>
                <a:rect l="l" t="t" r="r" b="b"/>
                <a:pathLst>
                  <a:path w="4953000" h="9525">
                    <a:moveTo>
                      <a:pt x="0" y="0"/>
                    </a:moveTo>
                    <a:lnTo>
                      <a:pt x="4953000" y="0"/>
                    </a:lnTo>
                  </a:path>
                </a:pathLst>
              </a:custGeom>
              <a:noFill/>
              <a:ln w="19050">
                <a:solidFill>
                  <a:srgbClr val="F1F5F9"/>
                </a:solidFill>
              </a:ln>
            </p:spPr>
          </p:sp>
          <p:sp>
            <p:nvSpPr>
              <p:cNvPr id="17" name="TextBox 17"/>
              <p:cNvSpPr txBox="1"/>
              <p:nvPr/>
            </p:nvSpPr>
            <p:spPr>
              <a:xfrm>
                <a:off x="798957" y="4488180"/>
                <a:ext cx="3526365"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④. Kết luận cực trị từ BBT:</a:t>
                </a:r>
              </a:p>
            </p:txBody>
          </p:sp>
          <mc:AlternateContent xmlns:mc="http://schemas.openxmlformats.org/markup-compatibility/2006">
            <mc:Choice xmlns:a14="http://schemas.microsoft.com/office/drawing/2010/main" Requires="a14">
              <p:sp>
                <p:nvSpPr>
                  <p:cNvPr id="18" name="TextBox 18"/>
                  <p:cNvSpPr txBox="1"/>
                  <p:nvPr/>
                </p:nvSpPr>
                <p:spPr>
                  <a:xfrm>
                    <a:off x="798957" y="4869180"/>
                    <a:ext cx="4621203" cy="455257"/>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 xml:space="preserve">Điểm Cực đại: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1</m:t>
                        </m:r>
                        <m:r>
                          <m:rPr>
                            <m:sty m:val="p"/>
                          </m:rPr>
                          <a:rPr lang="vi-VN" sz="2100" dirty="0">
                            <a:solidFill>
                              <a:srgbClr val="047857"/>
                            </a:solidFill>
                            <a:latin typeface="Cambria Math"/>
                            <a:ea typeface="Cambria Math"/>
                            <a:cs typeface="Cambria Math"/>
                          </a:rPr>
                          <m:t>⇒</m:t>
                        </m:r>
                        <m:sSub>
                          <m:e>
                            <m:r>
                              <a:rPr lang="vi-VN" sz="2100" dirty="0">
                                <a:solidFill>
                                  <a:srgbClr val="047857"/>
                                </a:solidFill>
                                <a:latin typeface="Cambria Math"/>
                                <a:ea typeface="Cambria Math"/>
                                <a:cs typeface="Cambria Math"/>
                              </a:rPr>
                              <m:t>y</m:t>
                            </m:r>
                          </m:e>
                          <m:sub>
                            <m:r>
                              <a:rPr lang="vi-VN" sz="2100" dirty="0">
                                <a:solidFill>
                                  <a:srgbClr val="047857"/>
                                </a:solidFill>
                                <a:latin typeface="Cambria Math"/>
                                <a:ea typeface="Cambria Math"/>
                                <a:cs typeface="Cambria Math"/>
                              </a:rPr>
                              <m:t>CĐ</m:t>
                            </m:r>
                          </m:sub>
                        </m:sSub>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2</m:t>
                        </m:r>
                      </m:oMath>
                    </a14:m>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798957" y="5250180"/>
                    <a:ext cx="4681907" cy="455257"/>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Điểm Cực tiểu: </a:t>
                    </a: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2</m:t>
                        </m:r>
                        <m:r>
                          <m:rPr>
                            <m:sty m:val="p"/>
                          </m:rPr>
                          <a:rPr lang="vi-VN" sz="2100" dirty="0">
                            <a:solidFill>
                              <a:srgbClr val="DC2626"/>
                            </a:solidFill>
                            <a:latin typeface="Cambria Math"/>
                            <a:ea typeface="Cambria Math"/>
                            <a:cs typeface="Cambria Math"/>
                          </a:rPr>
                          <m:t>⇒</m:t>
                        </m:r>
                        <m:sSub>
                          <m:e>
                            <m:r>
                              <a:rPr lang="vi-VN" sz="2100" dirty="0">
                                <a:solidFill>
                                  <a:srgbClr val="DC2626"/>
                                </a:solidFill>
                                <a:latin typeface="Cambria Math"/>
                                <a:ea typeface="Cambria Math"/>
                                <a:cs typeface="Cambria Math"/>
                              </a:rPr>
                              <m:t>y</m:t>
                            </m:r>
                          </m:e>
                          <m:sub>
                            <m:r>
                              <a:rPr lang="vi-VN" sz="2100" dirty="0">
                                <a:solidFill>
                                  <a:srgbClr val="DC2626"/>
                                </a:solidFill>
                                <a:latin typeface="Cambria Math"/>
                                <a:ea typeface="Cambria Math"/>
                                <a:cs typeface="Cambria Math"/>
                              </a:rPr>
                              <m:t>CT</m:t>
                            </m:r>
                          </m:sub>
                        </m:sSub>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oMath>
                    </a14:m>
                  </a:p>
                </p:txBody>
              </p:sp>
            </mc:Choice>
          </mc:AlternateContent>
        </p:grpSp>
        <p:sp>
          <p:nvSpPr>
            <p:cNvPr id="21" name="Rectangle 21"/>
            <p:cNvSpPr/>
            <p:nvPr/>
          </p:nvSpPr>
          <p:spPr>
            <a:xfrm>
              <a:off x="6381750" y="1190625"/>
              <a:ext cx="5334000" cy="5191125"/>
            </a:xfrm>
            <a:prstGeom prst="roundRect">
              <a:avLst>
                <a:gd name="adj" fmla="val 3303"/>
              </a:avLst>
            </a:prstGeom>
            <a:solidFill>
              <a:srgbClr val="FFFFFF"/>
            </a:solidFill>
            <a:ln w="19050">
              <a:solidFill>
                <a:srgbClr val="CBD5E1"/>
              </a:solidFill>
            </a:ln>
          </p:spPr>
        </p:sp>
        <p:sp>
          <p:nvSpPr>
            <p:cNvPr id="22" name="TextBox 22"/>
            <p:cNvSpPr txBox="1"/>
            <p:nvPr/>
          </p:nvSpPr>
          <p:spPr>
            <a:xfrm>
              <a:off x="6903613" y="1376362"/>
              <a:ext cx="4290273"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BẢNG BIẾN THIÊN (VÍ DỤ 6)</a:t>
              </a:r>
            </a:p>
          </p:txBody>
        </p:sp>
        <p:pic>
          <p:nvPicPr>
            <p:cNvPr id="23" name="Image 23"/>
            <p:cNvPicPr>
              <a:picLocks noChangeAspect="1"/>
            </p:cNvPicPr>
            <p:nvPr/>
          </p:nvPicPr>
          <p:blipFill>
            <a:blip r:embed="rId2"/>
            <a:stretch>
              <a:fillRect/>
            </a:stretch>
          </p:blipFill>
          <p:spPr>
            <a:xfrm>
              <a:off x="6572250" y="2436465"/>
              <a:ext cx="4953000" cy="1985070"/>
            </a:xfrm>
            <a:prstGeom prst="rect">
              <a:avLst/>
            </a:prstGeom>
          </p:spPr>
        </p:pic>
        <p:sp>
          <p:nvSpPr>
            <p:cNvPr id="24" name="Rectangle 24"/>
            <p:cNvSpPr/>
            <p:nvPr/>
          </p:nvSpPr>
          <p:spPr>
            <a:xfrm>
              <a:off x="6572250" y="5048250"/>
              <a:ext cx="4953000" cy="1047750"/>
            </a:xfrm>
            <a:prstGeom prst="roundRect">
              <a:avLst>
                <a:gd name="adj" fmla="val 10909"/>
              </a:avLst>
            </a:prstGeom>
            <a:solidFill>
              <a:srgbClr val="EFF6FF"/>
            </a:solidFill>
            <a:ln w="14288">
              <a:solidFill>
                <a:srgbClr val="BFDBFE"/>
              </a:solidFill>
            </a:ln>
          </p:spPr>
        </p:sp>
        <p:sp>
          <p:nvSpPr>
            <p:cNvPr id="25" name="TextBox 25"/>
            <p:cNvSpPr txBox="1"/>
            <p:nvPr/>
          </p:nvSpPr>
          <p:spPr>
            <a:xfrm>
              <a:off x="6752082" y="5250180"/>
              <a:ext cx="3157645"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Điểm CĐ đồ thị: A(1; 2)</a:t>
              </a:r>
            </a:p>
          </p:txBody>
        </p:sp>
        <p:sp>
          <p:nvSpPr>
            <p:cNvPr id="26" name="TextBox 26"/>
            <p:cNvSpPr txBox="1"/>
            <p:nvPr/>
          </p:nvSpPr>
          <p:spPr>
            <a:xfrm>
              <a:off x="6752082" y="5631180"/>
              <a:ext cx="3125558"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Điểm CT đồ thị: B(2; 1)</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69941" y="459105"/>
              <a:ext cx="1565217"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VD7 &amp; VD8</a:t>
              </a:r>
            </a:p>
          </p:txBody>
        </p:sp>
        <p:sp>
          <p:nvSpPr>
            <p:cNvPr id="7" name="TextBox 7"/>
            <p:cNvSpPr txBox="1"/>
            <p:nvPr/>
          </p:nvSpPr>
          <p:spPr>
            <a:xfrm>
              <a:off x="2179701" y="460534"/>
              <a:ext cx="8015601"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II. CỰC TRỊ: Ví dụ 7 &amp; Ví dụ 8 (Trùng phương, Phân thức)</a:t>
              </a:r>
            </a:p>
          </p:txBody>
        </p:sp>
      </p:grpSp>
      <p:grpSp>
        <p:nvGrpSpPr>
          <p:cNvPr id="28" name="content"/>
          <p:cNvGrpSpPr/>
          <p:nvPr/>
        </p:nvGrpSpPr>
        <p:grpSpPr>
          <a:xfrm>
            <a:off x="476250" y="1190625"/>
            <a:ext cx="11563562" cy="5191125"/>
            <a:chOff x="476250" y="1190625"/>
            <a:chExt cx="11563562" cy="5191125"/>
          </a:xfrm>
        </p:grpSpPr>
        <p:sp>
          <p:nvSpPr>
            <p:cNvPr id="9" name="Rectangle 9"/>
            <p:cNvSpPr/>
            <p:nvPr/>
          </p:nvSpPr>
          <p:spPr>
            <a:xfrm>
              <a:off x="476250" y="1190625"/>
              <a:ext cx="57150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957" y="1440180"/>
              <a:ext cx="6393887"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7: HÀM TRÙNG PHƯƠNG (SGK TR.11):</a:t>
              </a:r>
            </a:p>
          </p:txBody>
        </p:sp>
        <mc:AlternateContent xmlns:mc="http://schemas.openxmlformats.org/markup-compatibility/2006">
          <mc:Choice xmlns:a14="http://schemas.microsoft.com/office/drawing/2010/main" Requires="a14">
            <p:sp>
              <p:nvSpPr>
                <p:cNvPr id="11" name="TextBox 11"/>
                <p:cNvSpPr txBox="1"/>
                <p:nvPr/>
              </p:nvSpPr>
              <p:spPr>
                <a:xfrm>
                  <a:off x="798957" y="1808264"/>
                  <a:ext cx="3572736"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Tìm cực trị: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4</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oMath>
                  </a14:m>
                </a:p>
              </p:txBody>
            </p:sp>
          </mc:Choice>
        </mc:AlternateContent>
        <p:grpSp>
          <p:nvGrpSpPr>
            <p:cNvPr id="17" name="Group 17"/>
            <p:cNvGrpSpPr/>
            <p:nvPr/>
          </p:nvGrpSpPr>
          <p:grpSpPr>
            <a:xfrm>
              <a:off x="798957" y="2461679"/>
              <a:ext cx="4841445" cy="2151469"/>
              <a:chOff x="798957" y="2461679"/>
              <a:chExt cx="4841445" cy="2151469"/>
            </a:xfrm>
          </p:grpSpPr>
          <mc:AlternateContent xmlns:mc="http://schemas.openxmlformats.org/markup-compatibility/2006">
            <mc:Choice xmlns:a14="http://schemas.microsoft.com/office/drawing/2010/main" Requires="a14">
              <p:sp>
                <p:nvSpPr>
                  <p:cNvPr id="12" name="TextBox 12"/>
                  <p:cNvSpPr txBox="1"/>
                  <p:nvPr/>
                </p:nvSpPr>
                <p:spPr>
                  <a:xfrm>
                    <a:off x="798957" y="2461679"/>
                    <a:ext cx="4406497" cy="497929"/>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Đạo hàm: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4</m:t>
                        </m:r>
                        <m:sSup>
                          <m:e>
                            <m:r>
                              <a:rPr lang="vi-VN" sz="2100" dirty="0">
                                <a:solidFill>
                                  <a:srgbClr val="1E40AF"/>
                                </a:solidFill>
                                <a:latin typeface="Cambria Math"/>
                                <a:ea typeface="Cambria Math"/>
                                <a:cs typeface="Cambria Math"/>
                              </a:rPr>
                              <m:t>x</m:t>
                            </m:r>
                          </m:e>
                          <m:sup>
                            <m:r>
                              <a:rPr lang="vi-VN" sz="2100" dirty="0">
                                <a:solidFill>
                                  <a:srgbClr val="1E40AF"/>
                                </a:solidFill>
                                <a:latin typeface="Cambria Math"/>
                                <a:ea typeface="Cambria Math"/>
                                <a:cs typeface="Cambria Math"/>
                              </a:rPr>
                              <m:t>3</m:t>
                            </m:r>
                          </m:sup>
                        </m:sSup>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4x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4x</m:t>
                        </m:r>
                        <m:d>
                          <m:dPr>
                            <m:begChr m:val="("/>
                            <m:sepChr m:val=""/>
                            <m:endChr m:val=")"/>
                            <m:grow m:val="on"/>
                            <m:ctrlPr>
                              <a:rPr lang="vi-VN" sz="2100" dirty="0">
                                <a:solidFill>
                                  <a:srgbClr val="1E40AF"/>
                                </a:solidFill>
                                <a:latin typeface="Cambria Math"/>
                                <a:ea typeface="Cambria Math"/>
                                <a:cs typeface="Cambria Math"/>
                              </a:rPr>
                            </m:ctrlPr>
                          </m:dPr>
                          <m:e>
                            <m:sSup>
                              <m:e>
                                <m:r>
                                  <a:rPr lang="vi-VN" sz="2100" dirty="0">
                                    <a:solidFill>
                                      <a:srgbClr val="1E40AF"/>
                                    </a:solidFill>
                                    <a:latin typeface="Cambria Math"/>
                                    <a:ea typeface="Cambria Math"/>
                                    <a:cs typeface="Cambria Math"/>
                                  </a:rPr>
                                  <m:t>x</m:t>
                                </m:r>
                              </m:e>
                              <m:sup>
                                <m:r>
                                  <a:rPr lang="vi-VN" sz="2100" dirty="0">
                                    <a:solidFill>
                                      <a:srgbClr val="1E40AF"/>
                                    </a:solidFill>
                                    <a:latin typeface="Cambria Math"/>
                                    <a:ea typeface="Cambria Math"/>
                                    <a:cs typeface="Cambria Math"/>
                                  </a:rPr>
                                  <m:t>2</m:t>
                                </m:r>
                              </m:sup>
                            </m:sSup>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e>
                        </m:d>
                      </m:oMath>
                    </a14:m>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798957" y="2916555"/>
                    <a:ext cx="3290869" cy="41071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hoặc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oMath>
                    </a14:m>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798957" y="3345180"/>
                    <a:ext cx="4621203" cy="455257"/>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 xml:space="preserve">Điểm Cực đại: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sSub>
                          <m:e>
                            <m:r>
                              <a:rPr lang="vi-VN" sz="2100" dirty="0">
                                <a:solidFill>
                                  <a:srgbClr val="047857"/>
                                </a:solidFill>
                                <a:latin typeface="Cambria Math"/>
                                <a:ea typeface="Cambria Math"/>
                                <a:cs typeface="Cambria Math"/>
                              </a:rPr>
                              <m:t>y</m:t>
                            </m:r>
                          </m:e>
                          <m:sub>
                            <m:r>
                              <a:rPr lang="vi-VN" sz="2100" dirty="0">
                                <a:solidFill>
                                  <a:srgbClr val="047857"/>
                                </a:solidFill>
                                <a:latin typeface="Cambria Math"/>
                                <a:ea typeface="Cambria Math"/>
                                <a:cs typeface="Cambria Math"/>
                              </a:rPr>
                              <m:t>CĐ</m:t>
                            </m:r>
                          </m:sub>
                        </m:sSub>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2</m:t>
                        </m:r>
                      </m:oMath>
                    </a14:m>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798957" y="3726180"/>
                    <a:ext cx="4841445" cy="455257"/>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Điểm Cực tiểu: </a:t>
                    </a: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r>
                          <m:rPr>
                            <m:sty m:val="p"/>
                          </m:rPr>
                          <a:rPr lang="vi-VN" sz="2100" dirty="0">
                            <a:solidFill>
                              <a:srgbClr val="DC2626"/>
                            </a:solidFill>
                            <a:latin typeface="Cambria Math"/>
                            <a:ea typeface="Cambria Math"/>
                            <a:cs typeface="Cambria Math"/>
                          </a:rPr>
                          <m:t>⇒</m:t>
                        </m:r>
                        <m:sSub>
                          <m:e>
                            <m:r>
                              <a:rPr lang="vi-VN" sz="2100" dirty="0">
                                <a:solidFill>
                                  <a:srgbClr val="DC2626"/>
                                </a:solidFill>
                                <a:latin typeface="Cambria Math"/>
                                <a:ea typeface="Cambria Math"/>
                                <a:cs typeface="Cambria Math"/>
                              </a:rPr>
                              <m:t>y</m:t>
                            </m:r>
                          </m:e>
                          <m:sub>
                            <m:r>
                              <a:rPr lang="vi-VN" sz="2100" dirty="0">
                                <a:solidFill>
                                  <a:srgbClr val="DC2626"/>
                                </a:solidFill>
                                <a:latin typeface="Cambria Math"/>
                                <a:ea typeface="Cambria Math"/>
                                <a:cs typeface="Cambria Math"/>
                              </a:rPr>
                              <m:t>CT</m:t>
                            </m:r>
                          </m:sub>
                        </m:sSub>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oMath>
                    </a14:m>
                  </a:p>
                </p:txBody>
              </p:sp>
            </mc:Choice>
          </mc:AlternateContent>
          <p:sp>
            <p:nvSpPr>
              <p:cNvPr id="16" name="TextBox 16"/>
              <p:cNvSpPr txBox="1"/>
              <p:nvPr/>
            </p:nvSpPr>
            <p:spPr>
              <a:xfrm>
                <a:off x="798957" y="4202430"/>
                <a:ext cx="3457618"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Hàm số có 3 điểm cực trị!</a:t>
                </a:r>
              </a:p>
            </p:txBody>
          </p:sp>
        </p:grpSp>
        <p:sp>
          <p:nvSpPr>
            <p:cNvPr id="18" name="Rectangle 18"/>
            <p:cNvSpPr/>
            <p:nvPr/>
          </p:nvSpPr>
          <p:spPr>
            <a:xfrm>
              <a:off x="809625" y="4667250"/>
              <a:ext cx="5048250" cy="1428750"/>
            </a:xfrm>
            <a:prstGeom prst="roundRect">
              <a:avLst>
                <a:gd name="adj" fmla="val 9333"/>
              </a:avLst>
            </a:prstGeom>
            <a:solidFill>
              <a:srgbClr val="FEF2F2"/>
            </a:solidFill>
            <a:ln w="14288">
              <a:solidFill>
                <a:srgbClr val="FECACA"/>
              </a:solidFill>
            </a:ln>
          </p:spPr>
        </p:sp>
        <p:sp>
          <p:nvSpPr>
            <p:cNvPr id="19" name="TextBox 19"/>
            <p:cNvSpPr txBox="1"/>
            <p:nvPr/>
          </p:nvSpPr>
          <p:spPr>
            <a:xfrm>
              <a:off x="989457" y="4821555"/>
              <a:ext cx="5696891" cy="41071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VÍ DỤ 8: HÀM PHÂN THỨC (SGK TR.11):</a:t>
              </a:r>
            </a:p>
          </p:txBody>
        </p:sp>
        <mc:AlternateContent xmlns:mc="http://schemas.openxmlformats.org/markup-compatibility/2006">
          <mc:Choice xmlns:a14="http://schemas.microsoft.com/office/drawing/2010/main" Requires="a14">
            <p:sp>
              <p:nvSpPr>
                <p:cNvPr id="20" name="TextBox 20"/>
                <p:cNvSpPr txBox="1"/>
                <p:nvPr/>
              </p:nvSpPr>
              <p:spPr>
                <a:xfrm>
                  <a:off x="989457" y="5136947"/>
                  <a:ext cx="6229124" cy="666846"/>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Cho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f>
                        <m:fPr>
                          <m:type m:val="bar"/>
                          <m:ctrlPr>
                            <a:rPr lang="vi-VN" sz="2100" dirty="0">
                              <a:solidFill>
                                <a:srgbClr val="0F172A"/>
                              </a:solidFill>
                              <a:latin typeface="Cambria Math"/>
                              <a:ea typeface="Cambria Math"/>
                              <a:cs typeface="Cambria Math"/>
                            </a:rPr>
                          </m:ctrlPr>
                        </m:fPr>
                        <m:num>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num>
                        <m:den>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den>
                      </m:f>
                    </m:oMath>
                  </a14:m>
                  <a:r>
                    <a:rPr lang="vi-VN" sz="2100" b="1" dirty="0">
                      <a:solidFill>
                        <a:srgbClr val="0F172A"/>
                      </a:solidFill>
                      <a:latin typeface="+mn-lt"/>
                      <a:ea typeface="+mn-ea"/>
                      <a:cs typeface="+mn-cs"/>
                    </a:rPr>
                    <a:t xml:space="preserve">. Có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f>
                        <m:fPr>
                          <m:type m:val="bar"/>
                          <m:ctrlPr>
                            <a:rPr lang="vi-VN" sz="2100" dirty="0">
                              <a:solidFill>
                                <a:srgbClr val="0F172A"/>
                              </a:solidFill>
                              <a:latin typeface="Cambria Math"/>
                              <a:ea typeface="Cambria Math"/>
                              <a:cs typeface="Cambria Math"/>
                            </a:rPr>
                          </m:ctrlPr>
                        </m:fPr>
                        <m:num>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num>
                        <m:den>
                          <m:sSup>
                            <m:e>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e>
                              </m:d>
                            </m:e>
                            <m:sup>
                              <m:r>
                                <a:rPr lang="vi-VN" sz="2100" dirty="0">
                                  <a:solidFill>
                                    <a:srgbClr val="0F172A"/>
                                  </a:solidFill>
                                  <a:latin typeface="Cambria Math"/>
                                  <a:ea typeface="Cambria Math"/>
                                  <a:cs typeface="Cambria Math"/>
                                </a:rPr>
                                <m:t>2</m:t>
                              </m:r>
                            </m:sup>
                          </m:sSup>
                        </m:den>
                      </m:f>
                      <m:r>
                        <m:rPr>
                          <m:sty m:val="p"/>
                        </m:rPr>
                        <a:rPr lang="vi-VN" sz="2100" dirty="0">
                          <a:solidFill>
                            <a:srgbClr val="0F172A"/>
                          </a:solidFill>
                          <a:latin typeface="Cambria Math"/>
                          <a:ea typeface="Cambria Math"/>
                          <a:cs typeface="Cambria Math"/>
                        </a:rPr>
                        <m:t>&lt;</m:t>
                      </m:r>
                      <m:r>
                        <a:rPr lang="vi-VN" sz="2100" dirty="0">
                          <a:solidFill>
                            <a:srgbClr val="0F172A"/>
                          </a:solidFill>
                          <a:latin typeface="Cambria Math"/>
                          <a:ea typeface="Cambria Math"/>
                          <a:cs typeface="Cambria Math"/>
                        </a:rPr>
                        <m:t>0</m:t>
                      </m:r>
                    </m:oMath>
                  </a14:m>
                </a:p>
              </p:txBody>
            </p:sp>
          </mc:Choice>
        </mc:AlternateContent>
        <p:sp>
          <p:nvSpPr>
            <p:cNvPr id="21" name="TextBox 21"/>
            <p:cNvSpPr txBox="1"/>
            <p:nvPr/>
          </p:nvSpPr>
          <p:spPr>
            <a:xfrm>
              <a:off x="989457" y="5631180"/>
              <a:ext cx="4591238" cy="410718"/>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 HÀM SỐ KHÔNG CÓ CỰC TRỊ!</a:t>
              </a:r>
            </a:p>
          </p:txBody>
        </p:sp>
        <p:sp>
          <p:nvSpPr>
            <p:cNvPr id="22" name="Rectangle 22"/>
            <p:cNvSpPr/>
            <p:nvPr/>
          </p:nvSpPr>
          <p:spPr>
            <a:xfrm>
              <a:off x="6381750" y="1190625"/>
              <a:ext cx="5334000" cy="5191125"/>
            </a:xfrm>
            <a:prstGeom prst="roundRect">
              <a:avLst>
                <a:gd name="adj" fmla="val 3303"/>
              </a:avLst>
            </a:prstGeom>
            <a:solidFill>
              <a:srgbClr val="FFFFFF"/>
            </a:solidFill>
            <a:ln w="19050">
              <a:solidFill>
                <a:srgbClr val="CBD5E1"/>
              </a:solidFill>
            </a:ln>
          </p:spPr>
        </p:sp>
        <p:sp>
          <p:nvSpPr>
            <p:cNvPr id="23" name="TextBox 23"/>
            <p:cNvSpPr txBox="1"/>
            <p:nvPr/>
          </p:nvSpPr>
          <p:spPr>
            <a:xfrm>
              <a:off x="6903613" y="1376362"/>
              <a:ext cx="4290273"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BẢNG BIẾN THIÊN (VÍ DỤ 7)</a:t>
              </a:r>
            </a:p>
          </p:txBody>
        </p:sp>
        <p:pic>
          <p:nvPicPr>
            <p:cNvPr id="24" name="Image 24"/>
            <p:cNvPicPr>
              <a:picLocks noChangeAspect="1"/>
            </p:cNvPicPr>
            <p:nvPr/>
          </p:nvPicPr>
          <p:blipFill>
            <a:blip r:embed="rId2"/>
            <a:stretch>
              <a:fillRect/>
            </a:stretch>
          </p:blipFill>
          <p:spPr>
            <a:xfrm>
              <a:off x="6572250" y="2493541"/>
              <a:ext cx="4953000" cy="1870918"/>
            </a:xfrm>
            <a:prstGeom prst="rect">
              <a:avLst/>
            </a:prstGeom>
          </p:spPr>
        </p:pic>
        <p:sp>
          <p:nvSpPr>
            <p:cNvPr id="25" name="Rectangle 25"/>
            <p:cNvSpPr/>
            <p:nvPr/>
          </p:nvSpPr>
          <p:spPr>
            <a:xfrm>
              <a:off x="6572250" y="5048250"/>
              <a:ext cx="4953000" cy="1047750"/>
            </a:xfrm>
            <a:prstGeom prst="roundRect">
              <a:avLst>
                <a:gd name="adj" fmla="val 10909"/>
              </a:avLst>
            </a:prstGeom>
            <a:solidFill>
              <a:srgbClr val="F8FAFC"/>
            </a:solidFill>
            <a:ln w="14288">
              <a:solidFill>
                <a:srgbClr val="E2E8F0"/>
              </a:solidFill>
            </a:ln>
          </p:spPr>
        </p:sp>
        <p:sp>
          <p:nvSpPr>
            <p:cNvPr id="26" name="TextBox 26"/>
            <p:cNvSpPr txBox="1"/>
            <p:nvPr/>
          </p:nvSpPr>
          <p:spPr>
            <a:xfrm>
              <a:off x="6752082" y="5154930"/>
              <a:ext cx="5287730"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Đồ thị dạng chữ W (hàm trùng phương)</a:t>
              </a:r>
            </a:p>
          </p:txBody>
        </p:sp>
        <p:sp>
          <p:nvSpPr>
            <p:cNvPr id="27" name="TextBox 27"/>
            <p:cNvSpPr txBox="1"/>
            <p:nvPr/>
          </p:nvSpPr>
          <p:spPr>
            <a:xfrm>
              <a:off x="6752082" y="5535930"/>
              <a:ext cx="5217322"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Gồm 1 điểm cực đại và 2 điểm cực tiểu</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370945" y="238125"/>
            <a:ext cx="11344805" cy="714375"/>
            <a:chOff x="370945" y="238125"/>
            <a:chExt cx="11344805"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370945" y="459105"/>
              <a:ext cx="1963211"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LUYỆN TẬP 5</a:t>
              </a:r>
            </a:p>
          </p:txBody>
        </p:sp>
        <p:sp>
          <p:nvSpPr>
            <p:cNvPr id="7" name="TextBox 7"/>
            <p:cNvSpPr txBox="1"/>
            <p:nvPr/>
          </p:nvSpPr>
          <p:spPr>
            <a:xfrm>
              <a:off x="2179701" y="460534"/>
              <a:ext cx="5735869"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II. CỰC TRỊ: Luyện tập 5 (SGK Trang 12)</a:t>
              </a:r>
            </a:p>
          </p:txBody>
        </p:sp>
      </p:grpSp>
      <p:grpSp>
        <p:nvGrpSpPr>
          <p:cNvPr id="29" name="content"/>
          <p:cNvGrpSpPr/>
          <p:nvPr/>
        </p:nvGrpSpPr>
        <p:grpSpPr>
          <a:xfrm>
            <a:off x="476250" y="1190625"/>
            <a:ext cx="11738363" cy="5191125"/>
            <a:chOff x="476250" y="1190625"/>
            <a:chExt cx="11738363"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6512887"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BÀI TOÁN LUYỆN TẬP 5 (SGK TRANG 12):</a:t>
              </a:r>
            </a:p>
          </p:txBody>
        </p:sp>
        <p:grpSp>
          <p:nvGrpSpPr>
            <p:cNvPr id="28" name="Group 28"/>
            <p:cNvGrpSpPr/>
            <p:nvPr/>
          </p:nvGrpSpPr>
          <p:grpSpPr>
            <a:xfrm>
              <a:off x="809625" y="1952625"/>
              <a:ext cx="11404988" cy="4143375"/>
              <a:chOff x="809625" y="1952625"/>
              <a:chExt cx="11404988" cy="4143375"/>
            </a:xfrm>
          </p:grpSpPr>
          <p:sp>
            <p:nvSpPr>
              <p:cNvPr id="11" name="Rectangle 11"/>
              <p:cNvSpPr/>
              <p:nvPr/>
            </p:nvSpPr>
            <p:spPr>
              <a:xfrm>
                <a:off x="809625" y="1952625"/>
                <a:ext cx="5143500" cy="4143375"/>
              </a:xfrm>
              <a:prstGeom prst="roundRect">
                <a:avLst>
                  <a:gd name="adj" fmla="val 3218"/>
                </a:avLst>
              </a:prstGeom>
              <a:solidFill>
                <a:srgbClr val="F8FAFC"/>
              </a:solidFill>
              <a:ln w="14288">
                <a:solidFill>
                  <a:srgbClr val="CBD5E1"/>
                </a:solidFill>
              </a:ln>
            </p:spPr>
          </p:sp>
          <mc:AlternateContent xmlns:mc="http://schemas.openxmlformats.org/markup-compatibility/2006">
            <mc:Choice xmlns:a14="http://schemas.microsoft.com/office/drawing/2010/main" Requires="a14">
              <p:sp>
                <p:nvSpPr>
                  <p:cNvPr id="12" name="TextBox 12"/>
                  <p:cNvSpPr txBox="1"/>
                  <p:nvPr/>
                </p:nvSpPr>
                <p:spPr>
                  <a:xfrm>
                    <a:off x="1037082" y="2094014"/>
                    <a:ext cx="3928528" cy="471259"/>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 xml:space="preserve">a) Tìm cực trị: </a:t>
                    </a:r>
                    <a14:m>
                      <m:oMath xmlns:a="http://schemas.openxmlformats.org/drawingml/2006/main" xmlns:m="http://schemas.openxmlformats.org/officeDocument/2006/math">
                        <m:r>
                          <a:rPr lang="vi-VN" sz="2100" dirty="0">
                            <a:solidFill>
                              <a:srgbClr val="1D4ED8"/>
                            </a:solidFill>
                            <a:latin typeface="Cambria Math"/>
                            <a:ea typeface="Cambria Math"/>
                            <a:cs typeface="Cambria Math"/>
                          </a:rPr>
                          <m:t>y</m:t>
                        </m:r>
                        <m:r>
                          <m:rPr>
                            <m:sty m:val="p"/>
                          </m:rPr>
                          <a:rPr lang="vi-VN" sz="2100" dirty="0">
                            <a:solidFill>
                              <a:srgbClr val="1D4ED8"/>
                            </a:solidFill>
                            <a:latin typeface="Cambria Math"/>
                            <a:ea typeface="Cambria Math"/>
                            <a:cs typeface="Cambria Math"/>
                          </a:rPr>
                          <m:t>=−</m:t>
                        </m:r>
                        <m:sSup>
                          <m:e>
                            <m:r>
                              <a:rPr lang="vi-VN" sz="2100" dirty="0">
                                <a:solidFill>
                                  <a:srgbClr val="1D4ED8"/>
                                </a:solidFill>
                                <a:latin typeface="Cambria Math"/>
                                <a:ea typeface="Cambria Math"/>
                                <a:cs typeface="Cambria Math"/>
                              </a:rPr>
                              <m:t>x</m:t>
                            </m:r>
                          </m:e>
                          <m:sup>
                            <m:r>
                              <a:rPr lang="vi-VN" sz="2100" dirty="0">
                                <a:solidFill>
                                  <a:srgbClr val="1D4ED8"/>
                                </a:solidFill>
                                <a:latin typeface="Cambria Math"/>
                                <a:ea typeface="Cambria Math"/>
                                <a:cs typeface="Cambria Math"/>
                              </a:rPr>
                              <m:t>3</m:t>
                            </m:r>
                          </m:sup>
                        </m:sSup>
                        <m:r>
                          <m:rPr>
                            <m:sty m:val="p"/>
                          </m:rPr>
                          <a:rPr lang="vi-VN" sz="2100" dirty="0">
                            <a:solidFill>
                              <a:srgbClr val="1D4ED8"/>
                            </a:solidFill>
                            <a:latin typeface="Cambria Math"/>
                            <a:ea typeface="Cambria Math"/>
                            <a:cs typeface="Cambria Math"/>
                          </a:rPr>
                          <m:t>+</m:t>
                        </m:r>
                        <m:r>
                          <a:rPr lang="vi-VN" sz="2100" dirty="0">
                            <a:solidFill>
                              <a:srgbClr val="1D4ED8"/>
                            </a:solidFill>
                            <a:latin typeface="Cambria Math"/>
                            <a:ea typeface="Cambria Math"/>
                            <a:cs typeface="Cambria Math"/>
                          </a:rPr>
                          <m:t>3</m:t>
                        </m:r>
                        <m:sSup>
                          <m:e>
                            <m:r>
                              <a:rPr lang="vi-VN" sz="2100" dirty="0">
                                <a:solidFill>
                                  <a:srgbClr val="1D4ED8"/>
                                </a:solidFill>
                                <a:latin typeface="Cambria Math"/>
                                <a:ea typeface="Cambria Math"/>
                                <a:cs typeface="Cambria Math"/>
                              </a:rPr>
                              <m:t>x</m:t>
                            </m:r>
                          </m:e>
                          <m:sup>
                            <m:r>
                              <a:rPr lang="vi-VN" sz="2100" dirty="0">
                                <a:solidFill>
                                  <a:srgbClr val="1D4ED8"/>
                                </a:solidFill>
                                <a:latin typeface="Cambria Math"/>
                                <a:ea typeface="Cambria Math"/>
                                <a:cs typeface="Cambria Math"/>
                              </a:rPr>
                              <m:t>2</m:t>
                            </m:r>
                          </m:sup>
                        </m:sSup>
                        <m:r>
                          <m:rPr>
                            <m:sty m:val="p"/>
                          </m:rPr>
                          <a:rPr lang="vi-VN" sz="2100" dirty="0">
                            <a:solidFill>
                              <a:srgbClr val="1D4ED8"/>
                            </a:solidFill>
                            <a:latin typeface="Cambria Math"/>
                            <a:ea typeface="Cambria Math"/>
                            <a:cs typeface="Cambria Math"/>
                          </a:rPr>
                          <m:t>−</m:t>
                        </m:r>
                        <m:r>
                          <a:rPr lang="vi-VN" sz="2100" dirty="0">
                            <a:solidFill>
                              <a:srgbClr val="1D4ED8"/>
                            </a:solidFill>
                            <a:latin typeface="Cambria Math"/>
                            <a:ea typeface="Cambria Math"/>
                            <a:cs typeface="Cambria Math"/>
                          </a:rPr>
                          <m:t>4</m:t>
                        </m:r>
                      </m:oMath>
                    </a14:m>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1037082" y="2583180"/>
                    <a:ext cx="2828789"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Tập xác định: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D</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oMath>
                    </a14:m>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1037082" y="2903639"/>
                    <a:ext cx="3359583" cy="484594"/>
                  </a:xfrm>
                  <a:prstGeom prst="rect">
                    <a:avLst/>
                  </a:prstGeom>
                  <a:noFill/>
                  <a:ln>
                    <a:noFill/>
                  </a:ln>
                </p:spPr>
                <p:txBody>
                  <a:bodyPr wrap="none" lIns="0" tIns="0" rIns="0" bIns="0" anchor="t" anchorCtr="0">
                    <a:spAutoFit/>
                  </a:bodyPr>
                  <a:lstStyle/>
                  <a:p>
                    <a:pPr algn="l" marL="167461" indent="-167461">
                      <a:buClr>
                        <a:srgbClr val="0F172A"/>
                      </a:buClr>
                      <a:buSzTx/>
                      <a:buFontTx/>
                      <a:buChar char="•"/>
                    </a:pP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6x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3x</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e>
                        </m:d>
                      </m:oMath>
                    </a14:m>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1037082" y="3392805"/>
                    <a:ext cx="3303184" cy="410718"/>
                  </a:xfrm>
                  <a:prstGeom prst="rect">
                    <a:avLst/>
                  </a:prstGeom>
                  <a:noFill/>
                  <a:ln>
                    <a:noFill/>
                  </a:ln>
                </p:spPr>
                <p:txBody>
                  <a:bodyPr wrap="none" lIns="0" tIns="0" rIns="0" bIns="0" anchor="t" anchorCtr="0">
                    <a:spAutoFit/>
                  </a:bodyPr>
                  <a:lstStyle/>
                  <a:p>
                    <a:pPr algn="l" marL="167461" indent="-167461">
                      <a:buClr>
                        <a:srgbClr val="1E40AF"/>
                      </a:buClr>
                      <a:buSzTx/>
                      <a:buFontTx/>
                      <a:buChar char="•"/>
                    </a:pP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hoặc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2</m:t>
                        </m:r>
                      </m:oMath>
                    </a14:m>
                  </a:p>
                </p:txBody>
              </p:sp>
            </mc:Choice>
          </mc:AlternateContent>
          <mc:AlternateContent xmlns:mc="http://schemas.openxmlformats.org/markup-compatibility/2006">
            <mc:Choice xmlns:a14="http://schemas.microsoft.com/office/drawing/2010/main" Requires="a14">
              <p:sp>
                <p:nvSpPr>
                  <p:cNvPr id="16" name="TextBox 16"/>
                  <p:cNvSpPr txBox="1"/>
                  <p:nvPr/>
                </p:nvSpPr>
                <p:spPr>
                  <a:xfrm>
                    <a:off x="1037082" y="3964305"/>
                    <a:ext cx="3916997" cy="455257"/>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 Cực đại: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2</m:t>
                        </m:r>
                        <m:r>
                          <m:rPr>
                            <m:sty m:val="p"/>
                          </m:rPr>
                          <a:rPr lang="vi-VN" sz="2100" dirty="0">
                            <a:solidFill>
                              <a:srgbClr val="047857"/>
                            </a:solidFill>
                            <a:latin typeface="Cambria Math"/>
                            <a:ea typeface="Cambria Math"/>
                            <a:cs typeface="Cambria Math"/>
                          </a:rPr>
                          <m:t>⇒</m:t>
                        </m:r>
                        <m:sSub>
                          <m:e>
                            <m:r>
                              <a:rPr lang="vi-VN" sz="2100" dirty="0">
                                <a:solidFill>
                                  <a:srgbClr val="047857"/>
                                </a:solidFill>
                                <a:latin typeface="Cambria Math"/>
                                <a:ea typeface="Cambria Math"/>
                                <a:cs typeface="Cambria Math"/>
                              </a:rPr>
                              <m:t>y</m:t>
                            </m:r>
                          </m:e>
                          <m:sub>
                            <m:r>
                              <a:rPr lang="vi-VN" sz="2100" dirty="0">
                                <a:solidFill>
                                  <a:srgbClr val="047857"/>
                                </a:solidFill>
                                <a:latin typeface="Cambria Math"/>
                                <a:ea typeface="Cambria Math"/>
                                <a:cs typeface="Cambria Math"/>
                              </a:rPr>
                              <m:t>CĐ</m:t>
                            </m:r>
                          </m:sub>
                        </m:sSub>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0</m:t>
                        </m:r>
                      </m:oMath>
                    </a14:m>
                  </a:p>
                </p:txBody>
              </p:sp>
            </mc:Choice>
          </mc:AlternateContent>
          <mc:AlternateContent xmlns:mc="http://schemas.openxmlformats.org/markup-compatibility/2006">
            <mc:Choice xmlns:a14="http://schemas.microsoft.com/office/drawing/2010/main" Requires="a14">
              <p:sp>
                <p:nvSpPr>
                  <p:cNvPr id="17" name="TextBox 17"/>
                  <p:cNvSpPr txBox="1"/>
                  <p:nvPr/>
                </p:nvSpPr>
                <p:spPr>
                  <a:xfrm>
                    <a:off x="1037082" y="4392930"/>
                    <a:ext cx="4074383" cy="455257"/>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 xml:space="preserve">⇒ Cực tiểu: </a:t>
                    </a: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0</m:t>
                        </m:r>
                        <m:r>
                          <m:rPr>
                            <m:sty m:val="p"/>
                          </m:rPr>
                          <a:rPr lang="vi-VN" sz="2100" dirty="0">
                            <a:solidFill>
                              <a:srgbClr val="DC2626"/>
                            </a:solidFill>
                            <a:latin typeface="Cambria Math"/>
                            <a:ea typeface="Cambria Math"/>
                            <a:cs typeface="Cambria Math"/>
                          </a:rPr>
                          <m:t>⇒</m:t>
                        </m:r>
                        <m:sSub>
                          <m:e>
                            <m:r>
                              <a:rPr lang="vi-VN" sz="2100" dirty="0">
                                <a:solidFill>
                                  <a:srgbClr val="DC2626"/>
                                </a:solidFill>
                                <a:latin typeface="Cambria Math"/>
                                <a:ea typeface="Cambria Math"/>
                                <a:cs typeface="Cambria Math"/>
                              </a:rPr>
                              <m:t>y</m:t>
                            </m:r>
                          </m:e>
                          <m:sub>
                            <m:r>
                              <a:rPr lang="vi-VN" sz="2100" dirty="0">
                                <a:solidFill>
                                  <a:srgbClr val="DC2626"/>
                                </a:solidFill>
                                <a:latin typeface="Cambria Math"/>
                                <a:ea typeface="Cambria Math"/>
                                <a:cs typeface="Cambria Math"/>
                              </a:rPr>
                              <m:t>CT</m:t>
                            </m:r>
                          </m:sub>
                        </m:sSub>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4</m:t>
                        </m:r>
                      </m:oMath>
                    </a14:m>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1037082" y="4951095"/>
                    <a:ext cx="3183295" cy="43738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Điểm CĐ đồ thị: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A</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2</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e>
                        </m:d>
                      </m:oMath>
                    </a14:m>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1037082" y="5332095"/>
                    <a:ext cx="3250784" cy="43738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Điểm CT đồ thị: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B</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4</m:t>
                            </m:r>
                          </m:e>
                        </m:d>
                      </m:oMath>
                    </a14:m>
                  </a:p>
                </p:txBody>
              </p:sp>
            </mc:Choice>
          </mc:AlternateContent>
          <p:sp>
            <p:nvSpPr>
              <p:cNvPr id="20" name="Rectangle 20"/>
              <p:cNvSpPr/>
              <p:nvPr/>
            </p:nvSpPr>
            <p:spPr>
              <a:xfrm>
                <a:off x="6238875" y="1952625"/>
                <a:ext cx="5143500" cy="4143375"/>
              </a:xfrm>
              <a:prstGeom prst="roundRect">
                <a:avLst>
                  <a:gd name="adj" fmla="val 3218"/>
                </a:avLst>
              </a:prstGeom>
              <a:solidFill>
                <a:srgbClr val="EFF6FF"/>
              </a:solidFill>
              <a:ln w="14288">
                <a:solidFill>
                  <a:srgbClr val="BFDBFE"/>
                </a:solidFill>
              </a:ln>
            </p:spPr>
          </p:sp>
          <mc:AlternateContent xmlns:mc="http://schemas.openxmlformats.org/markup-compatibility/2006">
            <mc:Choice xmlns:a14="http://schemas.microsoft.com/office/drawing/2010/main" Requires="a14">
              <p:sp>
                <p:nvSpPr>
                  <p:cNvPr id="21" name="TextBox 21"/>
                  <p:cNvSpPr txBox="1"/>
                  <p:nvPr/>
                </p:nvSpPr>
                <p:spPr>
                  <a:xfrm>
                    <a:off x="6466332" y="2047779"/>
                    <a:ext cx="3092384" cy="65777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b)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f>
                          <m:fPr>
                            <m:type m:val="bar"/>
                            <m:ctrlPr>
                              <a:rPr lang="vi-VN" sz="2100" dirty="0">
                                <a:solidFill>
                                  <a:srgbClr val="1E40AF"/>
                                </a:solidFill>
                                <a:latin typeface="Cambria Math"/>
                                <a:ea typeface="Cambria Math"/>
                                <a:cs typeface="Cambria Math"/>
                              </a:rPr>
                            </m:ctrlPr>
                          </m:fPr>
                          <m:num>
                            <m:sSup>
                              <m:e>
                                <m:r>
                                  <a:rPr lang="vi-VN" sz="2100" dirty="0">
                                    <a:solidFill>
                                      <a:srgbClr val="1E40AF"/>
                                    </a:solidFill>
                                    <a:latin typeface="Cambria Math"/>
                                    <a:ea typeface="Cambria Math"/>
                                    <a:cs typeface="Cambria Math"/>
                                  </a:rPr>
                                  <m:t>x</m:t>
                                </m:r>
                              </m:e>
                              <m:sup>
                                <m:r>
                                  <a:rPr lang="vi-VN" sz="2100" dirty="0">
                                    <a:solidFill>
                                      <a:srgbClr val="1E40AF"/>
                                    </a:solidFill>
                                    <a:latin typeface="Cambria Math"/>
                                    <a:ea typeface="Cambria Math"/>
                                    <a:cs typeface="Cambria Math"/>
                                  </a:rPr>
                                  <m:t>2</m:t>
                                </m:r>
                              </m:sup>
                            </m:sSup>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2x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3</m:t>
                            </m:r>
                          </m:num>
                          <m:den>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den>
                        </m:f>
                      </m:oMath>
                    </a14:m>
                  </a:p>
                </p:txBody>
              </p:sp>
            </mc:Choice>
          </mc:AlternateContent>
          <mc:AlternateContent xmlns:mc="http://schemas.openxmlformats.org/markup-compatibility/2006">
            <mc:Choice xmlns:a14="http://schemas.microsoft.com/office/drawing/2010/main" Requires="a14">
              <p:sp>
                <p:nvSpPr>
                  <p:cNvPr id="22" name="TextBox 22"/>
                  <p:cNvSpPr txBox="1"/>
                  <p:nvPr/>
                </p:nvSpPr>
                <p:spPr>
                  <a:xfrm>
                    <a:off x="6466332" y="2569845"/>
                    <a:ext cx="2344872"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TXĐ: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D</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1</m:t>
                            </m:r>
                          </m:e>
                        </m:d>
                      </m:oMath>
                    </a14:m>
                  </a:p>
                </p:txBody>
              </p:sp>
            </mc:Choice>
          </mc:AlternateContent>
          <mc:AlternateContent xmlns:mc="http://schemas.openxmlformats.org/markup-compatibility/2006">
            <mc:Choice xmlns:a14="http://schemas.microsoft.com/office/drawing/2010/main" Requires="a14">
              <p:sp>
                <p:nvSpPr>
                  <p:cNvPr id="23" name="TextBox 23"/>
                  <p:cNvSpPr txBox="1"/>
                  <p:nvPr/>
                </p:nvSpPr>
                <p:spPr>
                  <a:xfrm>
                    <a:off x="6466332" y="2857404"/>
                    <a:ext cx="3146821" cy="708014"/>
                  </a:xfrm>
                  <a:prstGeom prst="rect">
                    <a:avLst/>
                  </a:prstGeom>
                  <a:noFill/>
                  <a:ln>
                    <a:noFill/>
                  </a:ln>
                </p:spPr>
                <p:txBody>
                  <a:bodyPr wrap="none" lIns="0" tIns="0" rIns="0" bIns="0" anchor="t" anchorCtr="0">
                    <a:spAutoFit/>
                  </a:bodyPr>
                  <a:lstStyle/>
                  <a:p>
                    <a:pPr algn="l" marL="167461" indent="-167461">
                      <a:buClr>
                        <a:srgbClr val="0F172A"/>
                      </a:buClr>
                      <a:buSzTx/>
                      <a:buFontTx/>
                      <a:buChar char="•"/>
                    </a:pP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f>
                          <m:fPr>
                            <m:type m:val="bar"/>
                            <m:ctrlPr>
                              <a:rPr lang="vi-VN" sz="2100" dirty="0">
                                <a:solidFill>
                                  <a:srgbClr val="0F172A"/>
                                </a:solidFill>
                                <a:latin typeface="Cambria Math"/>
                                <a:ea typeface="Cambria Math"/>
                                <a:cs typeface="Cambria Math"/>
                              </a:rPr>
                            </m:ctrlPr>
                          </m:fPr>
                          <m:num>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5</m:t>
                            </m:r>
                          </m:num>
                          <m:den>
                            <m:sSup>
                              <m:e>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e>
                                </m:d>
                              </m:e>
                              <m:sup>
                                <m:r>
                                  <a:rPr lang="vi-VN" sz="2100" dirty="0">
                                    <a:solidFill>
                                      <a:srgbClr val="0F172A"/>
                                    </a:solidFill>
                                    <a:latin typeface="Cambria Math"/>
                                    <a:ea typeface="Cambria Math"/>
                                    <a:cs typeface="Cambria Math"/>
                                  </a:rPr>
                                  <m:t>2</m:t>
                                </m:r>
                              </m:sup>
                            </m:sSup>
                          </m:den>
                        </m:f>
                      </m:oMath>
                    </a14:m>
                  </a:p>
                </p:txBody>
              </p:sp>
            </mc:Choice>
          </mc:AlternateContent>
          <mc:AlternateContent xmlns:mc="http://schemas.openxmlformats.org/markup-compatibility/2006">
            <mc:Choice xmlns:a14="http://schemas.microsoft.com/office/drawing/2010/main" Requires="a14">
              <p:sp>
                <p:nvSpPr>
                  <p:cNvPr id="24" name="TextBox 24"/>
                  <p:cNvSpPr txBox="1"/>
                  <p:nvPr/>
                </p:nvSpPr>
                <p:spPr>
                  <a:xfrm>
                    <a:off x="6466332" y="3332264"/>
                    <a:ext cx="3714859" cy="484594"/>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Tử số: </a:t>
                    </a:r>
                    <a14:m>
                      <m:oMath xmlns:a="http://schemas.openxmlformats.org/drawingml/2006/main" xmlns:m="http://schemas.openxmlformats.org/officeDocument/2006/math">
                        <m:sSup>
                          <m:e>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e>
                            </m:d>
                          </m:e>
                          <m:sup>
                            <m:r>
                              <a:rPr lang="vi-VN" sz="2100" dirty="0">
                                <a:solidFill>
                                  <a:srgbClr val="1E40AF"/>
                                </a:solidFill>
                                <a:latin typeface="Cambria Math"/>
                                <a:ea typeface="Cambria Math"/>
                                <a:cs typeface="Cambria Math"/>
                              </a:rPr>
                              <m:t>2</m:t>
                            </m:r>
                          </m:sup>
                        </m:sSup>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4</m:t>
                        </m:r>
                        <m:r>
                          <m:rPr>
                            <m:sty m:val="p"/>
                          </m:rPr>
                          <a:rPr lang="vi-VN" sz="2100" dirty="0">
                            <a:solidFill>
                              <a:srgbClr val="1E40AF"/>
                            </a:solidFill>
                            <a:latin typeface="Cambria Math"/>
                            <a:ea typeface="Cambria Math"/>
                            <a:cs typeface="Cambria Math"/>
                          </a:rPr>
                          <m:t>&gt;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oMath>
                    </a14:m>
                  </a:p>
                </p:txBody>
              </p:sp>
            </mc:Choice>
          </mc:AlternateContent>
          <mc:AlternateContent xmlns:mc="http://schemas.openxmlformats.org/markup-compatibility/2006">
            <mc:Choice xmlns:a14="http://schemas.microsoft.com/office/drawing/2010/main" Requires="a14">
              <p:sp>
                <p:nvSpPr>
                  <p:cNvPr id="25" name="TextBox 25"/>
                  <p:cNvSpPr txBox="1"/>
                  <p:nvPr/>
                </p:nvSpPr>
                <p:spPr>
                  <a:xfrm>
                    <a:off x="6466332" y="3821430"/>
                    <a:ext cx="1914026"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y'</m:t>
                        </m:r>
                        <m:r>
                          <m:rPr>
                            <m:sty m:val="p"/>
                          </m:rPr>
                          <a:rPr lang="vi-VN" sz="2100" dirty="0">
                            <a:solidFill>
                              <a:srgbClr val="047857"/>
                            </a:solidFill>
                            <a:latin typeface="Cambria Math"/>
                            <a:ea typeface="Cambria Math"/>
                            <a:cs typeface="Cambria Math"/>
                          </a:rPr>
                          <m:t>&gt;</m:t>
                        </m:r>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1</m:t>
                        </m:r>
                      </m:oMath>
                    </a14:m>
                  </a:p>
                </p:txBody>
              </p:sp>
            </mc:Choice>
          </mc:AlternateContent>
          <p:sp>
            <p:nvSpPr>
              <p:cNvPr id="26" name="TextBox 26"/>
              <p:cNvSpPr txBox="1"/>
              <p:nvPr/>
            </p:nvSpPr>
            <p:spPr>
              <a:xfrm>
                <a:off x="6465570" y="4329112"/>
                <a:ext cx="4919184" cy="440055"/>
              </a:xfrm>
              <a:prstGeom prst="rect">
                <a:avLst/>
              </a:prstGeom>
              <a:noFill/>
              <a:ln>
                <a:noFill/>
              </a:ln>
            </p:spPr>
            <p:txBody>
              <a:bodyPr wrap="none" lIns="0" tIns="0" rIns="0" bIns="0" anchor="t" anchorCtr="0">
                <a:spAutoFit/>
              </a:bodyPr>
              <a:lstStyle/>
              <a:p>
                <a:pPr algn="l"/>
                <a:r>
                  <a:rPr lang="vi-VN" sz="2250" b="1" dirty="0">
                    <a:solidFill>
                      <a:srgbClr val="DC2626"/>
                    </a:solidFill>
                    <a:latin typeface="+mn-lt"/>
                    <a:ea typeface="+mn-ea"/>
                    <a:cs typeface="+mn-cs"/>
                  </a:rPr>
                  <a:t>⇒ HÀM SỐ KHÔNG CÓ CỰC TRỊ!</a:t>
                </a:r>
              </a:p>
            </p:txBody>
          </p:sp>
          <p:sp>
            <p:nvSpPr>
              <p:cNvPr id="27" name="TextBox 27"/>
              <p:cNvSpPr txBox="1"/>
              <p:nvPr/>
            </p:nvSpPr>
            <p:spPr>
              <a:xfrm>
                <a:off x="6466332" y="4964430"/>
                <a:ext cx="574828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Đạo hàm không triệt tiêu và không đổi dấu</a:t>
                </a:r>
              </a:p>
            </p:txBody>
          </p:sp>
        </p:gr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20739" y="238125"/>
            <a:ext cx="11295011" cy="714375"/>
            <a:chOff x="420739" y="238125"/>
            <a:chExt cx="11295011"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420739" y="459105"/>
              <a:ext cx="1863623"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VẬN DỤNG 2</a:t>
              </a:r>
            </a:p>
          </p:txBody>
        </p:sp>
        <p:sp>
          <p:nvSpPr>
            <p:cNvPr id="7" name="TextBox 7"/>
            <p:cNvSpPr txBox="1"/>
            <p:nvPr/>
          </p:nvSpPr>
          <p:spPr>
            <a:xfrm>
              <a:off x="2179701" y="460534"/>
              <a:ext cx="6080976"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II. CỰC TRỊ: Vận dụng 2 — Độ cao lớn nhất</a:t>
              </a:r>
            </a:p>
          </p:txBody>
        </p:sp>
      </p:grpSp>
      <p:grpSp>
        <p:nvGrpSpPr>
          <p:cNvPr id="26" name="content"/>
          <p:cNvGrpSpPr/>
          <p:nvPr/>
        </p:nvGrpSpPr>
        <p:grpSpPr>
          <a:xfrm>
            <a:off x="476250" y="1190625"/>
            <a:ext cx="11446289" cy="5191125"/>
            <a:chOff x="476250" y="1190625"/>
            <a:chExt cx="11446289" cy="5191125"/>
          </a:xfrm>
        </p:grpSpPr>
        <p:sp>
          <p:nvSpPr>
            <p:cNvPr id="9" name="Rectangle 9"/>
            <p:cNvSpPr/>
            <p:nvPr/>
          </p:nvSpPr>
          <p:spPr>
            <a:xfrm>
              <a:off x="476250" y="1190625"/>
              <a:ext cx="57150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957" y="1440180"/>
              <a:ext cx="5979405"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VẬN DỤNG 2 (SGK TOÁN 12 - TRANG 12):</a:t>
              </a:r>
            </a:p>
          </p:txBody>
        </p:sp>
        <p:sp>
          <p:nvSpPr>
            <p:cNvPr id="11" name="TextBox 11"/>
            <p:cNvSpPr txBox="1"/>
            <p:nvPr/>
          </p:nvSpPr>
          <p:spPr>
            <a:xfrm>
              <a:off x="798957" y="1868805"/>
              <a:ext cx="4947691"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Vật phóng thẳng đứng từ độ cao 1m:</a:t>
              </a:r>
            </a:p>
          </p:txBody>
        </p:sp>
        <p:sp>
          <p:nvSpPr>
            <p:cNvPr id="12" name="Rectangle 12"/>
            <p:cNvSpPr/>
            <p:nvPr/>
          </p:nvSpPr>
          <p:spPr>
            <a:xfrm>
              <a:off x="809625" y="2286000"/>
              <a:ext cx="5048250" cy="571500"/>
            </a:xfrm>
            <a:prstGeom prst="roundRect">
              <a:avLst>
                <a:gd name="adj" fmla="val 16667"/>
              </a:avLst>
            </a:prstGeom>
            <a:solidFill>
              <a:srgbClr val="FEF3C7"/>
            </a:solidFill>
            <a:ln>
              <a:noFill/>
            </a:ln>
          </p:spPr>
        </p:sp>
        <mc:AlternateContent xmlns:mc="http://schemas.openxmlformats.org/markup-compatibility/2006">
          <mc:Choice xmlns:a14="http://schemas.microsoft.com/office/drawing/2010/main" Requires="a14">
            <p:sp>
              <p:nvSpPr>
                <p:cNvPr id="13" name="TextBox 13"/>
                <p:cNvSpPr txBox="1"/>
                <p:nvPr/>
              </p:nvSpPr>
              <p:spPr>
                <a:xfrm>
                  <a:off x="988695" y="2359247"/>
                  <a:ext cx="3336168" cy="51920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250" dirty="0">
                          <a:solidFill>
                            <a:srgbClr val="B45309"/>
                          </a:solidFill>
                          <a:latin typeface="Cambria Math"/>
                          <a:ea typeface="Cambria Math"/>
                          <a:cs typeface="Cambria Math"/>
                        </a:rPr>
                        <m:t>h</m:t>
                      </m:r>
                      <m:d>
                        <m:dPr>
                          <m:begChr m:val="("/>
                          <m:sepChr m:val=""/>
                          <m:endChr m:val=")"/>
                          <m:grow m:val="on"/>
                          <m:ctrlPr>
                            <a:rPr lang="vi-VN" sz="2250" dirty="0">
                              <a:solidFill>
                                <a:srgbClr val="B45309"/>
                              </a:solidFill>
                              <a:latin typeface="Cambria Math"/>
                              <a:ea typeface="Cambria Math"/>
                              <a:cs typeface="Cambria Math"/>
                            </a:rPr>
                          </m:ctrlPr>
                        </m:dPr>
                        <m:e>
                          <m:r>
                            <a:rPr lang="vi-VN" sz="2250" dirty="0">
                              <a:solidFill>
                                <a:srgbClr val="B45309"/>
                              </a:solidFill>
                              <a:latin typeface="Cambria Math"/>
                              <a:ea typeface="Cambria Math"/>
                              <a:cs typeface="Cambria Math"/>
                            </a:rPr>
                            <m:t>t</m:t>
                          </m:r>
                        </m:e>
                      </m:d>
                      <m:r>
                        <m:rPr>
                          <m:sty m:val="p"/>
                        </m:rPr>
                        <a:rPr lang="vi-VN" sz="2250" dirty="0">
                          <a:solidFill>
                            <a:srgbClr val="B45309"/>
                          </a:solidFill>
                          <a:latin typeface="Cambria Math"/>
                          <a:ea typeface="Cambria Math"/>
                          <a:cs typeface="Cambria Math"/>
                        </a:rPr>
                        <m:t>=</m:t>
                      </m:r>
                      <m:r>
                        <a:rPr lang="vi-VN" sz="2250" dirty="0">
                          <a:solidFill>
                            <a:srgbClr val="B45309"/>
                          </a:solidFill>
                          <a:latin typeface="Cambria Math"/>
                          <a:ea typeface="Cambria Math"/>
                          <a:cs typeface="Cambria Math"/>
                        </a:rPr>
                        <m:t>1</m:t>
                      </m:r>
                      <m:r>
                        <m:rPr>
                          <m:sty m:val="p"/>
                        </m:rPr>
                        <a:rPr lang="vi-VN" sz="2250" dirty="0">
                          <a:solidFill>
                            <a:srgbClr val="B45309"/>
                          </a:solidFill>
                          <a:latin typeface="Cambria Math"/>
                          <a:ea typeface="Cambria Math"/>
                          <a:cs typeface="Cambria Math"/>
                        </a:rPr>
                        <m:t>+</m:t>
                      </m:r>
                      <m:r>
                        <a:rPr lang="vi-VN" sz="2250" dirty="0">
                          <a:solidFill>
                            <a:srgbClr val="B45309"/>
                          </a:solidFill>
                          <a:latin typeface="Cambria Math"/>
                          <a:ea typeface="Cambria Math"/>
                          <a:cs typeface="Cambria Math"/>
                        </a:rPr>
                        <m:t>10t</m:t>
                      </m:r>
                      <m:r>
                        <m:rPr>
                          <m:sty m:val="p"/>
                        </m:rPr>
                        <a:rPr lang="vi-VN" sz="2250" dirty="0">
                          <a:solidFill>
                            <a:srgbClr val="B45309"/>
                          </a:solidFill>
                          <a:latin typeface="Cambria Math"/>
                          <a:ea typeface="Cambria Math"/>
                          <a:cs typeface="Cambria Math"/>
                        </a:rPr>
                        <m:t>−</m:t>
                      </m:r>
                      <m:r>
                        <a:rPr lang="vi-VN" sz="2250" dirty="0">
                          <a:solidFill>
                            <a:srgbClr val="B45309"/>
                          </a:solidFill>
                          <a:latin typeface="Cambria Math"/>
                          <a:ea typeface="Cambria Math"/>
                          <a:cs typeface="Cambria Math"/>
                        </a:rPr>
                        <m:t>5</m:t>
                      </m:r>
                      <m:sSup>
                        <m:e>
                          <m:r>
                            <a:rPr lang="vi-VN" sz="2250" dirty="0">
                              <a:solidFill>
                                <a:srgbClr val="B45309"/>
                              </a:solidFill>
                              <a:latin typeface="Cambria Math"/>
                              <a:ea typeface="Cambria Math"/>
                              <a:cs typeface="Cambria Math"/>
                            </a:rPr>
                            <m:t>t</m:t>
                          </m:r>
                        </m:e>
                        <m:sup>
                          <m:r>
                            <a:rPr lang="vi-VN" sz="2250" dirty="0">
                              <a:solidFill>
                                <a:srgbClr val="B45309"/>
                              </a:solidFill>
                              <a:latin typeface="Cambria Math"/>
                              <a:ea typeface="Cambria Math"/>
                              <a:cs typeface="Cambria Math"/>
                            </a:rPr>
                            <m:t>2</m:t>
                          </m:r>
                        </m:sup>
                      </m:sSup>
                    </m:oMath>
                  </a14:m>
                  <a:r>
                    <a:rPr lang="vi-VN" sz="2250" b="1" dirty="0">
                      <a:solidFill>
                        <a:srgbClr val="B45309"/>
                      </a:solidFill>
                      <a:latin typeface="+mn-lt"/>
                      <a:ea typeface="+mn-ea"/>
                      <a:cs typeface="+mn-cs"/>
                    </a:rPr>
                    <a:t xml:space="preserve"> </a:t>
                  </a:r>
                  <a14:m>
                    <m:oMath xmlns:a="http://schemas.openxmlformats.org/drawingml/2006/main" xmlns:m="http://schemas.openxmlformats.org/officeDocument/2006/math">
                      <m:d>
                        <m:dPr>
                          <m:begChr m:val="("/>
                          <m:sepChr m:val=""/>
                          <m:endChr m:val=")"/>
                          <m:grow m:val="on"/>
                          <m:ctrlPr>
                            <a:rPr lang="vi-VN" sz="2250" dirty="0">
                              <a:solidFill>
                                <a:srgbClr val="B45309"/>
                              </a:solidFill>
                              <a:latin typeface="Cambria Math"/>
                              <a:ea typeface="Cambria Math"/>
                              <a:cs typeface="Cambria Math"/>
                            </a:rPr>
                          </m:ctrlPr>
                        </m:dPr>
                        <m:e>
                          <m:r>
                            <a:rPr lang="vi-VN" sz="2250" dirty="0">
                              <a:solidFill>
                                <a:srgbClr val="B45309"/>
                              </a:solidFill>
                              <a:latin typeface="Cambria Math"/>
                              <a:ea typeface="Cambria Math"/>
                              <a:cs typeface="Cambria Math"/>
                            </a:rPr>
                            <m:t>t</m:t>
                          </m:r>
                          <m:r>
                            <m:rPr>
                              <m:sty m:val="p"/>
                            </m:rPr>
                            <a:rPr lang="vi-VN" sz="2250" dirty="0">
                              <a:solidFill>
                                <a:srgbClr val="B45309"/>
                              </a:solidFill>
                              <a:latin typeface="Cambria Math"/>
                              <a:ea typeface="Cambria Math"/>
                              <a:cs typeface="Cambria Math"/>
                            </a:rPr>
                            <m:t>≥</m:t>
                          </m:r>
                          <m:r>
                            <a:rPr lang="vi-VN" sz="2250" dirty="0">
                              <a:solidFill>
                                <a:srgbClr val="B45309"/>
                              </a:solidFill>
                              <a:latin typeface="Cambria Math"/>
                              <a:ea typeface="Cambria Math"/>
                              <a:cs typeface="Cambria Math"/>
                            </a:rPr>
                            <m:t>0</m:t>
                          </m:r>
                        </m:e>
                      </m:d>
                    </m:oMath>
                  </a14:m>
                </a:p>
              </p:txBody>
            </p:sp>
          </mc:Choice>
        </mc:AlternateContent>
        <p:sp>
          <p:nvSpPr>
            <p:cNvPr id="14" name="TextBox 14"/>
            <p:cNvSpPr txBox="1"/>
            <p:nvPr/>
          </p:nvSpPr>
          <p:spPr>
            <a:xfrm>
              <a:off x="798195" y="2947988"/>
              <a:ext cx="6641818" cy="440055"/>
            </a:xfrm>
            <a:prstGeom prst="rect">
              <a:avLst/>
            </a:prstGeom>
            <a:noFill/>
            <a:ln>
              <a:noFill/>
            </a:ln>
          </p:spPr>
          <p:txBody>
            <a:bodyPr wrap="none" lIns="0" tIns="0" rIns="0" bIns="0" anchor="t" anchorCtr="0">
              <a:spAutoFit/>
            </a:bodyPr>
            <a:lstStyle/>
            <a:p>
              <a:pPr algn="l"/>
              <a:r>
                <a:rPr lang="vi-VN" sz="2250" b="1" dirty="0">
                  <a:solidFill>
                    <a:srgbClr val="B91C1C"/>
                  </a:solidFill>
                  <a:latin typeface="+mn-lt"/>
                  <a:ea typeface="+mn-ea"/>
                  <a:cs typeface="+mn-cs"/>
                </a:rPr>
                <a:t>Hỏi: Tại thời điểm nào vật đạt độ cao cực đại?</a:t>
              </a:r>
            </a:p>
          </p:txBody>
        </p:sp>
        <p:grpSp>
          <p:nvGrpSpPr>
            <p:cNvPr id="21" name="Group 21"/>
            <p:cNvGrpSpPr/>
            <p:nvPr/>
          </p:nvGrpSpPr>
          <p:grpSpPr>
            <a:xfrm>
              <a:off x="798957" y="3583305"/>
              <a:ext cx="5068181" cy="2322195"/>
              <a:chOff x="798957" y="3583305"/>
              <a:chExt cx="5068181" cy="2322195"/>
            </a:xfrm>
          </p:grpSpPr>
          <p:sp>
            <p:nvSpPr>
              <p:cNvPr id="15" name="TextBox 15"/>
              <p:cNvSpPr txBox="1"/>
              <p:nvPr/>
            </p:nvSpPr>
            <p:spPr>
              <a:xfrm>
                <a:off x="798957" y="3583305"/>
                <a:ext cx="4899770"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ÁP DỤNG ĐẠO HÀM TÌM CỰC TRỊ:</a:t>
                </a:r>
              </a:p>
            </p:txBody>
          </p:sp>
          <mc:AlternateContent xmlns:mc="http://schemas.openxmlformats.org/markup-compatibility/2006">
            <mc:Choice xmlns:a14="http://schemas.microsoft.com/office/drawing/2010/main" Requires="a14">
              <p:sp>
                <p:nvSpPr>
                  <p:cNvPr id="16" name="TextBox 16"/>
                  <p:cNvSpPr txBox="1"/>
                  <p:nvPr/>
                </p:nvSpPr>
                <p:spPr>
                  <a:xfrm>
                    <a:off x="798957" y="3950970"/>
                    <a:ext cx="3387062"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Đạo hàm: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h'</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t</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10t</m:t>
                        </m:r>
                      </m:oMath>
                    </a14:m>
                  </a:p>
                </p:txBody>
              </p:sp>
            </mc:Choice>
          </mc:AlternateContent>
          <mc:AlternateContent xmlns:mc="http://schemas.openxmlformats.org/markup-compatibility/2006">
            <mc:Choice xmlns:a14="http://schemas.microsoft.com/office/drawing/2010/main" Requires="a14">
              <p:sp>
                <p:nvSpPr>
                  <p:cNvPr id="17" name="TextBox 17"/>
                  <p:cNvSpPr txBox="1"/>
                  <p:nvPr/>
                </p:nvSpPr>
                <p:spPr>
                  <a:xfrm>
                    <a:off x="798957" y="4331970"/>
                    <a:ext cx="4282492" cy="437388"/>
                  </a:xfrm>
                  <a:prstGeom prst="rect">
                    <a:avLst/>
                  </a:prstGeom>
                  <a:noFill/>
                  <a:ln>
                    <a:noFill/>
                  </a:ln>
                </p:spPr>
                <p:txBody>
                  <a:bodyPr wrap="none" lIns="0" tIns="0" rIns="0" bIns="0" anchor="t" anchorCtr="0">
                    <a:spAutoFit/>
                  </a:bodyPr>
                  <a:lstStyle/>
                  <a:p>
                    <a:pPr algn="l" marL="167461" indent="-167461">
                      <a:buClr>
                        <a:srgbClr val="1E40AF"/>
                      </a:buClr>
                      <a:buSzTx/>
                      <a:buFontTx/>
                      <a:buChar char="•"/>
                    </a:pP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h'</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t</m:t>
                            </m:r>
                          </m:e>
                        </m:d>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10t</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t</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oMath>
                    </a14:m>
                    <a:r>
                      <a:rPr lang="vi-VN" sz="2100" b="1" dirty="0">
                        <a:solidFill>
                          <a:srgbClr val="1E40AF"/>
                        </a:solidFill>
                        <a:latin typeface="+mn-lt"/>
                        <a:ea typeface="+mn-ea"/>
                        <a:cs typeface="+mn-cs"/>
                      </a:rPr>
                      <a:t xml:space="preserve"> (s)</a:t>
                    </a:r>
                  </a:p>
                </p:txBody>
              </p:sp>
            </mc:Choice>
          </mc:AlternateContent>
          <p:sp>
            <p:nvSpPr>
              <p:cNvPr id="18" name="Rectangle 18"/>
              <p:cNvSpPr/>
              <p:nvPr/>
            </p:nvSpPr>
            <p:spPr>
              <a:xfrm>
                <a:off x="809625" y="4857750"/>
                <a:ext cx="5048250" cy="1047750"/>
              </a:xfrm>
              <a:prstGeom prst="roundRect">
                <a:avLst>
                  <a:gd name="adj" fmla="val 10909"/>
                </a:avLst>
              </a:prstGeom>
              <a:solidFill>
                <a:srgbClr val="F0FDF4"/>
              </a:solidFill>
              <a:ln w="19050">
                <a:solidFill>
                  <a:srgbClr val="BBF7D0"/>
                </a:solidFill>
              </a:ln>
            </p:spPr>
          </p:sp>
          <p:sp>
            <p:nvSpPr>
              <p:cNvPr id="19" name="TextBox 19"/>
              <p:cNvSpPr txBox="1"/>
              <p:nvPr/>
            </p:nvSpPr>
            <p:spPr>
              <a:xfrm>
                <a:off x="989457" y="5012055"/>
                <a:ext cx="4877681" cy="410718"/>
              </a:xfrm>
              <a:prstGeom prst="rect">
                <a:avLst/>
              </a:prstGeom>
              <a:noFill/>
              <a:ln>
                <a:noFill/>
              </a:ln>
            </p:spPr>
            <p:txBody>
              <a:bodyPr wrap="none" lIns="0" tIns="0" rIns="0" bIns="0" anchor="t" anchorCtr="0">
                <a:spAutoFit/>
              </a:bodyPr>
              <a:lstStyle/>
              <a:p>
                <a:pPr algn="l"/>
                <a:r>
                  <a:rPr lang="vi-VN" sz="2100" b="1" dirty="0">
                    <a:solidFill>
                      <a:srgbClr val="166534"/>
                    </a:solidFill>
                    <a:latin typeface="+mn-lt"/>
                    <a:ea typeface="+mn-ea"/>
                    <a:cs typeface="+mn-cs"/>
                  </a:rPr>
                  <a:t>⇒ Sau 1 giây, vật đạt độ cao cực đại:</a:t>
                </a:r>
              </a:p>
            </p:txBody>
          </p:sp>
          <mc:AlternateContent xmlns:mc="http://schemas.openxmlformats.org/markup-compatibility/2006">
            <mc:Choice xmlns:a14="http://schemas.microsoft.com/office/drawing/2010/main" Requires="a14">
              <p:sp>
                <p:nvSpPr>
                  <p:cNvPr id="20" name="TextBox 20"/>
                  <p:cNvSpPr txBox="1"/>
                  <p:nvPr/>
                </p:nvSpPr>
                <p:spPr>
                  <a:xfrm>
                    <a:off x="987933" y="5291480"/>
                    <a:ext cx="3184960" cy="589483"/>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b>
                          <m:e>
                            <m:r>
                              <a:rPr lang="vi-VN" sz="2400" dirty="0">
                                <a:solidFill>
                                  <a:srgbClr val="166534"/>
                                </a:solidFill>
                                <a:latin typeface="Cambria Math"/>
                                <a:ea typeface="Cambria Math"/>
                                <a:cs typeface="Cambria Math"/>
                              </a:rPr>
                              <m:t>h</m:t>
                            </m:r>
                          </m:e>
                          <m:sub>
                            <m:func>
                              <m:funcPr/>
                              <m:fName>
                                <m:r>
                                  <m:rPr>
                                    <m:sty m:val="p"/>
                                  </m:rPr>
                                  <a:rPr lang="vi-VN" sz="2400" dirty="0">
                                    <a:solidFill>
                                      <a:srgbClr val="166534"/>
                                    </a:solidFill>
                                    <a:latin typeface="Cambria Math"/>
                                    <a:ea typeface="Cambria Math"/>
                                    <a:cs typeface="Cambria Math"/>
                                  </a:rPr>
                                  <m:t>max</m:t>
                                </m:r>
                              </m:fName>
                              <m:e/>
                            </m:func>
                          </m:sub>
                        </m:sSub>
                        <m:r>
                          <m:rPr>
                            <m:sty m:val="p"/>
                          </m:rPr>
                          <a:rPr lang="vi-VN" sz="2400" dirty="0">
                            <a:solidFill>
                              <a:srgbClr val="166534"/>
                            </a:solidFill>
                            <a:latin typeface="Cambria Math"/>
                            <a:ea typeface="Cambria Math"/>
                            <a:cs typeface="Cambria Math"/>
                          </a:rPr>
                          <m:t>=</m:t>
                        </m:r>
                        <m:r>
                          <a:rPr lang="vi-VN" sz="2400" dirty="0">
                            <a:solidFill>
                              <a:srgbClr val="166534"/>
                            </a:solidFill>
                            <a:latin typeface="Cambria Math"/>
                            <a:ea typeface="Cambria Math"/>
                            <a:cs typeface="Cambria Math"/>
                          </a:rPr>
                          <m:t>h</m:t>
                        </m:r>
                        <m:d>
                          <m:dPr>
                            <m:begChr m:val="("/>
                            <m:sepChr m:val=""/>
                            <m:endChr m:val=")"/>
                            <m:grow m:val="on"/>
                            <m:ctrlPr>
                              <a:rPr lang="vi-VN" sz="2400" dirty="0">
                                <a:solidFill>
                                  <a:srgbClr val="166534"/>
                                </a:solidFill>
                                <a:latin typeface="Cambria Math"/>
                                <a:ea typeface="Cambria Math"/>
                                <a:cs typeface="Cambria Math"/>
                              </a:rPr>
                            </m:ctrlPr>
                          </m:dPr>
                          <m:e>
                            <m:r>
                              <a:rPr lang="vi-VN" sz="2400" dirty="0">
                                <a:solidFill>
                                  <a:srgbClr val="166534"/>
                                </a:solidFill>
                                <a:latin typeface="Cambria Math"/>
                                <a:ea typeface="Cambria Math"/>
                                <a:cs typeface="Cambria Math"/>
                              </a:rPr>
                              <m:t>1</m:t>
                            </m:r>
                          </m:e>
                        </m:d>
                        <m:r>
                          <m:rPr>
                            <m:sty m:val="p"/>
                          </m:rPr>
                          <a:rPr lang="vi-VN" sz="2400" dirty="0">
                            <a:solidFill>
                              <a:srgbClr val="166534"/>
                            </a:solidFill>
                            <a:latin typeface="Cambria Math"/>
                            <a:ea typeface="Cambria Math"/>
                            <a:cs typeface="Cambria Math"/>
                          </a:rPr>
                          <m:t>=</m:t>
                        </m:r>
                        <m:r>
                          <a:rPr lang="vi-VN" sz="2400" dirty="0">
                            <a:solidFill>
                              <a:srgbClr val="166534"/>
                            </a:solidFill>
                            <a:latin typeface="Cambria Math"/>
                            <a:ea typeface="Cambria Math"/>
                            <a:cs typeface="Cambria Math"/>
                          </a:rPr>
                          <m:t>1</m:t>
                        </m:r>
                        <m:r>
                          <m:rPr>
                            <m:sty m:val="p"/>
                          </m:rPr>
                          <a:rPr lang="vi-VN" sz="2400" dirty="0">
                            <a:solidFill>
                              <a:srgbClr val="166534"/>
                            </a:solidFill>
                            <a:latin typeface="Cambria Math"/>
                            <a:ea typeface="Cambria Math"/>
                            <a:cs typeface="Cambria Math"/>
                          </a:rPr>
                          <m:t>+</m:t>
                        </m:r>
                        <m:r>
                          <a:rPr lang="vi-VN" sz="2400" dirty="0">
                            <a:solidFill>
                              <a:srgbClr val="166534"/>
                            </a:solidFill>
                            <a:latin typeface="Cambria Math"/>
                            <a:ea typeface="Cambria Math"/>
                            <a:cs typeface="Cambria Math"/>
                          </a:rPr>
                          <m:t>10</m:t>
                        </m:r>
                        <m:d>
                          <m:dPr>
                            <m:begChr m:val="("/>
                            <m:sepChr m:val=""/>
                            <m:endChr m:val=")"/>
                            <m:grow m:val="on"/>
                            <m:ctrlPr>
                              <a:rPr lang="vi-VN" sz="2400" dirty="0">
                                <a:solidFill>
                                  <a:srgbClr val="166534"/>
                                </a:solidFill>
                                <a:latin typeface="Cambria Math"/>
                                <a:ea typeface="Cambria Math"/>
                                <a:cs typeface="Cambria Math"/>
                              </a:rPr>
                            </m:ctrlPr>
                          </m:dPr>
                          <m:e>
                            <m:r>
                              <a:rPr lang="vi-VN" sz="2400" dirty="0">
                                <a:solidFill>
                                  <a:srgbClr val="166534"/>
                                </a:solidFill>
                                <a:latin typeface="Cambria Math"/>
                                <a:ea typeface="Cambria Math"/>
                                <a:cs typeface="Cambria Math"/>
                              </a:rPr>
                              <m:t>1</m:t>
                            </m:r>
                          </m:e>
                        </m:d>
                        <m:r>
                          <m:rPr>
                            <m:sty m:val="p"/>
                          </m:rPr>
                          <a:rPr lang="vi-VN" sz="2400" dirty="0">
                            <a:solidFill>
                              <a:srgbClr val="166534"/>
                            </a:solidFill>
                            <a:latin typeface="Cambria Math"/>
                            <a:ea typeface="Cambria Math"/>
                            <a:cs typeface="Cambria Math"/>
                          </a:rPr>
                          <m:t>−</m:t>
                        </m:r>
                        <m:r>
                          <a:rPr lang="vi-VN" sz="2400" dirty="0">
                            <a:solidFill>
                              <a:srgbClr val="166534"/>
                            </a:solidFill>
                            <a:latin typeface="Cambria Math"/>
                            <a:ea typeface="Cambria Math"/>
                            <a:cs typeface="Cambria Math"/>
                          </a:rPr>
                          <m:t>5</m:t>
                        </m:r>
                        <m:sSup>
                          <m:e>
                            <m:d>
                              <m:dPr>
                                <m:begChr m:val="("/>
                                <m:sepChr m:val=""/>
                                <m:endChr m:val=")"/>
                                <m:grow m:val="on"/>
                                <m:ctrlPr>
                                  <a:rPr lang="vi-VN" sz="2400" dirty="0">
                                    <a:solidFill>
                                      <a:srgbClr val="166534"/>
                                    </a:solidFill>
                                    <a:latin typeface="Cambria Math"/>
                                    <a:ea typeface="Cambria Math"/>
                                    <a:cs typeface="Cambria Math"/>
                                  </a:rPr>
                                </m:ctrlPr>
                              </m:dPr>
                              <m:e>
                                <m:r>
                                  <a:rPr lang="vi-VN" sz="2400" dirty="0">
                                    <a:solidFill>
                                      <a:srgbClr val="166534"/>
                                    </a:solidFill>
                                    <a:latin typeface="Cambria Math"/>
                                    <a:ea typeface="Cambria Math"/>
                                    <a:cs typeface="Cambria Math"/>
                                  </a:rPr>
                                  <m:t>1</m:t>
                                </m:r>
                              </m:e>
                            </m:d>
                          </m:e>
                          <m:sup>
                            <m:r>
                              <a:rPr lang="vi-VN" sz="2400" dirty="0">
                                <a:solidFill>
                                  <a:srgbClr val="166534"/>
                                </a:solidFill>
                                <a:latin typeface="Cambria Math"/>
                                <a:ea typeface="Cambria Math"/>
                                <a:cs typeface="Cambria Math"/>
                              </a:rPr>
                              <m:t>2</m:t>
                            </m:r>
                          </m:sup>
                        </m:sSup>
                        <m:r>
                          <m:rPr>
                            <m:sty m:val="p"/>
                          </m:rPr>
                          <a:rPr lang="vi-VN" sz="2400" dirty="0">
                            <a:solidFill>
                              <a:srgbClr val="166534"/>
                            </a:solidFill>
                            <a:latin typeface="Cambria Math"/>
                            <a:ea typeface="Cambria Math"/>
                            <a:cs typeface="Cambria Math"/>
                          </a:rPr>
                          <m:t>=</m:t>
                        </m:r>
                        <m:r>
                          <a:rPr lang="vi-VN" sz="2400" dirty="0">
                            <a:solidFill>
                              <a:srgbClr val="166534"/>
                            </a:solidFill>
                            <a:latin typeface="Cambria Math"/>
                            <a:ea typeface="Cambria Math"/>
                            <a:cs typeface="Cambria Math"/>
                          </a:rPr>
                          <m:t>6</m:t>
                        </m:r>
                        <m:r>
                          <m:rPr>
                            <m:nor m:val="on"/>
                          </m:rPr>
                          <a:rPr lang="vi-VN" sz="2400" dirty="0">
                            <a:solidFill>
                              <a:srgbClr val="166534"/>
                            </a:solidFill>
                            <a:latin typeface="Cambria Math"/>
                            <a:ea typeface="Cambria Math"/>
                            <a:cs typeface="Cambria Math"/>
                          </a:rPr>
                          <m:t xml:space="preserve"> m</m:t>
                        </m:r>
                      </m:oMath>
                    </a14:m>
                  </a:p>
                </p:txBody>
              </p:sp>
            </mc:Choice>
          </mc:AlternateContent>
        </p:grpSp>
        <p:sp>
          <p:nvSpPr>
            <p:cNvPr id="22" name="Rectangle 22"/>
            <p:cNvSpPr/>
            <p:nvPr/>
          </p:nvSpPr>
          <p:spPr>
            <a:xfrm>
              <a:off x="6381750" y="1190625"/>
              <a:ext cx="5334000" cy="5191125"/>
            </a:xfrm>
            <a:prstGeom prst="roundRect">
              <a:avLst>
                <a:gd name="adj" fmla="val 3303"/>
              </a:avLst>
            </a:prstGeom>
            <a:solidFill>
              <a:srgbClr val="FFFFFF"/>
            </a:solidFill>
            <a:ln w="19050">
              <a:solidFill>
                <a:srgbClr val="CBD5E1"/>
              </a:solidFill>
            </a:ln>
          </p:spPr>
        </p:sp>
        <p:sp>
          <p:nvSpPr>
            <p:cNvPr id="23" name="TextBox 23"/>
            <p:cNvSpPr txBox="1"/>
            <p:nvPr/>
          </p:nvSpPr>
          <p:spPr>
            <a:xfrm>
              <a:off x="6731032" y="1376362"/>
              <a:ext cx="4635436"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ĐỒ THỊ QUỸ ĐẠO ĐỘ CAO h(t)</a:t>
              </a:r>
            </a:p>
          </p:txBody>
        </p:sp>
        <p:pic>
          <p:nvPicPr>
            <p:cNvPr id="24" name="Image 24"/>
            <p:cNvPicPr>
              <a:picLocks noChangeAspect="1"/>
            </p:cNvPicPr>
            <p:nvPr/>
          </p:nvPicPr>
          <p:blipFill>
            <a:blip r:embed="rId2"/>
            <a:stretch>
              <a:fillRect/>
            </a:stretch>
          </p:blipFill>
          <p:spPr>
            <a:xfrm>
              <a:off x="7091390" y="1857375"/>
              <a:ext cx="3914721" cy="4048125"/>
            </a:xfrm>
            <a:prstGeom prst="rect">
              <a:avLst/>
            </a:prstGeom>
          </p:spPr>
        </p:pic>
        <p:sp>
          <p:nvSpPr>
            <p:cNvPr id="25" name="TextBox 25"/>
            <p:cNvSpPr txBox="1"/>
            <p:nvPr/>
          </p:nvSpPr>
          <p:spPr>
            <a:xfrm>
              <a:off x="6174961" y="5916930"/>
              <a:ext cx="5747578"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Đỉnh parabol biểu thị giá trị cực đại thực tế</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70270" y="459105"/>
              <a:ext cx="1564560"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TỔNG KẾT</a:t>
              </a:r>
            </a:p>
          </p:txBody>
        </p:sp>
        <p:sp>
          <p:nvSpPr>
            <p:cNvPr id="7" name="TextBox 7"/>
            <p:cNvSpPr txBox="1"/>
            <p:nvPr/>
          </p:nvSpPr>
          <p:spPr>
            <a:xfrm>
              <a:off x="2179701" y="460534"/>
              <a:ext cx="6120628" cy="425386"/>
            </a:xfrm>
            <a:prstGeom prst="rect">
              <a:avLst/>
            </a:prstGeom>
            <a:noFill/>
            <a:ln>
              <a:noFill/>
            </a:ln>
          </p:spPr>
          <p:txBody>
            <a:bodyPr wrap="none" lIns="0" tIns="0" rIns="0" bIns="0" anchor="t" anchorCtr="0">
              <a:spAutoFit/>
            </a:bodyPr>
            <a:lstStyle/>
            <a:p>
              <a:pPr algn="l"/>
              <a:r>
                <a:rPr lang="vi-VN" sz="2180" b="1" dirty="0">
                  <a:solidFill>
                    <a:srgbClr val="0F172A"/>
                  </a:solidFill>
                  <a:latin typeface="+mn-lt"/>
                  <a:ea typeface="+mn-ea"/>
                  <a:cs typeface="+mn-cs"/>
                </a:rPr>
                <a:t>BÀI TẬP VỀ NHÀ VÀ TỔNG KẾT BÀI HỌC</a:t>
              </a:r>
            </a:p>
          </p:txBody>
        </p:sp>
      </p:grpSp>
      <p:grpSp>
        <p:nvGrpSpPr>
          <p:cNvPr id="31" name="content"/>
          <p:cNvGrpSpPr/>
          <p:nvPr/>
        </p:nvGrpSpPr>
        <p:grpSpPr>
          <a:xfrm>
            <a:off x="476250" y="1190625"/>
            <a:ext cx="11290831" cy="5191125"/>
            <a:chOff x="476250" y="1190625"/>
            <a:chExt cx="11290831" cy="5191125"/>
          </a:xfrm>
        </p:grpSpPr>
        <p:sp>
          <p:nvSpPr>
            <p:cNvPr id="9" name="Rectangle 9"/>
            <p:cNvSpPr/>
            <p:nvPr/>
          </p:nvSpPr>
          <p:spPr>
            <a:xfrm>
              <a:off x="476250" y="1190625"/>
              <a:ext cx="638175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6015353"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BÀI TẬP VỀ NHÀ (SGK TRANG 11 - 12):</a:t>
              </a:r>
            </a:p>
          </p:txBody>
        </p:sp>
        <p:grpSp>
          <p:nvGrpSpPr>
            <p:cNvPr id="19" name="Group 19"/>
            <p:cNvGrpSpPr/>
            <p:nvPr/>
          </p:nvGrpSpPr>
          <p:grpSpPr>
            <a:xfrm>
              <a:off x="798957" y="2059305"/>
              <a:ext cx="7911861" cy="3077718"/>
              <a:chOff x="798957" y="2059305"/>
              <a:chExt cx="7911861" cy="3077718"/>
            </a:xfrm>
          </p:grpSpPr>
          <p:sp>
            <p:nvSpPr>
              <p:cNvPr id="11" name="TextBox 11"/>
              <p:cNvSpPr txBox="1"/>
              <p:nvPr/>
            </p:nvSpPr>
            <p:spPr>
              <a:xfrm>
                <a:off x="798957" y="2059305"/>
                <a:ext cx="6667701"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Bài 1.1: Đọc khoảng đơn điệu từ 2 đồ thị hàm số</a:t>
                </a:r>
              </a:p>
            </p:txBody>
          </p:sp>
          <p:sp>
            <p:nvSpPr>
              <p:cNvPr id="12" name="TextBox 12"/>
              <p:cNvSpPr txBox="1"/>
              <p:nvPr/>
            </p:nvSpPr>
            <p:spPr>
              <a:xfrm>
                <a:off x="798957" y="2440305"/>
                <a:ext cx="7595666"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Bài 1.2, 1.3: Xét tính đơn điệu hàm bậc ba và phân thức</a:t>
                </a:r>
              </a:p>
            </p:txBody>
          </p:sp>
          <p:sp>
            <p:nvSpPr>
              <p:cNvPr id="13" name="TextBox 13"/>
              <p:cNvSpPr txBox="1"/>
              <p:nvPr/>
            </p:nvSpPr>
            <p:spPr>
              <a:xfrm>
                <a:off x="798957" y="2821305"/>
                <a:ext cx="6447039"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Bài 1.4: Xét chiều biến thiên qua 4 bước chuẩn</a:t>
                </a:r>
              </a:p>
            </p:txBody>
          </p:sp>
          <p:sp>
            <p:nvSpPr>
              <p:cNvPr id="14" name="TextBox 14"/>
              <p:cNvSpPr txBox="1"/>
              <p:nvPr/>
            </p:nvSpPr>
            <p:spPr>
              <a:xfrm>
                <a:off x="798957" y="3202305"/>
                <a:ext cx="6379818" cy="410718"/>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Bài 1.5: Ứng dụng mô hình dân số thị trấn P(t)</a:t>
                </a:r>
              </a:p>
            </p:txBody>
          </p:sp>
          <p:sp>
            <p:nvSpPr>
              <p:cNvPr id="15" name="TextBox 15"/>
              <p:cNvSpPr txBox="1"/>
              <p:nvPr/>
            </p:nvSpPr>
            <p:spPr>
              <a:xfrm>
                <a:off x="798957" y="3583305"/>
                <a:ext cx="7911861"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Bài 1.6: Đọc tính đơn điệu &amp; cực trị từ đồ thị đạo hàm f'(x)</a:t>
                </a:r>
              </a:p>
            </p:txBody>
          </p:sp>
          <p:sp>
            <p:nvSpPr>
              <p:cNvPr id="16" name="TextBox 16"/>
              <p:cNvSpPr txBox="1"/>
              <p:nvPr/>
            </p:nvSpPr>
            <p:spPr>
              <a:xfrm>
                <a:off x="798957" y="3964305"/>
                <a:ext cx="5997323"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Bài 1.7: Tìm cực trị của 4 hàm số (a, b, c, d)</a:t>
                </a:r>
              </a:p>
            </p:txBody>
          </p:sp>
          <p:sp>
            <p:nvSpPr>
              <p:cNvPr id="17" name="TextBox 17"/>
              <p:cNvSpPr txBox="1"/>
              <p:nvPr/>
            </p:nvSpPr>
            <p:spPr>
              <a:xfrm>
                <a:off x="798957" y="4345305"/>
                <a:ext cx="7735592"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Bài 1.8: Chứng minh cực tiểu hàm số không có đạo hàm</a:t>
                </a:r>
              </a:p>
            </p:txBody>
          </p:sp>
          <p:sp>
            <p:nvSpPr>
              <p:cNvPr id="18" name="TextBox 18"/>
              <p:cNvSpPr txBox="1"/>
              <p:nvPr/>
            </p:nvSpPr>
            <p:spPr>
              <a:xfrm>
                <a:off x="798957" y="4726305"/>
                <a:ext cx="6915856" cy="410718"/>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Bài 1.9: Bài toán logistic tốc độ bán hàng lớn nhất</a:t>
                </a:r>
              </a:p>
            </p:txBody>
          </p:sp>
        </p:grpSp>
        <p:sp>
          <p:nvSpPr>
            <p:cNvPr id="20" name="Rectangle 20"/>
            <p:cNvSpPr/>
            <p:nvPr/>
          </p:nvSpPr>
          <p:spPr>
            <a:xfrm>
              <a:off x="7143750" y="1190625"/>
              <a:ext cx="4572000" cy="5191125"/>
            </a:xfrm>
            <a:prstGeom prst="roundRect">
              <a:avLst>
                <a:gd name="adj" fmla="val 3750"/>
              </a:avLst>
            </a:prstGeom>
            <a:solidFill>
              <a:srgbClr val="FFFFFF"/>
            </a:solidFill>
            <a:ln w="19050">
              <a:solidFill>
                <a:srgbClr val="CBD5E1"/>
              </a:solidFill>
            </a:ln>
          </p:spPr>
        </p:sp>
        <p:sp>
          <p:nvSpPr>
            <p:cNvPr id="21" name="TextBox 21"/>
            <p:cNvSpPr txBox="1"/>
            <p:nvPr/>
          </p:nvSpPr>
          <p:spPr>
            <a:xfrm>
              <a:off x="7465695" y="1423988"/>
              <a:ext cx="2600846" cy="440055"/>
            </a:xfrm>
            <a:prstGeom prst="rect">
              <a:avLst/>
            </a:prstGeom>
            <a:noFill/>
            <a:ln>
              <a:noFill/>
            </a:ln>
          </p:spPr>
          <p:txBody>
            <a:bodyPr wrap="none" lIns="0" tIns="0" rIns="0" bIns="0" anchor="t" anchorCtr="0">
              <a:spAutoFit/>
            </a:bodyPr>
            <a:lstStyle/>
            <a:p>
              <a:pPr algn="l"/>
              <a:r>
                <a:rPr lang="vi-VN" sz="2250" b="1" dirty="0">
                  <a:solidFill>
                    <a:srgbClr val="9333EA"/>
                  </a:solidFill>
                  <a:latin typeface="+mn-lt"/>
                  <a:ea typeface="+mn-ea"/>
                  <a:cs typeface="+mn-cs"/>
                </a:rPr>
                <a:t>DẶN DÒ TỰ HỌC</a:t>
              </a:r>
            </a:p>
          </p:txBody>
        </p:sp>
        <p:sp>
          <p:nvSpPr>
            <p:cNvPr id="22" name="Rectangle 22"/>
            <p:cNvSpPr/>
            <p:nvPr/>
          </p:nvSpPr>
          <p:spPr>
            <a:xfrm>
              <a:off x="7381875" y="2000250"/>
              <a:ext cx="4095750" cy="1952625"/>
            </a:xfrm>
            <a:prstGeom prst="roundRect">
              <a:avLst>
                <a:gd name="adj" fmla="val 6829"/>
              </a:avLst>
            </a:prstGeom>
            <a:solidFill>
              <a:srgbClr val="F8FAFC"/>
            </a:solidFill>
            <a:ln w="14288">
              <a:solidFill>
                <a:srgbClr val="CBD5E1"/>
              </a:solidFill>
            </a:ln>
          </p:spPr>
        </p:sp>
        <p:sp>
          <p:nvSpPr>
            <p:cNvPr id="23" name="TextBox 23"/>
            <p:cNvSpPr txBox="1"/>
            <p:nvPr/>
          </p:nvSpPr>
          <p:spPr>
            <a:xfrm>
              <a:off x="7609332" y="2202180"/>
              <a:ext cx="2892419"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HỌC KỸ 4 GHI NHỚ:</a:t>
              </a:r>
            </a:p>
          </p:txBody>
        </p:sp>
        <p:sp>
          <p:nvSpPr>
            <p:cNvPr id="24" name="TextBox 24"/>
            <p:cNvSpPr txBox="1"/>
            <p:nvPr/>
          </p:nvSpPr>
          <p:spPr>
            <a:xfrm>
              <a:off x="7609332" y="2583180"/>
              <a:ext cx="370697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1. Dấu đạo hàm &amp; Đơn điệu</a:t>
              </a:r>
            </a:p>
          </p:txBody>
        </p:sp>
        <p:sp>
          <p:nvSpPr>
            <p:cNvPr id="25" name="TextBox 25"/>
            <p:cNvSpPr txBox="1"/>
            <p:nvPr/>
          </p:nvSpPr>
          <p:spPr>
            <a:xfrm>
              <a:off x="7609332" y="2964180"/>
              <a:ext cx="3893848"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2. Đổi dấu đạo hàm &amp; Cực trị</a:t>
              </a:r>
            </a:p>
          </p:txBody>
        </p:sp>
        <p:sp>
          <p:nvSpPr>
            <p:cNvPr id="26" name="TextBox 26"/>
            <p:cNvSpPr txBox="1"/>
            <p:nvPr/>
          </p:nvSpPr>
          <p:spPr>
            <a:xfrm>
              <a:off x="7609332" y="3345180"/>
              <a:ext cx="4157749"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3. Kỹ năng lập Bảng biến thiên</a:t>
              </a:r>
            </a:p>
          </p:txBody>
        </p:sp>
        <p:sp>
          <p:nvSpPr>
            <p:cNvPr id="27" name="Rectangle 27"/>
            <p:cNvSpPr/>
            <p:nvPr/>
          </p:nvSpPr>
          <p:spPr>
            <a:xfrm>
              <a:off x="7381875" y="4238625"/>
              <a:ext cx="4095750" cy="1905000"/>
            </a:xfrm>
            <a:prstGeom prst="roundRect">
              <a:avLst>
                <a:gd name="adj" fmla="val 8000"/>
              </a:avLst>
            </a:prstGeom>
            <a:solidFill>
              <a:srgbClr val="0F172A"/>
            </a:solidFill>
            <a:ln>
              <a:noFill/>
            </a:ln>
          </p:spPr>
        </p:sp>
        <p:sp>
          <p:nvSpPr>
            <p:cNvPr id="28" name="TextBox 28"/>
            <p:cNvSpPr txBox="1"/>
            <p:nvPr/>
          </p:nvSpPr>
          <p:spPr>
            <a:xfrm>
              <a:off x="8203796" y="4551045"/>
              <a:ext cx="2451909" cy="469392"/>
            </a:xfrm>
            <a:prstGeom prst="rect">
              <a:avLst/>
            </a:prstGeom>
            <a:noFill/>
            <a:ln>
              <a:noFill/>
            </a:ln>
          </p:spPr>
          <p:txBody>
            <a:bodyPr wrap="none" lIns="0" tIns="0" rIns="0" bIns="0" anchor="t" anchorCtr="0">
              <a:spAutoFit/>
            </a:bodyPr>
            <a:lstStyle/>
            <a:p>
              <a:pPr algn="ctr"/>
              <a:r>
                <a:rPr lang="vi-VN" sz="2400" b="1" dirty="0">
                  <a:solidFill>
                    <a:srgbClr val="FFFFFF"/>
                  </a:solidFill>
                  <a:latin typeface="+mn-lt"/>
                  <a:ea typeface="+mn-ea"/>
                  <a:cs typeface="+mn-cs"/>
                </a:rPr>
                <a:t>CHÚC CÁC EM</a:t>
              </a:r>
            </a:p>
          </p:txBody>
        </p:sp>
        <p:sp>
          <p:nvSpPr>
            <p:cNvPr id="29" name="TextBox 29"/>
            <p:cNvSpPr txBox="1"/>
            <p:nvPr/>
          </p:nvSpPr>
          <p:spPr>
            <a:xfrm>
              <a:off x="7378826" y="4979670"/>
              <a:ext cx="4101847" cy="469392"/>
            </a:xfrm>
            <a:prstGeom prst="rect">
              <a:avLst/>
            </a:prstGeom>
            <a:noFill/>
            <a:ln>
              <a:noFill/>
            </a:ln>
          </p:spPr>
          <p:txBody>
            <a:bodyPr wrap="none" lIns="0" tIns="0" rIns="0" bIns="0" anchor="t" anchorCtr="0">
              <a:spAutoFit/>
            </a:bodyPr>
            <a:lstStyle/>
            <a:p>
              <a:pPr algn="ctr"/>
              <a:r>
                <a:rPr lang="vi-VN" sz="2400" b="1" dirty="0">
                  <a:solidFill>
                    <a:srgbClr val="38BDF8"/>
                  </a:solidFill>
                  <a:latin typeface="+mn-lt"/>
                  <a:ea typeface="+mn-ea"/>
                  <a:cs typeface="+mn-cs"/>
                </a:rPr>
                <a:t>HỌC TỐT MÔN TOÁN 12!</a:t>
              </a:r>
            </a:p>
          </p:txBody>
        </p:sp>
        <p:sp>
          <p:nvSpPr>
            <p:cNvPr id="30" name="TextBox 30"/>
            <p:cNvSpPr txBox="1"/>
            <p:nvPr/>
          </p:nvSpPr>
          <p:spPr>
            <a:xfrm>
              <a:off x="7827298" y="5583555"/>
              <a:ext cx="3204903" cy="410718"/>
            </a:xfrm>
            <a:prstGeom prst="rect">
              <a:avLst/>
            </a:prstGeom>
            <a:noFill/>
            <a:ln>
              <a:noFill/>
            </a:ln>
          </p:spPr>
          <p:txBody>
            <a:bodyPr wrap="none" lIns="0" tIns="0" rIns="0" bIns="0" anchor="t" anchorCtr="0">
              <a:spAutoFit/>
            </a:bodyPr>
            <a:lstStyle/>
            <a:p>
              <a:pPr algn="ctr"/>
              <a:r>
                <a:rPr lang="vi-VN" sz="2100" b="1" dirty="0">
                  <a:solidFill>
                    <a:srgbClr val="94A3B8"/>
                  </a:solidFill>
                  <a:latin typeface="+mn-lt"/>
                  <a:ea typeface="+mn-ea"/>
                  <a:cs typeface="+mn-cs"/>
                </a:rPr>
                <a:t>Thầy Nguyễn Văn Sang</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ai1_toan12_don_dieu_cuc_tri">
  <a:themeElements>
    <a:clrScheme name="bai1_toan12_don_dieu_cuc_tri">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i1_toan12_don_dieu_cuc_tri">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i1_toan12_don_dieu_cuc_tr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ai1_toan12_don_dieu_cuc_tri">
  <a:themeElements>
    <a:clrScheme name="bai1_toan12_don_dieu_cuc_tri">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i1_toan12_don_dieu_cuc_tri">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i1_toan12_don_dieu_cuc_tr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vi-VN</dc:language>
  <cp:lastModifiedBy/>
  <cp:revision>1</cp:revision>
  <dcterms:created xsi:type="dcterms:W3CDTF">2026-09-21T10:48:44Z</dcterms:created>
  <dcterms:modified xsi:type="dcterms:W3CDTF">2026-09-21T10:48:44Z</dcterms:modified>
  <cp:category/>
  <cp:contentStatus/>
</cp:coreProperties>
</file>